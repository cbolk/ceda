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47"/>
  </p:notesMasterIdLst>
  <p:sldIdLst>
    <p:sldId id="317" r:id="rId2"/>
    <p:sldId id="269" r:id="rId3"/>
    <p:sldId id="318" r:id="rId4"/>
    <p:sldId id="319" r:id="rId5"/>
    <p:sldId id="270" r:id="rId6"/>
    <p:sldId id="271" r:id="rId7"/>
    <p:sldId id="272" r:id="rId8"/>
    <p:sldId id="273" r:id="rId9"/>
    <p:sldId id="322" r:id="rId10"/>
    <p:sldId id="274" r:id="rId11"/>
    <p:sldId id="276" r:id="rId12"/>
    <p:sldId id="277" r:id="rId13"/>
    <p:sldId id="278" r:id="rId14"/>
    <p:sldId id="326" r:id="rId15"/>
    <p:sldId id="325" r:id="rId16"/>
    <p:sldId id="327" r:id="rId17"/>
    <p:sldId id="328" r:id="rId18"/>
    <p:sldId id="286" r:id="rId19"/>
    <p:sldId id="287" r:id="rId20"/>
    <p:sldId id="288" r:id="rId21"/>
    <p:sldId id="289" r:id="rId22"/>
    <p:sldId id="332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329" r:id="rId31"/>
    <p:sldId id="298" r:id="rId32"/>
    <p:sldId id="299" r:id="rId33"/>
    <p:sldId id="301" r:id="rId34"/>
    <p:sldId id="302" r:id="rId35"/>
    <p:sldId id="330" r:id="rId36"/>
    <p:sldId id="304" r:id="rId37"/>
    <p:sldId id="305" r:id="rId38"/>
    <p:sldId id="331" r:id="rId39"/>
    <p:sldId id="307" r:id="rId40"/>
    <p:sldId id="308" r:id="rId41"/>
    <p:sldId id="309" r:id="rId42"/>
    <p:sldId id="310" r:id="rId43"/>
    <p:sldId id="311" r:id="rId44"/>
    <p:sldId id="323" r:id="rId45"/>
    <p:sldId id="312" r:id="rId4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3"/>
    <a:srgbClr val="0060A2"/>
    <a:srgbClr val="4F81BD"/>
    <a:srgbClr val="99FF99"/>
    <a:srgbClr val="FFFFCC"/>
    <a:srgbClr val="9999FF"/>
    <a:srgbClr val="7A1D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993" autoAdjust="0"/>
    <p:restoredTop sz="96327"/>
  </p:normalViewPr>
  <p:slideViewPr>
    <p:cSldViewPr snapToGrid="0">
      <p:cViewPr varScale="1">
        <p:scale>
          <a:sx n="93" d="100"/>
          <a:sy n="93" d="100"/>
        </p:scale>
        <p:origin x="-1266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23E34-74B9-4AE1-9555-00613A6C432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F58FC-AA7F-4814-B6EE-BAF0C8A46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2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009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02756" indent="-270291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081164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513629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1946095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378560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811026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243491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675957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altLang="en-US" sz="1300">
                <a:latin typeface="Arial" pitchFamily="34" charset="0"/>
              </a:rPr>
              <a:t>Fondamenti di Informatica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02756" indent="-270291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081164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513629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1946095" indent="-216233" defTabSz="708763"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378560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811026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243491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675957" indent="-216233" defTabSz="708763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altLang="en-US" sz="1300">
                <a:latin typeface="Arial" pitchFamily="34" charset="0"/>
              </a:rPr>
              <a:t>cap. V</a:t>
            </a:r>
          </a:p>
        </p:txBody>
      </p:sp>
      <p:sp>
        <p:nvSpPr>
          <p:cNvPr id="72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 cap="flat"/>
        </p:spPr>
      </p:sp>
      <p:sp>
        <p:nvSpPr>
          <p:cNvPr id="72090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9412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617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894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846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020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020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6891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602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558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677AD0-0D92-C01B-FF19-1018577D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A1F0D2DF-82D7-6860-720D-94B7B5E54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8D341C4C-99CA-A2BC-DC68-2B2A38E41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DD1CE88C-95D0-EFAB-76D1-6EB035A7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9739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3928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058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9664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0074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0074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0364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023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14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8360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7515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35524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505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B95C3A5-1C07-4BA6-FA92-AA332D97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CFE54B1F-F37F-6B64-9F5E-3443ABDEC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441CB85C-9066-F814-830A-E00D3E4B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01E15FE1-D686-3E7B-DA99-966B9F8AE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7174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2991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1085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5337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77675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64414B-FA70-0374-550C-FC0753B1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BFBE8DD5-22CB-5252-D6C9-FA4F1D015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16C00D8D-FA20-0C79-AD6F-7B18155DF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270AB05E-4339-350C-E89E-BECDEA1FE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0994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06154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3761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175A40-0EDA-17C0-DDA9-E175FA47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8824337A-7D18-4581-B8CD-E321E693E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DC00ADDB-B63B-0808-B8B3-E9A0BE376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0BB8652B-C837-77D7-564C-61868D49F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61018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28967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61540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9004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8686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6227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8686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xmlns="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xmlns="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5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xmlns="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3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mailto:daniele.jahier@polito.it" TargetMode="External"/><Relationship Id="rId13" Type="http://schemas.openxmlformats.org/officeDocument/2006/relationships/image" Target="../media/image44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gianvito.urgese@polito.it" TargetMode="Externa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hristian.conti@polito.it" TargetMode="External"/><Relationship Id="rId11" Type="http://schemas.openxmlformats.org/officeDocument/2006/relationships/hyperlink" Target="mailto:fabrizio.ferrandi@polimi.it" TargetMode="External"/><Relationship Id="rId5" Type="http://schemas.openxmlformats.org/officeDocument/2006/relationships/image" Target="../media/image42.png"/><Relationship Id="rId15" Type="http://schemas.openxmlformats.org/officeDocument/2006/relationships/image" Target="../media/image46.png"/><Relationship Id="rId10" Type="http://schemas.openxmlformats.org/officeDocument/2006/relationships/hyperlink" Target="mailto:cristiana.bolchini@polimi.it" TargetMode="External"/><Relationship Id="rId4" Type="http://schemas.openxmlformats.org/officeDocument/2006/relationships/image" Target="../media/image41.png"/><Relationship Id="rId9" Type="http://schemas.openxmlformats.org/officeDocument/2006/relationships/hyperlink" Target="mailto:enrico.macii@polito.it" TargetMode="External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it-IT" sz="4000"/>
              <a:t>Lecture 5</a:t>
            </a:r>
            <a:r>
              <a:rPr lang="en-US" altLang="it-IT" dirty="0"/>
              <a:t/>
            </a:r>
            <a:br>
              <a:rPr lang="en-US" altLang="it-IT" dirty="0"/>
            </a:br>
            <a:r>
              <a:rPr lang="en-US" altLang="it-IT" dirty="0"/>
              <a:t>System-on-Chip (</a:t>
            </a:r>
            <a:r>
              <a:rPr lang="en-US" altLang="it-IT" dirty="0" err="1"/>
              <a:t>SoC</a:t>
            </a:r>
            <a:r>
              <a:rPr lang="en-US" altLang="it-IT" dirty="0"/>
              <a:t>) Design</a:t>
            </a:r>
            <a:endParaRPr lang="en-US" altLang="it-IT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 altLang="it-IT" sz="140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9878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xmlns="" id="{6C3BB14E-AC01-D242-EDF7-51EFDC9D20B9}"/>
              </a:ext>
            </a:extLst>
          </p:cNvPr>
          <p:cNvGrpSpPr/>
          <p:nvPr/>
        </p:nvGrpSpPr>
        <p:grpSpPr>
          <a:xfrm>
            <a:off x="2821548" y="1199127"/>
            <a:ext cx="3500904" cy="2822486"/>
            <a:chOff x="3540341" y="2078289"/>
            <a:chExt cx="4667872" cy="3763314"/>
          </a:xfrm>
        </p:grpSpPr>
        <p:sp>
          <p:nvSpPr>
            <p:cNvPr id="4" name="Titolo 1">
              <a:extLst>
                <a:ext uri="{FF2B5EF4-FFF2-40B4-BE49-F238E27FC236}">
                  <a16:creationId xmlns:a16="http://schemas.microsoft.com/office/drawing/2014/main" xmlns="" id="{1A5BE501-CC99-A701-767E-8A43841E7D4D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xmlns="" id="{A7B033B1-6B8E-79DE-554B-11C3BE506AF6}"/>
                </a:ext>
              </a:extLst>
            </p:cNvPr>
            <p:cNvSpPr txBox="1"/>
            <p:nvPr/>
          </p:nvSpPr>
          <p:spPr>
            <a:xfrm>
              <a:off x="4608213" y="2207471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System-on-Chip (</a:t>
              </a:r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)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xmlns="" id="{E5908DF5-4C45-2F3B-C752-D0D9A78E0A83}"/>
                </a:ext>
              </a:extLst>
            </p:cNvPr>
            <p:cNvSpPr txBox="1"/>
            <p:nvPr/>
          </p:nvSpPr>
          <p:spPr>
            <a:xfrm>
              <a:off x="4608213" y="368158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Building Blocks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itolo 1">
              <a:extLst>
                <a:ext uri="{FF2B5EF4-FFF2-40B4-BE49-F238E27FC236}">
                  <a16:creationId xmlns:a16="http://schemas.microsoft.com/office/drawing/2014/main" xmlns="" id="{6D84A943-C888-FE3E-E642-9F2D2D3B594F}"/>
                </a:ext>
              </a:extLst>
            </p:cNvPr>
            <p:cNvSpPr txBox="1">
              <a:spLocks/>
            </p:cNvSpPr>
            <p:nvPr/>
          </p:nvSpPr>
          <p:spPr>
            <a:xfrm>
              <a:off x="3540342" y="3565775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xmlns="" id="{746DBC68-AFFD-F00D-5D7A-990AC71C4566}"/>
                </a:ext>
              </a:extLst>
            </p:cNvPr>
            <p:cNvSpPr txBox="1"/>
            <p:nvPr/>
          </p:nvSpPr>
          <p:spPr>
            <a:xfrm>
              <a:off x="4608213" y="518883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Design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itolo 1">
              <a:extLst>
                <a:ext uri="{FF2B5EF4-FFF2-40B4-BE49-F238E27FC236}">
                  <a16:creationId xmlns:a16="http://schemas.microsoft.com/office/drawing/2014/main" xmlns="" id="{88114B38-05D8-413A-53B5-1E641DAF01BA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5017909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424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8" name="Rectangle 10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Transistors to Boards</a:t>
            </a:r>
            <a:endParaRPr lang="en-US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95350"/>
            <a:ext cx="7194550" cy="347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281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“Motherboard” of a PC</a:t>
            </a:r>
            <a:endParaRPr lang="it-IT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18" y="649794"/>
            <a:ext cx="5466377" cy="302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Rectangle 39"/>
          <p:cNvSpPr/>
          <p:nvPr/>
        </p:nvSpPr>
        <p:spPr>
          <a:xfrm>
            <a:off x="3533737" y="3838309"/>
            <a:ext cx="53054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Historically, computer components were mounted on the “motherboard” as separated chips.</a:t>
            </a:r>
          </a:p>
        </p:txBody>
      </p:sp>
    </p:spTree>
    <p:extLst>
      <p:ext uri="{BB962C8B-B14F-4D97-AF65-F5344CB8AC3E}">
        <p14:creationId xmlns:p14="http://schemas.microsoft.com/office/powerpoint/2010/main" val="272083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Boards to </a:t>
            </a:r>
            <a:r>
              <a:rPr lang="en-US" dirty="0" err="1"/>
              <a:t>SoCs</a:t>
            </a:r>
            <a:endParaRPr lang="en-US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264984CC-11E9-E741-C3ED-29ED30599D7F}"/>
              </a:ext>
            </a:extLst>
          </p:cNvPr>
          <p:cNvSpPr txBox="1"/>
          <p:nvPr/>
        </p:nvSpPr>
        <p:spPr>
          <a:xfrm>
            <a:off x="4700806" y="1613796"/>
            <a:ext cx="3604994" cy="191590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With the advent of advanced miniaturization capabilities, most of the functionalities of a computer can be implemented through a single chip: </a:t>
            </a:r>
            <a:r>
              <a:rPr lang="en-GB" sz="20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System-on-a-Chip (</a:t>
            </a:r>
            <a:r>
              <a:rPr lang="en-GB" sz="2000" i="1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</a:t>
            </a:r>
            <a:r>
              <a:rPr lang="en-GB" sz="20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7" name="Immagine 6" descr="Immagine che contiene testo, schermata, Software multimediale, software&#10;&#10;Descrizione generata automaticamente">
            <a:extLst>
              <a:ext uri="{FF2B5EF4-FFF2-40B4-BE49-F238E27FC236}">
                <a16:creationId xmlns:a16="http://schemas.microsoft.com/office/drawing/2014/main" xmlns="" id="{09B9C2B1-E91B-7782-4361-5682008D5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35" y="1080913"/>
            <a:ext cx="3020042" cy="2981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xmlns="" id="{1BD62B31-0C12-C3A7-36E8-79F8AF14174C}"/>
              </a:ext>
            </a:extLst>
          </p:cNvPr>
          <p:cNvCxnSpPr>
            <a:cxnSpLocks/>
          </p:cNvCxnSpPr>
          <p:nvPr/>
        </p:nvCxnSpPr>
        <p:spPr>
          <a:xfrm flipH="1">
            <a:off x="470422" y="1125696"/>
            <a:ext cx="902613" cy="2746222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magine 9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xmlns="" id="{39C410D0-EA83-420F-ED6A-E940E2D84A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9" y="3871919"/>
            <a:ext cx="881134" cy="640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Connettore diritto 7">
            <a:extLst>
              <a:ext uri="{FF2B5EF4-FFF2-40B4-BE49-F238E27FC236}">
                <a16:creationId xmlns:a16="http://schemas.microsoft.com/office/drawing/2014/main" xmlns="" id="{147A3213-29A9-B8CE-F78E-C48FB9748F7E}"/>
              </a:ext>
            </a:extLst>
          </p:cNvPr>
          <p:cNvCxnSpPr>
            <a:cxnSpLocks/>
          </p:cNvCxnSpPr>
          <p:nvPr/>
        </p:nvCxnSpPr>
        <p:spPr>
          <a:xfrm flipH="1">
            <a:off x="1125696" y="4062587"/>
            <a:ext cx="3267381" cy="449623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1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3810000" y="654559"/>
            <a:ext cx="4800600" cy="38343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System-on-Chip includes different units with specific tasks:</a:t>
            </a:r>
          </a:p>
          <a:p>
            <a:pPr marL="600075" lvl="1" indent="-257175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Process information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(CPU – Central Processing Unit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Store information (Cache and RAM memory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Transport information (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Interconnects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, i.e., Buses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unit is designed following different methodologies to obtain the best performance when combined.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4FDB2454-BD3D-2615-0531-0B76BA5A6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95350"/>
            <a:ext cx="3431858" cy="343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</a:t>
            </a:r>
            <a:r>
              <a:rPr lang="en-US" dirty="0"/>
              <a:t> Design  For Optimal Results</a:t>
            </a:r>
          </a:p>
        </p:txBody>
      </p:sp>
    </p:spTree>
    <p:extLst>
      <p:ext uri="{BB962C8B-B14F-4D97-AF65-F5344CB8AC3E}">
        <p14:creationId xmlns:p14="http://schemas.microsoft.com/office/powerpoint/2010/main" val="184402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Design: CPU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264984CC-11E9-E741-C3ED-29ED30599D7F}"/>
              </a:ext>
            </a:extLst>
          </p:cNvPr>
          <p:cNvSpPr txBox="1"/>
          <p:nvPr/>
        </p:nvSpPr>
        <p:spPr>
          <a:xfrm>
            <a:off x="1471612" y="772788"/>
            <a:ext cx="6200775" cy="68480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processing unit of an SoC performs simple arithmetic and Boolean operations, sequentially, one after another.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ella 11">
                <a:extLst>
                  <a:ext uri="{FF2B5EF4-FFF2-40B4-BE49-F238E27FC236}">
                    <a16:creationId xmlns:a16="http://schemas.microsoft.com/office/drawing/2014/main" xmlns="" id="{1FADEA9A-AF49-CFA2-681B-9A77EC8017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4488940"/>
                  </p:ext>
                </p:extLst>
              </p:nvPr>
            </p:nvGraphicFramePr>
            <p:xfrm>
              <a:off x="1471612" y="1962536"/>
              <a:ext cx="1620466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408">
                      <a:extLst>
                        <a:ext uri="{9D8B030D-6E8A-4147-A177-3AD203B41FA5}">
                          <a16:colId xmlns:a16="http://schemas.microsoft.com/office/drawing/2014/main" xmlns="" val="4277709568"/>
                        </a:ext>
                      </a:extLst>
                    </a:gridCol>
                    <a:gridCol w="1156058">
                      <a:extLst>
                        <a:ext uri="{9D8B030D-6E8A-4147-A177-3AD203B41FA5}">
                          <a16:colId xmlns:a16="http://schemas.microsoft.com/office/drawing/2014/main" xmlns="" val="1879525446"/>
                        </a:ext>
                      </a:extLst>
                    </a:gridCol>
                  </a:tblGrid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FAFAF6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#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FAFAF6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Instruction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99349634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A+B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3267024952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C – 8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102248626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D = C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smtClean="0">
                                  <a:solidFill>
                                    <a:srgbClr val="00315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 10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650212165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A = D - B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2940234292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B = A and C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2763944644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766555177"/>
                      </a:ext>
                    </a:extLst>
                  </a:tr>
                  <a:tr h="27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7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A = 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7678933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ella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ADEA9A-AF49-CFA2-681B-9A77EC8017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4488940"/>
                  </p:ext>
                </p:extLst>
              </p:nvPr>
            </p:nvGraphicFramePr>
            <p:xfrm>
              <a:off x="1471612" y="1962536"/>
              <a:ext cx="1620466" cy="2255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440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277709568"/>
                        </a:ext>
                      </a:extLst>
                    </a:gridCol>
                    <a:gridCol w="115605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87952544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FAFAF6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#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FAFAF6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Instruction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9349634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A+B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26702495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C – 8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102248626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1">
                          <a:blip r:embed="rId3"/>
                          <a:stretch>
                            <a:fillRect l="-40000" t="-308696" r="-526" b="-42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0212165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A = D - B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94023429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B = A and C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763944644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C = 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766555177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>
                              <a:solidFill>
                                <a:srgbClr val="003153"/>
                              </a:solidFill>
                              <a:latin typeface="Baskerville Display PT" panose="02030602080406020203" pitchFamily="18" charset="0"/>
                              <a:ea typeface="Baskerville Display PT" panose="02030602080406020203" pitchFamily="18" charset="0"/>
                            </a:rPr>
                            <a:t>7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i="1" dirty="0">
                              <a:solidFill>
                                <a:srgbClr val="003153"/>
                              </a:solidFill>
                              <a:latin typeface="Inter" panose="02000503000000020004" pitchFamily="2" charset="0"/>
                              <a:ea typeface="Inter" panose="02000503000000020004" pitchFamily="2" charset="0"/>
                            </a:rPr>
                            <a:t>A = 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6789337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Connettore 2 14">
            <a:extLst>
              <a:ext uri="{FF2B5EF4-FFF2-40B4-BE49-F238E27FC236}">
                <a16:creationId xmlns:a16="http://schemas.microsoft.com/office/drawing/2014/main" xmlns="" id="{64539628-F0F8-EF0F-EB51-C00A85598684}"/>
              </a:ext>
            </a:extLst>
          </p:cNvPr>
          <p:cNvCxnSpPr>
            <a:cxnSpLocks/>
          </p:cNvCxnSpPr>
          <p:nvPr/>
        </p:nvCxnSpPr>
        <p:spPr>
          <a:xfrm>
            <a:off x="1234792" y="1857355"/>
            <a:ext cx="0" cy="2520722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A886058A-1C36-23A4-E033-F5487AC3B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460" y="1657350"/>
            <a:ext cx="4351734" cy="282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38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Design: Memory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513C5247-B7F7-E039-3F48-D2EAEAD4D8BF}"/>
              </a:ext>
            </a:extLst>
          </p:cNvPr>
          <p:cNvSpPr txBox="1"/>
          <p:nvPr/>
        </p:nvSpPr>
        <p:spPr>
          <a:xfrm>
            <a:off x="4731672" y="845976"/>
            <a:ext cx="3791654" cy="22749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information to be processed is stored in the internal memory system, which consists of different kinds of memories: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RAM.</a:t>
            </a:r>
            <a:endParaRPr lang="en-GB" sz="2000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Caches.</a:t>
            </a:r>
            <a:endParaRPr lang="en-GB" sz="2000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4A524578-E4A9-88D2-8442-D9804FAD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79" y="980114"/>
            <a:ext cx="3791654" cy="344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4821147" y="3217836"/>
            <a:ext cx="3714750" cy="1300163"/>
            <a:chOff x="4554023" y="3012356"/>
            <a:chExt cx="3714750" cy="1300163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xmlns="" id="{69B49E95-A9D0-629E-3E64-7FDB5488E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4023" y="3012356"/>
              <a:ext cx="3714750" cy="1300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ounded Rectangle 9"/>
            <p:cNvSpPr/>
            <p:nvPr/>
          </p:nvSpPr>
          <p:spPr>
            <a:xfrm>
              <a:off x="4613096" y="3082247"/>
              <a:ext cx="1089061" cy="11609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CPU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108004" y="3080535"/>
              <a:ext cx="1089061" cy="11609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Memory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197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Design: Interconnections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264984CC-11E9-E741-C3ED-29ED30599D7F}"/>
              </a:ext>
            </a:extLst>
          </p:cNvPr>
          <p:cNvSpPr txBox="1"/>
          <p:nvPr/>
        </p:nvSpPr>
        <p:spPr>
          <a:xfrm>
            <a:off x="1471612" y="893338"/>
            <a:ext cx="6200776" cy="9925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Since data are processed and stored in different places, information must be moved rapidly; </a:t>
            </a:r>
            <a:r>
              <a:rPr lang="en-GB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hence, </a:t>
            </a: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specific architecture for interconnections (called BUS) is designed.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8E94E9F3-ECC1-0EA4-3E7F-FF320B8BA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164900"/>
            <a:ext cx="6286500" cy="216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3339098" y="2246401"/>
            <a:ext cx="883579" cy="435154"/>
          </a:xfrm>
          <a:prstGeom prst="roundRect">
            <a:avLst/>
          </a:prstGeom>
          <a:solidFill>
            <a:srgbClr val="FFFFCC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8744" y="3816635"/>
            <a:ext cx="883579" cy="435154"/>
          </a:xfrm>
          <a:prstGeom prst="roundRect">
            <a:avLst/>
          </a:prstGeom>
          <a:solidFill>
            <a:srgbClr val="FFFFCC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5242" y="2265237"/>
            <a:ext cx="883579" cy="435154"/>
          </a:xfrm>
          <a:prstGeom prst="roundRect">
            <a:avLst/>
          </a:prstGeom>
          <a:solidFill>
            <a:srgbClr val="99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0506" y="3794375"/>
            <a:ext cx="883579" cy="435154"/>
          </a:xfrm>
          <a:prstGeom prst="roundRect">
            <a:avLst/>
          </a:prstGeom>
          <a:solidFill>
            <a:srgbClr val="FFFFCC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b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9599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Real </a:t>
            </a:r>
            <a:r>
              <a:rPr lang="en-GB" dirty="0" err="1"/>
              <a:t>SoC</a:t>
            </a:r>
            <a:r>
              <a:rPr lang="en-GB" dirty="0"/>
              <a:t>: Intel Pentium III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89" y="1236109"/>
            <a:ext cx="2671282" cy="267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50" y="910752"/>
            <a:ext cx="3690440" cy="332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1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Real </a:t>
            </a:r>
            <a:r>
              <a:rPr lang="en-GB" dirty="0" err="1"/>
              <a:t>SoC</a:t>
            </a:r>
            <a:r>
              <a:rPr lang="en-GB" dirty="0"/>
              <a:t>: Intel Pentium III</a:t>
            </a:r>
          </a:p>
        </p:txBody>
      </p:sp>
      <p:pic>
        <p:nvPicPr>
          <p:cNvPr id="8" name="Immagine 7" descr="Immagine che contiene circuito&#10;&#10;Descrizione generata automaticamente">
            <a:extLst>
              <a:ext uri="{FF2B5EF4-FFF2-40B4-BE49-F238E27FC236}">
                <a16:creationId xmlns:a16="http://schemas.microsoft.com/office/drawing/2014/main" xmlns="" id="{9587776D-985D-25C2-3249-005DD0371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80956"/>
            <a:ext cx="5181600" cy="326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0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Real </a:t>
            </a:r>
            <a:r>
              <a:rPr lang="en-GB" dirty="0" err="1"/>
              <a:t>SoC</a:t>
            </a:r>
            <a:r>
              <a:rPr lang="en-GB" dirty="0"/>
              <a:t>: Intel Pentium III</a:t>
            </a:r>
          </a:p>
        </p:txBody>
      </p:sp>
      <p:pic>
        <p:nvPicPr>
          <p:cNvPr id="8" name="Immagine 7" descr="Immagine che contiene circuito&#10;&#10;Descrizione generata automaticamente">
            <a:extLst>
              <a:ext uri="{FF2B5EF4-FFF2-40B4-BE49-F238E27FC236}">
                <a16:creationId xmlns:a16="http://schemas.microsoft.com/office/drawing/2014/main" xmlns="" id="{9587776D-985D-25C2-3249-005DD0371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80956"/>
            <a:ext cx="5181600" cy="326886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0AEF3FC0-2CB5-17AB-6B59-D8F8463ED5A0}"/>
              </a:ext>
            </a:extLst>
          </p:cNvPr>
          <p:cNvSpPr txBox="1"/>
          <p:nvPr/>
        </p:nvSpPr>
        <p:spPr>
          <a:xfrm>
            <a:off x="206692" y="1936628"/>
            <a:ext cx="1450658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On-chip memory</a:t>
            </a:r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xmlns="" id="{5CAF2FB8-CD61-6B32-8968-9A023375FF54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1281856" y="2210041"/>
            <a:ext cx="448568" cy="1148238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xmlns="" id="{D4660A0A-9F8D-A1A0-556A-5FB51D62C111}"/>
              </a:ext>
            </a:extLst>
          </p:cNvPr>
          <p:cNvSpPr/>
          <p:nvPr/>
        </p:nvSpPr>
        <p:spPr>
          <a:xfrm>
            <a:off x="2080260" y="1667070"/>
            <a:ext cx="2668721" cy="2682746"/>
          </a:xfrm>
          <a:custGeom>
            <a:avLst/>
            <a:gdLst>
              <a:gd name="connsiteX0" fmla="*/ 0 w 2668721"/>
              <a:gd name="connsiteY0" fmla="*/ 444796 h 2682746"/>
              <a:gd name="connsiteX1" fmla="*/ 444796 w 2668721"/>
              <a:gd name="connsiteY1" fmla="*/ 0 h 2682746"/>
              <a:gd name="connsiteX2" fmla="*/ 1020048 w 2668721"/>
              <a:gd name="connsiteY2" fmla="*/ 0 h 2682746"/>
              <a:gd name="connsiteX3" fmla="*/ 1559717 w 2668721"/>
              <a:gd name="connsiteY3" fmla="*/ 0 h 2682746"/>
              <a:gd name="connsiteX4" fmla="*/ 2223925 w 2668721"/>
              <a:gd name="connsiteY4" fmla="*/ 0 h 2682746"/>
              <a:gd name="connsiteX5" fmla="*/ 2668721 w 2668721"/>
              <a:gd name="connsiteY5" fmla="*/ 444796 h 2682746"/>
              <a:gd name="connsiteX6" fmla="*/ 2668721 w 2668721"/>
              <a:gd name="connsiteY6" fmla="*/ 1042514 h 2682746"/>
              <a:gd name="connsiteX7" fmla="*/ 2668721 w 2668721"/>
              <a:gd name="connsiteY7" fmla="*/ 1640232 h 2682746"/>
              <a:gd name="connsiteX8" fmla="*/ 2668721 w 2668721"/>
              <a:gd name="connsiteY8" fmla="*/ 2237950 h 2682746"/>
              <a:gd name="connsiteX9" fmla="*/ 2223925 w 2668721"/>
              <a:gd name="connsiteY9" fmla="*/ 2682746 h 2682746"/>
              <a:gd name="connsiteX10" fmla="*/ 1684256 w 2668721"/>
              <a:gd name="connsiteY10" fmla="*/ 2682746 h 2682746"/>
              <a:gd name="connsiteX11" fmla="*/ 1055630 w 2668721"/>
              <a:gd name="connsiteY11" fmla="*/ 2682746 h 2682746"/>
              <a:gd name="connsiteX12" fmla="*/ 444796 w 2668721"/>
              <a:gd name="connsiteY12" fmla="*/ 2682746 h 2682746"/>
              <a:gd name="connsiteX13" fmla="*/ 0 w 2668721"/>
              <a:gd name="connsiteY13" fmla="*/ 2237950 h 2682746"/>
              <a:gd name="connsiteX14" fmla="*/ 0 w 2668721"/>
              <a:gd name="connsiteY14" fmla="*/ 1676095 h 2682746"/>
              <a:gd name="connsiteX15" fmla="*/ 0 w 2668721"/>
              <a:gd name="connsiteY15" fmla="*/ 1096309 h 2682746"/>
              <a:gd name="connsiteX16" fmla="*/ 0 w 2668721"/>
              <a:gd name="connsiteY16" fmla="*/ 444796 h 268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68721" h="2682746" extrusionOk="0">
                <a:moveTo>
                  <a:pt x="0" y="444796"/>
                </a:moveTo>
                <a:cubicBezTo>
                  <a:pt x="31514" y="241059"/>
                  <a:pt x="252000" y="-28297"/>
                  <a:pt x="444796" y="0"/>
                </a:cubicBezTo>
                <a:cubicBezTo>
                  <a:pt x="729218" y="-5158"/>
                  <a:pt x="796861" y="-2845"/>
                  <a:pt x="1020048" y="0"/>
                </a:cubicBezTo>
                <a:cubicBezTo>
                  <a:pt x="1243235" y="2845"/>
                  <a:pt x="1371964" y="-136"/>
                  <a:pt x="1559717" y="0"/>
                </a:cubicBezTo>
                <a:cubicBezTo>
                  <a:pt x="1747470" y="136"/>
                  <a:pt x="1954906" y="292"/>
                  <a:pt x="2223925" y="0"/>
                </a:cubicBezTo>
                <a:cubicBezTo>
                  <a:pt x="2472236" y="-17094"/>
                  <a:pt x="2635236" y="217011"/>
                  <a:pt x="2668721" y="444796"/>
                </a:cubicBezTo>
                <a:cubicBezTo>
                  <a:pt x="2674769" y="713078"/>
                  <a:pt x="2674362" y="785594"/>
                  <a:pt x="2668721" y="1042514"/>
                </a:cubicBezTo>
                <a:cubicBezTo>
                  <a:pt x="2663080" y="1299434"/>
                  <a:pt x="2679443" y="1400373"/>
                  <a:pt x="2668721" y="1640232"/>
                </a:cubicBezTo>
                <a:cubicBezTo>
                  <a:pt x="2657999" y="1880091"/>
                  <a:pt x="2666816" y="2096219"/>
                  <a:pt x="2668721" y="2237950"/>
                </a:cubicBezTo>
                <a:cubicBezTo>
                  <a:pt x="2673131" y="2430751"/>
                  <a:pt x="2466111" y="2678269"/>
                  <a:pt x="2223925" y="2682746"/>
                </a:cubicBezTo>
                <a:cubicBezTo>
                  <a:pt x="1971217" y="2700521"/>
                  <a:pt x="1933975" y="2678525"/>
                  <a:pt x="1684256" y="2682746"/>
                </a:cubicBezTo>
                <a:cubicBezTo>
                  <a:pt x="1434537" y="2686967"/>
                  <a:pt x="1292011" y="2680160"/>
                  <a:pt x="1055630" y="2682746"/>
                </a:cubicBezTo>
                <a:cubicBezTo>
                  <a:pt x="819249" y="2685332"/>
                  <a:pt x="743626" y="2704931"/>
                  <a:pt x="444796" y="2682746"/>
                </a:cubicBezTo>
                <a:cubicBezTo>
                  <a:pt x="219550" y="2686808"/>
                  <a:pt x="37240" y="2480937"/>
                  <a:pt x="0" y="2237950"/>
                </a:cubicBezTo>
                <a:cubicBezTo>
                  <a:pt x="-24122" y="2113446"/>
                  <a:pt x="-21894" y="1841060"/>
                  <a:pt x="0" y="1676095"/>
                </a:cubicBezTo>
                <a:cubicBezTo>
                  <a:pt x="21894" y="1511131"/>
                  <a:pt x="-19629" y="1330758"/>
                  <a:pt x="0" y="1096309"/>
                </a:cubicBezTo>
                <a:cubicBezTo>
                  <a:pt x="19629" y="861860"/>
                  <a:pt x="-8878" y="769604"/>
                  <a:pt x="0" y="444796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xmlns="" sd="267080960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57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Real </a:t>
            </a:r>
            <a:r>
              <a:rPr lang="en-GB" dirty="0" err="1"/>
              <a:t>SoC</a:t>
            </a:r>
            <a:r>
              <a:rPr lang="en-GB" dirty="0"/>
              <a:t>: Intel Pentium III</a:t>
            </a:r>
          </a:p>
        </p:txBody>
      </p:sp>
      <p:pic>
        <p:nvPicPr>
          <p:cNvPr id="8" name="Immagine 7" descr="Immagine che contiene circuito&#10;&#10;Descrizione generata automaticamente">
            <a:extLst>
              <a:ext uri="{FF2B5EF4-FFF2-40B4-BE49-F238E27FC236}">
                <a16:creationId xmlns:a16="http://schemas.microsoft.com/office/drawing/2014/main" xmlns="" id="{9587776D-985D-25C2-3249-005DD0371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80956"/>
            <a:ext cx="5181600" cy="326886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BFB950CD-AA66-ED60-47ED-91A8B7D178F8}"/>
              </a:ext>
            </a:extLst>
          </p:cNvPr>
          <p:cNvSpPr txBox="1"/>
          <p:nvPr/>
        </p:nvSpPr>
        <p:spPr>
          <a:xfrm>
            <a:off x="206692" y="1936628"/>
            <a:ext cx="1450658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On-chip memory</a:t>
            </a:r>
          </a:p>
        </p:txBody>
      </p:sp>
      <p:cxnSp>
        <p:nvCxnSpPr>
          <p:cNvPr id="20" name="Connettore curvo 19">
            <a:extLst>
              <a:ext uri="{FF2B5EF4-FFF2-40B4-BE49-F238E27FC236}">
                <a16:creationId xmlns:a16="http://schemas.microsoft.com/office/drawing/2014/main" xmlns="" id="{73F47609-93F1-EBFF-54F9-DBF5F5FA334D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1281856" y="2210041"/>
            <a:ext cx="448568" cy="1148238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xmlns="" id="{04121C5F-A037-590C-48CF-4B5BC8F539F1}"/>
              </a:ext>
            </a:extLst>
          </p:cNvPr>
          <p:cNvSpPr/>
          <p:nvPr/>
        </p:nvSpPr>
        <p:spPr>
          <a:xfrm>
            <a:off x="4748980" y="1080955"/>
            <a:ext cx="2413820" cy="3204200"/>
          </a:xfrm>
          <a:custGeom>
            <a:avLst/>
            <a:gdLst>
              <a:gd name="connsiteX0" fmla="*/ 0 w 2413820"/>
              <a:gd name="connsiteY0" fmla="*/ 402311 h 3204200"/>
              <a:gd name="connsiteX1" fmla="*/ 402311 w 2413820"/>
              <a:gd name="connsiteY1" fmla="*/ 0 h 3204200"/>
              <a:gd name="connsiteX2" fmla="*/ 922618 w 2413820"/>
              <a:gd name="connsiteY2" fmla="*/ 0 h 3204200"/>
              <a:gd name="connsiteX3" fmla="*/ 1491202 w 2413820"/>
              <a:gd name="connsiteY3" fmla="*/ 0 h 3204200"/>
              <a:gd name="connsiteX4" fmla="*/ 2011509 w 2413820"/>
              <a:gd name="connsiteY4" fmla="*/ 0 h 3204200"/>
              <a:gd name="connsiteX5" fmla="*/ 2413820 w 2413820"/>
              <a:gd name="connsiteY5" fmla="*/ 402311 h 3204200"/>
              <a:gd name="connsiteX6" fmla="*/ 2413820 w 2413820"/>
              <a:gd name="connsiteY6" fmla="*/ 954214 h 3204200"/>
              <a:gd name="connsiteX7" fmla="*/ 2413820 w 2413820"/>
              <a:gd name="connsiteY7" fmla="*/ 1530113 h 3204200"/>
              <a:gd name="connsiteX8" fmla="*/ 2413820 w 2413820"/>
              <a:gd name="connsiteY8" fmla="*/ 2058020 h 3204200"/>
              <a:gd name="connsiteX9" fmla="*/ 2413820 w 2413820"/>
              <a:gd name="connsiteY9" fmla="*/ 2801889 h 3204200"/>
              <a:gd name="connsiteX10" fmla="*/ 2011509 w 2413820"/>
              <a:gd name="connsiteY10" fmla="*/ 3204200 h 3204200"/>
              <a:gd name="connsiteX11" fmla="*/ 1507294 w 2413820"/>
              <a:gd name="connsiteY11" fmla="*/ 3204200 h 3204200"/>
              <a:gd name="connsiteX12" fmla="*/ 954802 w 2413820"/>
              <a:gd name="connsiteY12" fmla="*/ 3204200 h 3204200"/>
              <a:gd name="connsiteX13" fmla="*/ 402311 w 2413820"/>
              <a:gd name="connsiteY13" fmla="*/ 3204200 h 3204200"/>
              <a:gd name="connsiteX14" fmla="*/ 0 w 2413820"/>
              <a:gd name="connsiteY14" fmla="*/ 2801889 h 3204200"/>
              <a:gd name="connsiteX15" fmla="*/ 0 w 2413820"/>
              <a:gd name="connsiteY15" fmla="*/ 2201995 h 3204200"/>
              <a:gd name="connsiteX16" fmla="*/ 0 w 2413820"/>
              <a:gd name="connsiteY16" fmla="*/ 1602100 h 3204200"/>
              <a:gd name="connsiteX17" fmla="*/ 0 w 2413820"/>
              <a:gd name="connsiteY17" fmla="*/ 1002206 h 3204200"/>
              <a:gd name="connsiteX18" fmla="*/ 0 w 2413820"/>
              <a:gd name="connsiteY18" fmla="*/ 402311 h 320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413820" h="3204200" extrusionOk="0">
                <a:moveTo>
                  <a:pt x="0" y="402311"/>
                </a:moveTo>
                <a:cubicBezTo>
                  <a:pt x="-12902" y="146596"/>
                  <a:pt x="181400" y="30592"/>
                  <a:pt x="402311" y="0"/>
                </a:cubicBezTo>
                <a:cubicBezTo>
                  <a:pt x="622718" y="13830"/>
                  <a:pt x="755468" y="9477"/>
                  <a:pt x="922618" y="0"/>
                </a:cubicBezTo>
                <a:cubicBezTo>
                  <a:pt x="1089768" y="-9477"/>
                  <a:pt x="1235443" y="-3388"/>
                  <a:pt x="1491202" y="0"/>
                </a:cubicBezTo>
                <a:cubicBezTo>
                  <a:pt x="1746961" y="3388"/>
                  <a:pt x="1774300" y="-15502"/>
                  <a:pt x="2011509" y="0"/>
                </a:cubicBezTo>
                <a:cubicBezTo>
                  <a:pt x="2202760" y="20525"/>
                  <a:pt x="2417243" y="223079"/>
                  <a:pt x="2413820" y="402311"/>
                </a:cubicBezTo>
                <a:cubicBezTo>
                  <a:pt x="2435270" y="665978"/>
                  <a:pt x="2408091" y="816423"/>
                  <a:pt x="2413820" y="954214"/>
                </a:cubicBezTo>
                <a:cubicBezTo>
                  <a:pt x="2419549" y="1092005"/>
                  <a:pt x="2442108" y="1404321"/>
                  <a:pt x="2413820" y="1530113"/>
                </a:cubicBezTo>
                <a:cubicBezTo>
                  <a:pt x="2385532" y="1655905"/>
                  <a:pt x="2401065" y="1930743"/>
                  <a:pt x="2413820" y="2058020"/>
                </a:cubicBezTo>
                <a:cubicBezTo>
                  <a:pt x="2426575" y="2185297"/>
                  <a:pt x="2449014" y="2562138"/>
                  <a:pt x="2413820" y="2801889"/>
                </a:cubicBezTo>
                <a:cubicBezTo>
                  <a:pt x="2418184" y="3017847"/>
                  <a:pt x="2213176" y="3211726"/>
                  <a:pt x="2011509" y="3204200"/>
                </a:cubicBezTo>
                <a:cubicBezTo>
                  <a:pt x="1829758" y="3182449"/>
                  <a:pt x="1663267" y="3203836"/>
                  <a:pt x="1507294" y="3204200"/>
                </a:cubicBezTo>
                <a:cubicBezTo>
                  <a:pt x="1351322" y="3204564"/>
                  <a:pt x="1182717" y="3176805"/>
                  <a:pt x="954802" y="3204200"/>
                </a:cubicBezTo>
                <a:cubicBezTo>
                  <a:pt x="726887" y="3231595"/>
                  <a:pt x="523642" y="3220817"/>
                  <a:pt x="402311" y="3204200"/>
                </a:cubicBezTo>
                <a:cubicBezTo>
                  <a:pt x="183295" y="3212564"/>
                  <a:pt x="21006" y="2987437"/>
                  <a:pt x="0" y="2801889"/>
                </a:cubicBezTo>
                <a:cubicBezTo>
                  <a:pt x="11345" y="2611437"/>
                  <a:pt x="3269" y="2472496"/>
                  <a:pt x="0" y="2201995"/>
                </a:cubicBezTo>
                <a:cubicBezTo>
                  <a:pt x="-3269" y="1931494"/>
                  <a:pt x="-15513" y="1784289"/>
                  <a:pt x="0" y="1602100"/>
                </a:cubicBezTo>
                <a:cubicBezTo>
                  <a:pt x="15513" y="1419911"/>
                  <a:pt x="29589" y="1174370"/>
                  <a:pt x="0" y="1002206"/>
                </a:cubicBezTo>
                <a:cubicBezTo>
                  <a:pt x="-29589" y="830042"/>
                  <a:pt x="-17994" y="581822"/>
                  <a:pt x="0" y="402311"/>
                </a:cubicBezTo>
                <a:close/>
              </a:path>
            </a:pathLst>
          </a:custGeom>
          <a:noFill/>
          <a:ln w="38100">
            <a:solidFill>
              <a:srgbClr val="82B366"/>
            </a:solidFill>
            <a:extLst>
              <a:ext uri="{C807C97D-BFC1-408E-A445-0C87EB9F89A2}">
                <ask:lineSketchStyleProps xmlns:ask="http://schemas.microsoft.com/office/drawing/2018/sketchyshapes" xmlns="" sd="1595350206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xmlns="" id="{68D9AF16-B46C-94E9-2C36-E74099FA5B48}"/>
              </a:ext>
            </a:extLst>
          </p:cNvPr>
          <p:cNvSpPr txBox="1"/>
          <p:nvPr/>
        </p:nvSpPr>
        <p:spPr>
          <a:xfrm>
            <a:off x="7486651" y="3223475"/>
            <a:ext cx="1450658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GB" dirty="0">
                <a:solidFill>
                  <a:srgbClr val="82B366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Data </a:t>
            </a:r>
            <a:r>
              <a:rPr lang="en-GB" dirty="0" smtClean="0">
                <a:solidFill>
                  <a:srgbClr val="82B366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processing</a:t>
            </a:r>
            <a:endParaRPr lang="en-GB" dirty="0">
              <a:solidFill>
                <a:srgbClr val="82B366"/>
              </a:solidFill>
              <a:latin typeface="Baskerville Display PT" panose="02030602080406020203" pitchFamily="18" charset="0"/>
              <a:ea typeface="Baskerville Display PT" panose="02030602080406020203" pitchFamily="18" charset="0"/>
            </a:endParaRPr>
          </a:p>
        </p:txBody>
      </p:sp>
      <p:cxnSp>
        <p:nvCxnSpPr>
          <p:cNvPr id="27" name="Connettore curvo 26">
            <a:extLst>
              <a:ext uri="{FF2B5EF4-FFF2-40B4-BE49-F238E27FC236}">
                <a16:creationId xmlns:a16="http://schemas.microsoft.com/office/drawing/2014/main" xmlns="" id="{AACDE893-9CFD-0593-9578-746736A4556A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rot="10800000">
            <a:off x="6240183" y="1080955"/>
            <a:ext cx="1246469" cy="2454144"/>
          </a:xfrm>
          <a:prstGeom prst="curvedConnector3">
            <a:avLst>
              <a:gd name="adj1" fmla="val 50000"/>
            </a:avLst>
          </a:prstGeom>
          <a:ln w="28575">
            <a:solidFill>
              <a:srgbClr val="82B3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xmlns="" id="{27FABEB0-AC26-99E0-C233-24425C6F5516}"/>
              </a:ext>
            </a:extLst>
          </p:cNvPr>
          <p:cNvSpPr/>
          <p:nvPr/>
        </p:nvSpPr>
        <p:spPr>
          <a:xfrm>
            <a:off x="2080260" y="1667070"/>
            <a:ext cx="2668721" cy="2682746"/>
          </a:xfrm>
          <a:custGeom>
            <a:avLst/>
            <a:gdLst>
              <a:gd name="connsiteX0" fmla="*/ 0 w 2668721"/>
              <a:gd name="connsiteY0" fmla="*/ 444796 h 2682746"/>
              <a:gd name="connsiteX1" fmla="*/ 444796 w 2668721"/>
              <a:gd name="connsiteY1" fmla="*/ 0 h 2682746"/>
              <a:gd name="connsiteX2" fmla="*/ 1020048 w 2668721"/>
              <a:gd name="connsiteY2" fmla="*/ 0 h 2682746"/>
              <a:gd name="connsiteX3" fmla="*/ 1559717 w 2668721"/>
              <a:gd name="connsiteY3" fmla="*/ 0 h 2682746"/>
              <a:gd name="connsiteX4" fmla="*/ 2223925 w 2668721"/>
              <a:gd name="connsiteY4" fmla="*/ 0 h 2682746"/>
              <a:gd name="connsiteX5" fmla="*/ 2668721 w 2668721"/>
              <a:gd name="connsiteY5" fmla="*/ 444796 h 2682746"/>
              <a:gd name="connsiteX6" fmla="*/ 2668721 w 2668721"/>
              <a:gd name="connsiteY6" fmla="*/ 1042514 h 2682746"/>
              <a:gd name="connsiteX7" fmla="*/ 2668721 w 2668721"/>
              <a:gd name="connsiteY7" fmla="*/ 1640232 h 2682746"/>
              <a:gd name="connsiteX8" fmla="*/ 2668721 w 2668721"/>
              <a:gd name="connsiteY8" fmla="*/ 2237950 h 2682746"/>
              <a:gd name="connsiteX9" fmla="*/ 2223925 w 2668721"/>
              <a:gd name="connsiteY9" fmla="*/ 2682746 h 2682746"/>
              <a:gd name="connsiteX10" fmla="*/ 1684256 w 2668721"/>
              <a:gd name="connsiteY10" fmla="*/ 2682746 h 2682746"/>
              <a:gd name="connsiteX11" fmla="*/ 1055630 w 2668721"/>
              <a:gd name="connsiteY11" fmla="*/ 2682746 h 2682746"/>
              <a:gd name="connsiteX12" fmla="*/ 444796 w 2668721"/>
              <a:gd name="connsiteY12" fmla="*/ 2682746 h 2682746"/>
              <a:gd name="connsiteX13" fmla="*/ 0 w 2668721"/>
              <a:gd name="connsiteY13" fmla="*/ 2237950 h 2682746"/>
              <a:gd name="connsiteX14" fmla="*/ 0 w 2668721"/>
              <a:gd name="connsiteY14" fmla="*/ 1676095 h 2682746"/>
              <a:gd name="connsiteX15" fmla="*/ 0 w 2668721"/>
              <a:gd name="connsiteY15" fmla="*/ 1096309 h 2682746"/>
              <a:gd name="connsiteX16" fmla="*/ 0 w 2668721"/>
              <a:gd name="connsiteY16" fmla="*/ 444796 h 268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68721" h="2682746" extrusionOk="0">
                <a:moveTo>
                  <a:pt x="0" y="444796"/>
                </a:moveTo>
                <a:cubicBezTo>
                  <a:pt x="31514" y="241059"/>
                  <a:pt x="252000" y="-28297"/>
                  <a:pt x="444796" y="0"/>
                </a:cubicBezTo>
                <a:cubicBezTo>
                  <a:pt x="729218" y="-5158"/>
                  <a:pt x="796861" y="-2845"/>
                  <a:pt x="1020048" y="0"/>
                </a:cubicBezTo>
                <a:cubicBezTo>
                  <a:pt x="1243235" y="2845"/>
                  <a:pt x="1371964" y="-136"/>
                  <a:pt x="1559717" y="0"/>
                </a:cubicBezTo>
                <a:cubicBezTo>
                  <a:pt x="1747470" y="136"/>
                  <a:pt x="1954906" y="292"/>
                  <a:pt x="2223925" y="0"/>
                </a:cubicBezTo>
                <a:cubicBezTo>
                  <a:pt x="2472236" y="-17094"/>
                  <a:pt x="2635236" y="217011"/>
                  <a:pt x="2668721" y="444796"/>
                </a:cubicBezTo>
                <a:cubicBezTo>
                  <a:pt x="2674769" y="713078"/>
                  <a:pt x="2674362" y="785594"/>
                  <a:pt x="2668721" y="1042514"/>
                </a:cubicBezTo>
                <a:cubicBezTo>
                  <a:pt x="2663080" y="1299434"/>
                  <a:pt x="2679443" y="1400373"/>
                  <a:pt x="2668721" y="1640232"/>
                </a:cubicBezTo>
                <a:cubicBezTo>
                  <a:pt x="2657999" y="1880091"/>
                  <a:pt x="2666816" y="2096219"/>
                  <a:pt x="2668721" y="2237950"/>
                </a:cubicBezTo>
                <a:cubicBezTo>
                  <a:pt x="2673131" y="2430751"/>
                  <a:pt x="2466111" y="2678269"/>
                  <a:pt x="2223925" y="2682746"/>
                </a:cubicBezTo>
                <a:cubicBezTo>
                  <a:pt x="1971217" y="2700521"/>
                  <a:pt x="1933975" y="2678525"/>
                  <a:pt x="1684256" y="2682746"/>
                </a:cubicBezTo>
                <a:cubicBezTo>
                  <a:pt x="1434537" y="2686967"/>
                  <a:pt x="1292011" y="2680160"/>
                  <a:pt x="1055630" y="2682746"/>
                </a:cubicBezTo>
                <a:cubicBezTo>
                  <a:pt x="819249" y="2685332"/>
                  <a:pt x="743626" y="2704931"/>
                  <a:pt x="444796" y="2682746"/>
                </a:cubicBezTo>
                <a:cubicBezTo>
                  <a:pt x="219550" y="2686808"/>
                  <a:pt x="37240" y="2480937"/>
                  <a:pt x="0" y="2237950"/>
                </a:cubicBezTo>
                <a:cubicBezTo>
                  <a:pt x="-24122" y="2113446"/>
                  <a:pt x="-21894" y="1841060"/>
                  <a:pt x="0" y="1676095"/>
                </a:cubicBezTo>
                <a:cubicBezTo>
                  <a:pt x="21894" y="1511131"/>
                  <a:pt x="-19629" y="1330758"/>
                  <a:pt x="0" y="1096309"/>
                </a:cubicBezTo>
                <a:cubicBezTo>
                  <a:pt x="19629" y="861860"/>
                  <a:pt x="-8878" y="769604"/>
                  <a:pt x="0" y="444796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xmlns="" sd="2670809603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1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Largest </a:t>
            </a:r>
            <a:r>
              <a:rPr lang="en-US" dirty="0" err="1"/>
              <a:t>SoCs</a:t>
            </a:r>
            <a:r>
              <a:rPr lang="en-US" dirty="0"/>
              <a:t> Ever Built (as of </a:t>
            </a:r>
            <a:r>
              <a:rPr lang="en-US" dirty="0" smtClean="0"/>
              <a:t>2025)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336126"/>
              </p:ext>
            </p:extLst>
          </p:nvPr>
        </p:nvGraphicFramePr>
        <p:xfrm>
          <a:off x="789701" y="1083120"/>
          <a:ext cx="7641772" cy="322707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10443"/>
                <a:gridCol w="1910443"/>
                <a:gridCol w="1910443"/>
                <a:gridCol w="1910443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b="1" dirty="0" err="1">
                          <a:effectLst/>
                          <a:latin typeface="Agency FB" panose="020B0503020202020204" pitchFamily="34" charset="0"/>
                        </a:rPr>
                        <a:t>SoC</a:t>
                      </a:r>
                      <a:r>
                        <a:rPr lang="en-US" b="1" dirty="0">
                          <a:effectLst/>
                          <a:latin typeface="Agency FB" panose="020B0503020202020204" pitchFamily="34" charset="0"/>
                        </a:rPr>
                        <a:t> Model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1" dirty="0">
                          <a:effectLst/>
                          <a:latin typeface="Agency FB" panose="020B0503020202020204" pitchFamily="34" charset="0"/>
                        </a:rPr>
                        <a:t>Manufacturer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1" dirty="0">
                          <a:effectLst/>
                          <a:latin typeface="Agency FB" panose="020B0503020202020204" pitchFamily="34" charset="0"/>
                        </a:rPr>
                        <a:t>Number of Transistors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1" dirty="0" smtClean="0">
                          <a:effectLst/>
                          <a:latin typeface="Agency FB" panose="020B0503020202020204" pitchFamily="34" charset="0"/>
                        </a:rPr>
                        <a:t>Performance</a:t>
                      </a:r>
                      <a:endParaRPr lang="en-US" b="1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Wafer Scale Engine </a:t>
                      </a:r>
                      <a:r>
                        <a:rPr lang="en-US" dirty="0" smtClean="0">
                          <a:effectLst/>
                          <a:latin typeface="Agency FB" panose="020B0503020202020204" pitchFamily="34" charset="0"/>
                        </a:rPr>
                        <a:t>3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err="1">
                          <a:effectLst/>
                          <a:latin typeface="Agency FB" panose="020B0503020202020204" pitchFamily="34" charset="0"/>
                        </a:rPr>
                        <a:t>Cerebras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smtClean="0">
                          <a:effectLst/>
                          <a:latin typeface="Agency FB" panose="020B0503020202020204" pitchFamily="34" charset="0"/>
                        </a:rPr>
                        <a:t>4.0 </a:t>
                      </a:r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trillion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125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PetaFLOPS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Wafer Scale Engine 2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err="1">
                          <a:effectLst/>
                          <a:latin typeface="Agency FB" panose="020B0503020202020204" pitchFamily="34" charset="0"/>
                        </a:rPr>
                        <a:t>Cerebras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2.6 trillion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7.5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PetaFLOPS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 err="1">
                          <a:effectLst/>
                          <a:latin typeface="Agency FB" panose="020B0503020202020204" pitchFamily="34" charset="0"/>
                        </a:rPr>
                        <a:t>Nvidia</a:t>
                      </a:r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 B100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err="1">
                          <a:effectLst/>
                          <a:latin typeface="Agency FB" panose="020B0503020202020204" pitchFamily="34" charset="0"/>
                        </a:rPr>
                        <a:t>Nvidia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208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20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PetaFLOPS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Apple M3 Ultra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184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28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Apple M2 Ultra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smtClean="0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134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18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 smtClean="0">
                          <a:effectLst/>
                          <a:latin typeface="Agency FB" panose="020B0503020202020204" pitchFamily="34" charset="0"/>
                        </a:rPr>
                        <a:t>Apple M1 Ultra 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 smtClean="0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effectLst/>
                          <a:latin typeface="Agency FB" panose="020B0503020202020204" pitchFamily="34" charset="0"/>
                        </a:rPr>
                        <a:t>114 billion</a:t>
                      </a:r>
                      <a:endParaRPr lang="en-US" b="0" i="0" dirty="0" smtClean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15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 smtClean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Apple M3 Max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92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14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>
                          <a:effectLst/>
                          <a:latin typeface="Agency FB" panose="020B0503020202020204" pitchFamily="34" charset="0"/>
                        </a:rPr>
                        <a:t>Nvidia GH100</a:t>
                      </a:r>
                      <a:endParaRPr lang="en-US" b="0" i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>
                          <a:effectLst/>
                          <a:latin typeface="Agency FB" panose="020B0503020202020204" pitchFamily="34" charset="0"/>
                        </a:rPr>
                        <a:t>Nvidia</a:t>
                      </a:r>
                      <a:endParaRPr lang="en-US" b="0" i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80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3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PetaFLOPS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Apple M3 Pro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37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7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Apple M3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>
                          <a:effectLst/>
                          <a:latin typeface="Agency FB" panose="020B0503020202020204" pitchFamily="34" charset="0"/>
                        </a:rPr>
                        <a:t>Apple</a:t>
                      </a:r>
                      <a:endParaRPr lang="en-US" b="0" i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dirty="0">
                          <a:effectLst/>
                          <a:latin typeface="Agency FB" panose="020B0503020202020204" pitchFamily="34" charset="0"/>
                        </a:rPr>
                        <a:t>25 billion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b="0" i="0" dirty="0" smtClean="0">
                          <a:effectLst/>
                          <a:latin typeface="Agency FB" panose="020B0503020202020204" pitchFamily="34" charset="0"/>
                        </a:rPr>
                        <a:t>3.5 </a:t>
                      </a:r>
                      <a:r>
                        <a:rPr lang="en-US" b="0" i="0" dirty="0" err="1" smtClean="0">
                          <a:effectLst/>
                          <a:latin typeface="Agency FB" panose="020B0503020202020204" pitchFamily="34" charset="0"/>
                        </a:rPr>
                        <a:t>TeraFLOPS</a:t>
                      </a:r>
                      <a:endParaRPr lang="en-US" b="0" i="0" dirty="0"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47625" marR="476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8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Wafer Scale Engine 3 </a:t>
            </a:r>
            <a:r>
              <a:rPr lang="en-US" dirty="0" err="1"/>
              <a:t>SoC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Wafer Scale Engine 3 (WSE-3)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groundbreaking chip designed specifically for artificial intelligence (AI) and high-performance computing (HPC) workloads. Here are some key features: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Transistors: It contains an astonishing 4.0 trillion transistors.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Cores: The chip boasts 900,000 AI-optimized cores.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 It includes 44 GB of on-chip SRAM memory.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Consumption: The chip consumes around 15 kW of power.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125 petaflops.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WSE-3 is unique because it uses an entire 5nm wafer to create a single, massive chip, bypassing the traditional reticle limits of chip manufacturing. This design allows for unprecedented computational power and efficiency, making it ideal for large-scale AI model training and other demanding computational tasks.</a:t>
            </a:r>
          </a:p>
        </p:txBody>
      </p:sp>
    </p:spTree>
    <p:extLst>
      <p:ext uri="{BB962C8B-B14F-4D97-AF65-F5344CB8AC3E}">
        <p14:creationId xmlns:p14="http://schemas.microsoft.com/office/powerpoint/2010/main" val="8261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Wafer Scale Engine 3 </a:t>
            </a:r>
            <a:r>
              <a:rPr lang="en-US" dirty="0" err="1"/>
              <a:t>SoC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958" y="592027"/>
            <a:ext cx="4773861" cy="408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4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FCBA28-3307-21E6-976B-12D58FD0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7B4384A0-B4E0-C680-2872-75DDE175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xmlns="" id="{1B91FD39-0021-95BE-ADAF-C1DC408595D6}"/>
              </a:ext>
            </a:extLst>
          </p:cNvPr>
          <p:cNvGrpSpPr/>
          <p:nvPr/>
        </p:nvGrpSpPr>
        <p:grpSpPr>
          <a:xfrm>
            <a:off x="2821548" y="1199127"/>
            <a:ext cx="3500904" cy="2822486"/>
            <a:chOff x="3540341" y="2078289"/>
            <a:chExt cx="4667872" cy="3763314"/>
          </a:xfrm>
        </p:grpSpPr>
        <p:sp>
          <p:nvSpPr>
            <p:cNvPr id="4" name="Titolo 1">
              <a:extLst>
                <a:ext uri="{FF2B5EF4-FFF2-40B4-BE49-F238E27FC236}">
                  <a16:creationId xmlns:a16="http://schemas.microsoft.com/office/drawing/2014/main" xmlns="" id="{22272DF1-272A-3857-8922-FC33B6132FDC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xmlns="" id="{98ABCFFA-D064-40AC-ECAB-529D1353163E}"/>
                </a:ext>
              </a:extLst>
            </p:cNvPr>
            <p:cNvSpPr txBox="1"/>
            <p:nvPr/>
          </p:nvSpPr>
          <p:spPr>
            <a:xfrm>
              <a:off x="4608213" y="2207471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System-on-Chip (</a:t>
              </a:r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)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xmlns="" id="{F30030C9-42D4-C129-04A8-21E88BC96032}"/>
                </a:ext>
              </a:extLst>
            </p:cNvPr>
            <p:cNvSpPr txBox="1"/>
            <p:nvPr/>
          </p:nvSpPr>
          <p:spPr>
            <a:xfrm>
              <a:off x="4608213" y="368158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Building Blocks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itolo 1">
              <a:extLst>
                <a:ext uri="{FF2B5EF4-FFF2-40B4-BE49-F238E27FC236}">
                  <a16:creationId xmlns:a16="http://schemas.microsoft.com/office/drawing/2014/main" xmlns="" id="{E3653B09-44EA-D83A-CF46-9CD888FA6512}"/>
                </a:ext>
              </a:extLst>
            </p:cNvPr>
            <p:cNvSpPr txBox="1">
              <a:spLocks/>
            </p:cNvSpPr>
            <p:nvPr/>
          </p:nvSpPr>
          <p:spPr>
            <a:xfrm>
              <a:off x="3540342" y="3565775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xmlns="" id="{C7363B8B-C101-F3EA-1577-DECB3746D077}"/>
                </a:ext>
              </a:extLst>
            </p:cNvPr>
            <p:cNvSpPr txBox="1"/>
            <p:nvPr/>
          </p:nvSpPr>
          <p:spPr>
            <a:xfrm>
              <a:off x="4608213" y="518883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Design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itolo 1">
              <a:extLst>
                <a:ext uri="{FF2B5EF4-FFF2-40B4-BE49-F238E27FC236}">
                  <a16:creationId xmlns:a16="http://schemas.microsoft.com/office/drawing/2014/main" xmlns="" id="{168A783C-C85F-6801-EB09-1AA1D8910D60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5017909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473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xmlns="" id="{70CC306E-427D-431B-FDDE-BFDE7CAE0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27" y="855821"/>
            <a:ext cx="3431858" cy="343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3760067" y="1421415"/>
            <a:ext cx="3983907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categories:</a:t>
            </a:r>
          </a:p>
        </p:txBody>
      </p:sp>
    </p:spTree>
    <p:extLst>
      <p:ext uri="{BB962C8B-B14F-4D97-AF65-F5344CB8AC3E}">
        <p14:creationId xmlns:p14="http://schemas.microsoft.com/office/powerpoint/2010/main" val="172468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C0423FD-CEF7-B439-0BB4-AE421F247DC2}"/>
              </a:ext>
            </a:extLst>
          </p:cNvPr>
          <p:cNvGrpSpPr/>
          <p:nvPr/>
        </p:nvGrpSpPr>
        <p:grpSpPr>
          <a:xfrm>
            <a:off x="162127" y="855821"/>
            <a:ext cx="7581847" cy="3431858"/>
            <a:chOff x="162127" y="1068370"/>
            <a:chExt cx="7581847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70CC306E-427D-431B-FDDE-BFDE7CAE0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Ovale 11">
              <a:extLst>
                <a:ext uri="{FF2B5EF4-FFF2-40B4-BE49-F238E27FC236}">
                  <a16:creationId xmlns:a16="http://schemas.microsoft.com/office/drawing/2014/main" xmlns="" id="{8DDD3773-6392-355C-72C6-0717F1B473A5}"/>
                </a:ext>
              </a:extLst>
            </p:cNvPr>
            <p:cNvSpPr/>
            <p:nvPr/>
          </p:nvSpPr>
          <p:spPr>
            <a:xfrm>
              <a:off x="2363789" y="2725588"/>
              <a:ext cx="1038970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412513691">
                    <a:custGeom>
                      <a:avLst/>
                      <a:gdLst>
                        <a:gd name="connsiteX0" fmla="*/ 0 w 1038970"/>
                        <a:gd name="connsiteY0" fmla="*/ 331839 h 663678"/>
                        <a:gd name="connsiteX1" fmla="*/ 519485 w 1038970"/>
                        <a:gd name="connsiteY1" fmla="*/ 0 h 663678"/>
                        <a:gd name="connsiteX2" fmla="*/ 1038970 w 1038970"/>
                        <a:gd name="connsiteY2" fmla="*/ 331839 h 663678"/>
                        <a:gd name="connsiteX3" fmla="*/ 519485 w 1038970"/>
                        <a:gd name="connsiteY3" fmla="*/ 663678 h 663678"/>
                        <a:gd name="connsiteX4" fmla="*/ 0 w 1038970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0" h="663678" extrusionOk="0">
                          <a:moveTo>
                            <a:pt x="0" y="331839"/>
                          </a:moveTo>
                          <a:cubicBezTo>
                            <a:pt x="14429" y="152318"/>
                            <a:pt x="230630" y="22402"/>
                            <a:pt x="519485" y="0"/>
                          </a:cubicBezTo>
                          <a:cubicBezTo>
                            <a:pt x="785736" y="12753"/>
                            <a:pt x="1072822" y="158406"/>
                            <a:pt x="1038970" y="331839"/>
                          </a:cubicBezTo>
                          <a:cubicBezTo>
                            <a:pt x="1066569" y="481420"/>
                            <a:pt x="821897" y="700940"/>
                            <a:pt x="519485" y="663678"/>
                          </a:cubicBezTo>
                          <a:cubicBezTo>
                            <a:pt x="224150" y="706585"/>
                            <a:pt x="15589" y="50616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6" name="Ovale 5">
              <a:extLst>
                <a:ext uri="{FF2B5EF4-FFF2-40B4-BE49-F238E27FC236}">
                  <a16:creationId xmlns:a16="http://schemas.microsoft.com/office/drawing/2014/main" xmlns="" id="{56AD080C-4DB3-4409-1DB8-950C529ED98D}"/>
                </a:ext>
              </a:extLst>
            </p:cNvPr>
            <p:cNvSpPr/>
            <p:nvPr/>
          </p:nvSpPr>
          <p:spPr>
            <a:xfrm>
              <a:off x="725950" y="1675990"/>
              <a:ext cx="936523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227694871">
                    <a:custGeom>
                      <a:avLst/>
                      <a:gdLst>
                        <a:gd name="connsiteX0" fmla="*/ 0 w 936523"/>
                        <a:gd name="connsiteY0" fmla="*/ 331839 h 663678"/>
                        <a:gd name="connsiteX1" fmla="*/ 468262 w 936523"/>
                        <a:gd name="connsiteY1" fmla="*/ 0 h 663678"/>
                        <a:gd name="connsiteX2" fmla="*/ 936524 w 936523"/>
                        <a:gd name="connsiteY2" fmla="*/ 331839 h 663678"/>
                        <a:gd name="connsiteX3" fmla="*/ 468262 w 936523"/>
                        <a:gd name="connsiteY3" fmla="*/ 663678 h 663678"/>
                        <a:gd name="connsiteX4" fmla="*/ 0 w 936523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3" h="663678" extrusionOk="0">
                          <a:moveTo>
                            <a:pt x="0" y="331839"/>
                          </a:moveTo>
                          <a:cubicBezTo>
                            <a:pt x="-13565" y="142352"/>
                            <a:pt x="217924" y="3130"/>
                            <a:pt x="468262" y="0"/>
                          </a:cubicBezTo>
                          <a:cubicBezTo>
                            <a:pt x="737894" y="-15634"/>
                            <a:pt x="939741" y="155281"/>
                            <a:pt x="936524" y="331839"/>
                          </a:cubicBezTo>
                          <a:cubicBezTo>
                            <a:pt x="977966" y="545400"/>
                            <a:pt x="740962" y="691347"/>
                            <a:pt x="468262" y="663678"/>
                          </a:cubicBezTo>
                          <a:cubicBezTo>
                            <a:pt x="208115" y="680860"/>
                            <a:pt x="-8225" y="511103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" name="CasellaDiTesto 13">
              <a:extLst>
                <a:ext uri="{FF2B5EF4-FFF2-40B4-BE49-F238E27FC236}">
                  <a16:creationId xmlns:a16="http://schemas.microsoft.com/office/drawing/2014/main" xmlns="" id="{69943761-A5CF-C116-53B9-AC72AB1C62C3}"/>
                </a:ext>
              </a:extLst>
            </p:cNvPr>
            <p:cNvSpPr txBox="1"/>
            <p:nvPr/>
          </p:nvSpPr>
          <p:spPr>
            <a:xfrm>
              <a:off x="3760067" y="1637169"/>
              <a:ext cx="3983907" cy="107978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just">
                <a:spcAft>
                  <a:spcPts val="1350"/>
                </a:spcAft>
                <a:buClr>
                  <a:srgbClr val="003153"/>
                </a:buClr>
              </a:pP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SoC’s components can be divided into three main categories:</a:t>
              </a:r>
            </a:p>
            <a:p>
              <a:pPr marL="800100" lvl="1" indent="-342900" algn="just">
                <a:spcAft>
                  <a:spcPts val="1350"/>
                </a:spcAft>
                <a:buClr>
                  <a:srgbClr val="003153"/>
                </a:buClr>
                <a:buFont typeface="+mj-lt"/>
                <a:buAutoNum type="arabicPeriod"/>
              </a:pP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CPU </a:t>
              </a:r>
              <a:r>
                <a:rPr lang="en-GB" dirty="0" smtClean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cores.</a:t>
              </a:r>
              <a:endPara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39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72BC73A1-77A2-7F23-2184-C1BCFBC37935}"/>
              </a:ext>
            </a:extLst>
          </p:cNvPr>
          <p:cNvGrpSpPr/>
          <p:nvPr/>
        </p:nvGrpSpPr>
        <p:grpSpPr>
          <a:xfrm>
            <a:off x="162127" y="855821"/>
            <a:ext cx="3431858" cy="3431858"/>
            <a:chOff x="162127" y="1068370"/>
            <a:chExt cx="3431858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70CC306E-427D-431B-FDDE-BFDE7CAE0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e 5">
              <a:extLst>
                <a:ext uri="{FF2B5EF4-FFF2-40B4-BE49-F238E27FC236}">
                  <a16:creationId xmlns:a16="http://schemas.microsoft.com/office/drawing/2014/main" xmlns="" id="{6035CA61-13A0-F2AE-1FA5-106B847B0F22}"/>
                </a:ext>
              </a:extLst>
            </p:cNvPr>
            <p:cNvSpPr/>
            <p:nvPr/>
          </p:nvSpPr>
          <p:spPr>
            <a:xfrm>
              <a:off x="2121744" y="1715055"/>
              <a:ext cx="1038971" cy="720147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740090721">
                    <a:custGeom>
                      <a:avLst/>
                      <a:gdLst>
                        <a:gd name="connsiteX0" fmla="*/ 0 w 1038971"/>
                        <a:gd name="connsiteY0" fmla="*/ 360074 h 720147"/>
                        <a:gd name="connsiteX1" fmla="*/ 519486 w 1038971"/>
                        <a:gd name="connsiteY1" fmla="*/ 0 h 720147"/>
                        <a:gd name="connsiteX2" fmla="*/ 1038972 w 1038971"/>
                        <a:gd name="connsiteY2" fmla="*/ 360074 h 720147"/>
                        <a:gd name="connsiteX3" fmla="*/ 519486 w 1038971"/>
                        <a:gd name="connsiteY3" fmla="*/ 720148 h 720147"/>
                        <a:gd name="connsiteX4" fmla="*/ 0 w 1038971"/>
                        <a:gd name="connsiteY4" fmla="*/ 360074 h 7201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1" h="720147" extrusionOk="0">
                          <a:moveTo>
                            <a:pt x="0" y="360074"/>
                          </a:moveTo>
                          <a:cubicBezTo>
                            <a:pt x="18411" y="169448"/>
                            <a:pt x="228714" y="-408"/>
                            <a:pt x="519486" y="0"/>
                          </a:cubicBezTo>
                          <a:cubicBezTo>
                            <a:pt x="805472" y="-18655"/>
                            <a:pt x="1023689" y="164907"/>
                            <a:pt x="1038972" y="360074"/>
                          </a:cubicBezTo>
                          <a:cubicBezTo>
                            <a:pt x="1050942" y="570974"/>
                            <a:pt x="845782" y="722680"/>
                            <a:pt x="519486" y="720148"/>
                          </a:cubicBezTo>
                          <a:cubicBezTo>
                            <a:pt x="219080" y="729783"/>
                            <a:pt x="-38558" y="552915"/>
                            <a:pt x="0" y="3600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xmlns="" id="{9F2FBAC2-7456-49F5-4ED5-463C7FAF0770}"/>
                </a:ext>
              </a:extLst>
            </p:cNvPr>
            <p:cNvSpPr/>
            <p:nvPr/>
          </p:nvSpPr>
          <p:spPr>
            <a:xfrm>
              <a:off x="1486636" y="2853050"/>
              <a:ext cx="936524" cy="663678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584859058">
                    <a:custGeom>
                      <a:avLst/>
                      <a:gdLst>
                        <a:gd name="connsiteX0" fmla="*/ 0 w 936524"/>
                        <a:gd name="connsiteY0" fmla="*/ 331839 h 663678"/>
                        <a:gd name="connsiteX1" fmla="*/ 468262 w 936524"/>
                        <a:gd name="connsiteY1" fmla="*/ 0 h 663678"/>
                        <a:gd name="connsiteX2" fmla="*/ 936524 w 936524"/>
                        <a:gd name="connsiteY2" fmla="*/ 331839 h 663678"/>
                        <a:gd name="connsiteX3" fmla="*/ 468262 w 936524"/>
                        <a:gd name="connsiteY3" fmla="*/ 663678 h 663678"/>
                        <a:gd name="connsiteX4" fmla="*/ 0 w 936524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4" h="663678" extrusionOk="0">
                          <a:moveTo>
                            <a:pt x="0" y="331839"/>
                          </a:moveTo>
                          <a:cubicBezTo>
                            <a:pt x="-28192" y="116817"/>
                            <a:pt x="248297" y="-748"/>
                            <a:pt x="468262" y="0"/>
                          </a:cubicBezTo>
                          <a:cubicBezTo>
                            <a:pt x="710663" y="-3643"/>
                            <a:pt x="936130" y="156582"/>
                            <a:pt x="936524" y="331839"/>
                          </a:cubicBezTo>
                          <a:cubicBezTo>
                            <a:pt x="913175" y="490097"/>
                            <a:pt x="754207" y="642292"/>
                            <a:pt x="468262" y="663678"/>
                          </a:cubicBezTo>
                          <a:cubicBezTo>
                            <a:pt x="212177" y="653106"/>
                            <a:pt x="33046" y="518516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xmlns="" id="{FD9DA90A-EC83-4347-9CD9-5B29B354861A}"/>
                </a:ext>
              </a:extLst>
            </p:cNvPr>
            <p:cNvSpPr/>
            <p:nvPr/>
          </p:nvSpPr>
          <p:spPr>
            <a:xfrm>
              <a:off x="2363789" y="2725588"/>
              <a:ext cx="1038970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412513691">
                    <a:custGeom>
                      <a:avLst/>
                      <a:gdLst>
                        <a:gd name="connsiteX0" fmla="*/ 0 w 1038970"/>
                        <a:gd name="connsiteY0" fmla="*/ 331839 h 663678"/>
                        <a:gd name="connsiteX1" fmla="*/ 519485 w 1038970"/>
                        <a:gd name="connsiteY1" fmla="*/ 0 h 663678"/>
                        <a:gd name="connsiteX2" fmla="*/ 1038970 w 1038970"/>
                        <a:gd name="connsiteY2" fmla="*/ 331839 h 663678"/>
                        <a:gd name="connsiteX3" fmla="*/ 519485 w 1038970"/>
                        <a:gd name="connsiteY3" fmla="*/ 663678 h 663678"/>
                        <a:gd name="connsiteX4" fmla="*/ 0 w 1038970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0" h="663678" extrusionOk="0">
                          <a:moveTo>
                            <a:pt x="0" y="331839"/>
                          </a:moveTo>
                          <a:cubicBezTo>
                            <a:pt x="14429" y="152318"/>
                            <a:pt x="230630" y="22402"/>
                            <a:pt x="519485" y="0"/>
                          </a:cubicBezTo>
                          <a:cubicBezTo>
                            <a:pt x="785736" y="12753"/>
                            <a:pt x="1072822" y="158406"/>
                            <a:pt x="1038970" y="331839"/>
                          </a:cubicBezTo>
                          <a:cubicBezTo>
                            <a:pt x="1066569" y="481420"/>
                            <a:pt x="821897" y="700940"/>
                            <a:pt x="519485" y="663678"/>
                          </a:cubicBezTo>
                          <a:cubicBezTo>
                            <a:pt x="224150" y="706585"/>
                            <a:pt x="15589" y="50616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5" name="Ovale 4">
              <a:extLst>
                <a:ext uri="{FF2B5EF4-FFF2-40B4-BE49-F238E27FC236}">
                  <a16:creationId xmlns:a16="http://schemas.microsoft.com/office/drawing/2014/main" xmlns="" id="{B2CDF27B-B5A0-87C5-C886-95A8E5807C76}"/>
                </a:ext>
              </a:extLst>
            </p:cNvPr>
            <p:cNvSpPr/>
            <p:nvPr/>
          </p:nvSpPr>
          <p:spPr>
            <a:xfrm>
              <a:off x="725950" y="1675990"/>
              <a:ext cx="936523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227694871">
                    <a:custGeom>
                      <a:avLst/>
                      <a:gdLst>
                        <a:gd name="connsiteX0" fmla="*/ 0 w 936523"/>
                        <a:gd name="connsiteY0" fmla="*/ 331839 h 663678"/>
                        <a:gd name="connsiteX1" fmla="*/ 468262 w 936523"/>
                        <a:gd name="connsiteY1" fmla="*/ 0 h 663678"/>
                        <a:gd name="connsiteX2" fmla="*/ 936524 w 936523"/>
                        <a:gd name="connsiteY2" fmla="*/ 331839 h 663678"/>
                        <a:gd name="connsiteX3" fmla="*/ 468262 w 936523"/>
                        <a:gd name="connsiteY3" fmla="*/ 663678 h 663678"/>
                        <a:gd name="connsiteX4" fmla="*/ 0 w 936523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3" h="663678" extrusionOk="0">
                          <a:moveTo>
                            <a:pt x="0" y="331839"/>
                          </a:moveTo>
                          <a:cubicBezTo>
                            <a:pt x="-13565" y="142352"/>
                            <a:pt x="217924" y="3130"/>
                            <a:pt x="468262" y="0"/>
                          </a:cubicBezTo>
                          <a:cubicBezTo>
                            <a:pt x="737894" y="-15634"/>
                            <a:pt x="939741" y="155281"/>
                            <a:pt x="936524" y="331839"/>
                          </a:cubicBezTo>
                          <a:cubicBezTo>
                            <a:pt x="977966" y="545400"/>
                            <a:pt x="740962" y="691347"/>
                            <a:pt x="468262" y="663678"/>
                          </a:cubicBezTo>
                          <a:cubicBezTo>
                            <a:pt x="208115" y="680860"/>
                            <a:pt x="-8225" y="511103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CasellaDiTesto 13">
            <a:extLst>
              <a:ext uri="{FF2B5EF4-FFF2-40B4-BE49-F238E27FC236}">
                <a16:creationId xmlns:a16="http://schemas.microsoft.com/office/drawing/2014/main" xmlns="" id="{B9C400D8-9348-8AE7-5B65-0240A09B0796}"/>
              </a:ext>
            </a:extLst>
          </p:cNvPr>
          <p:cNvSpPr txBox="1"/>
          <p:nvPr/>
        </p:nvSpPr>
        <p:spPr>
          <a:xfrm>
            <a:off x="3760067" y="1424620"/>
            <a:ext cx="3983907" cy="153631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categories:</a:t>
            </a:r>
          </a:p>
          <a:p>
            <a:pPr marL="800100" lvl="1" indent="-342900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cores.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Memory 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devices.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5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E888E72-11EF-92B0-DB88-873F8DB0D00F}"/>
              </a:ext>
            </a:extLst>
          </p:cNvPr>
          <p:cNvGrpSpPr/>
          <p:nvPr/>
        </p:nvGrpSpPr>
        <p:grpSpPr>
          <a:xfrm>
            <a:off x="162127" y="855821"/>
            <a:ext cx="3431858" cy="3431858"/>
            <a:chOff x="162127" y="1068370"/>
            <a:chExt cx="3431858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70CC306E-427D-431B-FDDE-BFDE7CAE0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Ovale 12">
              <a:extLst>
                <a:ext uri="{FF2B5EF4-FFF2-40B4-BE49-F238E27FC236}">
                  <a16:creationId xmlns:a16="http://schemas.microsoft.com/office/drawing/2014/main" xmlns="" id="{12F42EB8-09A7-00AE-DD91-2F9B500A55AB}"/>
                </a:ext>
              </a:extLst>
            </p:cNvPr>
            <p:cNvSpPr/>
            <p:nvPr/>
          </p:nvSpPr>
          <p:spPr>
            <a:xfrm>
              <a:off x="1294615" y="2207404"/>
              <a:ext cx="1024927" cy="663678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334805410">
                    <a:custGeom>
                      <a:avLst/>
                      <a:gdLst>
                        <a:gd name="connsiteX0" fmla="*/ 0 w 1024927"/>
                        <a:gd name="connsiteY0" fmla="*/ 331839 h 663678"/>
                        <a:gd name="connsiteX1" fmla="*/ 512464 w 1024927"/>
                        <a:gd name="connsiteY1" fmla="*/ 0 h 663678"/>
                        <a:gd name="connsiteX2" fmla="*/ 1024928 w 1024927"/>
                        <a:gd name="connsiteY2" fmla="*/ 331839 h 663678"/>
                        <a:gd name="connsiteX3" fmla="*/ 512464 w 1024927"/>
                        <a:gd name="connsiteY3" fmla="*/ 663678 h 663678"/>
                        <a:gd name="connsiteX4" fmla="*/ 0 w 1024927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663678" extrusionOk="0">
                          <a:moveTo>
                            <a:pt x="0" y="331839"/>
                          </a:moveTo>
                          <a:cubicBezTo>
                            <a:pt x="-6438" y="76517"/>
                            <a:pt x="211563" y="55865"/>
                            <a:pt x="512464" y="0"/>
                          </a:cubicBezTo>
                          <a:cubicBezTo>
                            <a:pt x="803278" y="22130"/>
                            <a:pt x="980792" y="148542"/>
                            <a:pt x="1024928" y="331839"/>
                          </a:cubicBezTo>
                          <a:cubicBezTo>
                            <a:pt x="1026972" y="507736"/>
                            <a:pt x="768117" y="622511"/>
                            <a:pt x="512464" y="663678"/>
                          </a:cubicBezTo>
                          <a:cubicBezTo>
                            <a:pt x="187345" y="668532"/>
                            <a:pt x="-6520" y="55359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xmlns="" id="{7B129A1C-F468-D31E-E5BF-C5104C5BDD4E}"/>
                </a:ext>
              </a:extLst>
            </p:cNvPr>
            <p:cNvSpPr/>
            <p:nvPr/>
          </p:nvSpPr>
          <p:spPr>
            <a:xfrm>
              <a:off x="1689500" y="3433822"/>
              <a:ext cx="1186436" cy="791591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731494185">
                    <a:custGeom>
                      <a:avLst/>
                      <a:gdLst>
                        <a:gd name="connsiteX0" fmla="*/ 0 w 1186436"/>
                        <a:gd name="connsiteY0" fmla="*/ 395796 h 791591"/>
                        <a:gd name="connsiteX1" fmla="*/ 593218 w 1186436"/>
                        <a:gd name="connsiteY1" fmla="*/ 0 h 791591"/>
                        <a:gd name="connsiteX2" fmla="*/ 1186436 w 1186436"/>
                        <a:gd name="connsiteY2" fmla="*/ 395796 h 791591"/>
                        <a:gd name="connsiteX3" fmla="*/ 593218 w 1186436"/>
                        <a:gd name="connsiteY3" fmla="*/ 791592 h 791591"/>
                        <a:gd name="connsiteX4" fmla="*/ 0 w 1186436"/>
                        <a:gd name="connsiteY4" fmla="*/ 395796 h 7915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86436" h="791591" extrusionOk="0">
                          <a:moveTo>
                            <a:pt x="0" y="395796"/>
                          </a:moveTo>
                          <a:cubicBezTo>
                            <a:pt x="-42912" y="139508"/>
                            <a:pt x="278002" y="-18130"/>
                            <a:pt x="593218" y="0"/>
                          </a:cubicBezTo>
                          <a:cubicBezTo>
                            <a:pt x="937052" y="-21853"/>
                            <a:pt x="1216844" y="169903"/>
                            <a:pt x="1186436" y="395796"/>
                          </a:cubicBezTo>
                          <a:cubicBezTo>
                            <a:pt x="1224260" y="633954"/>
                            <a:pt x="892415" y="818318"/>
                            <a:pt x="593218" y="791592"/>
                          </a:cubicBezTo>
                          <a:cubicBezTo>
                            <a:pt x="261876" y="743805"/>
                            <a:pt x="35906" y="613074"/>
                            <a:pt x="0" y="39579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xmlns="" id="{EAE03042-45EC-BDED-0D5E-522B0EE1A73F}"/>
                </a:ext>
              </a:extLst>
            </p:cNvPr>
            <p:cNvSpPr/>
            <p:nvPr/>
          </p:nvSpPr>
          <p:spPr>
            <a:xfrm>
              <a:off x="682851" y="3249156"/>
              <a:ext cx="1024927" cy="719407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492633044">
                    <a:custGeom>
                      <a:avLst/>
                      <a:gdLst>
                        <a:gd name="connsiteX0" fmla="*/ 0 w 1024927"/>
                        <a:gd name="connsiteY0" fmla="*/ 359704 h 719407"/>
                        <a:gd name="connsiteX1" fmla="*/ 512464 w 1024927"/>
                        <a:gd name="connsiteY1" fmla="*/ 0 h 719407"/>
                        <a:gd name="connsiteX2" fmla="*/ 1024928 w 1024927"/>
                        <a:gd name="connsiteY2" fmla="*/ 359704 h 719407"/>
                        <a:gd name="connsiteX3" fmla="*/ 512464 w 1024927"/>
                        <a:gd name="connsiteY3" fmla="*/ 719408 h 719407"/>
                        <a:gd name="connsiteX4" fmla="*/ 0 w 1024927"/>
                        <a:gd name="connsiteY4" fmla="*/ 359704 h 7194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719407" extrusionOk="0">
                          <a:moveTo>
                            <a:pt x="0" y="359704"/>
                          </a:moveTo>
                          <a:cubicBezTo>
                            <a:pt x="25223" y="110161"/>
                            <a:pt x="261173" y="-17356"/>
                            <a:pt x="512464" y="0"/>
                          </a:cubicBezTo>
                          <a:cubicBezTo>
                            <a:pt x="745495" y="4585"/>
                            <a:pt x="1035249" y="187808"/>
                            <a:pt x="1024928" y="359704"/>
                          </a:cubicBezTo>
                          <a:cubicBezTo>
                            <a:pt x="1012781" y="574091"/>
                            <a:pt x="837300" y="705538"/>
                            <a:pt x="512464" y="719408"/>
                          </a:cubicBezTo>
                          <a:cubicBezTo>
                            <a:pt x="197309" y="722645"/>
                            <a:pt x="-14645" y="597834"/>
                            <a:pt x="0" y="35970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xmlns="" id="{E6EF54D3-080E-A6D8-0C33-547F0A5A0008}"/>
                </a:ext>
              </a:extLst>
            </p:cNvPr>
            <p:cNvSpPr/>
            <p:nvPr/>
          </p:nvSpPr>
          <p:spPr>
            <a:xfrm>
              <a:off x="327534" y="2501480"/>
              <a:ext cx="922834" cy="623925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531763840">
                    <a:custGeom>
                      <a:avLst/>
                      <a:gdLst>
                        <a:gd name="connsiteX0" fmla="*/ 0 w 922834"/>
                        <a:gd name="connsiteY0" fmla="*/ 311963 h 623925"/>
                        <a:gd name="connsiteX1" fmla="*/ 461417 w 922834"/>
                        <a:gd name="connsiteY1" fmla="*/ 0 h 623925"/>
                        <a:gd name="connsiteX2" fmla="*/ 922834 w 922834"/>
                        <a:gd name="connsiteY2" fmla="*/ 311963 h 623925"/>
                        <a:gd name="connsiteX3" fmla="*/ 461417 w 922834"/>
                        <a:gd name="connsiteY3" fmla="*/ 623926 h 623925"/>
                        <a:gd name="connsiteX4" fmla="*/ 0 w 922834"/>
                        <a:gd name="connsiteY4" fmla="*/ 311963 h 623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22834" h="623925" extrusionOk="0">
                          <a:moveTo>
                            <a:pt x="0" y="311963"/>
                          </a:moveTo>
                          <a:cubicBezTo>
                            <a:pt x="62073" y="171686"/>
                            <a:pt x="192260" y="56369"/>
                            <a:pt x="461417" y="0"/>
                          </a:cubicBezTo>
                          <a:cubicBezTo>
                            <a:pt x="710330" y="8319"/>
                            <a:pt x="941077" y="137362"/>
                            <a:pt x="922834" y="311963"/>
                          </a:cubicBezTo>
                          <a:cubicBezTo>
                            <a:pt x="963023" y="499849"/>
                            <a:pt x="699122" y="673922"/>
                            <a:pt x="461417" y="623926"/>
                          </a:cubicBezTo>
                          <a:cubicBezTo>
                            <a:pt x="171284" y="661530"/>
                            <a:pt x="4099" y="485506"/>
                            <a:pt x="0" y="31196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2" name="Ovale 21">
              <a:extLst>
                <a:ext uri="{FF2B5EF4-FFF2-40B4-BE49-F238E27FC236}">
                  <a16:creationId xmlns:a16="http://schemas.microsoft.com/office/drawing/2014/main" xmlns="" id="{1AFA73AE-1E19-D5BE-EFBF-9E05BC02C3C4}"/>
                </a:ext>
              </a:extLst>
            </p:cNvPr>
            <p:cNvSpPr/>
            <p:nvPr/>
          </p:nvSpPr>
          <p:spPr>
            <a:xfrm>
              <a:off x="2121744" y="1715055"/>
              <a:ext cx="1038971" cy="720147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740090721">
                    <a:custGeom>
                      <a:avLst/>
                      <a:gdLst>
                        <a:gd name="connsiteX0" fmla="*/ 0 w 1038971"/>
                        <a:gd name="connsiteY0" fmla="*/ 360074 h 720147"/>
                        <a:gd name="connsiteX1" fmla="*/ 519486 w 1038971"/>
                        <a:gd name="connsiteY1" fmla="*/ 0 h 720147"/>
                        <a:gd name="connsiteX2" fmla="*/ 1038972 w 1038971"/>
                        <a:gd name="connsiteY2" fmla="*/ 360074 h 720147"/>
                        <a:gd name="connsiteX3" fmla="*/ 519486 w 1038971"/>
                        <a:gd name="connsiteY3" fmla="*/ 720148 h 720147"/>
                        <a:gd name="connsiteX4" fmla="*/ 0 w 1038971"/>
                        <a:gd name="connsiteY4" fmla="*/ 360074 h 7201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1" h="720147" extrusionOk="0">
                          <a:moveTo>
                            <a:pt x="0" y="360074"/>
                          </a:moveTo>
                          <a:cubicBezTo>
                            <a:pt x="18411" y="169448"/>
                            <a:pt x="228714" y="-408"/>
                            <a:pt x="519486" y="0"/>
                          </a:cubicBezTo>
                          <a:cubicBezTo>
                            <a:pt x="805472" y="-18655"/>
                            <a:pt x="1023689" y="164907"/>
                            <a:pt x="1038972" y="360074"/>
                          </a:cubicBezTo>
                          <a:cubicBezTo>
                            <a:pt x="1050942" y="570974"/>
                            <a:pt x="845782" y="722680"/>
                            <a:pt x="519486" y="720148"/>
                          </a:cubicBezTo>
                          <a:cubicBezTo>
                            <a:pt x="219080" y="729783"/>
                            <a:pt x="-38558" y="552915"/>
                            <a:pt x="0" y="3600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e 22">
              <a:extLst>
                <a:ext uri="{FF2B5EF4-FFF2-40B4-BE49-F238E27FC236}">
                  <a16:creationId xmlns:a16="http://schemas.microsoft.com/office/drawing/2014/main" xmlns="" id="{44F7FECE-DB13-8453-55A7-2DEFDD9F920F}"/>
                </a:ext>
              </a:extLst>
            </p:cNvPr>
            <p:cNvSpPr/>
            <p:nvPr/>
          </p:nvSpPr>
          <p:spPr>
            <a:xfrm>
              <a:off x="1486636" y="2853050"/>
              <a:ext cx="936524" cy="663678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584859058">
                    <a:custGeom>
                      <a:avLst/>
                      <a:gdLst>
                        <a:gd name="connsiteX0" fmla="*/ 0 w 936524"/>
                        <a:gd name="connsiteY0" fmla="*/ 331839 h 663678"/>
                        <a:gd name="connsiteX1" fmla="*/ 468262 w 936524"/>
                        <a:gd name="connsiteY1" fmla="*/ 0 h 663678"/>
                        <a:gd name="connsiteX2" fmla="*/ 936524 w 936524"/>
                        <a:gd name="connsiteY2" fmla="*/ 331839 h 663678"/>
                        <a:gd name="connsiteX3" fmla="*/ 468262 w 936524"/>
                        <a:gd name="connsiteY3" fmla="*/ 663678 h 663678"/>
                        <a:gd name="connsiteX4" fmla="*/ 0 w 936524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4" h="663678" extrusionOk="0">
                          <a:moveTo>
                            <a:pt x="0" y="331839"/>
                          </a:moveTo>
                          <a:cubicBezTo>
                            <a:pt x="-28192" y="116817"/>
                            <a:pt x="248297" y="-748"/>
                            <a:pt x="468262" y="0"/>
                          </a:cubicBezTo>
                          <a:cubicBezTo>
                            <a:pt x="710663" y="-3643"/>
                            <a:pt x="936130" y="156582"/>
                            <a:pt x="936524" y="331839"/>
                          </a:cubicBezTo>
                          <a:cubicBezTo>
                            <a:pt x="913175" y="490097"/>
                            <a:pt x="754207" y="642292"/>
                            <a:pt x="468262" y="663678"/>
                          </a:cubicBezTo>
                          <a:cubicBezTo>
                            <a:pt x="212177" y="653106"/>
                            <a:pt x="33046" y="518516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xmlns="" id="{DF3EF5AA-2F7A-7EAD-ADC8-72533450B6C0}"/>
                </a:ext>
              </a:extLst>
            </p:cNvPr>
            <p:cNvSpPr/>
            <p:nvPr/>
          </p:nvSpPr>
          <p:spPr>
            <a:xfrm>
              <a:off x="725950" y="1675990"/>
              <a:ext cx="936523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227694871">
                    <a:custGeom>
                      <a:avLst/>
                      <a:gdLst>
                        <a:gd name="connsiteX0" fmla="*/ 0 w 936523"/>
                        <a:gd name="connsiteY0" fmla="*/ 331839 h 663678"/>
                        <a:gd name="connsiteX1" fmla="*/ 468262 w 936523"/>
                        <a:gd name="connsiteY1" fmla="*/ 0 h 663678"/>
                        <a:gd name="connsiteX2" fmla="*/ 936524 w 936523"/>
                        <a:gd name="connsiteY2" fmla="*/ 331839 h 663678"/>
                        <a:gd name="connsiteX3" fmla="*/ 468262 w 936523"/>
                        <a:gd name="connsiteY3" fmla="*/ 663678 h 663678"/>
                        <a:gd name="connsiteX4" fmla="*/ 0 w 936523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3" h="663678" extrusionOk="0">
                          <a:moveTo>
                            <a:pt x="0" y="331839"/>
                          </a:moveTo>
                          <a:cubicBezTo>
                            <a:pt x="-13565" y="142352"/>
                            <a:pt x="217924" y="3130"/>
                            <a:pt x="468262" y="0"/>
                          </a:cubicBezTo>
                          <a:cubicBezTo>
                            <a:pt x="737894" y="-15634"/>
                            <a:pt x="939741" y="155281"/>
                            <a:pt x="936524" y="331839"/>
                          </a:cubicBezTo>
                          <a:cubicBezTo>
                            <a:pt x="977966" y="545400"/>
                            <a:pt x="740962" y="691347"/>
                            <a:pt x="468262" y="663678"/>
                          </a:cubicBezTo>
                          <a:cubicBezTo>
                            <a:pt x="208115" y="680860"/>
                            <a:pt x="-8225" y="511103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e 24">
              <a:extLst>
                <a:ext uri="{FF2B5EF4-FFF2-40B4-BE49-F238E27FC236}">
                  <a16:creationId xmlns:a16="http://schemas.microsoft.com/office/drawing/2014/main" xmlns="" id="{A390D113-F482-6576-617E-CA486CFD3499}"/>
                </a:ext>
              </a:extLst>
            </p:cNvPr>
            <p:cNvSpPr/>
            <p:nvPr/>
          </p:nvSpPr>
          <p:spPr>
            <a:xfrm>
              <a:off x="2363789" y="2725588"/>
              <a:ext cx="1038970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412513691">
                    <a:custGeom>
                      <a:avLst/>
                      <a:gdLst>
                        <a:gd name="connsiteX0" fmla="*/ 0 w 1038970"/>
                        <a:gd name="connsiteY0" fmla="*/ 331839 h 663678"/>
                        <a:gd name="connsiteX1" fmla="*/ 519485 w 1038970"/>
                        <a:gd name="connsiteY1" fmla="*/ 0 h 663678"/>
                        <a:gd name="connsiteX2" fmla="*/ 1038970 w 1038970"/>
                        <a:gd name="connsiteY2" fmla="*/ 331839 h 663678"/>
                        <a:gd name="connsiteX3" fmla="*/ 519485 w 1038970"/>
                        <a:gd name="connsiteY3" fmla="*/ 663678 h 663678"/>
                        <a:gd name="connsiteX4" fmla="*/ 0 w 1038970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0" h="663678" extrusionOk="0">
                          <a:moveTo>
                            <a:pt x="0" y="331839"/>
                          </a:moveTo>
                          <a:cubicBezTo>
                            <a:pt x="14429" y="152318"/>
                            <a:pt x="230630" y="22402"/>
                            <a:pt x="519485" y="0"/>
                          </a:cubicBezTo>
                          <a:cubicBezTo>
                            <a:pt x="785736" y="12753"/>
                            <a:pt x="1072822" y="158406"/>
                            <a:pt x="1038970" y="331839"/>
                          </a:cubicBezTo>
                          <a:cubicBezTo>
                            <a:pt x="1066569" y="481420"/>
                            <a:pt x="821897" y="700940"/>
                            <a:pt x="519485" y="663678"/>
                          </a:cubicBezTo>
                          <a:cubicBezTo>
                            <a:pt x="224150" y="706585"/>
                            <a:pt x="15589" y="50616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CasellaDiTesto 13">
            <a:extLst>
              <a:ext uri="{FF2B5EF4-FFF2-40B4-BE49-F238E27FC236}">
                <a16:creationId xmlns:a16="http://schemas.microsoft.com/office/drawing/2014/main" xmlns="" id="{DEF975EB-3A15-AE15-A123-11A5C3B5CC0B}"/>
              </a:ext>
            </a:extLst>
          </p:cNvPr>
          <p:cNvSpPr txBox="1"/>
          <p:nvPr/>
        </p:nvSpPr>
        <p:spPr>
          <a:xfrm>
            <a:off x="3760067" y="1424620"/>
            <a:ext cx="3983907" cy="199285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categories:</a:t>
            </a:r>
          </a:p>
          <a:p>
            <a:pPr marL="800100" lvl="1" indent="-342900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cores.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Memory 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devices.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Peripherals.</a:t>
            </a:r>
            <a:endParaRPr lang="en-GB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52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E888E72-11EF-92B0-DB88-873F8DB0D00F}"/>
              </a:ext>
            </a:extLst>
          </p:cNvPr>
          <p:cNvGrpSpPr/>
          <p:nvPr/>
        </p:nvGrpSpPr>
        <p:grpSpPr>
          <a:xfrm>
            <a:off x="162127" y="855821"/>
            <a:ext cx="3431858" cy="3431858"/>
            <a:chOff x="162127" y="1068370"/>
            <a:chExt cx="3431858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70CC306E-427D-431B-FDDE-BFDE7CAE0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Ovale 12">
              <a:extLst>
                <a:ext uri="{FF2B5EF4-FFF2-40B4-BE49-F238E27FC236}">
                  <a16:creationId xmlns:a16="http://schemas.microsoft.com/office/drawing/2014/main" xmlns="" id="{12F42EB8-09A7-00AE-DD91-2F9B500A55AB}"/>
                </a:ext>
              </a:extLst>
            </p:cNvPr>
            <p:cNvSpPr/>
            <p:nvPr/>
          </p:nvSpPr>
          <p:spPr>
            <a:xfrm>
              <a:off x="1294615" y="2207404"/>
              <a:ext cx="1024927" cy="663678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334805410">
                    <a:custGeom>
                      <a:avLst/>
                      <a:gdLst>
                        <a:gd name="connsiteX0" fmla="*/ 0 w 1024927"/>
                        <a:gd name="connsiteY0" fmla="*/ 331839 h 663678"/>
                        <a:gd name="connsiteX1" fmla="*/ 512464 w 1024927"/>
                        <a:gd name="connsiteY1" fmla="*/ 0 h 663678"/>
                        <a:gd name="connsiteX2" fmla="*/ 1024928 w 1024927"/>
                        <a:gd name="connsiteY2" fmla="*/ 331839 h 663678"/>
                        <a:gd name="connsiteX3" fmla="*/ 512464 w 1024927"/>
                        <a:gd name="connsiteY3" fmla="*/ 663678 h 663678"/>
                        <a:gd name="connsiteX4" fmla="*/ 0 w 1024927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663678" extrusionOk="0">
                          <a:moveTo>
                            <a:pt x="0" y="331839"/>
                          </a:moveTo>
                          <a:cubicBezTo>
                            <a:pt x="-6438" y="76517"/>
                            <a:pt x="211563" y="55865"/>
                            <a:pt x="512464" y="0"/>
                          </a:cubicBezTo>
                          <a:cubicBezTo>
                            <a:pt x="803278" y="22130"/>
                            <a:pt x="980792" y="148542"/>
                            <a:pt x="1024928" y="331839"/>
                          </a:cubicBezTo>
                          <a:cubicBezTo>
                            <a:pt x="1026972" y="507736"/>
                            <a:pt x="768117" y="622511"/>
                            <a:pt x="512464" y="663678"/>
                          </a:cubicBezTo>
                          <a:cubicBezTo>
                            <a:pt x="187345" y="668532"/>
                            <a:pt x="-6520" y="55359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xmlns="" id="{7B129A1C-F468-D31E-E5BF-C5104C5BDD4E}"/>
                </a:ext>
              </a:extLst>
            </p:cNvPr>
            <p:cNvSpPr/>
            <p:nvPr/>
          </p:nvSpPr>
          <p:spPr>
            <a:xfrm>
              <a:off x="1689500" y="3433822"/>
              <a:ext cx="1186436" cy="791591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731494185">
                    <a:custGeom>
                      <a:avLst/>
                      <a:gdLst>
                        <a:gd name="connsiteX0" fmla="*/ 0 w 1186436"/>
                        <a:gd name="connsiteY0" fmla="*/ 395796 h 791591"/>
                        <a:gd name="connsiteX1" fmla="*/ 593218 w 1186436"/>
                        <a:gd name="connsiteY1" fmla="*/ 0 h 791591"/>
                        <a:gd name="connsiteX2" fmla="*/ 1186436 w 1186436"/>
                        <a:gd name="connsiteY2" fmla="*/ 395796 h 791591"/>
                        <a:gd name="connsiteX3" fmla="*/ 593218 w 1186436"/>
                        <a:gd name="connsiteY3" fmla="*/ 791592 h 791591"/>
                        <a:gd name="connsiteX4" fmla="*/ 0 w 1186436"/>
                        <a:gd name="connsiteY4" fmla="*/ 395796 h 7915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86436" h="791591" extrusionOk="0">
                          <a:moveTo>
                            <a:pt x="0" y="395796"/>
                          </a:moveTo>
                          <a:cubicBezTo>
                            <a:pt x="-42912" y="139508"/>
                            <a:pt x="278002" y="-18130"/>
                            <a:pt x="593218" y="0"/>
                          </a:cubicBezTo>
                          <a:cubicBezTo>
                            <a:pt x="937052" y="-21853"/>
                            <a:pt x="1216844" y="169903"/>
                            <a:pt x="1186436" y="395796"/>
                          </a:cubicBezTo>
                          <a:cubicBezTo>
                            <a:pt x="1224260" y="633954"/>
                            <a:pt x="892415" y="818318"/>
                            <a:pt x="593218" y="791592"/>
                          </a:cubicBezTo>
                          <a:cubicBezTo>
                            <a:pt x="261876" y="743805"/>
                            <a:pt x="35906" y="613074"/>
                            <a:pt x="0" y="39579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xmlns="" id="{EAE03042-45EC-BDED-0D5E-522B0EE1A73F}"/>
                </a:ext>
              </a:extLst>
            </p:cNvPr>
            <p:cNvSpPr/>
            <p:nvPr/>
          </p:nvSpPr>
          <p:spPr>
            <a:xfrm>
              <a:off x="682851" y="3249156"/>
              <a:ext cx="1024927" cy="719407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492633044">
                    <a:custGeom>
                      <a:avLst/>
                      <a:gdLst>
                        <a:gd name="connsiteX0" fmla="*/ 0 w 1024927"/>
                        <a:gd name="connsiteY0" fmla="*/ 359704 h 719407"/>
                        <a:gd name="connsiteX1" fmla="*/ 512464 w 1024927"/>
                        <a:gd name="connsiteY1" fmla="*/ 0 h 719407"/>
                        <a:gd name="connsiteX2" fmla="*/ 1024928 w 1024927"/>
                        <a:gd name="connsiteY2" fmla="*/ 359704 h 719407"/>
                        <a:gd name="connsiteX3" fmla="*/ 512464 w 1024927"/>
                        <a:gd name="connsiteY3" fmla="*/ 719408 h 719407"/>
                        <a:gd name="connsiteX4" fmla="*/ 0 w 1024927"/>
                        <a:gd name="connsiteY4" fmla="*/ 359704 h 7194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719407" extrusionOk="0">
                          <a:moveTo>
                            <a:pt x="0" y="359704"/>
                          </a:moveTo>
                          <a:cubicBezTo>
                            <a:pt x="25223" y="110161"/>
                            <a:pt x="261173" y="-17356"/>
                            <a:pt x="512464" y="0"/>
                          </a:cubicBezTo>
                          <a:cubicBezTo>
                            <a:pt x="745495" y="4585"/>
                            <a:pt x="1035249" y="187808"/>
                            <a:pt x="1024928" y="359704"/>
                          </a:cubicBezTo>
                          <a:cubicBezTo>
                            <a:pt x="1012781" y="574091"/>
                            <a:pt x="837300" y="705538"/>
                            <a:pt x="512464" y="719408"/>
                          </a:cubicBezTo>
                          <a:cubicBezTo>
                            <a:pt x="197309" y="722645"/>
                            <a:pt x="-14645" y="597834"/>
                            <a:pt x="0" y="35970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xmlns="" id="{E6EF54D3-080E-A6D8-0C33-547F0A5A0008}"/>
                </a:ext>
              </a:extLst>
            </p:cNvPr>
            <p:cNvSpPr/>
            <p:nvPr/>
          </p:nvSpPr>
          <p:spPr>
            <a:xfrm>
              <a:off x="327534" y="2501480"/>
              <a:ext cx="922834" cy="623925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531763840">
                    <a:custGeom>
                      <a:avLst/>
                      <a:gdLst>
                        <a:gd name="connsiteX0" fmla="*/ 0 w 922834"/>
                        <a:gd name="connsiteY0" fmla="*/ 311963 h 623925"/>
                        <a:gd name="connsiteX1" fmla="*/ 461417 w 922834"/>
                        <a:gd name="connsiteY1" fmla="*/ 0 h 623925"/>
                        <a:gd name="connsiteX2" fmla="*/ 922834 w 922834"/>
                        <a:gd name="connsiteY2" fmla="*/ 311963 h 623925"/>
                        <a:gd name="connsiteX3" fmla="*/ 461417 w 922834"/>
                        <a:gd name="connsiteY3" fmla="*/ 623926 h 623925"/>
                        <a:gd name="connsiteX4" fmla="*/ 0 w 922834"/>
                        <a:gd name="connsiteY4" fmla="*/ 311963 h 623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22834" h="623925" extrusionOk="0">
                          <a:moveTo>
                            <a:pt x="0" y="311963"/>
                          </a:moveTo>
                          <a:cubicBezTo>
                            <a:pt x="62073" y="171686"/>
                            <a:pt x="192260" y="56369"/>
                            <a:pt x="461417" y="0"/>
                          </a:cubicBezTo>
                          <a:cubicBezTo>
                            <a:pt x="710330" y="8319"/>
                            <a:pt x="941077" y="137362"/>
                            <a:pt x="922834" y="311963"/>
                          </a:cubicBezTo>
                          <a:cubicBezTo>
                            <a:pt x="963023" y="499849"/>
                            <a:pt x="699122" y="673922"/>
                            <a:pt x="461417" y="623926"/>
                          </a:cubicBezTo>
                          <a:cubicBezTo>
                            <a:pt x="171284" y="661530"/>
                            <a:pt x="4099" y="485506"/>
                            <a:pt x="0" y="31196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" name="Ovale 23">
              <a:extLst>
                <a:ext uri="{FF2B5EF4-FFF2-40B4-BE49-F238E27FC236}">
                  <a16:creationId xmlns:a16="http://schemas.microsoft.com/office/drawing/2014/main" xmlns="" id="{DF3EF5AA-2F7A-7EAD-ADC8-72533450B6C0}"/>
                </a:ext>
              </a:extLst>
            </p:cNvPr>
            <p:cNvSpPr/>
            <p:nvPr/>
          </p:nvSpPr>
          <p:spPr>
            <a:xfrm>
              <a:off x="725950" y="1675990"/>
              <a:ext cx="936523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227694871">
                    <a:custGeom>
                      <a:avLst/>
                      <a:gdLst>
                        <a:gd name="connsiteX0" fmla="*/ 0 w 936523"/>
                        <a:gd name="connsiteY0" fmla="*/ 331839 h 663678"/>
                        <a:gd name="connsiteX1" fmla="*/ 468262 w 936523"/>
                        <a:gd name="connsiteY1" fmla="*/ 0 h 663678"/>
                        <a:gd name="connsiteX2" fmla="*/ 936524 w 936523"/>
                        <a:gd name="connsiteY2" fmla="*/ 331839 h 663678"/>
                        <a:gd name="connsiteX3" fmla="*/ 468262 w 936523"/>
                        <a:gd name="connsiteY3" fmla="*/ 663678 h 663678"/>
                        <a:gd name="connsiteX4" fmla="*/ 0 w 936523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3" h="663678" extrusionOk="0">
                          <a:moveTo>
                            <a:pt x="0" y="331839"/>
                          </a:moveTo>
                          <a:cubicBezTo>
                            <a:pt x="-13565" y="142352"/>
                            <a:pt x="217924" y="3130"/>
                            <a:pt x="468262" y="0"/>
                          </a:cubicBezTo>
                          <a:cubicBezTo>
                            <a:pt x="737894" y="-15634"/>
                            <a:pt x="939741" y="155281"/>
                            <a:pt x="936524" y="331839"/>
                          </a:cubicBezTo>
                          <a:cubicBezTo>
                            <a:pt x="977966" y="545400"/>
                            <a:pt x="740962" y="691347"/>
                            <a:pt x="468262" y="663678"/>
                          </a:cubicBezTo>
                          <a:cubicBezTo>
                            <a:pt x="208115" y="680860"/>
                            <a:pt x="-8225" y="511103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e 24">
              <a:extLst>
                <a:ext uri="{FF2B5EF4-FFF2-40B4-BE49-F238E27FC236}">
                  <a16:creationId xmlns:a16="http://schemas.microsoft.com/office/drawing/2014/main" xmlns="" id="{A390D113-F482-6576-617E-CA486CFD3499}"/>
                </a:ext>
              </a:extLst>
            </p:cNvPr>
            <p:cNvSpPr/>
            <p:nvPr/>
          </p:nvSpPr>
          <p:spPr>
            <a:xfrm>
              <a:off x="2363789" y="2725588"/>
              <a:ext cx="1038970" cy="663678"/>
            </a:xfrm>
            <a:prstGeom prst="ellipse">
              <a:avLst/>
            </a:prstGeom>
            <a:noFill/>
            <a:ln w="38100">
              <a:extLst>
                <a:ext uri="{C807C97D-BFC1-408E-A445-0C87EB9F89A2}">
                  <ask:lineSketchStyleProps xmlns:ask="http://schemas.microsoft.com/office/drawing/2018/sketchyshapes" xmlns="" sd="3412513691">
                    <a:custGeom>
                      <a:avLst/>
                      <a:gdLst>
                        <a:gd name="connsiteX0" fmla="*/ 0 w 1038970"/>
                        <a:gd name="connsiteY0" fmla="*/ 331839 h 663678"/>
                        <a:gd name="connsiteX1" fmla="*/ 519485 w 1038970"/>
                        <a:gd name="connsiteY1" fmla="*/ 0 h 663678"/>
                        <a:gd name="connsiteX2" fmla="*/ 1038970 w 1038970"/>
                        <a:gd name="connsiteY2" fmla="*/ 331839 h 663678"/>
                        <a:gd name="connsiteX3" fmla="*/ 519485 w 1038970"/>
                        <a:gd name="connsiteY3" fmla="*/ 663678 h 663678"/>
                        <a:gd name="connsiteX4" fmla="*/ 0 w 1038970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0" h="663678" extrusionOk="0">
                          <a:moveTo>
                            <a:pt x="0" y="331839"/>
                          </a:moveTo>
                          <a:cubicBezTo>
                            <a:pt x="14429" y="152318"/>
                            <a:pt x="230630" y="22402"/>
                            <a:pt x="519485" y="0"/>
                          </a:cubicBezTo>
                          <a:cubicBezTo>
                            <a:pt x="785736" y="12753"/>
                            <a:pt x="1072822" y="158406"/>
                            <a:pt x="1038970" y="331839"/>
                          </a:cubicBezTo>
                          <a:cubicBezTo>
                            <a:pt x="1066569" y="481420"/>
                            <a:pt x="821897" y="700940"/>
                            <a:pt x="519485" y="663678"/>
                          </a:cubicBezTo>
                          <a:cubicBezTo>
                            <a:pt x="224150" y="706585"/>
                            <a:pt x="15589" y="50616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CasellaDiTesto 13">
            <a:extLst>
              <a:ext uri="{FF2B5EF4-FFF2-40B4-BE49-F238E27FC236}">
                <a16:creationId xmlns:a16="http://schemas.microsoft.com/office/drawing/2014/main" xmlns="" id="{DEF975EB-3A15-AE15-A123-11A5C3B5CC0B}"/>
              </a:ext>
            </a:extLst>
          </p:cNvPr>
          <p:cNvSpPr txBox="1"/>
          <p:nvPr/>
        </p:nvSpPr>
        <p:spPr>
          <a:xfrm>
            <a:off x="3760067" y="1424620"/>
            <a:ext cx="3983907" cy="10797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categories:</a:t>
            </a:r>
          </a:p>
          <a:p>
            <a:pPr lvl="1" algn="just">
              <a:spcAft>
                <a:spcPts val="1350"/>
              </a:spcAft>
              <a:buClr>
                <a:srgbClr val="003153"/>
              </a:buClr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 cores.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3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Components: CPU &amp; Cores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xmlns="" id="{194ECC6D-C590-5800-0C4C-7E0E97E2782B}"/>
              </a:ext>
            </a:extLst>
          </p:cNvPr>
          <p:cNvSpPr txBox="1"/>
          <p:nvPr/>
        </p:nvSpPr>
        <p:spPr>
          <a:xfrm>
            <a:off x="3655509" y="1212554"/>
            <a:ext cx="4679414" cy="282385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Central Processing Unit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(CPU)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is the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“brain”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of the entire system.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CPU is the control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center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of 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Modern SoCs have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multi-core CPUs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made of several single units able to split the execution of a task.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core contributes to the task by speeding up the computation.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4872171E-A5AE-1BE2-8FA3-F436E17CE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14" y="829215"/>
            <a:ext cx="2544953" cy="359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98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11C90485-A7C9-E3B0-D0EC-4F3687190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692" y="809370"/>
            <a:ext cx="3296516" cy="32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xmlns="" id="{081AE115-D7B4-524E-B341-39B89DB1D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275" y="1573148"/>
            <a:ext cx="3810000" cy="2571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0843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1BBFCD78-A5CF-0DCB-D6FF-F4A5D768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72" y="1389460"/>
            <a:ext cx="4930757" cy="23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FE489EB-EF72-7407-6685-868AF6DB7180}"/>
              </a:ext>
            </a:extLst>
          </p:cNvPr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8142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5BE79EC8-6177-09AF-4E85-7868BEA83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46" y="1327685"/>
            <a:ext cx="4930757" cy="23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xmlns="" id="{76934CD3-2FF5-C441-D320-B086A62F5092}"/>
              </a:ext>
            </a:extLst>
          </p:cNvPr>
          <p:cNvSpPr/>
          <p:nvPr/>
        </p:nvSpPr>
        <p:spPr>
          <a:xfrm>
            <a:off x="6912612" y="2456094"/>
            <a:ext cx="785493" cy="959947"/>
          </a:xfrm>
          <a:prstGeom prst="ellipse">
            <a:avLst/>
          </a:prstGeom>
          <a:noFill/>
          <a:ln w="28575">
            <a:extLst>
              <a:ext uri="{C807C97D-BFC1-408E-A445-0C87EB9F89A2}">
                <ask:lineSketchStyleProps xmlns:ask="http://schemas.microsoft.com/office/drawing/2018/sketchyshapes" xmlns="" sd="2272405961">
                  <a:custGeom>
                    <a:avLst/>
                    <a:gdLst>
                      <a:gd name="connsiteX0" fmla="*/ 0 w 785493"/>
                      <a:gd name="connsiteY0" fmla="*/ 479974 h 959947"/>
                      <a:gd name="connsiteX1" fmla="*/ 392747 w 785493"/>
                      <a:gd name="connsiteY1" fmla="*/ 0 h 959947"/>
                      <a:gd name="connsiteX2" fmla="*/ 785494 w 785493"/>
                      <a:gd name="connsiteY2" fmla="*/ 479974 h 959947"/>
                      <a:gd name="connsiteX3" fmla="*/ 392747 w 785493"/>
                      <a:gd name="connsiteY3" fmla="*/ 959948 h 959947"/>
                      <a:gd name="connsiteX4" fmla="*/ 0 w 785493"/>
                      <a:gd name="connsiteY4" fmla="*/ 479974 h 959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5493" h="959947" extrusionOk="0">
                        <a:moveTo>
                          <a:pt x="0" y="479974"/>
                        </a:moveTo>
                        <a:cubicBezTo>
                          <a:pt x="-17564" y="210798"/>
                          <a:pt x="156385" y="-2558"/>
                          <a:pt x="392747" y="0"/>
                        </a:cubicBezTo>
                        <a:cubicBezTo>
                          <a:pt x="638586" y="14008"/>
                          <a:pt x="832271" y="238015"/>
                          <a:pt x="785494" y="479974"/>
                        </a:cubicBezTo>
                        <a:cubicBezTo>
                          <a:pt x="797517" y="728755"/>
                          <a:pt x="594268" y="982708"/>
                          <a:pt x="392747" y="959948"/>
                        </a:cubicBezTo>
                        <a:cubicBezTo>
                          <a:pt x="188039" y="959162"/>
                          <a:pt x="-10982" y="750535"/>
                          <a:pt x="0" y="4799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xmlns="" id="{6A1D7728-A9CC-8E78-DC2B-7FAD7CE6C52F}"/>
              </a:ext>
            </a:extLst>
          </p:cNvPr>
          <p:cNvCxnSpPr>
            <a:cxnSpLocks/>
          </p:cNvCxnSpPr>
          <p:nvPr/>
        </p:nvCxnSpPr>
        <p:spPr>
          <a:xfrm flipH="1">
            <a:off x="6574595" y="3380799"/>
            <a:ext cx="576777" cy="9554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xmlns="" id="{50F68440-89FF-9294-F1C7-A20F33AF7FA1}"/>
              </a:ext>
            </a:extLst>
          </p:cNvPr>
          <p:cNvCxnSpPr>
            <a:cxnSpLocks/>
          </p:cNvCxnSpPr>
          <p:nvPr/>
        </p:nvCxnSpPr>
        <p:spPr>
          <a:xfrm flipH="1" flipV="1">
            <a:off x="6662738" y="1740694"/>
            <a:ext cx="955271" cy="890022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12B3C383-FD92-34B9-8FCB-C6412527C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906" y="1612433"/>
            <a:ext cx="2862571" cy="186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F3FA55E-7D6B-1D59-5FB7-EAEC82047CFB}"/>
              </a:ext>
            </a:extLst>
          </p:cNvPr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6169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xmlns="" id="{6327AAD1-2DD3-7AC4-C507-B82467A15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46" y="1323467"/>
            <a:ext cx="4930757" cy="23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xmlns="" id="{76934CD3-2FF5-C441-D320-B086A62F5092}"/>
              </a:ext>
            </a:extLst>
          </p:cNvPr>
          <p:cNvSpPr/>
          <p:nvPr/>
        </p:nvSpPr>
        <p:spPr>
          <a:xfrm>
            <a:off x="7841418" y="2530210"/>
            <a:ext cx="785493" cy="959947"/>
          </a:xfrm>
          <a:prstGeom prst="ellipse">
            <a:avLst/>
          </a:prstGeom>
          <a:noFill/>
          <a:ln w="28575">
            <a:extLst>
              <a:ext uri="{C807C97D-BFC1-408E-A445-0C87EB9F89A2}">
                <ask:lineSketchStyleProps xmlns:ask="http://schemas.microsoft.com/office/drawing/2018/sketchyshapes" xmlns="" sd="1623211699">
                  <a:custGeom>
                    <a:avLst/>
                    <a:gdLst>
                      <a:gd name="connsiteX0" fmla="*/ 0 w 785493"/>
                      <a:gd name="connsiteY0" fmla="*/ 479974 h 959947"/>
                      <a:gd name="connsiteX1" fmla="*/ 392747 w 785493"/>
                      <a:gd name="connsiteY1" fmla="*/ 0 h 959947"/>
                      <a:gd name="connsiteX2" fmla="*/ 785494 w 785493"/>
                      <a:gd name="connsiteY2" fmla="*/ 479974 h 959947"/>
                      <a:gd name="connsiteX3" fmla="*/ 392747 w 785493"/>
                      <a:gd name="connsiteY3" fmla="*/ 959948 h 959947"/>
                      <a:gd name="connsiteX4" fmla="*/ 0 w 785493"/>
                      <a:gd name="connsiteY4" fmla="*/ 479974 h 959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5493" h="959947" extrusionOk="0">
                        <a:moveTo>
                          <a:pt x="0" y="479974"/>
                        </a:moveTo>
                        <a:cubicBezTo>
                          <a:pt x="-21969" y="202121"/>
                          <a:pt x="204690" y="7122"/>
                          <a:pt x="392747" y="0"/>
                        </a:cubicBezTo>
                        <a:cubicBezTo>
                          <a:pt x="609050" y="-9255"/>
                          <a:pt x="789821" y="210470"/>
                          <a:pt x="785494" y="479974"/>
                        </a:cubicBezTo>
                        <a:cubicBezTo>
                          <a:pt x="770300" y="764949"/>
                          <a:pt x="642664" y="952522"/>
                          <a:pt x="392747" y="959948"/>
                        </a:cubicBezTo>
                        <a:cubicBezTo>
                          <a:pt x="190343" y="956570"/>
                          <a:pt x="-16279" y="702354"/>
                          <a:pt x="0" y="4799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xmlns="" id="{6A1D7728-A9CC-8E78-DC2B-7FAD7CE6C52F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6629400" y="3490157"/>
            <a:ext cx="1604765" cy="289363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xmlns="" id="{50F68440-89FF-9294-F1C7-A20F33AF7FA1}"/>
              </a:ext>
            </a:extLst>
          </p:cNvPr>
          <p:cNvCxnSpPr>
            <a:cxnSpLocks/>
          </p:cNvCxnSpPr>
          <p:nvPr/>
        </p:nvCxnSpPr>
        <p:spPr>
          <a:xfrm flipH="1" flipV="1">
            <a:off x="7452674" y="1323467"/>
            <a:ext cx="1015801" cy="1264320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276EDC69-BDED-C8EB-9ED7-DDB740169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451" y="1275320"/>
            <a:ext cx="2851223" cy="259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FCBCAA1-1C9E-9ECF-235A-391275441D4B}"/>
              </a:ext>
            </a:extLst>
          </p:cNvPr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1333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2AF107E5-AD15-CF94-7DBC-19A19957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846" y="1327685"/>
            <a:ext cx="4930757" cy="23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xmlns="" id="{76934CD3-2FF5-C441-D320-B086A62F5092}"/>
              </a:ext>
            </a:extLst>
          </p:cNvPr>
          <p:cNvSpPr/>
          <p:nvPr/>
        </p:nvSpPr>
        <p:spPr>
          <a:xfrm>
            <a:off x="6468224" y="1778744"/>
            <a:ext cx="434340" cy="433184"/>
          </a:xfrm>
          <a:prstGeom prst="ellipse">
            <a:avLst/>
          </a:prstGeom>
          <a:noFill/>
          <a:ln w="28575">
            <a:solidFill>
              <a:srgbClr val="003153"/>
            </a:solidFill>
            <a:extLst>
              <a:ext uri="{C807C97D-BFC1-408E-A445-0C87EB9F89A2}">
                <ask:lineSketchStyleProps xmlns:ask="http://schemas.microsoft.com/office/drawing/2018/sketchyshapes" xmlns="" sd="3925832498">
                  <a:custGeom>
                    <a:avLst/>
                    <a:gdLst>
                      <a:gd name="connsiteX0" fmla="*/ 0 w 434340"/>
                      <a:gd name="connsiteY0" fmla="*/ 216592 h 433184"/>
                      <a:gd name="connsiteX1" fmla="*/ 217170 w 434340"/>
                      <a:gd name="connsiteY1" fmla="*/ 0 h 433184"/>
                      <a:gd name="connsiteX2" fmla="*/ 434340 w 434340"/>
                      <a:gd name="connsiteY2" fmla="*/ 216592 h 433184"/>
                      <a:gd name="connsiteX3" fmla="*/ 217170 w 434340"/>
                      <a:gd name="connsiteY3" fmla="*/ 433184 h 433184"/>
                      <a:gd name="connsiteX4" fmla="*/ 0 w 434340"/>
                      <a:gd name="connsiteY4" fmla="*/ 216592 h 433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4340" h="433184" extrusionOk="0">
                        <a:moveTo>
                          <a:pt x="0" y="216592"/>
                        </a:moveTo>
                        <a:cubicBezTo>
                          <a:pt x="-17663" y="110782"/>
                          <a:pt x="87438" y="14530"/>
                          <a:pt x="217170" y="0"/>
                        </a:cubicBezTo>
                        <a:cubicBezTo>
                          <a:pt x="321102" y="-6087"/>
                          <a:pt x="428667" y="79228"/>
                          <a:pt x="434340" y="216592"/>
                        </a:cubicBezTo>
                        <a:cubicBezTo>
                          <a:pt x="443242" y="346142"/>
                          <a:pt x="326649" y="442513"/>
                          <a:pt x="217170" y="433184"/>
                        </a:cubicBezTo>
                        <a:cubicBezTo>
                          <a:pt x="81772" y="424723"/>
                          <a:pt x="1624" y="332545"/>
                          <a:pt x="0" y="21659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xmlns="" id="{6A1D7728-A9CC-8E78-DC2B-7FAD7CE6C52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312297" y="1842181"/>
            <a:ext cx="1219535" cy="289175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xmlns="" id="{50F68440-89FF-9294-F1C7-A20F33AF7FA1}"/>
              </a:ext>
            </a:extLst>
          </p:cNvPr>
          <p:cNvCxnSpPr>
            <a:cxnSpLocks/>
            <a:stCxn id="7" idx="7"/>
          </p:cNvCxnSpPr>
          <p:nvPr/>
        </p:nvCxnSpPr>
        <p:spPr>
          <a:xfrm>
            <a:off x="6838956" y="1842182"/>
            <a:ext cx="1263758" cy="972516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3C077714-EC67-D5C0-2A18-E7CAFCD7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227" y="2210605"/>
            <a:ext cx="3464876" cy="136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297C484-C662-56BA-067C-D19FBB8C5893}"/>
              </a:ext>
            </a:extLst>
          </p:cNvPr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5624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21842812-43B6-EA05-A6EB-0B2302CEF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121" y="1337960"/>
            <a:ext cx="4915122" cy="2342302"/>
          </a:xfrm>
          <a:custGeom>
            <a:avLst/>
            <a:gdLst>
              <a:gd name="connsiteX0" fmla="*/ 0 w 4915122"/>
              <a:gd name="connsiteY0" fmla="*/ 0 h 2342302"/>
              <a:gd name="connsiteX1" fmla="*/ 565239 w 4915122"/>
              <a:gd name="connsiteY1" fmla="*/ 0 h 2342302"/>
              <a:gd name="connsiteX2" fmla="*/ 1032176 w 4915122"/>
              <a:gd name="connsiteY2" fmla="*/ 0 h 2342302"/>
              <a:gd name="connsiteX3" fmla="*/ 1695717 w 4915122"/>
              <a:gd name="connsiteY3" fmla="*/ 0 h 2342302"/>
              <a:gd name="connsiteX4" fmla="*/ 2408410 w 4915122"/>
              <a:gd name="connsiteY4" fmla="*/ 0 h 2342302"/>
              <a:gd name="connsiteX5" fmla="*/ 3071951 w 4915122"/>
              <a:gd name="connsiteY5" fmla="*/ 0 h 2342302"/>
              <a:gd name="connsiteX6" fmla="*/ 3735493 w 4915122"/>
              <a:gd name="connsiteY6" fmla="*/ 0 h 2342302"/>
              <a:gd name="connsiteX7" fmla="*/ 4915122 w 4915122"/>
              <a:gd name="connsiteY7" fmla="*/ 0 h 2342302"/>
              <a:gd name="connsiteX8" fmla="*/ 4915122 w 4915122"/>
              <a:gd name="connsiteY8" fmla="*/ 538729 h 2342302"/>
              <a:gd name="connsiteX9" fmla="*/ 4915122 w 4915122"/>
              <a:gd name="connsiteY9" fmla="*/ 1054036 h 2342302"/>
              <a:gd name="connsiteX10" fmla="*/ 4915122 w 4915122"/>
              <a:gd name="connsiteY10" fmla="*/ 1592765 h 2342302"/>
              <a:gd name="connsiteX11" fmla="*/ 4915122 w 4915122"/>
              <a:gd name="connsiteY11" fmla="*/ 2342302 h 2342302"/>
              <a:gd name="connsiteX12" fmla="*/ 4399034 w 4915122"/>
              <a:gd name="connsiteY12" fmla="*/ 2342302 h 2342302"/>
              <a:gd name="connsiteX13" fmla="*/ 3686342 w 4915122"/>
              <a:gd name="connsiteY13" fmla="*/ 2342302 h 2342302"/>
              <a:gd name="connsiteX14" fmla="*/ 3219405 w 4915122"/>
              <a:gd name="connsiteY14" fmla="*/ 2342302 h 2342302"/>
              <a:gd name="connsiteX15" fmla="*/ 2752468 w 4915122"/>
              <a:gd name="connsiteY15" fmla="*/ 2342302 h 2342302"/>
              <a:gd name="connsiteX16" fmla="*/ 2187229 w 4915122"/>
              <a:gd name="connsiteY16" fmla="*/ 2342302 h 2342302"/>
              <a:gd name="connsiteX17" fmla="*/ 1671141 w 4915122"/>
              <a:gd name="connsiteY17" fmla="*/ 2342302 h 2342302"/>
              <a:gd name="connsiteX18" fmla="*/ 1204205 w 4915122"/>
              <a:gd name="connsiteY18" fmla="*/ 2342302 h 2342302"/>
              <a:gd name="connsiteX19" fmla="*/ 589815 w 4915122"/>
              <a:gd name="connsiteY19" fmla="*/ 2342302 h 2342302"/>
              <a:gd name="connsiteX20" fmla="*/ 0 w 4915122"/>
              <a:gd name="connsiteY20" fmla="*/ 2342302 h 2342302"/>
              <a:gd name="connsiteX21" fmla="*/ 0 w 4915122"/>
              <a:gd name="connsiteY21" fmla="*/ 1826996 h 2342302"/>
              <a:gd name="connsiteX22" fmla="*/ 0 w 4915122"/>
              <a:gd name="connsiteY22" fmla="*/ 1311689 h 2342302"/>
              <a:gd name="connsiteX23" fmla="*/ 0 w 4915122"/>
              <a:gd name="connsiteY23" fmla="*/ 772960 h 2342302"/>
              <a:gd name="connsiteX24" fmla="*/ 0 w 4915122"/>
              <a:gd name="connsiteY24" fmla="*/ 0 h 234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915122" h="2342302" extrusionOk="0">
                <a:moveTo>
                  <a:pt x="0" y="0"/>
                </a:moveTo>
                <a:cubicBezTo>
                  <a:pt x="187306" y="10148"/>
                  <a:pt x="438240" y="-23273"/>
                  <a:pt x="565239" y="0"/>
                </a:cubicBezTo>
                <a:cubicBezTo>
                  <a:pt x="692238" y="23273"/>
                  <a:pt x="937794" y="17439"/>
                  <a:pt x="1032176" y="0"/>
                </a:cubicBezTo>
                <a:cubicBezTo>
                  <a:pt x="1126558" y="-17439"/>
                  <a:pt x="1371652" y="-2880"/>
                  <a:pt x="1695717" y="0"/>
                </a:cubicBezTo>
                <a:cubicBezTo>
                  <a:pt x="2019782" y="2880"/>
                  <a:pt x="2064074" y="31981"/>
                  <a:pt x="2408410" y="0"/>
                </a:cubicBezTo>
                <a:cubicBezTo>
                  <a:pt x="2752746" y="-31981"/>
                  <a:pt x="2894897" y="-22071"/>
                  <a:pt x="3071951" y="0"/>
                </a:cubicBezTo>
                <a:cubicBezTo>
                  <a:pt x="3249005" y="22071"/>
                  <a:pt x="3602491" y="-5885"/>
                  <a:pt x="3735493" y="0"/>
                </a:cubicBezTo>
                <a:cubicBezTo>
                  <a:pt x="3868495" y="5885"/>
                  <a:pt x="4596412" y="31957"/>
                  <a:pt x="4915122" y="0"/>
                </a:cubicBezTo>
                <a:cubicBezTo>
                  <a:pt x="4934118" y="182718"/>
                  <a:pt x="4889208" y="394629"/>
                  <a:pt x="4915122" y="538729"/>
                </a:cubicBezTo>
                <a:cubicBezTo>
                  <a:pt x="4941036" y="682829"/>
                  <a:pt x="4924568" y="883247"/>
                  <a:pt x="4915122" y="1054036"/>
                </a:cubicBezTo>
                <a:cubicBezTo>
                  <a:pt x="4905676" y="1224825"/>
                  <a:pt x="4937695" y="1484022"/>
                  <a:pt x="4915122" y="1592765"/>
                </a:cubicBezTo>
                <a:cubicBezTo>
                  <a:pt x="4892549" y="1701508"/>
                  <a:pt x="4929527" y="2181790"/>
                  <a:pt x="4915122" y="2342302"/>
                </a:cubicBezTo>
                <a:cubicBezTo>
                  <a:pt x="4742168" y="2320491"/>
                  <a:pt x="4551277" y="2327657"/>
                  <a:pt x="4399034" y="2342302"/>
                </a:cubicBezTo>
                <a:cubicBezTo>
                  <a:pt x="4246791" y="2356947"/>
                  <a:pt x="4021289" y="2370254"/>
                  <a:pt x="3686342" y="2342302"/>
                </a:cubicBezTo>
                <a:cubicBezTo>
                  <a:pt x="3351395" y="2314350"/>
                  <a:pt x="3321317" y="2320488"/>
                  <a:pt x="3219405" y="2342302"/>
                </a:cubicBezTo>
                <a:cubicBezTo>
                  <a:pt x="3117493" y="2364116"/>
                  <a:pt x="2949370" y="2325038"/>
                  <a:pt x="2752468" y="2342302"/>
                </a:cubicBezTo>
                <a:cubicBezTo>
                  <a:pt x="2555566" y="2359566"/>
                  <a:pt x="2316490" y="2353298"/>
                  <a:pt x="2187229" y="2342302"/>
                </a:cubicBezTo>
                <a:cubicBezTo>
                  <a:pt x="2057968" y="2331306"/>
                  <a:pt x="1829585" y="2364637"/>
                  <a:pt x="1671141" y="2342302"/>
                </a:cubicBezTo>
                <a:cubicBezTo>
                  <a:pt x="1512697" y="2319967"/>
                  <a:pt x="1329857" y="2323031"/>
                  <a:pt x="1204205" y="2342302"/>
                </a:cubicBezTo>
                <a:cubicBezTo>
                  <a:pt x="1078553" y="2361573"/>
                  <a:pt x="763261" y="2358498"/>
                  <a:pt x="589815" y="2342302"/>
                </a:cubicBezTo>
                <a:cubicBezTo>
                  <a:pt x="416369" y="2326107"/>
                  <a:pt x="187002" y="2352131"/>
                  <a:pt x="0" y="2342302"/>
                </a:cubicBezTo>
                <a:cubicBezTo>
                  <a:pt x="-4771" y="2135189"/>
                  <a:pt x="14156" y="1955161"/>
                  <a:pt x="0" y="1826996"/>
                </a:cubicBezTo>
                <a:cubicBezTo>
                  <a:pt x="-14156" y="1698831"/>
                  <a:pt x="23181" y="1567827"/>
                  <a:pt x="0" y="1311689"/>
                </a:cubicBezTo>
                <a:cubicBezTo>
                  <a:pt x="-23181" y="1055551"/>
                  <a:pt x="-15813" y="1027515"/>
                  <a:pt x="0" y="772960"/>
                </a:cubicBezTo>
                <a:cubicBezTo>
                  <a:pt x="15813" y="518405"/>
                  <a:pt x="27398" y="328666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xmlns="" sd="683679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Inside a CPU Core</a:t>
            </a:r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xmlns="" id="{76934CD3-2FF5-C441-D320-B086A62F5092}"/>
              </a:ext>
            </a:extLst>
          </p:cNvPr>
          <p:cNvSpPr/>
          <p:nvPr/>
        </p:nvSpPr>
        <p:spPr>
          <a:xfrm>
            <a:off x="6901408" y="1299993"/>
            <a:ext cx="468630" cy="739547"/>
          </a:xfrm>
          <a:custGeom>
            <a:avLst/>
            <a:gdLst>
              <a:gd name="connsiteX0" fmla="*/ 0 w 468630"/>
              <a:gd name="connsiteY0" fmla="*/ 369774 h 739547"/>
              <a:gd name="connsiteX1" fmla="*/ 234315 w 468630"/>
              <a:gd name="connsiteY1" fmla="*/ 0 h 739547"/>
              <a:gd name="connsiteX2" fmla="*/ 468630 w 468630"/>
              <a:gd name="connsiteY2" fmla="*/ 369774 h 739547"/>
              <a:gd name="connsiteX3" fmla="*/ 234315 w 468630"/>
              <a:gd name="connsiteY3" fmla="*/ 739548 h 739547"/>
              <a:gd name="connsiteX4" fmla="*/ 0 w 468630"/>
              <a:gd name="connsiteY4" fmla="*/ 369774 h 739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630" h="739547" extrusionOk="0">
                <a:moveTo>
                  <a:pt x="0" y="369774"/>
                </a:moveTo>
                <a:cubicBezTo>
                  <a:pt x="427" y="179685"/>
                  <a:pt x="123530" y="20397"/>
                  <a:pt x="234315" y="0"/>
                </a:cubicBezTo>
                <a:cubicBezTo>
                  <a:pt x="357700" y="47997"/>
                  <a:pt x="483053" y="140775"/>
                  <a:pt x="468630" y="369774"/>
                </a:cubicBezTo>
                <a:cubicBezTo>
                  <a:pt x="463060" y="589461"/>
                  <a:pt x="389373" y="753463"/>
                  <a:pt x="234315" y="739548"/>
                </a:cubicBezTo>
                <a:cubicBezTo>
                  <a:pt x="100125" y="756636"/>
                  <a:pt x="19442" y="537202"/>
                  <a:pt x="0" y="369774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xmlns="" sd="2647928155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xmlns="" id="{6A1D7728-A9CC-8E78-DC2B-7FAD7CE6C52F}"/>
              </a:ext>
            </a:extLst>
          </p:cNvPr>
          <p:cNvCxnSpPr>
            <a:cxnSpLocks/>
          </p:cNvCxnSpPr>
          <p:nvPr/>
        </p:nvCxnSpPr>
        <p:spPr>
          <a:xfrm flipH="1">
            <a:off x="5589159" y="1326594"/>
            <a:ext cx="1459410" cy="851368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xmlns="" id="{50F68440-89FF-9294-F1C7-A20F33AF7FA1}"/>
              </a:ext>
            </a:extLst>
          </p:cNvPr>
          <p:cNvCxnSpPr>
            <a:cxnSpLocks/>
            <a:stCxn id="7" idx="5"/>
          </p:cNvCxnSpPr>
          <p:nvPr/>
        </p:nvCxnSpPr>
        <p:spPr>
          <a:xfrm flipH="1">
            <a:off x="6478498" y="1931236"/>
            <a:ext cx="822911" cy="1771233"/>
          </a:xfrm>
          <a:prstGeom prst="line">
            <a:avLst/>
          </a:prstGeom>
          <a:ln w="28575"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66" name="Picture 2">
            <a:extLst>
              <a:ext uri="{FF2B5EF4-FFF2-40B4-BE49-F238E27FC236}">
                <a16:creationId xmlns:a16="http://schemas.microsoft.com/office/drawing/2014/main" xmlns="" id="{68FB11FC-8E14-9C70-4A8D-B1FC56AD2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395" y="2204562"/>
            <a:ext cx="2207442" cy="152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735332E-C30C-928E-C421-08552066A8B0}"/>
              </a:ext>
            </a:extLst>
          </p:cNvPr>
          <p:cNvSpPr/>
          <p:nvPr/>
        </p:nvSpPr>
        <p:spPr>
          <a:xfrm>
            <a:off x="611312" y="1012364"/>
            <a:ext cx="316957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CPU Core is composed of various logic circuits, optimized to perform fast operations: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Arithmetic-Logic-Unit (ALU) to perform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fast-access memories to store temporary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Glue-Logic.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419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ABD2C8-CF03-0BB7-1BB5-01F95981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9168C993-D3FF-4DB1-0C21-CF002317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AF54891-5B07-B9B5-2900-C9F5EE780887}"/>
              </a:ext>
            </a:extLst>
          </p:cNvPr>
          <p:cNvGrpSpPr/>
          <p:nvPr/>
        </p:nvGrpSpPr>
        <p:grpSpPr>
          <a:xfrm>
            <a:off x="162127" y="855821"/>
            <a:ext cx="3431858" cy="3431858"/>
            <a:chOff x="162127" y="1068370"/>
            <a:chExt cx="3431858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EC7B3DCB-B0AA-4246-241C-0BBD8D9459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e 5">
              <a:extLst>
                <a:ext uri="{FF2B5EF4-FFF2-40B4-BE49-F238E27FC236}">
                  <a16:creationId xmlns:a16="http://schemas.microsoft.com/office/drawing/2014/main" xmlns="" id="{62CF0011-6D62-7EBD-D76E-A085B1C23612}"/>
                </a:ext>
              </a:extLst>
            </p:cNvPr>
            <p:cNvSpPr/>
            <p:nvPr/>
          </p:nvSpPr>
          <p:spPr>
            <a:xfrm>
              <a:off x="2121744" y="1715055"/>
              <a:ext cx="1038971" cy="720147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740090721">
                    <a:custGeom>
                      <a:avLst/>
                      <a:gdLst>
                        <a:gd name="connsiteX0" fmla="*/ 0 w 1038971"/>
                        <a:gd name="connsiteY0" fmla="*/ 360074 h 720147"/>
                        <a:gd name="connsiteX1" fmla="*/ 519486 w 1038971"/>
                        <a:gd name="connsiteY1" fmla="*/ 0 h 720147"/>
                        <a:gd name="connsiteX2" fmla="*/ 1038972 w 1038971"/>
                        <a:gd name="connsiteY2" fmla="*/ 360074 h 720147"/>
                        <a:gd name="connsiteX3" fmla="*/ 519486 w 1038971"/>
                        <a:gd name="connsiteY3" fmla="*/ 720148 h 720147"/>
                        <a:gd name="connsiteX4" fmla="*/ 0 w 1038971"/>
                        <a:gd name="connsiteY4" fmla="*/ 360074 h 7201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38971" h="720147" extrusionOk="0">
                          <a:moveTo>
                            <a:pt x="0" y="360074"/>
                          </a:moveTo>
                          <a:cubicBezTo>
                            <a:pt x="18411" y="169448"/>
                            <a:pt x="228714" y="-408"/>
                            <a:pt x="519486" y="0"/>
                          </a:cubicBezTo>
                          <a:cubicBezTo>
                            <a:pt x="805472" y="-18655"/>
                            <a:pt x="1023689" y="164907"/>
                            <a:pt x="1038972" y="360074"/>
                          </a:cubicBezTo>
                          <a:cubicBezTo>
                            <a:pt x="1050942" y="570974"/>
                            <a:pt x="845782" y="722680"/>
                            <a:pt x="519486" y="720148"/>
                          </a:cubicBezTo>
                          <a:cubicBezTo>
                            <a:pt x="219080" y="729783"/>
                            <a:pt x="-38558" y="552915"/>
                            <a:pt x="0" y="3600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xmlns="" id="{1936A2F2-124E-9B84-BCCE-0AA60411780F}"/>
                </a:ext>
              </a:extLst>
            </p:cNvPr>
            <p:cNvSpPr/>
            <p:nvPr/>
          </p:nvSpPr>
          <p:spPr>
            <a:xfrm>
              <a:off x="1486636" y="2853050"/>
              <a:ext cx="936524" cy="663678"/>
            </a:xfrm>
            <a:prstGeom prst="ellips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2584859058">
                    <a:custGeom>
                      <a:avLst/>
                      <a:gdLst>
                        <a:gd name="connsiteX0" fmla="*/ 0 w 936524"/>
                        <a:gd name="connsiteY0" fmla="*/ 331839 h 663678"/>
                        <a:gd name="connsiteX1" fmla="*/ 468262 w 936524"/>
                        <a:gd name="connsiteY1" fmla="*/ 0 h 663678"/>
                        <a:gd name="connsiteX2" fmla="*/ 936524 w 936524"/>
                        <a:gd name="connsiteY2" fmla="*/ 331839 h 663678"/>
                        <a:gd name="connsiteX3" fmla="*/ 468262 w 936524"/>
                        <a:gd name="connsiteY3" fmla="*/ 663678 h 663678"/>
                        <a:gd name="connsiteX4" fmla="*/ 0 w 936524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36524" h="663678" extrusionOk="0">
                          <a:moveTo>
                            <a:pt x="0" y="331839"/>
                          </a:moveTo>
                          <a:cubicBezTo>
                            <a:pt x="-28192" y="116817"/>
                            <a:pt x="248297" y="-748"/>
                            <a:pt x="468262" y="0"/>
                          </a:cubicBezTo>
                          <a:cubicBezTo>
                            <a:pt x="710663" y="-3643"/>
                            <a:pt x="936130" y="156582"/>
                            <a:pt x="936524" y="331839"/>
                          </a:cubicBezTo>
                          <a:cubicBezTo>
                            <a:pt x="913175" y="490097"/>
                            <a:pt x="754207" y="642292"/>
                            <a:pt x="468262" y="663678"/>
                          </a:cubicBezTo>
                          <a:cubicBezTo>
                            <a:pt x="212177" y="653106"/>
                            <a:pt x="33046" y="518516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CasellaDiTesto 13">
            <a:extLst>
              <a:ext uri="{FF2B5EF4-FFF2-40B4-BE49-F238E27FC236}">
                <a16:creationId xmlns:a16="http://schemas.microsoft.com/office/drawing/2014/main" xmlns="" id="{FAEBD7CF-1011-5CBF-C383-6DC1098B54A9}"/>
              </a:ext>
            </a:extLst>
          </p:cNvPr>
          <p:cNvSpPr txBox="1"/>
          <p:nvPr/>
        </p:nvSpPr>
        <p:spPr>
          <a:xfrm>
            <a:off x="3760067" y="1424620"/>
            <a:ext cx="3983907" cy="10797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categories:</a:t>
            </a:r>
          </a:p>
          <a:p>
            <a:pPr lvl="1" algn="just">
              <a:spcAft>
                <a:spcPts val="1350"/>
              </a:spcAft>
              <a:buClr>
                <a:srgbClr val="003153"/>
              </a:buClr>
            </a:pPr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Memory devices.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97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Components: Memory Hierarchy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33AE60B1-EE7E-C571-D340-1748C604A3B8}"/>
              </a:ext>
            </a:extLst>
          </p:cNvPr>
          <p:cNvSpPr txBox="1"/>
          <p:nvPr/>
        </p:nvSpPr>
        <p:spPr>
          <a:xfrm>
            <a:off x="569357" y="1111093"/>
            <a:ext cx="3768090" cy="29213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storage systems where data is kept so the CPU can access it when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needed.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memories have different capacities, different speeds, and different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cost.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Modern SoCs embed inside the CPU the cache and the main memory close to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it.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EF3B93C4-F7F6-1072-17A5-B165A6B96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54" y="875109"/>
            <a:ext cx="4850606" cy="3393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9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nettore curvo 29">
            <a:extLst>
              <a:ext uri="{FF2B5EF4-FFF2-40B4-BE49-F238E27FC236}">
                <a16:creationId xmlns:a16="http://schemas.microsoft.com/office/drawing/2014/main" xmlns="" id="{F6CDCF26-6044-848E-70FC-1790E9B9BC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28916" y="1593003"/>
            <a:ext cx="1213443" cy="2856510"/>
          </a:xfrm>
          <a:prstGeom prst="curvedConnector2">
            <a:avLst/>
          </a:prstGeom>
          <a:ln w="139700">
            <a:solidFill>
              <a:schemeClr val="accent2">
                <a:alpha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Nuvola 1">
            <a:extLst>
              <a:ext uri="{FF2B5EF4-FFF2-40B4-BE49-F238E27FC236}">
                <a16:creationId xmlns:a16="http://schemas.microsoft.com/office/drawing/2014/main" xmlns="" id="{C67DBC09-062D-6224-26AA-8F1D23E7ED76}"/>
              </a:ext>
            </a:extLst>
          </p:cNvPr>
          <p:cNvSpPr/>
          <p:nvPr/>
        </p:nvSpPr>
        <p:spPr>
          <a:xfrm>
            <a:off x="615810" y="1001718"/>
            <a:ext cx="1817445" cy="1272541"/>
          </a:xfrm>
          <a:prstGeom prst="cloud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Memory: From Storage To Registers</a:t>
            </a:r>
          </a:p>
        </p:txBody>
      </p:sp>
      <p:pic>
        <p:nvPicPr>
          <p:cNvPr id="4" name="Immagine 3" descr="Immagine che contiene schermata, Policromia, testo, cerchio&#10;&#10;Descrizione generata automaticamente">
            <a:extLst>
              <a:ext uri="{FF2B5EF4-FFF2-40B4-BE49-F238E27FC236}">
                <a16:creationId xmlns:a16="http://schemas.microsoft.com/office/drawing/2014/main" xmlns="" id="{21440D20-7C51-9C9F-171A-EE87A1B2F3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1" r="40555" b="34777"/>
          <a:stretch/>
        </p:blipFill>
        <p:spPr>
          <a:xfrm>
            <a:off x="987322" y="1175084"/>
            <a:ext cx="1074420" cy="925809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A178FB31-607E-AC5F-741E-093F940538DC}"/>
              </a:ext>
            </a:extLst>
          </p:cNvPr>
          <p:cNvSpPr txBox="1"/>
          <p:nvPr/>
        </p:nvSpPr>
        <p:spPr>
          <a:xfrm>
            <a:off x="296441" y="2105099"/>
            <a:ext cx="70465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Cloud</a:t>
            </a:r>
          </a:p>
        </p:txBody>
      </p:sp>
      <p:pic>
        <p:nvPicPr>
          <p:cNvPr id="13" name="Immagine 12" descr="Immagine che contiene elettronica, testo, memoria flash&#10;&#10;Descrizione generata automaticamente">
            <a:extLst>
              <a:ext uri="{FF2B5EF4-FFF2-40B4-BE49-F238E27FC236}">
                <a16:creationId xmlns:a16="http://schemas.microsoft.com/office/drawing/2014/main" xmlns="" id="{DA999FCE-E66A-589C-E557-6CB6986786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3447">
            <a:off x="1651489" y="3062387"/>
            <a:ext cx="524877" cy="393658"/>
          </a:xfrm>
          <a:prstGeom prst="rect">
            <a:avLst/>
          </a:prstGeom>
        </p:spPr>
      </p:pic>
      <p:pic>
        <p:nvPicPr>
          <p:cNvPr id="14" name="Immagine 13" descr="Immagine che contiene Chiavetta USB, memoria flash, unità&#10;&#10;Descrizione generata automaticamente">
            <a:extLst>
              <a:ext uri="{FF2B5EF4-FFF2-40B4-BE49-F238E27FC236}">
                <a16:creationId xmlns:a16="http://schemas.microsoft.com/office/drawing/2014/main" xmlns="" id="{98ECA533-C518-498D-BFF0-D379CC7FA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770" y="2868652"/>
            <a:ext cx="1323371" cy="882027"/>
          </a:xfrm>
          <a:prstGeom prst="rect">
            <a:avLst/>
          </a:prstGeom>
        </p:spPr>
      </p:pic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xmlns="" id="{BD7BC732-46C8-B90B-3858-C8EB82D7C434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881123" y="2509019"/>
            <a:ext cx="1018567" cy="582725"/>
          </a:xfrm>
          <a:prstGeom prst="curvedConnector2">
            <a:avLst/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magine 18" descr="Immagine che contiene elettronica, Componente elettrico, Componente di circuito, Componente di circuito passivo&#10;&#10;Descrizione generata automaticamente">
            <a:extLst>
              <a:ext uri="{FF2B5EF4-FFF2-40B4-BE49-F238E27FC236}">
                <a16:creationId xmlns:a16="http://schemas.microsoft.com/office/drawing/2014/main" xmlns="" id="{F1B48D41-7753-53F5-1B92-000F082900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0813">
            <a:off x="4377165" y="2876327"/>
            <a:ext cx="1594463" cy="1062975"/>
          </a:xfrm>
          <a:prstGeom prst="rect">
            <a:avLst/>
          </a:prstGeom>
        </p:spPr>
      </p:pic>
      <p:cxnSp>
        <p:nvCxnSpPr>
          <p:cNvPr id="21" name="Connettore curvo 20">
            <a:extLst>
              <a:ext uri="{FF2B5EF4-FFF2-40B4-BE49-F238E27FC236}">
                <a16:creationId xmlns:a16="http://schemas.microsoft.com/office/drawing/2014/main" xmlns="" id="{0F2708C9-DBA7-C921-A714-1C2C95B6D2EE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3005140" y="3309666"/>
            <a:ext cx="1375902" cy="176681"/>
          </a:xfrm>
          <a:prstGeom prst="curvedConnector3">
            <a:avLst>
              <a:gd name="adj1" fmla="val 50000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C33D771B-D87E-BB12-D7A7-85624158B040}"/>
              </a:ext>
            </a:extLst>
          </p:cNvPr>
          <p:cNvSpPr txBox="1"/>
          <p:nvPr/>
        </p:nvSpPr>
        <p:spPr>
          <a:xfrm>
            <a:off x="3379529" y="778336"/>
            <a:ext cx="4969797" cy="20903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Apps, images, videos, … are stored into the storage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memory.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Then, they are loaded into the Random Access Memory (RAM) of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device.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From the RAM, the CPU can easily access the information to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process.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CasellaDiTesto 17">
            <a:extLst>
              <a:ext uri="{FF2B5EF4-FFF2-40B4-BE49-F238E27FC236}">
                <a16:creationId xmlns:a16="http://schemas.microsoft.com/office/drawing/2014/main" xmlns="" id="{01095F40-0A75-794E-EDF9-25B0DD62EB8C}"/>
              </a:ext>
            </a:extLst>
          </p:cNvPr>
          <p:cNvSpPr txBox="1"/>
          <p:nvPr/>
        </p:nvSpPr>
        <p:spPr>
          <a:xfrm>
            <a:off x="4328687" y="3833015"/>
            <a:ext cx="205740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Random Access Memory </a:t>
            </a:r>
            <a:r>
              <a:rPr lang="en-GB" i="1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(RAM)</a:t>
            </a:r>
          </a:p>
        </p:txBody>
      </p:sp>
      <p:sp>
        <p:nvSpPr>
          <p:cNvPr id="24" name="CasellaDiTesto 19">
            <a:extLst>
              <a:ext uri="{FF2B5EF4-FFF2-40B4-BE49-F238E27FC236}">
                <a16:creationId xmlns:a16="http://schemas.microsoft.com/office/drawing/2014/main" xmlns="" id="{B79DD1E9-DD83-D0B7-865E-DB965256B051}"/>
              </a:ext>
            </a:extLst>
          </p:cNvPr>
          <p:cNvSpPr txBox="1"/>
          <p:nvPr/>
        </p:nvSpPr>
        <p:spPr>
          <a:xfrm>
            <a:off x="1615347" y="3737471"/>
            <a:ext cx="94104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Storage Memory</a:t>
            </a:r>
          </a:p>
        </p:txBody>
      </p:sp>
    </p:spTree>
    <p:extLst>
      <p:ext uri="{BB962C8B-B14F-4D97-AF65-F5344CB8AC3E}">
        <p14:creationId xmlns:p14="http://schemas.microsoft.com/office/powerpoint/2010/main" val="115103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ttore curvo 31">
            <a:extLst>
              <a:ext uri="{FF2B5EF4-FFF2-40B4-BE49-F238E27FC236}">
                <a16:creationId xmlns:a16="http://schemas.microsoft.com/office/drawing/2014/main" xmlns="" id="{4EBA2D4C-7B26-C51B-5B3B-8B65B4B0B3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23157" y="-107594"/>
            <a:ext cx="1213443" cy="6248610"/>
          </a:xfrm>
          <a:prstGeom prst="curvedConnector3">
            <a:avLst>
              <a:gd name="adj1" fmla="val 114129"/>
            </a:avLst>
          </a:prstGeom>
          <a:ln w="139700">
            <a:solidFill>
              <a:schemeClr val="accent2">
                <a:alpha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Nuvola 1">
            <a:extLst>
              <a:ext uri="{FF2B5EF4-FFF2-40B4-BE49-F238E27FC236}">
                <a16:creationId xmlns:a16="http://schemas.microsoft.com/office/drawing/2014/main" xmlns="" id="{C67DBC09-062D-6224-26AA-8F1D23E7ED76}"/>
              </a:ext>
            </a:extLst>
          </p:cNvPr>
          <p:cNvSpPr/>
          <p:nvPr/>
        </p:nvSpPr>
        <p:spPr>
          <a:xfrm>
            <a:off x="617146" y="1002916"/>
            <a:ext cx="1817445" cy="1272541"/>
          </a:xfrm>
          <a:prstGeom prst="cloud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Memory: From Storage To Registers</a:t>
            </a:r>
          </a:p>
        </p:txBody>
      </p:sp>
      <p:pic>
        <p:nvPicPr>
          <p:cNvPr id="4" name="Immagine 3" descr="Immagine che contiene schermata, Policromia, testo, cerchio&#10;&#10;Descrizione generata automaticamente">
            <a:extLst>
              <a:ext uri="{FF2B5EF4-FFF2-40B4-BE49-F238E27FC236}">
                <a16:creationId xmlns:a16="http://schemas.microsoft.com/office/drawing/2014/main" xmlns="" id="{21440D20-7C51-9C9F-171A-EE87A1B2F3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1" r="40555" b="34777"/>
          <a:stretch/>
        </p:blipFill>
        <p:spPr>
          <a:xfrm>
            <a:off x="988658" y="1176282"/>
            <a:ext cx="1074420" cy="925809"/>
          </a:xfrm>
          <a:prstGeom prst="rect">
            <a:avLst/>
          </a:prstGeom>
        </p:spPr>
      </p:pic>
      <p:pic>
        <p:nvPicPr>
          <p:cNvPr id="13" name="Immagine 12" descr="Immagine che contiene elettronica, testo, memoria flash&#10;&#10;Descrizione generata automaticamente">
            <a:extLst>
              <a:ext uri="{FF2B5EF4-FFF2-40B4-BE49-F238E27FC236}">
                <a16:creationId xmlns:a16="http://schemas.microsoft.com/office/drawing/2014/main" xmlns="" id="{DA999FCE-E66A-589C-E557-6CB6986786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3447">
            <a:off x="1652825" y="3063585"/>
            <a:ext cx="524877" cy="393658"/>
          </a:xfrm>
          <a:prstGeom prst="rect">
            <a:avLst/>
          </a:prstGeom>
        </p:spPr>
      </p:pic>
      <p:pic>
        <p:nvPicPr>
          <p:cNvPr id="14" name="Immagine 13" descr="Immagine che contiene Chiavetta USB, memoria flash, unità&#10;&#10;Descrizione generata automaticamente">
            <a:extLst>
              <a:ext uri="{FF2B5EF4-FFF2-40B4-BE49-F238E27FC236}">
                <a16:creationId xmlns:a16="http://schemas.microsoft.com/office/drawing/2014/main" xmlns="" id="{98ECA533-C518-498D-BFF0-D379CC7FA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106" y="2869850"/>
            <a:ext cx="1323371" cy="882027"/>
          </a:xfrm>
          <a:prstGeom prst="rect">
            <a:avLst/>
          </a:prstGeom>
        </p:spPr>
      </p:pic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xmlns="" id="{BD7BC732-46C8-B90B-3858-C8EB82D7C434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882459" y="2510217"/>
            <a:ext cx="1018567" cy="582725"/>
          </a:xfrm>
          <a:prstGeom prst="curvedConnector2">
            <a:avLst/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magine 18" descr="Immagine che contiene elettronica, Componente elettrico, Componente di circuito, Componente di circuito passivo&#10;&#10;Descrizione generata automaticamente">
            <a:extLst>
              <a:ext uri="{FF2B5EF4-FFF2-40B4-BE49-F238E27FC236}">
                <a16:creationId xmlns:a16="http://schemas.microsoft.com/office/drawing/2014/main" xmlns="" id="{F1B48D41-7753-53F5-1B92-000F082900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0813">
            <a:off x="4378501" y="2877525"/>
            <a:ext cx="1594463" cy="1062975"/>
          </a:xfrm>
          <a:prstGeom prst="rect">
            <a:avLst/>
          </a:prstGeom>
        </p:spPr>
      </p:pic>
      <p:cxnSp>
        <p:nvCxnSpPr>
          <p:cNvPr id="21" name="Connettore curvo 20">
            <a:extLst>
              <a:ext uri="{FF2B5EF4-FFF2-40B4-BE49-F238E27FC236}">
                <a16:creationId xmlns:a16="http://schemas.microsoft.com/office/drawing/2014/main" xmlns="" id="{0F2708C9-DBA7-C921-A714-1C2C95B6D2EE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3006476" y="3310864"/>
            <a:ext cx="1375902" cy="176681"/>
          </a:xfrm>
          <a:prstGeom prst="curvedConnector3">
            <a:avLst>
              <a:gd name="adj1" fmla="val 50000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C33D771B-D87E-BB12-D7A7-85624158B040}"/>
              </a:ext>
            </a:extLst>
          </p:cNvPr>
          <p:cNvSpPr txBox="1"/>
          <p:nvPr/>
        </p:nvSpPr>
        <p:spPr>
          <a:xfrm>
            <a:off x="3196476" y="892120"/>
            <a:ext cx="5092501" cy="13567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When the CPU accesses information from the RAM, data are copied into the cache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memory.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cache memory is a small, high-speed memory inside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Immagine 7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xmlns="" id="{3209651D-AB5F-6875-01F6-6537D628DA4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992" y="3125792"/>
            <a:ext cx="881134" cy="640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magine 2" descr="Immagine che contiene circuito&#10;&#10;Descrizione generata automaticamente">
            <a:extLst>
              <a:ext uri="{FF2B5EF4-FFF2-40B4-BE49-F238E27FC236}">
                <a16:creationId xmlns:a16="http://schemas.microsoft.com/office/drawing/2014/main" xmlns="" id="{342CFE23-685E-6AB0-A1C4-7D56C09BE37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7" t="64377" r="47647" b="4463"/>
          <a:stretch/>
        </p:blipFill>
        <p:spPr>
          <a:xfrm>
            <a:off x="7224936" y="2516371"/>
            <a:ext cx="1099085" cy="971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xmlns="" id="{C4E4D0E9-D0C5-DA46-63DB-261D955E3B58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>
            <a:off x="5969086" y="3330481"/>
            <a:ext cx="680906" cy="115457"/>
          </a:xfrm>
          <a:prstGeom prst="curvedConnector3">
            <a:avLst>
              <a:gd name="adj1" fmla="val 50000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xmlns="" id="{7E412256-2609-A471-A4BC-BE97E461C347}"/>
              </a:ext>
            </a:extLst>
          </p:cNvPr>
          <p:cNvSpPr txBox="1"/>
          <p:nvPr/>
        </p:nvSpPr>
        <p:spPr>
          <a:xfrm>
            <a:off x="7040566" y="3845638"/>
            <a:ext cx="1263644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Cache Memory </a:t>
            </a: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xmlns="" id="{4D15E5E6-D306-8A46-0B5E-8C59BC715CB6}"/>
              </a:ext>
            </a:extLst>
          </p:cNvPr>
          <p:cNvSpPr/>
          <p:nvPr/>
        </p:nvSpPr>
        <p:spPr>
          <a:xfrm>
            <a:off x="6842628" y="3432820"/>
            <a:ext cx="247930" cy="24666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xmlns="" id="{29A2577C-3460-25D6-1133-ADA99C17397A}"/>
              </a:ext>
            </a:extLst>
          </p:cNvPr>
          <p:cNvCxnSpPr>
            <a:cxnSpLocks/>
          </p:cNvCxnSpPr>
          <p:nvPr/>
        </p:nvCxnSpPr>
        <p:spPr>
          <a:xfrm flipV="1">
            <a:off x="6842629" y="2516371"/>
            <a:ext cx="382307" cy="998722"/>
          </a:xfrm>
          <a:prstGeom prst="line">
            <a:avLst/>
          </a:prstGeom>
          <a:ln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xmlns="" id="{84603841-DDF0-E525-C357-CD896E8E6A21}"/>
              </a:ext>
            </a:extLst>
          </p:cNvPr>
          <p:cNvCxnSpPr>
            <a:cxnSpLocks/>
            <a:stCxn id="24" idx="4"/>
          </p:cNvCxnSpPr>
          <p:nvPr/>
        </p:nvCxnSpPr>
        <p:spPr>
          <a:xfrm flipV="1">
            <a:off x="6966594" y="3484777"/>
            <a:ext cx="1357427" cy="194711"/>
          </a:xfrm>
          <a:prstGeom prst="line">
            <a:avLst/>
          </a:prstGeom>
          <a:ln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17">
            <a:extLst>
              <a:ext uri="{FF2B5EF4-FFF2-40B4-BE49-F238E27FC236}">
                <a16:creationId xmlns:a16="http://schemas.microsoft.com/office/drawing/2014/main" xmlns="" id="{01095F40-0A75-794E-EDF9-25B0DD62EB8C}"/>
              </a:ext>
            </a:extLst>
          </p:cNvPr>
          <p:cNvSpPr txBox="1"/>
          <p:nvPr/>
        </p:nvSpPr>
        <p:spPr>
          <a:xfrm>
            <a:off x="4252139" y="3821095"/>
            <a:ext cx="205740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Random Access Memory </a:t>
            </a:r>
            <a:r>
              <a:rPr lang="en-GB" i="1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(RAM)</a:t>
            </a:r>
          </a:p>
        </p:txBody>
      </p:sp>
      <p:sp>
        <p:nvSpPr>
          <p:cNvPr id="33" name="CasellaDiTesto 19">
            <a:extLst>
              <a:ext uri="{FF2B5EF4-FFF2-40B4-BE49-F238E27FC236}">
                <a16:creationId xmlns:a16="http://schemas.microsoft.com/office/drawing/2014/main" xmlns="" id="{B79DD1E9-DD83-D0B7-865E-DB965256B051}"/>
              </a:ext>
            </a:extLst>
          </p:cNvPr>
          <p:cNvSpPr txBox="1"/>
          <p:nvPr/>
        </p:nvSpPr>
        <p:spPr>
          <a:xfrm>
            <a:off x="1615347" y="3737471"/>
            <a:ext cx="94104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Storage Memory</a:t>
            </a:r>
          </a:p>
        </p:txBody>
      </p:sp>
      <p:sp>
        <p:nvSpPr>
          <p:cNvPr id="35" name="CasellaDiTesto 10">
            <a:extLst>
              <a:ext uri="{FF2B5EF4-FFF2-40B4-BE49-F238E27FC236}">
                <a16:creationId xmlns:a16="http://schemas.microsoft.com/office/drawing/2014/main" xmlns="" id="{A178FB31-607E-AC5F-741E-093F940538DC}"/>
              </a:ext>
            </a:extLst>
          </p:cNvPr>
          <p:cNvSpPr txBox="1"/>
          <p:nvPr/>
        </p:nvSpPr>
        <p:spPr>
          <a:xfrm>
            <a:off x="296441" y="2105099"/>
            <a:ext cx="70465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185300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Connettore curvo 38">
            <a:extLst>
              <a:ext uri="{FF2B5EF4-FFF2-40B4-BE49-F238E27FC236}">
                <a16:creationId xmlns:a16="http://schemas.microsoft.com/office/drawing/2014/main" xmlns="" id="{C3561F0C-B7CA-F1E6-05FF-DC1434659B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09150" y="-906742"/>
            <a:ext cx="18195" cy="6672704"/>
          </a:xfrm>
          <a:prstGeom prst="curvedConnector3">
            <a:avLst>
              <a:gd name="adj1" fmla="val 7353454"/>
            </a:avLst>
          </a:prstGeom>
          <a:ln w="139700">
            <a:solidFill>
              <a:schemeClr val="accent2">
                <a:alpha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Nuvola 1">
            <a:extLst>
              <a:ext uri="{FF2B5EF4-FFF2-40B4-BE49-F238E27FC236}">
                <a16:creationId xmlns:a16="http://schemas.microsoft.com/office/drawing/2014/main" xmlns="" id="{C67DBC09-062D-6224-26AA-8F1D23E7ED76}"/>
              </a:ext>
            </a:extLst>
          </p:cNvPr>
          <p:cNvSpPr/>
          <p:nvPr/>
        </p:nvSpPr>
        <p:spPr>
          <a:xfrm>
            <a:off x="617146" y="997986"/>
            <a:ext cx="1817445" cy="1272541"/>
          </a:xfrm>
          <a:prstGeom prst="cloud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Memory: From Storage To Register</a:t>
            </a:r>
          </a:p>
        </p:txBody>
      </p:sp>
      <p:pic>
        <p:nvPicPr>
          <p:cNvPr id="4" name="Immagine 3" descr="Immagine che contiene schermata, Policromia, testo, cerchio&#10;&#10;Descrizione generata automaticamente">
            <a:extLst>
              <a:ext uri="{FF2B5EF4-FFF2-40B4-BE49-F238E27FC236}">
                <a16:creationId xmlns:a16="http://schemas.microsoft.com/office/drawing/2014/main" xmlns="" id="{21440D20-7C51-9C9F-171A-EE87A1B2F3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8F6F5"/>
              </a:clrFrom>
              <a:clrTo>
                <a:srgbClr val="F8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1" r="40555" b="34777"/>
          <a:stretch/>
        </p:blipFill>
        <p:spPr>
          <a:xfrm>
            <a:off x="988658" y="1171352"/>
            <a:ext cx="1074420" cy="925809"/>
          </a:xfrm>
          <a:prstGeom prst="rect">
            <a:avLst/>
          </a:prstGeom>
        </p:spPr>
      </p:pic>
      <p:pic>
        <p:nvPicPr>
          <p:cNvPr id="13" name="Immagine 12" descr="Immagine che contiene elettronica, testo, memoria flash&#10;&#10;Descrizione generata automaticamente">
            <a:extLst>
              <a:ext uri="{FF2B5EF4-FFF2-40B4-BE49-F238E27FC236}">
                <a16:creationId xmlns:a16="http://schemas.microsoft.com/office/drawing/2014/main" xmlns="" id="{DA999FCE-E66A-589C-E557-6CB6986786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3447">
            <a:off x="1255868" y="3118791"/>
            <a:ext cx="524877" cy="393658"/>
          </a:xfrm>
          <a:prstGeom prst="rect">
            <a:avLst/>
          </a:prstGeom>
        </p:spPr>
      </p:pic>
      <p:pic>
        <p:nvPicPr>
          <p:cNvPr id="14" name="Immagine 13" descr="Immagine che contiene Chiavetta USB, memoria flash, unità&#10;&#10;Descrizione generata automaticamente">
            <a:extLst>
              <a:ext uri="{FF2B5EF4-FFF2-40B4-BE49-F238E27FC236}">
                <a16:creationId xmlns:a16="http://schemas.microsoft.com/office/drawing/2014/main" xmlns="" id="{98ECA533-C518-498D-BFF0-D379CC7FA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149" y="2925056"/>
            <a:ext cx="1323371" cy="882027"/>
          </a:xfrm>
          <a:prstGeom prst="rect">
            <a:avLst/>
          </a:prstGeom>
        </p:spPr>
      </p:pic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xmlns="" id="{BD7BC732-46C8-B90B-3858-C8EB82D7C434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>
            <a:off x="887785" y="2776212"/>
            <a:ext cx="988223" cy="191495"/>
          </a:xfrm>
          <a:prstGeom prst="curvedConnector4">
            <a:avLst>
              <a:gd name="adj1" fmla="val 27687"/>
              <a:gd name="adj2" fmla="val 189532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magine 18" descr="Immagine che contiene elettronica, Componente elettrico, Componente di circuito, Componente di circuito passivo&#10;&#10;Descrizione generata automaticamente">
            <a:extLst>
              <a:ext uri="{FF2B5EF4-FFF2-40B4-BE49-F238E27FC236}">
                <a16:creationId xmlns:a16="http://schemas.microsoft.com/office/drawing/2014/main" xmlns="" id="{F1B48D41-7753-53F5-1B92-000F082900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0813">
            <a:off x="3390192" y="2892686"/>
            <a:ext cx="1594463" cy="1062975"/>
          </a:xfrm>
          <a:prstGeom prst="rect">
            <a:avLst/>
          </a:prstGeom>
        </p:spPr>
      </p:pic>
      <p:cxnSp>
        <p:nvCxnSpPr>
          <p:cNvPr id="21" name="Connettore curvo 20">
            <a:extLst>
              <a:ext uri="{FF2B5EF4-FFF2-40B4-BE49-F238E27FC236}">
                <a16:creationId xmlns:a16="http://schemas.microsoft.com/office/drawing/2014/main" xmlns="" id="{0F2708C9-DBA7-C921-A714-1C2C95B6D2EE}"/>
              </a:ext>
            </a:extLst>
          </p:cNvPr>
          <p:cNvCxnSpPr>
            <a:cxnSpLocks/>
          </p:cNvCxnSpPr>
          <p:nvPr/>
        </p:nvCxnSpPr>
        <p:spPr>
          <a:xfrm>
            <a:off x="2434591" y="3416315"/>
            <a:ext cx="845837" cy="168692"/>
          </a:xfrm>
          <a:prstGeom prst="curvedConnector3">
            <a:avLst>
              <a:gd name="adj1" fmla="val 50000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xmlns="" id="{C33D771B-D87E-BB12-D7A7-85624158B040}"/>
              </a:ext>
            </a:extLst>
          </p:cNvPr>
          <p:cNvSpPr txBox="1"/>
          <p:nvPr/>
        </p:nvSpPr>
        <p:spPr>
          <a:xfrm>
            <a:off x="3197607" y="893680"/>
            <a:ext cx="3844462" cy="16337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From the cache, data are moved to registers inside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Registers are the smallest and fastest storage locations in an electronic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system.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Immagine 7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xmlns="" id="{3209651D-AB5F-6875-01F6-6537D628DA4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089" y="3350504"/>
            <a:ext cx="881134" cy="640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magine 2" descr="Immagine che contiene circuito&#10;&#10;Descrizione generata automaticamente">
            <a:extLst>
              <a:ext uri="{FF2B5EF4-FFF2-40B4-BE49-F238E27FC236}">
                <a16:creationId xmlns:a16="http://schemas.microsoft.com/office/drawing/2014/main" xmlns="" id="{342CFE23-685E-6AB0-A1C4-7D56C09BE37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7" t="64377" r="47647" b="4463"/>
          <a:stretch/>
        </p:blipFill>
        <p:spPr>
          <a:xfrm>
            <a:off x="6315033" y="2741083"/>
            <a:ext cx="1099085" cy="971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xmlns="" id="{C4E4D0E9-D0C5-DA46-63DB-261D955E3B58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>
            <a:off x="4980778" y="3345641"/>
            <a:ext cx="759311" cy="325008"/>
          </a:xfrm>
          <a:prstGeom prst="curvedConnector3">
            <a:avLst>
              <a:gd name="adj1" fmla="val 50000"/>
            </a:avLst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e 23">
            <a:extLst>
              <a:ext uri="{FF2B5EF4-FFF2-40B4-BE49-F238E27FC236}">
                <a16:creationId xmlns:a16="http://schemas.microsoft.com/office/drawing/2014/main" xmlns="" id="{4D15E5E6-D306-8A46-0B5E-8C59BC715CB6}"/>
              </a:ext>
            </a:extLst>
          </p:cNvPr>
          <p:cNvSpPr/>
          <p:nvPr/>
        </p:nvSpPr>
        <p:spPr>
          <a:xfrm>
            <a:off x="5932725" y="3657532"/>
            <a:ext cx="247930" cy="24666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xmlns="" id="{29A2577C-3460-25D6-1133-ADA99C17397A}"/>
              </a:ext>
            </a:extLst>
          </p:cNvPr>
          <p:cNvCxnSpPr>
            <a:cxnSpLocks/>
          </p:cNvCxnSpPr>
          <p:nvPr/>
        </p:nvCxnSpPr>
        <p:spPr>
          <a:xfrm flipV="1">
            <a:off x="5932726" y="2741083"/>
            <a:ext cx="382307" cy="998722"/>
          </a:xfrm>
          <a:prstGeom prst="line">
            <a:avLst/>
          </a:prstGeom>
          <a:ln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xmlns="" id="{84603841-DDF0-E525-C357-CD896E8E6A21}"/>
              </a:ext>
            </a:extLst>
          </p:cNvPr>
          <p:cNvCxnSpPr>
            <a:cxnSpLocks/>
            <a:stCxn id="24" idx="4"/>
          </p:cNvCxnSpPr>
          <p:nvPr/>
        </p:nvCxnSpPr>
        <p:spPr>
          <a:xfrm flipV="1">
            <a:off x="6056691" y="3709489"/>
            <a:ext cx="1357427" cy="194711"/>
          </a:xfrm>
          <a:prstGeom prst="line">
            <a:avLst/>
          </a:prstGeom>
          <a:ln>
            <a:solidFill>
              <a:srgbClr val="0031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curvo 32">
            <a:extLst>
              <a:ext uri="{FF2B5EF4-FFF2-40B4-BE49-F238E27FC236}">
                <a16:creationId xmlns:a16="http://schemas.microsoft.com/office/drawing/2014/main" xmlns="" id="{AE0CF7C3-7E52-1AD2-C8EB-DC474DE68CFE}"/>
              </a:ext>
            </a:extLst>
          </p:cNvPr>
          <p:cNvCxnSpPr>
            <a:cxnSpLocks/>
          </p:cNvCxnSpPr>
          <p:nvPr/>
        </p:nvCxnSpPr>
        <p:spPr>
          <a:xfrm flipV="1">
            <a:off x="7542400" y="2347087"/>
            <a:ext cx="784455" cy="939303"/>
          </a:xfrm>
          <a:prstGeom prst="curvedConnector2">
            <a:avLst/>
          </a:prstGeom>
          <a:ln w="38100">
            <a:solidFill>
              <a:srgbClr val="00315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xmlns="" id="{59214EA7-3763-47E2-BE98-C8A415D4669E}"/>
              </a:ext>
            </a:extLst>
          </p:cNvPr>
          <p:cNvSpPr txBox="1"/>
          <p:nvPr/>
        </p:nvSpPr>
        <p:spPr>
          <a:xfrm>
            <a:off x="7752267" y="1176266"/>
            <a:ext cx="1263644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Registers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xmlns="" id="{4AC0061E-65EA-6797-E3D2-4CE1087B5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900" y="1512641"/>
            <a:ext cx="1500064" cy="77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sellaDiTesto 22">
            <a:extLst>
              <a:ext uri="{FF2B5EF4-FFF2-40B4-BE49-F238E27FC236}">
                <a16:creationId xmlns:a16="http://schemas.microsoft.com/office/drawing/2014/main" xmlns="" id="{7E412256-2609-A471-A4BC-BE97E461C347}"/>
              </a:ext>
            </a:extLst>
          </p:cNvPr>
          <p:cNvSpPr txBox="1"/>
          <p:nvPr/>
        </p:nvSpPr>
        <p:spPr>
          <a:xfrm>
            <a:off x="5983662" y="4106895"/>
            <a:ext cx="1263644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Cache Memory </a:t>
            </a:r>
          </a:p>
        </p:txBody>
      </p:sp>
      <p:sp>
        <p:nvSpPr>
          <p:cNvPr id="37" name="CasellaDiTesto 17">
            <a:extLst>
              <a:ext uri="{FF2B5EF4-FFF2-40B4-BE49-F238E27FC236}">
                <a16:creationId xmlns:a16="http://schemas.microsoft.com/office/drawing/2014/main" xmlns="" id="{01095F40-0A75-794E-EDF9-25B0DD62EB8C}"/>
              </a:ext>
            </a:extLst>
          </p:cNvPr>
          <p:cNvSpPr txBox="1"/>
          <p:nvPr/>
        </p:nvSpPr>
        <p:spPr>
          <a:xfrm>
            <a:off x="3302603" y="3959598"/>
            <a:ext cx="205740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Random Access Memory </a:t>
            </a:r>
            <a:r>
              <a:rPr lang="en-GB" i="1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(RAM)</a:t>
            </a:r>
          </a:p>
        </p:txBody>
      </p:sp>
      <p:sp>
        <p:nvSpPr>
          <p:cNvPr id="38" name="CasellaDiTesto 19">
            <a:extLst>
              <a:ext uri="{FF2B5EF4-FFF2-40B4-BE49-F238E27FC236}">
                <a16:creationId xmlns:a16="http://schemas.microsoft.com/office/drawing/2014/main" xmlns="" id="{B79DD1E9-DD83-D0B7-865E-DB965256B051}"/>
              </a:ext>
            </a:extLst>
          </p:cNvPr>
          <p:cNvSpPr txBox="1"/>
          <p:nvPr/>
        </p:nvSpPr>
        <p:spPr>
          <a:xfrm>
            <a:off x="1104708" y="3844349"/>
            <a:ext cx="941046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Storage Memory</a:t>
            </a:r>
          </a:p>
        </p:txBody>
      </p:sp>
      <p:sp>
        <p:nvSpPr>
          <p:cNvPr id="40" name="CasellaDiTesto 10">
            <a:extLst>
              <a:ext uri="{FF2B5EF4-FFF2-40B4-BE49-F238E27FC236}">
                <a16:creationId xmlns:a16="http://schemas.microsoft.com/office/drawing/2014/main" xmlns="" id="{A178FB31-607E-AC5F-741E-093F940538DC}"/>
              </a:ext>
            </a:extLst>
          </p:cNvPr>
          <p:cNvSpPr txBox="1"/>
          <p:nvPr/>
        </p:nvSpPr>
        <p:spPr>
          <a:xfrm>
            <a:off x="296441" y="2105099"/>
            <a:ext cx="704651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GB" dirty="0">
                <a:solidFill>
                  <a:srgbClr val="002060"/>
                </a:solidFill>
                <a:latin typeface="+mj-lt"/>
                <a:ea typeface="Baskerville Display PT" panose="02030602080406020203" pitchFamily="18" charset="0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78671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52898C3-623C-AFA1-664A-EFB3BCA0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329D5E70-ADFA-FCEB-20EC-F9EA62D6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82BEFEE-1F30-AD9F-2019-DA5FB7B17253}"/>
              </a:ext>
            </a:extLst>
          </p:cNvPr>
          <p:cNvGrpSpPr/>
          <p:nvPr/>
        </p:nvGrpSpPr>
        <p:grpSpPr>
          <a:xfrm>
            <a:off x="162127" y="855821"/>
            <a:ext cx="3431858" cy="3431858"/>
            <a:chOff x="162127" y="1068370"/>
            <a:chExt cx="3431858" cy="3431858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xmlns="" id="{2D65485F-5256-7D25-CC0D-E47CAD03F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27" y="1068370"/>
              <a:ext cx="3431858" cy="3431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Ovale 12">
              <a:extLst>
                <a:ext uri="{FF2B5EF4-FFF2-40B4-BE49-F238E27FC236}">
                  <a16:creationId xmlns:a16="http://schemas.microsoft.com/office/drawing/2014/main" xmlns="" id="{C61AAB4B-471B-30F5-DB48-9631CC7B5E0C}"/>
                </a:ext>
              </a:extLst>
            </p:cNvPr>
            <p:cNvSpPr/>
            <p:nvPr/>
          </p:nvSpPr>
          <p:spPr>
            <a:xfrm>
              <a:off x="1294615" y="2207404"/>
              <a:ext cx="1024927" cy="663678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334805410">
                    <a:custGeom>
                      <a:avLst/>
                      <a:gdLst>
                        <a:gd name="connsiteX0" fmla="*/ 0 w 1024927"/>
                        <a:gd name="connsiteY0" fmla="*/ 331839 h 663678"/>
                        <a:gd name="connsiteX1" fmla="*/ 512464 w 1024927"/>
                        <a:gd name="connsiteY1" fmla="*/ 0 h 663678"/>
                        <a:gd name="connsiteX2" fmla="*/ 1024928 w 1024927"/>
                        <a:gd name="connsiteY2" fmla="*/ 331839 h 663678"/>
                        <a:gd name="connsiteX3" fmla="*/ 512464 w 1024927"/>
                        <a:gd name="connsiteY3" fmla="*/ 663678 h 663678"/>
                        <a:gd name="connsiteX4" fmla="*/ 0 w 1024927"/>
                        <a:gd name="connsiteY4" fmla="*/ 331839 h 663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663678" extrusionOk="0">
                          <a:moveTo>
                            <a:pt x="0" y="331839"/>
                          </a:moveTo>
                          <a:cubicBezTo>
                            <a:pt x="-6438" y="76517"/>
                            <a:pt x="211563" y="55865"/>
                            <a:pt x="512464" y="0"/>
                          </a:cubicBezTo>
                          <a:cubicBezTo>
                            <a:pt x="803278" y="22130"/>
                            <a:pt x="980792" y="148542"/>
                            <a:pt x="1024928" y="331839"/>
                          </a:cubicBezTo>
                          <a:cubicBezTo>
                            <a:pt x="1026972" y="507736"/>
                            <a:pt x="768117" y="622511"/>
                            <a:pt x="512464" y="663678"/>
                          </a:cubicBezTo>
                          <a:cubicBezTo>
                            <a:pt x="187345" y="668532"/>
                            <a:pt x="-6520" y="553590"/>
                            <a:pt x="0" y="33183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xmlns="" id="{E9F5D5CB-792A-BC02-3591-A75C4F193093}"/>
                </a:ext>
              </a:extLst>
            </p:cNvPr>
            <p:cNvSpPr/>
            <p:nvPr/>
          </p:nvSpPr>
          <p:spPr>
            <a:xfrm>
              <a:off x="1689500" y="3433822"/>
              <a:ext cx="1186436" cy="791591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731494185">
                    <a:custGeom>
                      <a:avLst/>
                      <a:gdLst>
                        <a:gd name="connsiteX0" fmla="*/ 0 w 1186436"/>
                        <a:gd name="connsiteY0" fmla="*/ 395796 h 791591"/>
                        <a:gd name="connsiteX1" fmla="*/ 593218 w 1186436"/>
                        <a:gd name="connsiteY1" fmla="*/ 0 h 791591"/>
                        <a:gd name="connsiteX2" fmla="*/ 1186436 w 1186436"/>
                        <a:gd name="connsiteY2" fmla="*/ 395796 h 791591"/>
                        <a:gd name="connsiteX3" fmla="*/ 593218 w 1186436"/>
                        <a:gd name="connsiteY3" fmla="*/ 791592 h 791591"/>
                        <a:gd name="connsiteX4" fmla="*/ 0 w 1186436"/>
                        <a:gd name="connsiteY4" fmla="*/ 395796 h 7915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86436" h="791591" extrusionOk="0">
                          <a:moveTo>
                            <a:pt x="0" y="395796"/>
                          </a:moveTo>
                          <a:cubicBezTo>
                            <a:pt x="-42912" y="139508"/>
                            <a:pt x="278002" y="-18130"/>
                            <a:pt x="593218" y="0"/>
                          </a:cubicBezTo>
                          <a:cubicBezTo>
                            <a:pt x="937052" y="-21853"/>
                            <a:pt x="1216844" y="169903"/>
                            <a:pt x="1186436" y="395796"/>
                          </a:cubicBezTo>
                          <a:cubicBezTo>
                            <a:pt x="1224260" y="633954"/>
                            <a:pt x="892415" y="818318"/>
                            <a:pt x="593218" y="791592"/>
                          </a:cubicBezTo>
                          <a:cubicBezTo>
                            <a:pt x="261876" y="743805"/>
                            <a:pt x="35906" y="613074"/>
                            <a:pt x="0" y="39579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xmlns="" id="{16068F5B-EF2C-A832-3395-90F751096BD0}"/>
                </a:ext>
              </a:extLst>
            </p:cNvPr>
            <p:cNvSpPr/>
            <p:nvPr/>
          </p:nvSpPr>
          <p:spPr>
            <a:xfrm>
              <a:off x="682851" y="3249156"/>
              <a:ext cx="1024927" cy="719407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492633044">
                    <a:custGeom>
                      <a:avLst/>
                      <a:gdLst>
                        <a:gd name="connsiteX0" fmla="*/ 0 w 1024927"/>
                        <a:gd name="connsiteY0" fmla="*/ 359704 h 719407"/>
                        <a:gd name="connsiteX1" fmla="*/ 512464 w 1024927"/>
                        <a:gd name="connsiteY1" fmla="*/ 0 h 719407"/>
                        <a:gd name="connsiteX2" fmla="*/ 1024928 w 1024927"/>
                        <a:gd name="connsiteY2" fmla="*/ 359704 h 719407"/>
                        <a:gd name="connsiteX3" fmla="*/ 512464 w 1024927"/>
                        <a:gd name="connsiteY3" fmla="*/ 719408 h 719407"/>
                        <a:gd name="connsiteX4" fmla="*/ 0 w 1024927"/>
                        <a:gd name="connsiteY4" fmla="*/ 359704 h 7194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24927" h="719407" extrusionOk="0">
                          <a:moveTo>
                            <a:pt x="0" y="359704"/>
                          </a:moveTo>
                          <a:cubicBezTo>
                            <a:pt x="25223" y="110161"/>
                            <a:pt x="261173" y="-17356"/>
                            <a:pt x="512464" y="0"/>
                          </a:cubicBezTo>
                          <a:cubicBezTo>
                            <a:pt x="745495" y="4585"/>
                            <a:pt x="1035249" y="187808"/>
                            <a:pt x="1024928" y="359704"/>
                          </a:cubicBezTo>
                          <a:cubicBezTo>
                            <a:pt x="1012781" y="574091"/>
                            <a:pt x="837300" y="705538"/>
                            <a:pt x="512464" y="719408"/>
                          </a:cubicBezTo>
                          <a:cubicBezTo>
                            <a:pt x="197309" y="722645"/>
                            <a:pt x="-14645" y="597834"/>
                            <a:pt x="0" y="35970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8" name="Ovale 17">
              <a:extLst>
                <a:ext uri="{FF2B5EF4-FFF2-40B4-BE49-F238E27FC236}">
                  <a16:creationId xmlns:a16="http://schemas.microsoft.com/office/drawing/2014/main" xmlns="" id="{6A9EA2B7-8268-7B1E-EA21-451351FD865D}"/>
                </a:ext>
              </a:extLst>
            </p:cNvPr>
            <p:cNvSpPr/>
            <p:nvPr/>
          </p:nvSpPr>
          <p:spPr>
            <a:xfrm>
              <a:off x="327534" y="2501480"/>
              <a:ext cx="922834" cy="623925"/>
            </a:xfrm>
            <a:prstGeom prst="ellips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xmlns="" sd="1531763840">
                    <a:custGeom>
                      <a:avLst/>
                      <a:gdLst>
                        <a:gd name="connsiteX0" fmla="*/ 0 w 922834"/>
                        <a:gd name="connsiteY0" fmla="*/ 311963 h 623925"/>
                        <a:gd name="connsiteX1" fmla="*/ 461417 w 922834"/>
                        <a:gd name="connsiteY1" fmla="*/ 0 h 623925"/>
                        <a:gd name="connsiteX2" fmla="*/ 922834 w 922834"/>
                        <a:gd name="connsiteY2" fmla="*/ 311963 h 623925"/>
                        <a:gd name="connsiteX3" fmla="*/ 461417 w 922834"/>
                        <a:gd name="connsiteY3" fmla="*/ 623926 h 623925"/>
                        <a:gd name="connsiteX4" fmla="*/ 0 w 922834"/>
                        <a:gd name="connsiteY4" fmla="*/ 311963 h 623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22834" h="623925" extrusionOk="0">
                          <a:moveTo>
                            <a:pt x="0" y="311963"/>
                          </a:moveTo>
                          <a:cubicBezTo>
                            <a:pt x="62073" y="171686"/>
                            <a:pt x="192260" y="56369"/>
                            <a:pt x="461417" y="0"/>
                          </a:cubicBezTo>
                          <a:cubicBezTo>
                            <a:pt x="710330" y="8319"/>
                            <a:pt x="941077" y="137362"/>
                            <a:pt x="922834" y="311963"/>
                          </a:cubicBezTo>
                          <a:cubicBezTo>
                            <a:pt x="963023" y="499849"/>
                            <a:pt x="699122" y="673922"/>
                            <a:pt x="461417" y="623926"/>
                          </a:cubicBezTo>
                          <a:cubicBezTo>
                            <a:pt x="171284" y="661530"/>
                            <a:pt x="4099" y="485506"/>
                            <a:pt x="0" y="31196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2" name="CasellaDiTesto 13">
            <a:extLst>
              <a:ext uri="{FF2B5EF4-FFF2-40B4-BE49-F238E27FC236}">
                <a16:creationId xmlns:a16="http://schemas.microsoft.com/office/drawing/2014/main" xmlns="" id="{F65F4120-6B87-5959-632C-3130DE49B3F5}"/>
              </a:ext>
            </a:extLst>
          </p:cNvPr>
          <p:cNvSpPr txBox="1"/>
          <p:nvPr/>
        </p:nvSpPr>
        <p:spPr>
          <a:xfrm>
            <a:off x="3760067" y="1424620"/>
            <a:ext cx="3983907" cy="10797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SoC’s components can be divided into three main categories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Aft>
                <a:spcPts val="1350"/>
              </a:spcAft>
              <a:buClr>
                <a:srgbClr val="003153"/>
              </a:buClr>
            </a:pPr>
            <a:r>
              <a:rPr lang="en-GB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Peripherals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986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Components: Peripherals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78A84C01-D46C-EBA5-55F3-8F50130BF035}"/>
              </a:ext>
            </a:extLst>
          </p:cNvPr>
          <p:cNvSpPr txBox="1"/>
          <p:nvPr/>
        </p:nvSpPr>
        <p:spPr>
          <a:xfrm>
            <a:off x="557770" y="1029676"/>
            <a:ext cx="4267334" cy="29213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CPU oversees the decision-making process and the data elaboration as the brain of </a:t>
            </a:r>
            <a:r>
              <a:rPr lang="en-GB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</a:t>
            </a:r>
            <a:r>
              <a:rPr lang="en-GB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system.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Other units (called “peripherals”) manage complementary tasks,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Bluetooth connection, audio encoding, image processing, position tracking, …</a:t>
            </a: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Such units are connected to 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SoC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through high performance buses.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A9580278-C2D4-BD59-A280-8005FB006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938" y="791024"/>
            <a:ext cx="3607096" cy="339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30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SoC</a:t>
            </a:r>
            <a:r>
              <a:rPr lang="en-GB" dirty="0"/>
              <a:t> Components: Peripherals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78A84C01-D46C-EBA5-55F3-8F50130BF035}"/>
              </a:ext>
            </a:extLst>
          </p:cNvPr>
          <p:cNvSpPr txBox="1"/>
          <p:nvPr/>
        </p:nvSpPr>
        <p:spPr>
          <a:xfrm>
            <a:off x="556482" y="1029349"/>
            <a:ext cx="4339691" cy="13567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Peripherals are components that provide specialized functions and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capabilities.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They are essential for connection and interaction with external devices: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xmlns="" id="{FD32F5E4-6AED-EA3C-3E1D-D1A5E4261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780380"/>
              </p:ext>
            </p:extLst>
          </p:nvPr>
        </p:nvGraphicFramePr>
        <p:xfrm>
          <a:off x="663186" y="2453186"/>
          <a:ext cx="4232986" cy="13588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16493">
                  <a:extLst>
                    <a:ext uri="{9D8B030D-6E8A-4147-A177-3AD203B41FA5}">
                      <a16:colId xmlns:a16="http://schemas.microsoft.com/office/drawing/2014/main" xmlns="" val="220777540"/>
                    </a:ext>
                  </a:extLst>
                </a:gridCol>
                <a:gridCol w="2116493">
                  <a:extLst>
                    <a:ext uri="{9D8B030D-6E8A-4147-A177-3AD203B41FA5}">
                      <a16:colId xmlns:a16="http://schemas.microsoft.com/office/drawing/2014/main" xmlns="" val="244790537"/>
                    </a:ext>
                  </a:extLst>
                </a:gridCol>
              </a:tblGrid>
              <a:tr h="4529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Input &amp; Output Interfaces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Communication Interfaces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11330413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Memory Interfaces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Peripheral Controllers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24447989"/>
                  </a:ext>
                </a:extLst>
              </a:tr>
              <a:tr h="4529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Security Modules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a:t>Power Management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0578729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A9580278-C2D4-BD59-A280-8005FB006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938" y="791024"/>
            <a:ext cx="3607096" cy="339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70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3ED374-0E16-3043-68AC-E35F8EFC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40722D2D-2811-1596-9F18-B5548581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xmlns="" id="{551A83CF-6768-9BF5-5962-3842E21EDBD3}"/>
              </a:ext>
            </a:extLst>
          </p:cNvPr>
          <p:cNvGrpSpPr/>
          <p:nvPr/>
        </p:nvGrpSpPr>
        <p:grpSpPr>
          <a:xfrm>
            <a:off x="2821548" y="1199127"/>
            <a:ext cx="3500904" cy="2822486"/>
            <a:chOff x="3540341" y="2078289"/>
            <a:chExt cx="4667872" cy="3763314"/>
          </a:xfrm>
        </p:grpSpPr>
        <p:sp>
          <p:nvSpPr>
            <p:cNvPr id="4" name="Titolo 1">
              <a:extLst>
                <a:ext uri="{FF2B5EF4-FFF2-40B4-BE49-F238E27FC236}">
                  <a16:creationId xmlns:a16="http://schemas.microsoft.com/office/drawing/2014/main" xmlns="" id="{90180386-055A-DA94-C255-530D3D33BFC3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xmlns="" id="{C895D278-5016-D24F-2975-4563A4B98505}"/>
                </a:ext>
              </a:extLst>
            </p:cNvPr>
            <p:cNvSpPr txBox="1"/>
            <p:nvPr/>
          </p:nvSpPr>
          <p:spPr>
            <a:xfrm>
              <a:off x="4608213" y="2207471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System-on-Chip (</a:t>
              </a:r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)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xmlns="" id="{5614645D-96E2-2B34-E032-B6ACC433D8A6}"/>
                </a:ext>
              </a:extLst>
            </p:cNvPr>
            <p:cNvSpPr txBox="1"/>
            <p:nvPr/>
          </p:nvSpPr>
          <p:spPr>
            <a:xfrm>
              <a:off x="4608213" y="368158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Building Blocks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itolo 1">
              <a:extLst>
                <a:ext uri="{FF2B5EF4-FFF2-40B4-BE49-F238E27FC236}">
                  <a16:creationId xmlns:a16="http://schemas.microsoft.com/office/drawing/2014/main" xmlns="" id="{D2FA002C-F582-A7A8-BF68-1AD1155DA5B1}"/>
                </a:ext>
              </a:extLst>
            </p:cNvPr>
            <p:cNvSpPr txBox="1">
              <a:spLocks/>
            </p:cNvSpPr>
            <p:nvPr/>
          </p:nvSpPr>
          <p:spPr>
            <a:xfrm>
              <a:off x="3540342" y="3565775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xmlns="" id="{27B4363B-724C-FA60-B746-BE51B3DEA266}"/>
                </a:ext>
              </a:extLst>
            </p:cNvPr>
            <p:cNvSpPr txBox="1"/>
            <p:nvPr/>
          </p:nvSpPr>
          <p:spPr>
            <a:xfrm>
              <a:off x="4608213" y="5188833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SoC</a:t>
              </a: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 Design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itolo 1">
              <a:extLst>
                <a:ext uri="{FF2B5EF4-FFF2-40B4-BE49-F238E27FC236}">
                  <a16:creationId xmlns:a16="http://schemas.microsoft.com/office/drawing/2014/main" xmlns="" id="{9C10CADF-B5A3-A1C2-1E88-32DF79640C0A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5017909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427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1710047" y="760019"/>
            <a:ext cx="1864426" cy="19238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376" y="882185"/>
            <a:ext cx="5477185" cy="2882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CasellaDiTesto 11">
            <a:extLst>
              <a:ext uri="{FF2B5EF4-FFF2-40B4-BE49-F238E27FC236}">
                <a16:creationId xmlns:a16="http://schemas.microsoft.com/office/drawing/2014/main" xmlns="" id="{78A84C01-D46C-EBA5-55F3-8F50130BF035}"/>
              </a:ext>
            </a:extLst>
          </p:cNvPr>
          <p:cNvSpPr txBox="1"/>
          <p:nvPr/>
        </p:nvSpPr>
        <p:spPr>
          <a:xfrm>
            <a:off x="378355" y="4237981"/>
            <a:ext cx="8409388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 this course, we focus our attention to the Front-End Flow (</a:t>
            </a:r>
            <a:r>
              <a:rPr lang="en-GB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DfT</a:t>
            </a: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</a:t>
            </a:r>
            <a:r>
              <a:rPr lang="en-GB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excluded</a:t>
            </a: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Flow</a:t>
            </a:r>
          </a:p>
        </p:txBody>
      </p:sp>
    </p:spTree>
    <p:extLst>
      <p:ext uri="{BB962C8B-B14F-4D97-AF65-F5344CB8AC3E}">
        <p14:creationId xmlns:p14="http://schemas.microsoft.com/office/powerpoint/2010/main" val="230859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Flow: </a:t>
            </a:r>
            <a:r>
              <a:rPr lang="en-GB" dirty="0" err="1"/>
              <a:t>SoC</a:t>
            </a:r>
            <a:r>
              <a:rPr lang="en-GB" dirty="0"/>
              <a:t> Specification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xmlns="" id="{E62AE211-5AD8-9D27-D946-BEA4C88B899C}"/>
              </a:ext>
            </a:extLst>
          </p:cNvPr>
          <p:cNvSpPr txBox="1"/>
          <p:nvPr/>
        </p:nvSpPr>
        <p:spPr>
          <a:xfrm>
            <a:off x="742876" y="1099920"/>
            <a:ext cx="4370145" cy="318292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Requirements and specifications of the SoC include: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Performance.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Power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consumption.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Interface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standards.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At this stage, only a general idea of the project and its tasks is defined…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2F2C961-8B17-BC45-0E25-1159A29A7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949" y="1021762"/>
            <a:ext cx="3344063" cy="33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29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xmlns="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Flow: </a:t>
            </a:r>
            <a:r>
              <a:rPr lang="en-GB" dirty="0" err="1"/>
              <a:t>SoC</a:t>
            </a:r>
            <a:r>
              <a:rPr lang="en-GB" dirty="0"/>
              <a:t> Architecture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xmlns="" id="{94F12FD7-7C00-5093-573C-5B4D067C2331}"/>
              </a:ext>
            </a:extLst>
          </p:cNvPr>
          <p:cNvSpPr txBox="1"/>
          <p:nvPr/>
        </p:nvSpPr>
        <p:spPr>
          <a:xfrm>
            <a:off x="4930066" y="991050"/>
            <a:ext cx="3585284" cy="35009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high-level architecture of the components inside the SoC is defined and their characteristics are chosen:</a:t>
            </a:r>
          </a:p>
          <a:p>
            <a:pPr marL="557213" lvl="1" indent="-214313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CPU.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Memories.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Interconnections.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Peripherals.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At this stage, the characteristics of the system are well-defined, but the architecture  is only an abstract project.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xmlns="" id="{0024425E-D8C9-FBB9-8C28-67ACF4E8B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5" y="1949801"/>
            <a:ext cx="4115705" cy="158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9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Flow: RTL Design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F1055801-B1B6-F5BE-467C-3FE696721729}"/>
              </a:ext>
            </a:extLst>
          </p:cNvPr>
          <p:cNvSpPr txBox="1"/>
          <p:nvPr/>
        </p:nvSpPr>
        <p:spPr>
          <a:xfrm>
            <a:off x="675906" y="674788"/>
            <a:ext cx="7944587" cy="23673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With Register-Transfer-Level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(RTL)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design, the architecture is translated into circuits featuring the interconnection of a mix of macro-blocks (e.g., adders, multipliers,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multiplexers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, comparators, registers, etc.) and logic gates. </a:t>
            </a:r>
          </a:p>
          <a:p>
            <a:pPr marL="285750" indent="-285750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Normally, an RTL design is described through a Hardware Description Languages (HDLs).</a:t>
            </a:r>
          </a:p>
          <a:p>
            <a:pPr marL="285750" indent="-285750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HDLs are like programming languages, but they are utilized to describe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hardware. 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760" y="2806069"/>
            <a:ext cx="4984766" cy="1765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185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Flow: RTL Verification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xmlns="" id="{BD3A0C41-7E22-1633-5C06-201BB4C1497E}"/>
              </a:ext>
            </a:extLst>
          </p:cNvPr>
          <p:cNvSpPr txBox="1"/>
          <p:nvPr/>
        </p:nvSpPr>
        <p:spPr>
          <a:xfrm>
            <a:off x="629391" y="711864"/>
            <a:ext cx="7968344" cy="13567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Before going forward in the design process, the functionality of the RTL description is verified. To make sure that the behavior of the initial specification is met.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verification is performed using EDA simulation tools to check the functionality with various test cases.</a:t>
            </a:r>
          </a:p>
        </p:txBody>
      </p:sp>
      <p:pic>
        <p:nvPicPr>
          <p:cNvPr id="8" name="Immagine 7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xmlns="" id="{0E3CC3A2-9576-70B0-F9C9-A60C911A2D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03" y="2221926"/>
            <a:ext cx="7299394" cy="74231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629390" y="3117518"/>
            <a:ext cx="6152410" cy="13567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RTL verification can be also performed on a specific hardware called Field-Programmable-Gate-Array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(FPGA).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FPGAs are components that can to be configured according to the design specification in order to perform more advanced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tests.</a:t>
            </a:r>
            <a:endParaRPr lang="en-GB" i="1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7" name="Immagine 20">
            <a:extLst>
              <a:ext uri="{FF2B5EF4-FFF2-40B4-BE49-F238E27FC236}">
                <a16:creationId xmlns:a16="http://schemas.microsoft.com/office/drawing/2014/main" xmlns="" id="{5DEA0D05-4246-4C85-C8FF-D00E28A90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111" y="2984582"/>
            <a:ext cx="2215089" cy="159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4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Flow: Synthesis </a:t>
            </a:r>
            <a:endParaRPr lang="it-IT" dirty="0"/>
          </a:p>
        </p:txBody>
      </p:sp>
      <p:sp>
        <p:nvSpPr>
          <p:cNvPr id="12" name="CasellaDiTesto 8">
            <a:extLst>
              <a:ext uri="{FF2B5EF4-FFF2-40B4-BE49-F238E27FC236}">
                <a16:creationId xmlns:a16="http://schemas.microsoft.com/office/drawing/2014/main" xmlns="" id="{BD3A0C41-7E22-1633-5C06-201BB4C1497E}"/>
              </a:ext>
            </a:extLst>
          </p:cNvPr>
          <p:cNvSpPr txBox="1"/>
          <p:nvPr/>
        </p:nvSpPr>
        <p:spPr>
          <a:xfrm>
            <a:off x="629391" y="711864"/>
            <a:ext cx="7897091" cy="16337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verified RTL description is synthesized to obtain a gate-level netlist using automatic synthesis tools.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After setting the optimization constraints and objectives, the gate-level netlist of each RTL macro-block is obtained by a push-button process. As for RTL design, the description is represented by an HDL (e.g., Verilog, VHDL).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18" y="2424701"/>
            <a:ext cx="7141741" cy="226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746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- Non 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9394C041-C18A-46FD-9B3C-ADB3D7FFE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6" y="1586235"/>
            <a:ext cx="1523999" cy="67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EEBFC921-7D9A-3E46-F3DC-0A403C48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109156"/>
            <a:ext cx="1544330" cy="113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6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7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8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9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10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11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xmlns="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xmlns="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xmlns="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xmlns="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xmlns="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xmlns="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xmlns="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</TotalTime>
  <Words>1858</Words>
  <Application>Microsoft Office PowerPoint</Application>
  <PresentationFormat>On-screen Show (16:9)</PresentationFormat>
  <Paragraphs>331</Paragraphs>
  <Slides>45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3_Office Theme</vt:lpstr>
      <vt:lpstr>Lecture 5 System-on-Chip (SoC) Design</vt:lpstr>
      <vt:lpstr>Table of Contents</vt:lpstr>
      <vt:lpstr>From Transistors to Boards</vt:lpstr>
      <vt:lpstr>The “Motherboard” of a PC</vt:lpstr>
      <vt:lpstr>From Boards to SoCs</vt:lpstr>
      <vt:lpstr>SoC Design  For Optimal Results</vt:lpstr>
      <vt:lpstr>SoC Design: CPU</vt:lpstr>
      <vt:lpstr>SoC Design: Memory</vt:lpstr>
      <vt:lpstr>SoC Design: Interconnections</vt:lpstr>
      <vt:lpstr>A Real SoC: Intel Pentium III</vt:lpstr>
      <vt:lpstr>A Real SoC: Intel Pentium III</vt:lpstr>
      <vt:lpstr>A Real SoC: Intel Pentium III</vt:lpstr>
      <vt:lpstr>A Real SoC: Intel Pentium III</vt:lpstr>
      <vt:lpstr>The Largest SoCs Ever Built (as of 2025)</vt:lpstr>
      <vt:lpstr>The Wafer Scale Engine 3 SoC</vt:lpstr>
      <vt:lpstr>The Wafer Scale Engine 3 SoC</vt:lpstr>
      <vt:lpstr>Table of Contents</vt:lpstr>
      <vt:lpstr>SoC Components</vt:lpstr>
      <vt:lpstr>SoC Components</vt:lpstr>
      <vt:lpstr>SoC Components</vt:lpstr>
      <vt:lpstr>SoC Components</vt:lpstr>
      <vt:lpstr>SoC Components</vt:lpstr>
      <vt:lpstr>SoC Components: CPU &amp; Cores</vt:lpstr>
      <vt:lpstr>Inside a CPU Core</vt:lpstr>
      <vt:lpstr>Inside a CPU Core</vt:lpstr>
      <vt:lpstr>Inside a CPU Core</vt:lpstr>
      <vt:lpstr>Inside a CPU Core</vt:lpstr>
      <vt:lpstr>Inside a CPU Core</vt:lpstr>
      <vt:lpstr>Inside a CPU Core</vt:lpstr>
      <vt:lpstr>SoC Components</vt:lpstr>
      <vt:lpstr>SoC Components: Memory Hierarchy</vt:lpstr>
      <vt:lpstr>Memory: From Storage To Registers</vt:lpstr>
      <vt:lpstr>Memory: From Storage To Registers</vt:lpstr>
      <vt:lpstr>Memory: From Storage To Register</vt:lpstr>
      <vt:lpstr>SoC Components</vt:lpstr>
      <vt:lpstr>SoC Components: Peripherals</vt:lpstr>
      <vt:lpstr>SoC Components: Peripherals</vt:lpstr>
      <vt:lpstr>Table of Contents</vt:lpstr>
      <vt:lpstr>Design Flow</vt:lpstr>
      <vt:lpstr>Design Flow: SoC Specification</vt:lpstr>
      <vt:lpstr>Design Flow: SoC Architecture</vt:lpstr>
      <vt:lpstr>Design Flow: RTL Design</vt:lpstr>
      <vt:lpstr>Design Flow: RTL Verification</vt:lpstr>
      <vt:lpstr>Design Flow: Synthesis </vt:lpstr>
      <vt:lpstr>Authorship &amp; License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utente</cp:lastModifiedBy>
  <cp:revision>58</cp:revision>
  <dcterms:created xsi:type="dcterms:W3CDTF">2006-08-16T00:00:00Z</dcterms:created>
  <dcterms:modified xsi:type="dcterms:W3CDTF">2025-11-25T14:50:08Z</dcterms:modified>
</cp:coreProperties>
</file>