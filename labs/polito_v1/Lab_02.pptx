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65"/>
  </p:notesMasterIdLst>
  <p:sldIdLst>
    <p:sldId id="306" r:id="rId2"/>
    <p:sldId id="397" r:id="rId3"/>
    <p:sldId id="408" r:id="rId4"/>
    <p:sldId id="490" r:id="rId5"/>
    <p:sldId id="455" r:id="rId6"/>
    <p:sldId id="480" r:id="rId7"/>
    <p:sldId id="456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86" r:id="rId16"/>
    <p:sldId id="484" r:id="rId17"/>
    <p:sldId id="410" r:id="rId18"/>
    <p:sldId id="492" r:id="rId19"/>
    <p:sldId id="497" r:id="rId20"/>
    <p:sldId id="494" r:id="rId21"/>
    <p:sldId id="498" r:id="rId22"/>
    <p:sldId id="496" r:id="rId23"/>
    <p:sldId id="507" r:id="rId24"/>
    <p:sldId id="450" r:id="rId25"/>
    <p:sldId id="505" r:id="rId26"/>
    <p:sldId id="491" r:id="rId27"/>
    <p:sldId id="458" r:id="rId28"/>
    <p:sldId id="457" r:id="rId29"/>
    <p:sldId id="459" r:id="rId30"/>
    <p:sldId id="462" r:id="rId31"/>
    <p:sldId id="460" r:id="rId32"/>
    <p:sldId id="463" r:id="rId33"/>
    <p:sldId id="461" r:id="rId34"/>
    <p:sldId id="464" r:id="rId35"/>
    <p:sldId id="409" r:id="rId36"/>
    <p:sldId id="436" r:id="rId37"/>
    <p:sldId id="472" r:id="rId38"/>
    <p:sldId id="474" r:id="rId39"/>
    <p:sldId id="481" r:id="rId40"/>
    <p:sldId id="475" r:id="rId41"/>
    <p:sldId id="482" r:id="rId42"/>
    <p:sldId id="477" r:id="rId43"/>
    <p:sldId id="478" r:id="rId44"/>
    <p:sldId id="483" r:id="rId45"/>
    <p:sldId id="411" r:id="rId46"/>
    <p:sldId id="485" r:id="rId47"/>
    <p:sldId id="500" r:id="rId48"/>
    <p:sldId id="499" r:id="rId49"/>
    <p:sldId id="416" r:id="rId50"/>
    <p:sldId id="417" r:id="rId51"/>
    <p:sldId id="418" r:id="rId52"/>
    <p:sldId id="506" r:id="rId53"/>
    <p:sldId id="419" r:id="rId54"/>
    <p:sldId id="501" r:id="rId55"/>
    <p:sldId id="453" r:id="rId56"/>
    <p:sldId id="452" r:id="rId57"/>
    <p:sldId id="454" r:id="rId58"/>
    <p:sldId id="508" r:id="rId59"/>
    <p:sldId id="511" r:id="rId60"/>
    <p:sldId id="512" r:id="rId61"/>
    <p:sldId id="514" r:id="rId62"/>
    <p:sldId id="513" r:id="rId63"/>
    <p:sldId id="312" r:id="rId6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107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6A27D-7B3E-2C4A-AAAA-E0CEDC0D8CC4}" v="2" dt="2025-06-22T01:24:19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5"/>
    <p:restoredTop sz="95788"/>
  </p:normalViewPr>
  <p:slideViewPr>
    <p:cSldViewPr snapToGrid="0">
      <p:cViewPr varScale="1">
        <p:scale>
          <a:sx n="142" d="100"/>
          <a:sy n="142" d="100"/>
        </p:scale>
        <p:origin x="344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9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.conti@polito.it" userId="S::urn:spo:guest#christian.conti@polito.it::" providerId="AD" clId="Web-{9A941A41-9547-D11D-5840-91863C54247E}"/>
    <pc:docChg chg="modSld">
      <pc:chgData name="christian.conti@polito.it" userId="S::urn:spo:guest#christian.conti@polito.it::" providerId="AD" clId="Web-{9A941A41-9547-D11D-5840-91863C54247E}" dt="2025-06-13T14:36:38.710" v="2" actId="1076"/>
      <pc:docMkLst>
        <pc:docMk/>
      </pc:docMkLst>
      <pc:sldChg chg="modSp">
        <pc:chgData name="christian.conti@polito.it" userId="S::urn:spo:guest#christian.conti@polito.it::" providerId="AD" clId="Web-{9A941A41-9547-D11D-5840-91863C54247E}" dt="2025-06-13T14:36:38.710" v="2" actId="1076"/>
        <pc:sldMkLst>
          <pc:docMk/>
          <pc:sldMk cId="768035513" sldId="514"/>
        </pc:sldMkLst>
        <pc:picChg chg="mod modCrop">
          <ac:chgData name="christian.conti@polito.it" userId="S::urn:spo:guest#christian.conti@polito.it::" providerId="AD" clId="Web-{9A941A41-9547-D11D-5840-91863C54247E}" dt="2025-06-13T14:36:38.710" v="2" actId="1076"/>
          <ac:picMkLst>
            <pc:docMk/>
            <pc:sldMk cId="768035513" sldId="514"/>
            <ac:picMk id="4" creationId="{7180D3A5-59B7-251F-8707-7A347957EEDE}"/>
          </ac:picMkLst>
        </pc:picChg>
      </pc:sldChg>
    </pc:docChg>
  </pc:docChgLst>
  <pc:docChgLst>
    <pc:chgData name="Cristiana Bolchini" userId="6b8273cd-38c1-41dc-ba93-995a19828489" providerId="ADAL" clId="{89D6A27D-7B3E-2C4A-AAAA-E0CEDC0D8CC4}"/>
    <pc:docChg chg="custSel modSld">
      <pc:chgData name="Cristiana Bolchini" userId="6b8273cd-38c1-41dc-ba93-995a19828489" providerId="ADAL" clId="{89D6A27D-7B3E-2C4A-AAAA-E0CEDC0D8CC4}" dt="2025-06-22T01:24:22.037" v="3" actId="5793"/>
      <pc:docMkLst>
        <pc:docMk/>
      </pc:docMkLst>
      <pc:sldChg chg="addSp delSp modSp mod">
        <pc:chgData name="Cristiana Bolchini" userId="6b8273cd-38c1-41dc-ba93-995a19828489" providerId="ADAL" clId="{89D6A27D-7B3E-2C4A-AAAA-E0CEDC0D8CC4}" dt="2025-06-22T01:24:22.037" v="3" actId="5793"/>
        <pc:sldMkLst>
          <pc:docMk/>
          <pc:sldMk cId="3414173897" sldId="312"/>
        </pc:sldMkLst>
        <pc:spChg chg="mod">
          <ac:chgData name="Cristiana Bolchini" userId="6b8273cd-38c1-41dc-ba93-995a19828489" providerId="ADAL" clId="{89D6A27D-7B3E-2C4A-AAAA-E0CEDC0D8CC4}" dt="2025-06-22T01:24:22.037" v="3" actId="5793"/>
          <ac:spMkLst>
            <pc:docMk/>
            <pc:sldMk cId="3414173897" sldId="312"/>
            <ac:spMk id="4" creationId="{2F9CE5AC-24E2-C18D-26DB-97EE38A99B9B}"/>
          </ac:spMkLst>
        </pc:spChg>
        <pc:picChg chg="add mod">
          <ac:chgData name="Cristiana Bolchini" userId="6b8273cd-38c1-41dc-ba93-995a19828489" providerId="ADAL" clId="{89D6A27D-7B3E-2C4A-AAAA-E0CEDC0D8CC4}" dt="2025-06-22T01:24:19.072" v="1"/>
          <ac:picMkLst>
            <pc:docMk/>
            <pc:sldMk cId="3414173897" sldId="312"/>
            <ac:picMk id="3" creationId="{EE11BDA6-1C6D-05DC-86F5-F0F3D5675A2C}"/>
          </ac:picMkLst>
        </pc:picChg>
        <pc:picChg chg="add mod">
          <ac:chgData name="Cristiana Bolchini" userId="6b8273cd-38c1-41dc-ba93-995a19828489" providerId="ADAL" clId="{89D6A27D-7B3E-2C4A-AAAA-E0CEDC0D8CC4}" dt="2025-06-22T01:24:19.072" v="1"/>
          <ac:picMkLst>
            <pc:docMk/>
            <pc:sldMk cId="3414173897" sldId="312"/>
            <ac:picMk id="5" creationId="{C53C0C51-3C38-49CF-6104-CBF2827CC13E}"/>
          </ac:picMkLst>
        </pc:picChg>
        <pc:picChg chg="del">
          <ac:chgData name="Cristiana Bolchini" userId="6b8273cd-38c1-41dc-ba93-995a19828489" providerId="ADAL" clId="{89D6A27D-7B3E-2C4A-AAAA-E0CEDC0D8CC4}" dt="2025-06-22T01:24:18.723" v="0" actId="478"/>
          <ac:picMkLst>
            <pc:docMk/>
            <pc:sldMk cId="3414173897" sldId="312"/>
            <ac:picMk id="1028" creationId="{9394C041-C18A-46FD-9B3C-ADB3D7FFE38E}"/>
          </ac:picMkLst>
        </pc:picChg>
        <pc:picChg chg="del">
          <ac:chgData name="Cristiana Bolchini" userId="6b8273cd-38c1-41dc-ba93-995a19828489" providerId="ADAL" clId="{89D6A27D-7B3E-2C4A-AAAA-E0CEDC0D8CC4}" dt="2025-06-22T01:24:18.723" v="0" actId="478"/>
          <ac:picMkLst>
            <pc:docMk/>
            <pc:sldMk cId="3414173897" sldId="312"/>
            <ac:picMk id="1030" creationId="{EEBFC921-7D9A-3E46-F3DC-0A403C48E8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D9E6-4C88-45BA-AC20-6A4E0DE66932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5ADC-1E0F-46C3-9101-8CC723F0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3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185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264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816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A65E-3763-FE9E-A81C-65E2036D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D0826B-BCB8-C6FA-CC02-47936441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A5E3A3-43A4-23E3-76AD-2F3DF777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06334D-1E87-D637-2CFE-49B0CC326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984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63AA-11E7-9F7B-A189-6B9442D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1C94DF-D9A1-B5F3-C319-95CC08CC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80887E-56DF-53A6-B90E-25DBF78F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A3DE2F-890B-24CB-3D12-7E5A8F02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547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B52C-1EDF-557A-9A1C-9120F808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AD7505-E851-EC8C-ECA1-316B282F9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75E240B-B5C9-1DC4-BD53-8AAE9ABCD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AD52B9-6819-3547-EC44-8A40BE039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5343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CDFD-210D-96F0-769A-81D736D54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0F5374F-27B3-CF64-7C97-A0353076A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9B14100-8C00-F69C-2147-347A09479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C1946F-D06F-9A64-8BA0-995C3551F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262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8472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0E0C-3E8A-7676-2263-F54AFB82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E83619-FEED-68E8-0D82-AB5940277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6CE7A3C-9AF1-1CB5-DD26-59EC40E80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A679A7-FE41-A687-9447-8484B18B4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6844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61E4-1EA4-1AF2-131D-FB9BA554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478B3E7-3356-B624-3701-EEFCD9243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D38FEB-37D1-E4D4-BCCB-61CF65343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DBBA8E-2871-2D4E-7849-1FF77C755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7970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6C0B-CEA4-36F9-6F06-77423BDA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3E15F50-9F38-B20D-1784-F9C5ECBBA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C0DCD0-9E41-22FB-83BE-3E234FA95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753AE2-D8D6-398C-F4CD-ECCCB0CA0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3741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43034-A763-06E8-511E-D9B09613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0B16D74-6D75-034C-5392-4784C9753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242B22-2FE9-9969-4059-3CACEDEC0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1F014E-ABC0-418D-3B3B-F711308AE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6969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9455-B859-73DF-A6FE-F53C22CB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A03881-8D44-5AA3-6734-4CDDBED2E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3FDA0A1-47C8-4A9D-E70F-2E0C1581D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5C1D0A3-C692-A924-4B7E-0E32EA8C0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997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616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61F29-77F3-9C7F-4DBC-D3AFE9708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18A2949-95FE-5150-A20C-3F8BCC850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955E18D-0E68-92CE-08C5-2A006157C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183098B-F24D-035B-B890-A57CAD24F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7352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A7B0D-021F-8A27-60E1-CC7E37DA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FBE66D4-DA08-3C40-E990-4A0DBEA5B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E5787E-399A-0ECD-9075-FC05FC654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24F92E-FB52-7114-E5C2-CCF3D4B3F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992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C0B0-81F6-6838-8A54-D454ED11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292F7C2-D0EF-6720-32A5-E3B5D79BD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1132D84-24A3-A17E-D909-64425A1BE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743EB4-07DC-B22B-410C-B2A4B5BD6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1125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8F19-8518-2090-BBDE-F97FB898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1951DE5-9DC3-BB8D-800C-693FD5CF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A49E5A0-A387-91D7-BA72-5A0C28AF7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121D9F-D559-38E3-51E7-C9933C16E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9847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C15A-67DD-CEC9-3348-4A057DC8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4DBE150-1696-8550-134C-C8FC7F2CC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D1570E5-D0B0-0476-638F-B54ABDBA0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6857A0-B5A2-E830-1382-F56030200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24181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B2615-6258-4A52-8288-C7F37422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72DEDEA-E0CB-9D7F-3570-B7A3672FB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A86640-770C-333D-EEF3-EE0E32C88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47C300-B992-1008-8472-E6FE16F35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86666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157C-CFDF-A715-F864-D70EAE2D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37C0D17-741D-92CD-A04C-445FF74AA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B7B6EEA-B394-E1BE-8999-6FEECA833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F9360E-E8FE-28CB-9E5D-2EDBB0569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3645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74556-4C02-5E9A-0F13-34F8B830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3AEFDE1-9C98-D4EB-CBAD-9518560D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3C4C1BD-4CCA-6112-3CD6-B37CBC645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FFB602-915E-0AF5-3CE8-012C336AA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8500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F34A-5EE0-2608-383B-6E2EA22F1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011E42B-E86D-6D84-475F-17F22F70D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A1107E-C29A-94DC-33FC-B9A9AFCDE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CFCF09-1474-97B0-0FF6-E4787D60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43038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4D8B0-37AD-7620-A07E-55275E54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181881-2F48-64CA-D288-A64631BAC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AEB3FC3-952F-A76D-C48B-9941FE656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CF600F-0069-F8B5-A2AA-D26774295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92132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1483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55570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EC3B-C38D-DB9A-BC84-33D2A080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BC2AC4-015E-E2E8-0645-2A5C3958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17EABB4-62C5-94B9-6C07-110B87516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3C9F58-E95D-87AB-2636-120E0084A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32696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DF569-DBFE-152E-D4AF-C9B980BB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37FD2D-0731-2525-08E8-6834740AF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0EF3364-882A-7CB7-6DEE-CBBDFB9C2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D95B6F-FDD8-F16C-8649-1DECE567E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2987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70A1-664D-5256-EF51-CDB6BEC5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BD6DD8B-C184-FB0D-4018-E5596E6CF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6C45973-928E-C96B-663F-C815BD1C0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623E87-E291-D655-830C-C585009D6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42142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CC396-8225-DA6D-ECC0-D6014635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75B417-F6B9-D1AE-307D-8745F626C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0DB407-2795-1C32-5E64-13D1BD20C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59DCBD-F8BE-C125-E1AC-848FE8105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78343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B18C-AA36-015B-4CBB-05B8EBC2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A9EA4C9-EF89-2EFF-F37D-18BE9B07A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3E59235-78EE-7105-D61D-A3E89F8E9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FE037A-5195-C5A6-83AF-292FAAE86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01856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9B37-B7D8-B5FF-0A01-66BAD530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95A60AE-2556-F834-FF20-44FEF8D8B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B0CCB3F-3E16-3F42-8B74-5F0306478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8DA3FBB-9BA9-7169-F855-9F8247A19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23739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937B-F280-7EDB-BAAF-C952B22E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3CFF683-0B08-A8F7-5A73-613D9AF52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3BAA72A-8ABA-1404-AF4E-E450D3BE4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C961F6-BB41-7DD6-F2CA-C79D38C4B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21885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1368-382F-213E-B84D-AAA8EDA9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339E33C-E68C-FB3F-22CA-88A571357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AF4FC03-3A41-1C72-051C-69C1A324D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1C8396-6B48-A534-A5C3-049A8DAD3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98428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1428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37A6-BBCA-5DCC-80D1-2417DE8D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6486093-5B4E-1B7D-13D8-3D8F4696D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6D7113F-F952-DDFC-A745-3FB702E1F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0CFE3D-3B80-82BE-2811-F73B5704B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32195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31653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86057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21834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B545-FC60-DD57-9D78-1F4C3B83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D0E6AE-0B12-9D14-E635-934BEF7E8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0330A2-E8AF-291F-10F9-5F58AB712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C07D5A-A362-F411-AA8F-A1F3A2B53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94012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6163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BB34-6DC8-E34D-9899-0E58F76A1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D619F26-5110-4AC0-5073-658BF85A2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07BD27-1305-BE59-31CC-810AE2836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6992C3-9656-E7EE-152D-EFD2448BF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58727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8572-E33B-1030-8E84-27B2A2DF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C570D5-4526-C4A8-65CB-6EBBBFB14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A045220-F928-2056-0D7C-F56A670C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37346F-57AB-4C2C-B39F-6C54D1170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55803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B4AEB-979F-5537-4D62-7138B937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ACF963-C70E-9161-D231-ABF25C48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E0B2536-E33D-3CA6-B584-D658329B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926E5B-01EF-BE4A-CC2D-1BE208C35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83496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3CB68-FBE5-09DE-0565-FEDAE5E3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32ABB59-0467-1E3E-C86C-A027F2D72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325A15-E438-0D28-0D97-99BEDE67F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55EF85-9E4A-2EB2-DCD6-DA406C08D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79397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4BA15-71BC-FDB1-AFF6-C2CDA9CA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EBA6A74-27F5-E01B-BA93-4AA2E63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0D1FE86-2A12-9973-3032-86671066F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6B6D30-043B-3195-7059-84928C561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51703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2FF05-5A8F-EBDA-C0A6-BD64817C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FEA49C1-21FC-34C1-5345-CDDEAA2ED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CC17094-AD56-EA87-D71B-4CD59C4FF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412E6D-D057-C911-96DE-16BA0C23E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69698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2B21A-0704-DBA8-CB64-9B00348E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773D0F-BAAC-6D48-881F-F66E5EF2C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FE944F4-A444-7828-1079-D56B6DF58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0560A9-D0CB-A1DB-9719-3E2E09190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06436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953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13" y="2719271"/>
            <a:ext cx="1190486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38670" y="36385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4" name="Picture 3" descr="A logo with text and a group of people&#10;&#10;AI-generated content may be incorrect.">
            <a:extLst>
              <a:ext uri="{FF2B5EF4-FFF2-40B4-BE49-F238E27FC236}">
                <a16:creationId xmlns:a16="http://schemas.microsoft.com/office/drawing/2014/main" id="{BB158421-96FB-D0D7-B787-F5045D493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53" y="2571750"/>
            <a:ext cx="1112033" cy="817277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D99B0BAF-5291-41A3-E05B-2CADD76D9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52" y="2692914"/>
            <a:ext cx="2199292" cy="5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70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3D9BC375-3E57-9DF0-CD93-2D1355C94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68" y="4742259"/>
            <a:ext cx="1456264" cy="3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8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mailto:cristiana.bolchini@polimi.it" TargetMode="External"/><Relationship Id="rId13" Type="http://schemas.openxmlformats.org/officeDocument/2006/relationships/image" Target="../media/image59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enrico.macii@polito.it" TargetMode="External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e.jahier@polito.it" TargetMode="External"/><Relationship Id="rId11" Type="http://schemas.openxmlformats.org/officeDocument/2006/relationships/image" Target="../media/image57.png"/><Relationship Id="rId5" Type="http://schemas.openxmlformats.org/officeDocument/2006/relationships/hyperlink" Target="mailto:gianvito.urgese@polito.it" TargetMode="External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hyperlink" Target="mailto:christian.conti@polito.it" TargetMode="External"/><Relationship Id="rId9" Type="http://schemas.openxmlformats.org/officeDocument/2006/relationships/hyperlink" Target="mailto:fabrizio.ferrandi@polimi.it" TargetMode="External"/><Relationship Id="rId1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Lab 02:</a:t>
            </a:r>
            <a:br>
              <a:rPr lang="en-US" dirty="0"/>
            </a:br>
            <a:r>
              <a:rPr lang="en-US" sz="4800" dirty="0"/>
              <a:t>Design of an Adder</a:t>
            </a:r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1CA914C-99C3-D7A0-6033-C51B00A4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47437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Electronic Design Automation Tools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2CDC5E-1190-4E9E-4243-293778C43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17056"/>
            <a:ext cx="5392615" cy="3408973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Design Automation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(EDA)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 suite of software, hardware, and services to assist in:</a:t>
            </a:r>
            <a:endParaRPr lang="en-GB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Design;</a:t>
            </a:r>
          </a:p>
          <a:p>
            <a:pPr lvl="2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Implementation;</a:t>
            </a:r>
          </a:p>
          <a:p>
            <a:pPr lvl="2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Verification;</a:t>
            </a:r>
          </a:p>
          <a:p>
            <a:pPr lvl="2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Manufacturing;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tools help engineers and designers automate complex tasks in the creation of electronic hardware.</a:t>
            </a:r>
          </a:p>
        </p:txBody>
      </p:sp>
      <p:pic>
        <p:nvPicPr>
          <p:cNvPr id="11" name="Immagine 10" descr="Immagine che contiene testo, schermata, software, schermo&#10;&#10;Descrizione generata automaticamente">
            <a:extLst>
              <a:ext uri="{FF2B5EF4-FFF2-40B4-BE49-F238E27FC236}">
                <a16:creationId xmlns:a16="http://schemas.microsoft.com/office/drawing/2014/main" id="{BA676995-CA24-29F8-394F-922A06FAF2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075" y="877955"/>
            <a:ext cx="2806125" cy="3287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10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66C3F4C5-10E7-A5F1-3CDF-250340FD4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66" y="533401"/>
            <a:ext cx="3352652" cy="407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839368-E133-BF81-80CA-303CED77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Hands-on: An Adder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A4B10EC5-CA31-B6FE-D9AF-B32E1422F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164" y="675470"/>
            <a:ext cx="875270" cy="87235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A90A4DF-676F-995F-6195-D33FC9DC4C32}"/>
              </a:ext>
            </a:extLst>
          </p:cNvPr>
          <p:cNvSpPr txBox="1"/>
          <p:nvPr/>
        </p:nvSpPr>
        <p:spPr>
          <a:xfrm>
            <a:off x="3720766" y="1268829"/>
            <a:ext cx="4486667" cy="260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We have seen how an EDA tool can help explore the design space of a project.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It is time to deploy a real circuit from its specifications to its implementation.</a:t>
            </a:r>
          </a:p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We will focus on a circuit that performs a simple mathematical operation: </a:t>
            </a:r>
            <a:br>
              <a:rPr lang="en-GB" sz="2000" b="1" dirty="0">
                <a:solidFill>
                  <a:srgbClr val="82B366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addition (of bits)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991A0DA-2989-02AB-EA8D-1BA4B0339727}"/>
              </a:ext>
            </a:extLst>
          </p:cNvPr>
          <p:cNvSpPr/>
          <p:nvPr/>
        </p:nvSpPr>
        <p:spPr>
          <a:xfrm>
            <a:off x="368114" y="675470"/>
            <a:ext cx="2238935" cy="383291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78166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B585-77E5-F190-B4E9-BBEC17AEA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02 Part 1: </a:t>
            </a:r>
            <a:br>
              <a:rPr lang="en-US" dirty="0"/>
            </a:br>
            <a:r>
              <a:rPr lang="en-IT" dirty="0"/>
              <a:t>Half Adder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5229A1D6-0547-29D6-EC76-48188D88E4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283135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D41E-1484-D907-9E9E-41A2FE4D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B73187D-A291-8FC8-90A5-464CA60A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Two Bits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5995729-5075-9E0B-7FEC-1BFCCACA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75433"/>
            <a:ext cx="8534400" cy="3592635"/>
          </a:xfrm>
          <a:ln>
            <a:noFill/>
          </a:ln>
        </p:spPr>
        <p:txBody>
          <a:bodyPr>
            <a:normAutofit lnSpcReduction="10000"/>
          </a:bodyPr>
          <a:lstStyle/>
          <a:p>
            <a:pPr algn="just"/>
            <a:r>
              <a:rPr lang="en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sum two bits?</a:t>
            </a:r>
          </a:p>
          <a:p>
            <a:pPr algn="just"/>
            <a:endParaRPr lang="en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rules, similar to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standard”</a:t>
            </a:r>
            <a:r>
              <a:rPr lang="en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(decimal) arithmetic: </a:t>
            </a:r>
          </a:p>
          <a:p>
            <a:pPr lvl="1" algn="just"/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+ 0 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= 0</a:t>
            </a:r>
          </a:p>
          <a:p>
            <a:pPr lvl="1" algn="just"/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0 + 1 = 1</a:t>
            </a:r>
          </a:p>
          <a:p>
            <a:pPr lvl="1" algn="just"/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1 + 0 = 1</a:t>
            </a:r>
            <a:endParaRPr lang="en-IT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lvl="1" algn="just"/>
            <a:r>
              <a:rPr lang="en-IT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1 + 1 = ?</a:t>
            </a:r>
          </a:p>
        </p:txBody>
      </p:sp>
    </p:spTree>
    <p:extLst>
      <p:ext uri="{BB962C8B-B14F-4D97-AF65-F5344CB8AC3E}">
        <p14:creationId xmlns:p14="http://schemas.microsoft.com/office/powerpoint/2010/main" val="27233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651A-F7D2-E732-C102-22936FB5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7AE5B-4597-7075-19E1-7FD80FF05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Two Bits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C060C9E-3EC8-FD27-D31E-16BEE1D4535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W</a:t>
            </a:r>
            <a:r>
              <a:rPr lang="en-IT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hat about 1+1? </a:t>
            </a:r>
          </a:p>
          <a:p>
            <a:pPr lvl="1" algn="just"/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With one bit, I can only represent </a:t>
            </a:r>
            <a:r>
              <a:rPr lang="en-IT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0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and </a:t>
            </a:r>
            <a:r>
              <a:rPr lang="en-IT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1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…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N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o </a:t>
            </a:r>
            <a:r>
              <a:rPr lang="en-IT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“2”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available.</a:t>
            </a:r>
          </a:p>
          <a:p>
            <a:pPr lvl="1" algn="just"/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Similar to 9 + 1 in decimal…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H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ow do you express the result?</a:t>
            </a:r>
          </a:p>
          <a:p>
            <a:pPr marL="271462" lvl="1" indent="0" algn="just">
              <a:buNone/>
            </a:pP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	  </a:t>
            </a:r>
            <a:r>
              <a:rPr lang="en-IT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Add one more “digit”.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T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In our case, one more bit</a:t>
            </a:r>
          </a:p>
          <a:p>
            <a:pPr lvl="1" algn="just"/>
            <a:endParaRPr lang="en-IT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271462" lvl="1" indent="0" algn="ctr">
              <a:buNone/>
            </a:pPr>
            <a:r>
              <a:rPr lang="en-IT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1 + 1 = 10</a:t>
            </a:r>
            <a:endParaRPr lang="en-I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ular Callout 16">
            <a:extLst>
              <a:ext uri="{FF2B5EF4-FFF2-40B4-BE49-F238E27FC236}">
                <a16:creationId xmlns:a16="http://schemas.microsoft.com/office/drawing/2014/main" id="{38A8B12E-71F0-127F-135D-82D348E66990}"/>
              </a:ext>
            </a:extLst>
          </p:cNvPr>
          <p:cNvSpPr/>
          <p:nvPr/>
        </p:nvSpPr>
        <p:spPr>
          <a:xfrm>
            <a:off x="3720122" y="3930873"/>
            <a:ext cx="2899843" cy="518523"/>
          </a:xfrm>
          <a:prstGeom prst="wedgeRectCallout">
            <a:avLst>
              <a:gd name="adj1" fmla="val 5279"/>
              <a:gd name="adj2" fmla="val -144324"/>
            </a:avLst>
          </a:prstGeom>
          <a:ln cap="rnd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i="1" dirty="0"/>
              <a:t>10</a:t>
            </a:r>
            <a:r>
              <a:rPr lang="en-IT" b="1" dirty="0"/>
              <a:t> in binary = </a:t>
            </a:r>
            <a:r>
              <a:rPr lang="en-IT" b="1" i="1" dirty="0"/>
              <a:t>2</a:t>
            </a:r>
            <a:r>
              <a:rPr lang="en-IT" b="1" dirty="0"/>
              <a:t> in decimal</a:t>
            </a:r>
          </a:p>
        </p:txBody>
      </p:sp>
    </p:spTree>
    <p:extLst>
      <p:ext uri="{BB962C8B-B14F-4D97-AF65-F5344CB8AC3E}">
        <p14:creationId xmlns:p14="http://schemas.microsoft.com/office/powerpoint/2010/main" val="9419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B988-D0CE-1EAF-D985-BDB30C7DB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re are 10 kinds of people. Those who understand binary and those who don' t. | College Ecard">
            <a:extLst>
              <a:ext uri="{FF2B5EF4-FFF2-40B4-BE49-F238E27FC236}">
                <a16:creationId xmlns:a16="http://schemas.microsoft.com/office/drawing/2014/main" id="{A27E691A-2903-43E9-5F84-F5C4F4833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136" y="584545"/>
            <a:ext cx="5677729" cy="397441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3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27A1-A552-440D-812D-31630136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 (first) Truth Table for Bit-Addition</a:t>
            </a:r>
            <a:endParaRPr lang="en-IT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477FAC-E10E-C063-3F95-2FF3EBA09D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211058"/>
              </p:ext>
            </p:extLst>
          </p:nvPr>
        </p:nvGraphicFramePr>
        <p:xfrm>
          <a:off x="1353738" y="1936609"/>
          <a:ext cx="6436524" cy="23507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131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609131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609131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  <a:gridCol w="1609131">
                  <a:extLst>
                    <a:ext uri="{9D8B030D-6E8A-4147-A177-3AD203B41FA5}">
                      <a16:colId xmlns:a16="http://schemas.microsoft.com/office/drawing/2014/main" val="3690170667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endParaRPr lang="en-IT" sz="2200" b="1" dirty="0"/>
                    </a:p>
                  </a:txBody>
                  <a:tcPr marL="55970" marR="55970" marT="27985" marB="2798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T" sz="2200" b="1" dirty="0"/>
                    </a:p>
                  </a:txBody>
                  <a:tcPr marL="55970" marR="55970" marT="27985" marB="2798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700" b="1" baseline="-25000" dirty="0"/>
                        <a:t>SUM (C) on two bits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T" sz="2900" b="1" baseline="-25000" dirty="0"/>
                    </a:p>
                  </a:txBody>
                  <a:tcPr marL="74626" marR="74626" marT="37313" marB="373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987886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7E8301-73FE-270A-C20D-5E725B6A909E}"/>
              </a:ext>
            </a:extLst>
          </p:cNvPr>
          <p:cNvSpPr txBox="1"/>
          <p:nvPr/>
        </p:nvSpPr>
        <p:spPr>
          <a:xfrm>
            <a:off x="655735" y="809981"/>
            <a:ext cx="783253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T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 with more than one output… </a:t>
            </a:r>
            <a:r>
              <a:rPr lang="en-IT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new!</a:t>
            </a:r>
            <a:endParaRPr lang="en-US" sz="2800" b="1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1513" lvl="1" indent="-214313" algn="just">
              <a:buFont typeface="Arial" panose="020B0604020202020204" pitchFamily="34" charset="0"/>
              <a:buChar char="•"/>
            </a:pPr>
            <a:r>
              <a:rPr lang="en-IT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proceed?</a:t>
            </a:r>
          </a:p>
        </p:txBody>
      </p:sp>
    </p:spTree>
    <p:extLst>
      <p:ext uri="{BB962C8B-B14F-4D97-AF65-F5344CB8AC3E}">
        <p14:creationId xmlns:p14="http://schemas.microsoft.com/office/powerpoint/2010/main" val="249834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2ED0D-A128-244C-BD94-7D835E4F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052B-7DF7-6436-2B1C-2EFC642F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9298E1-2854-361B-DE67-4A1024DB62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679206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2D8B5BF-D29C-E5A1-C07C-1D0CF3843D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6177051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0F131D1-47A1-6933-6A2B-255990E4030C}"/>
              </a:ext>
            </a:extLst>
          </p:cNvPr>
          <p:cNvSpPr txBox="1"/>
          <p:nvPr/>
        </p:nvSpPr>
        <p:spPr>
          <a:xfrm>
            <a:off x="617234" y="809981"/>
            <a:ext cx="7909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T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split it in two tables and treat them separately</a:t>
            </a:r>
            <a:endParaRPr lang="en-IT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03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0F41-AABC-CAED-ED82-4A2C80D63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B497-D45A-1018-C649-5C335396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23E4972A-CD12-34F1-5CC0-277FA2A14F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859577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3A249F7C-E972-25B0-8F86-E4F16C2259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9571279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0D095986-2718-9AA7-D745-0D57C9871D30}"/>
              </a:ext>
            </a:extLst>
          </p:cNvPr>
          <p:cNvSpPr/>
          <p:nvPr/>
        </p:nvSpPr>
        <p:spPr>
          <a:xfrm>
            <a:off x="4572000" y="2252100"/>
            <a:ext cx="3828107" cy="518523"/>
          </a:xfrm>
          <a:prstGeom prst="wedgeRectCallout">
            <a:avLst>
              <a:gd name="adj1" fmla="val -61278"/>
              <a:gd name="adj2" fmla="val 13887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/>
              <a:t>Have we seen this function already??</a:t>
            </a:r>
          </a:p>
        </p:txBody>
      </p:sp>
    </p:spTree>
    <p:extLst>
      <p:ext uri="{BB962C8B-B14F-4D97-AF65-F5344CB8AC3E}">
        <p14:creationId xmlns:p14="http://schemas.microsoft.com/office/powerpoint/2010/main" val="958162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90DDD-DBF8-B68F-B8E5-57B2B961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2DB1-8020-B1ED-C74C-1F5FA1AB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1B6F66A9-E9A4-49F0-D4E5-4943B2586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436479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18E34F52-4055-E1BB-8958-3AE9D8B8E3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845770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9A187CA-A80E-0C05-F972-06393A3EA79C}"/>
              </a:ext>
            </a:extLst>
          </p:cNvPr>
          <p:cNvGrpSpPr/>
          <p:nvPr/>
        </p:nvGrpSpPr>
        <p:grpSpPr>
          <a:xfrm>
            <a:off x="1159506" y="1762915"/>
            <a:ext cx="2715038" cy="1690777"/>
            <a:chOff x="838197" y="1966823"/>
            <a:chExt cx="3906331" cy="2432649"/>
          </a:xfrm>
        </p:grpSpPr>
        <p:sp>
          <p:nvSpPr>
            <p:cNvPr id="3" name="Rettangolo con angoli arrotondati 8">
              <a:extLst>
                <a:ext uri="{FF2B5EF4-FFF2-40B4-BE49-F238E27FC236}">
                  <a16:creationId xmlns:a16="http://schemas.microsoft.com/office/drawing/2014/main" id="{7D02FF0C-86FE-CEF7-9955-722B0B1CD0C6}"/>
                </a:ext>
              </a:extLst>
            </p:cNvPr>
            <p:cNvSpPr/>
            <p:nvPr/>
          </p:nvSpPr>
          <p:spPr>
            <a:xfrm>
              <a:off x="838197" y="1966823"/>
              <a:ext cx="3906331" cy="2432649"/>
            </a:xfrm>
            <a:prstGeom prst="roundRect">
              <a:avLst/>
            </a:prstGeom>
            <a:solidFill>
              <a:srgbClr val="FAFAF6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3BEE4C-9FCF-7DEC-4F4E-7BAD2ECA1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088" y="2394146"/>
              <a:ext cx="3651858" cy="1547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19289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7E6D-0B36-C2FD-2C39-B4DDDA91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66B5AE96-603F-FD04-800D-F62DFD7B49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9343857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DEC67AE-4F7C-7C59-E134-649C54FB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A7ACA58F-4C77-0663-BBB6-BCADAE663A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374276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2677F009-2E15-1BE9-15DE-B967CFEFD9FD}"/>
              </a:ext>
            </a:extLst>
          </p:cNvPr>
          <p:cNvGrpSpPr/>
          <p:nvPr/>
        </p:nvGrpSpPr>
        <p:grpSpPr>
          <a:xfrm>
            <a:off x="1159506" y="1762915"/>
            <a:ext cx="2715038" cy="1690777"/>
            <a:chOff x="838197" y="1966823"/>
            <a:chExt cx="3906331" cy="2432649"/>
          </a:xfrm>
        </p:grpSpPr>
        <p:sp>
          <p:nvSpPr>
            <p:cNvPr id="14" name="Rettangolo con angoli arrotondati 8">
              <a:extLst>
                <a:ext uri="{FF2B5EF4-FFF2-40B4-BE49-F238E27FC236}">
                  <a16:creationId xmlns:a16="http://schemas.microsoft.com/office/drawing/2014/main" id="{2D223A72-8694-4C1F-3828-BB51DE7802A3}"/>
                </a:ext>
              </a:extLst>
            </p:cNvPr>
            <p:cNvSpPr/>
            <p:nvPr/>
          </p:nvSpPr>
          <p:spPr>
            <a:xfrm>
              <a:off x="838197" y="1966823"/>
              <a:ext cx="3906331" cy="2432649"/>
            </a:xfrm>
            <a:prstGeom prst="roundRect">
              <a:avLst/>
            </a:prstGeom>
            <a:solidFill>
              <a:srgbClr val="FAFAF6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E4B58E-4FE1-E6B8-FDAA-47A9FB828A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088" y="2394146"/>
              <a:ext cx="3651858" cy="1547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5F29C45E-FECC-0AEA-9DC7-BA206F46B176}"/>
              </a:ext>
            </a:extLst>
          </p:cNvPr>
          <p:cNvSpPr/>
          <p:nvPr/>
        </p:nvSpPr>
        <p:spPr>
          <a:xfrm>
            <a:off x="3550418" y="3884782"/>
            <a:ext cx="2043164" cy="518523"/>
          </a:xfrm>
          <a:prstGeom prst="wedgeRectCallout">
            <a:avLst>
              <a:gd name="adj1" fmla="val 136254"/>
              <a:gd name="adj2" fmla="val -109322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/>
              <a:t>And this one??</a:t>
            </a:r>
          </a:p>
        </p:txBody>
      </p:sp>
    </p:spTree>
    <p:extLst>
      <p:ext uri="{BB962C8B-B14F-4D97-AF65-F5344CB8AC3E}">
        <p14:creationId xmlns:p14="http://schemas.microsoft.com/office/powerpoint/2010/main" val="354287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A3BA-085E-6443-B3B0-EA8C1B26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8011-69CF-3DCF-2D21-7358ECED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0C4B9348-E027-2E83-DFE5-3F8FD3DAE1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374276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23287-6B3B-1EED-1120-5B54D99BC3F0}"/>
              </a:ext>
            </a:extLst>
          </p:cNvPr>
          <p:cNvGrpSpPr/>
          <p:nvPr/>
        </p:nvGrpSpPr>
        <p:grpSpPr>
          <a:xfrm>
            <a:off x="1159506" y="1762915"/>
            <a:ext cx="2715038" cy="1690777"/>
            <a:chOff x="838197" y="1966823"/>
            <a:chExt cx="3906331" cy="2432649"/>
          </a:xfrm>
        </p:grpSpPr>
        <p:sp>
          <p:nvSpPr>
            <p:cNvPr id="17" name="Rettangolo con angoli arrotondati 8">
              <a:extLst>
                <a:ext uri="{FF2B5EF4-FFF2-40B4-BE49-F238E27FC236}">
                  <a16:creationId xmlns:a16="http://schemas.microsoft.com/office/drawing/2014/main" id="{DC435033-69F4-901F-5A45-107C1F17E0B5}"/>
                </a:ext>
              </a:extLst>
            </p:cNvPr>
            <p:cNvSpPr/>
            <p:nvPr/>
          </p:nvSpPr>
          <p:spPr>
            <a:xfrm>
              <a:off x="838197" y="1966823"/>
              <a:ext cx="3906331" cy="2432649"/>
            </a:xfrm>
            <a:prstGeom prst="roundRect">
              <a:avLst/>
            </a:prstGeom>
            <a:solidFill>
              <a:srgbClr val="FAFAF6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C2318C7-58AD-77E9-FDC7-3ADD79ED3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088" y="2394146"/>
              <a:ext cx="3651858" cy="1547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53021F2D-52B3-AD92-C6F8-F01724536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9343857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EA825B6D-7C49-02ED-1C6E-B0867D14CF2F}"/>
              </a:ext>
            </a:extLst>
          </p:cNvPr>
          <p:cNvGrpSpPr/>
          <p:nvPr/>
        </p:nvGrpSpPr>
        <p:grpSpPr>
          <a:xfrm>
            <a:off x="5265391" y="1762915"/>
            <a:ext cx="2732869" cy="1690777"/>
            <a:chOff x="6321721" y="1966823"/>
            <a:chExt cx="3906331" cy="2432649"/>
          </a:xfrm>
        </p:grpSpPr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75E3062D-7093-EE80-0B4A-64A9E0749038}"/>
                </a:ext>
              </a:extLst>
            </p:cNvPr>
            <p:cNvSpPr/>
            <p:nvPr/>
          </p:nvSpPr>
          <p:spPr>
            <a:xfrm>
              <a:off x="6321721" y="1966823"/>
              <a:ext cx="3906331" cy="2432649"/>
            </a:xfrm>
            <a:prstGeom prst="roundRect">
              <a:avLst/>
            </a:prstGeom>
            <a:solidFill>
              <a:srgbClr val="FAFAF6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D8F98592-AE5C-434F-8B29-B8A403FCE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5288" y="2480307"/>
              <a:ext cx="3822764" cy="1405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14081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B982-FBAA-E003-6C72-EAE442631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71A2-560D-E6BE-922C-8723383E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Circuit for Bit-Addition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203365-BBB8-446F-1CDC-FA76B9CBB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7689" y="666751"/>
            <a:ext cx="6028623" cy="945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circuit to implement </a:t>
            </a:r>
            <a:r>
              <a:rPr lang="en-IT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+ </a:t>
            </a:r>
            <a:r>
              <a:rPr lang="en-IT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addition.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a </a:t>
            </a:r>
            <a:r>
              <a:rPr lang="en-IT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ADDER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E13D60C-A2BE-8A1B-09BE-CC414B00B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798" y="1263967"/>
            <a:ext cx="3760804" cy="32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94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oo much theory concept icon Royalty Free Vector Image">
            <a:extLst>
              <a:ext uri="{FF2B5EF4-FFF2-40B4-BE49-F238E27FC236}">
                <a16:creationId xmlns:a16="http://schemas.microsoft.com/office/drawing/2014/main" id="{6AC48AF9-9DCC-C49F-F103-FAD9A2CF28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94"/>
          <a:stretch/>
        </p:blipFill>
        <p:spPr bwMode="auto">
          <a:xfrm>
            <a:off x="174523" y="690815"/>
            <a:ext cx="4247534" cy="376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ogos; experience; getting their hands dirty. – teacherhead">
            <a:extLst>
              <a:ext uri="{FF2B5EF4-FFF2-40B4-BE49-F238E27FC236}">
                <a16:creationId xmlns:a16="http://schemas.microsoft.com/office/drawing/2014/main" id="{BD78E87A-9B19-DB04-E00C-0473F9A26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67" y="1366400"/>
            <a:ext cx="3715006" cy="241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AD1845-E167-6B73-47AF-42F65B2DD539}"/>
              </a:ext>
            </a:extLst>
          </p:cNvPr>
          <p:cNvSpPr txBox="1"/>
          <p:nvPr/>
        </p:nvSpPr>
        <p:spPr>
          <a:xfrm>
            <a:off x="4721945" y="3830626"/>
            <a:ext cx="4128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b="1" dirty="0"/>
              <a:t>Let’s get our hands dirty….</a:t>
            </a:r>
          </a:p>
        </p:txBody>
      </p:sp>
    </p:spTree>
    <p:extLst>
      <p:ext uri="{BB962C8B-B14F-4D97-AF65-F5344CB8AC3E}">
        <p14:creationId xmlns:p14="http://schemas.microsoft.com/office/powerpoint/2010/main" val="7264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777F-2C43-C60C-BEEE-3A706C32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41DFB738-2CE6-66ED-E2FA-93D05AE7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 of an Adder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CD7950-93CB-15AE-020A-8BCFDBE37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89436"/>
            <a:ext cx="8534400" cy="3364628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for the Lab02 and create a new block design: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INTEGRATOR → Create Block Design, on the left Flow Navigator bar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“Create Block Design”  window 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appear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name”: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half_adder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“OK”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7B2249-DF2E-6BDB-5341-15813FA684E4}"/>
              </a:ext>
            </a:extLst>
          </p:cNvPr>
          <p:cNvGrpSpPr/>
          <p:nvPr/>
        </p:nvGrpSpPr>
        <p:grpSpPr>
          <a:xfrm>
            <a:off x="4376620" y="1967866"/>
            <a:ext cx="4462580" cy="2286198"/>
            <a:chOff x="4312025" y="1745180"/>
            <a:chExt cx="4462580" cy="2286198"/>
          </a:xfrm>
        </p:grpSpPr>
        <p:pic>
          <p:nvPicPr>
            <p:cNvPr id="20" name="Immagine 19">
              <a:extLst>
                <a:ext uri="{FF2B5EF4-FFF2-40B4-BE49-F238E27FC236}">
                  <a16:creationId xmlns:a16="http://schemas.microsoft.com/office/drawing/2014/main" id="{F7EAE07D-6C87-7A74-4A23-39CE49BA2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4097" y="2056630"/>
              <a:ext cx="2400508" cy="175465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21" name="Gruppo 20">
              <a:extLst>
                <a:ext uri="{FF2B5EF4-FFF2-40B4-BE49-F238E27FC236}">
                  <a16:creationId xmlns:a16="http://schemas.microsoft.com/office/drawing/2014/main" id="{8E311AB8-1895-6B50-D7E9-E11D3DEA52A8}"/>
                </a:ext>
              </a:extLst>
            </p:cNvPr>
            <p:cNvGrpSpPr/>
            <p:nvPr/>
          </p:nvGrpSpPr>
          <p:grpSpPr>
            <a:xfrm>
              <a:off x="4312025" y="1745180"/>
              <a:ext cx="1916527" cy="2286198"/>
              <a:chOff x="6381156" y="1851268"/>
              <a:chExt cx="2555368" cy="3048264"/>
            </a:xfrm>
          </p:grpSpPr>
          <p:pic>
            <p:nvPicPr>
              <p:cNvPr id="18" name="Immagine 17">
                <a:extLst>
                  <a:ext uri="{FF2B5EF4-FFF2-40B4-BE49-F238E27FC236}">
                    <a16:creationId xmlns:a16="http://schemas.microsoft.com/office/drawing/2014/main" id="{838D3964-48E5-3C81-7029-F3902CAC0D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7015" y="1851268"/>
                <a:ext cx="2179509" cy="304826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97C3257B-D433-42F9-D919-FD8BCC3CDC1F}"/>
                  </a:ext>
                </a:extLst>
              </p:cNvPr>
              <p:cNvSpPr/>
              <p:nvPr/>
            </p:nvSpPr>
            <p:spPr>
              <a:xfrm>
                <a:off x="6757015" y="3629278"/>
                <a:ext cx="1616241" cy="738785"/>
              </a:xfrm>
              <a:prstGeom prst="roundRect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D53DA50B-DD58-8BBF-CD50-DE85AE7B21B8}"/>
                  </a:ext>
                </a:extLst>
              </p:cNvPr>
              <p:cNvSpPr txBox="1"/>
              <p:nvPr/>
            </p:nvSpPr>
            <p:spPr>
              <a:xfrm>
                <a:off x="6381156" y="4062415"/>
                <a:ext cx="448234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350" dirty="0">
                    <a:solidFill>
                      <a:schemeClr val="accent2">
                        <a:lumMod val="75000"/>
                      </a:schemeClr>
                    </a:solidFill>
                    <a:latin typeface="Baskerville Display PT" panose="02030602080406020203" pitchFamily="18" charset="0"/>
                    <a:ea typeface="Baskerville Display PT" panose="02030602080406020203" pitchFamily="18" charset="0"/>
                  </a:rPr>
                  <a:t>1.</a:t>
                </a:r>
              </a:p>
            </p:txBody>
          </p:sp>
        </p:grpSp>
        <p:sp>
          <p:nvSpPr>
            <p:cNvPr id="16" name="Rettangolo con angoli arrotondati 15">
              <a:extLst>
                <a:ext uri="{FF2B5EF4-FFF2-40B4-BE49-F238E27FC236}">
                  <a16:creationId xmlns:a16="http://schemas.microsoft.com/office/drawing/2014/main" id="{1F75E5B7-EC6A-0A66-E552-C5202BF4B53D}"/>
                </a:ext>
              </a:extLst>
            </p:cNvPr>
            <p:cNvSpPr/>
            <p:nvPr/>
          </p:nvSpPr>
          <p:spPr>
            <a:xfrm>
              <a:off x="6457951" y="2714752"/>
              <a:ext cx="2281562" cy="324869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CE0F0852-4207-84AC-76CF-144D8798F829}"/>
                </a:ext>
              </a:extLst>
            </p:cNvPr>
            <p:cNvSpPr txBox="1"/>
            <p:nvPr/>
          </p:nvSpPr>
          <p:spPr>
            <a:xfrm>
              <a:off x="6174269" y="2850882"/>
              <a:ext cx="336176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22" name="Rettangolo con angoli arrotondati 21">
              <a:extLst>
                <a:ext uri="{FF2B5EF4-FFF2-40B4-BE49-F238E27FC236}">
                  <a16:creationId xmlns:a16="http://schemas.microsoft.com/office/drawing/2014/main" id="{7D766956-15F9-7B4C-2986-8D1DDD0567D0}"/>
                </a:ext>
              </a:extLst>
            </p:cNvPr>
            <p:cNvSpPr/>
            <p:nvPr/>
          </p:nvSpPr>
          <p:spPr>
            <a:xfrm>
              <a:off x="7525575" y="3465700"/>
              <a:ext cx="346532" cy="175763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A9898AAC-730C-1675-3ED2-5AC1AC962B02}"/>
                </a:ext>
              </a:extLst>
            </p:cNvPr>
            <p:cNvSpPr txBox="1"/>
            <p:nvPr/>
          </p:nvSpPr>
          <p:spPr>
            <a:xfrm>
              <a:off x="7217140" y="3418648"/>
              <a:ext cx="330678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516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RTL Design of an Adder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64A6CE-5612-F318-CCCB-B004A5CE3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830298"/>
            <a:ext cx="8115300" cy="348290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has been created, now we can implement the architecture of the adder:</a:t>
            </a:r>
          </a:p>
          <a:p>
            <a:pPr marL="728662" lvl="1" indent="-457200" algn="just">
              <a:buFont typeface="+mj-lt"/>
              <a:buAutoNum type="arabicPeriod"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the design the input ports</a:t>
            </a:r>
          </a:p>
          <a:p>
            <a:pPr marL="728662" lvl="1" indent="-457200" algn="just">
              <a:buFont typeface="+mj-lt"/>
              <a:buAutoNum type="arabicPeriod"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the design the output ports</a:t>
            </a:r>
          </a:p>
          <a:p>
            <a:pPr marL="728662" lvl="1" indent="-457200" algn="just">
              <a:buFont typeface="+mj-lt"/>
              <a:buAutoNum type="arabicPeriod"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the logic gates of the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adder 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connect the circuit to the input and output ports</a:t>
            </a:r>
          </a:p>
          <a:p>
            <a:pPr marL="728662" lvl="1" indent="-457200" algn="just">
              <a:buFont typeface="+mj-lt"/>
              <a:buAutoNum type="arabicPeriod"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 the circuit to verify its correctness</a:t>
            </a:r>
          </a:p>
          <a:p>
            <a:pPr marL="728662" lvl="1" indent="-457200">
              <a:buFont typeface="+mj-lt"/>
              <a:buAutoNum type="arabicPeriod"/>
            </a:pPr>
            <a:endParaRPr lang="en-GB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at the example seen in </a:t>
            </a:r>
            <a:r>
              <a:rPr lang="en-IT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LAB1</a:t>
            </a:r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b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do the same steps for the </a:t>
            </a:r>
            <a:b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T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Adder </a:t>
            </a:r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circuit…</a:t>
            </a:r>
            <a:endParaRPr lang="en-GB" sz="2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F569E42B-70EE-4712-6DBE-8B53E5FB5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26" y="2719234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002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6B19-D20D-5B8C-5FB8-91CC07D3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555B47-41C6-FA29-9D17-BA6E8778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RTL Design: Input &amp; Output Ports</a:t>
            </a:r>
            <a:endParaRPr lang="it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D0199B-BC87-09B4-AE8B-1C664E812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59644"/>
            <a:ext cx="4267200" cy="3224213"/>
          </a:xfrm>
        </p:spPr>
        <p:txBody>
          <a:bodyPr>
            <a:normAutofit fontScale="925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input and output ports: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GB" sz="2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Right-Click → Create Port…</a:t>
            </a:r>
            <a:endParaRPr lang="en-GB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GB" sz="2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(Direction:  Input):</a:t>
            </a:r>
            <a:endParaRPr lang="en-GB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Aft>
                <a:spcPts val="1200"/>
              </a:spcAft>
            </a:pPr>
            <a:r>
              <a:rPr lang="en-GB" sz="2000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sz="2000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the input ports</a:t>
            </a:r>
            <a:endParaRPr lang="en-GB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GB" sz="2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(Direction:  Output):</a:t>
            </a:r>
            <a:endParaRPr lang="en-GB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Aft>
                <a:spcPts val="1200"/>
              </a:spcAft>
            </a:pPr>
            <a:r>
              <a:rPr lang="en-GB" sz="2000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C0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2000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 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 output ports</a:t>
            </a:r>
            <a:endParaRPr lang="en-GB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3019E59-995B-897A-99D6-95663572F65B}"/>
              </a:ext>
            </a:extLst>
          </p:cNvPr>
          <p:cNvSpPr txBox="1"/>
          <p:nvPr/>
        </p:nvSpPr>
        <p:spPr>
          <a:xfrm>
            <a:off x="5080960" y="3135268"/>
            <a:ext cx="1402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Input</a:t>
            </a:r>
            <a:endParaRPr lang="en-GB" sz="1350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19E149B-07A0-23D5-4199-E1A7F40A48BB}"/>
              </a:ext>
            </a:extLst>
          </p:cNvPr>
          <p:cNvSpPr txBox="1"/>
          <p:nvPr/>
        </p:nvSpPr>
        <p:spPr>
          <a:xfrm>
            <a:off x="7071360" y="4035369"/>
            <a:ext cx="1402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Output</a:t>
            </a:r>
            <a:endParaRPr lang="en-GB" sz="135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B3180BA-642C-452A-0ACB-A7258DE15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5202"/>
            <a:ext cx="242000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23635807-AAD9-F6D2-9D45-B451045DEEB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80" y="1981010"/>
            <a:ext cx="243000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593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61A5-9A1B-873F-EF92-09CE7610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1D86A-682D-7909-B51A-63D5E616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RTL Design: Input &amp; Output Ports</a:t>
            </a:r>
            <a:endParaRPr lang="it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B1121-FA87-7F1C-969C-315A069CE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400" b="1" dirty="0"/>
              <a:t>Add the input and output ports:</a:t>
            </a:r>
          </a:p>
          <a:p>
            <a:endParaRPr lang="en-GB" sz="2400" dirty="0"/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Right-Click → Create Port…</a:t>
            </a:r>
          </a:p>
          <a:p>
            <a:endParaRPr lang="en-GB" sz="2400" dirty="0">
              <a:solidFill>
                <a:schemeClr val="accent2"/>
              </a:solidFill>
            </a:endParaRPr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Input (Direction:  Input):</a:t>
            </a:r>
          </a:p>
          <a:p>
            <a:endParaRPr lang="en-GB" sz="2400" dirty="0">
              <a:solidFill>
                <a:schemeClr val="accent2"/>
              </a:solidFill>
            </a:endParaRPr>
          </a:p>
          <a:p>
            <a:pPr lvl="2"/>
            <a:r>
              <a:rPr lang="en-GB" sz="2000" dirty="0">
                <a:solidFill>
                  <a:schemeClr val="accent2"/>
                </a:solidFill>
              </a:rPr>
              <a:t>A, and B are the input ports</a:t>
            </a:r>
          </a:p>
          <a:p>
            <a:endParaRPr lang="en-GB" sz="2400" dirty="0">
              <a:solidFill>
                <a:schemeClr val="accent2"/>
              </a:solidFill>
            </a:endParaRPr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Output (Direction:  Output):</a:t>
            </a:r>
          </a:p>
          <a:p>
            <a:endParaRPr lang="en-GB" sz="2400" dirty="0">
              <a:solidFill>
                <a:schemeClr val="accent2"/>
              </a:solidFill>
            </a:endParaRPr>
          </a:p>
          <a:p>
            <a:pPr lvl="2"/>
            <a:r>
              <a:rPr lang="en-GB" sz="2000" dirty="0">
                <a:solidFill>
                  <a:schemeClr val="accent2"/>
                </a:solidFill>
              </a:rPr>
              <a:t>C0 and C1 are the output ports</a:t>
            </a:r>
          </a:p>
          <a:p>
            <a:endParaRPr lang="en-GB" sz="2400" dirty="0"/>
          </a:p>
          <a:p>
            <a:endParaRPr lang="en-IT" sz="2400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4C2F157-A0F8-553A-E949-718B8F10B729}"/>
              </a:ext>
            </a:extLst>
          </p:cNvPr>
          <p:cNvSpPr txBox="1"/>
          <p:nvPr/>
        </p:nvSpPr>
        <p:spPr>
          <a:xfrm>
            <a:off x="5080960" y="2840096"/>
            <a:ext cx="1402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Input</a:t>
            </a:r>
            <a:endParaRPr lang="en-GB" sz="1350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21FDBD5-EAB0-E5C3-6B8B-5FCBCEFC6D78}"/>
              </a:ext>
            </a:extLst>
          </p:cNvPr>
          <p:cNvSpPr txBox="1"/>
          <p:nvPr/>
        </p:nvSpPr>
        <p:spPr>
          <a:xfrm>
            <a:off x="7130538" y="4395043"/>
            <a:ext cx="1402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Output</a:t>
            </a:r>
            <a:endParaRPr lang="en-GB" sz="135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E8C057D-077B-CD76-9642-8D4DC4373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66750"/>
            <a:ext cx="242000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C7C5F210-BB98-2D10-CEDA-F3BB1851D9E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78" y="2215310"/>
            <a:ext cx="243000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CFC41A-9F1E-5D0F-BC8E-8A4823A2378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75400-EBCB-B437-9114-A3B46A873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329" y="911198"/>
            <a:ext cx="6965342" cy="33211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88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0798-31DD-14C1-3825-ED5BAFA1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745FB93-6161-4B95-A057-115F58CB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6"/>
          <a:stretch/>
        </p:blipFill>
        <p:spPr>
          <a:xfrm>
            <a:off x="6327782" y="1097152"/>
            <a:ext cx="2468556" cy="29491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8DE7B8B-5B67-0F0F-49A2-6E283CC4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RTL Design: Logic Gates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243E86-9D1F-8CF1-97D1-2340446CD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258" y="1103691"/>
            <a:ext cx="5532016" cy="2949196"/>
          </a:xfrm>
        </p:spPr>
        <p:txBody>
          <a:bodyPr/>
          <a:lstStyle/>
          <a:p>
            <a:pPr marL="0" indent="0" algn="just">
              <a:spcAft>
                <a:spcPts val="1200"/>
              </a:spcAft>
              <a:buNone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logic gates to build our full adder:</a:t>
            </a:r>
          </a:p>
          <a:p>
            <a:pPr lvl="1" algn="just">
              <a:spcAft>
                <a:spcPts val="1200"/>
              </a:spcAft>
            </a:pP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Right-click → Add Module…</a:t>
            </a:r>
          </a:p>
          <a:p>
            <a:pPr lvl="1" algn="just">
              <a:spcAft>
                <a:spcPts val="1200"/>
              </a:spcAft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list choose the correct gates</a:t>
            </a:r>
          </a:p>
          <a:p>
            <a:pPr lvl="1" algn="just">
              <a:spcAft>
                <a:spcPts val="1200"/>
              </a:spcAft>
            </a:pP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1E792F13-B549-E4F0-23E6-9A5B803BAB78}"/>
              </a:ext>
            </a:extLst>
          </p:cNvPr>
          <p:cNvSpPr/>
          <p:nvPr/>
        </p:nvSpPr>
        <p:spPr>
          <a:xfrm>
            <a:off x="6447039" y="2298448"/>
            <a:ext cx="907477" cy="179917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181C630-B0B7-EDC1-07F4-C2CCA48AAD6E}"/>
              </a:ext>
            </a:extLst>
          </p:cNvPr>
          <p:cNvSpPr txBox="1"/>
          <p:nvPr/>
        </p:nvSpPr>
        <p:spPr>
          <a:xfrm>
            <a:off x="5667486" y="2249906"/>
            <a:ext cx="10339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A &amp; B → 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0203F817-D783-B731-013E-1F9FF424E26E}"/>
              </a:ext>
            </a:extLst>
          </p:cNvPr>
          <p:cNvSpPr/>
          <p:nvPr/>
        </p:nvSpPr>
        <p:spPr>
          <a:xfrm>
            <a:off x="7581900" y="3722040"/>
            <a:ext cx="320802" cy="150876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230552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7FA2-02DB-9FBD-76F0-42D59764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EE654E-4F0A-8A45-D15E-52258A4B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RTL Design: Logic Gates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D638BC-9E79-D8E6-E3B8-64D2C4E8D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480" y="904875"/>
            <a:ext cx="8534400" cy="538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logic gates to build our full adder: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AFE8D2-F12F-CC58-AC58-CEACDA1C5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20" y="1677283"/>
            <a:ext cx="4969952" cy="23354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89F5931-FDC0-0D39-D95B-8CCE25821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392" y="1258911"/>
            <a:ext cx="3539925" cy="305430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70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F595-4387-4ACF-3D00-0DE3832E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D386E9-0079-A956-F137-CDC9D4DB6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544" y="1938997"/>
            <a:ext cx="5104738" cy="23987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65C17608-6FF0-0A52-B2DB-EFB3E3A46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Design: Interconnections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E6B28-6AF7-E628-E51B-15B17D0EC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86788" cy="1514475"/>
          </a:xfrm>
        </p:spPr>
        <p:txBody>
          <a:bodyPr/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different logic gates to create the circuit:</a:t>
            </a:r>
          </a:p>
          <a:p>
            <a:pPr lvl="1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mouse over on an input, click and drag to another connection point </a:t>
            </a:r>
          </a:p>
          <a:p>
            <a:pPr lvl="1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all the logic gates and the ports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design</a:t>
            </a:r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8946D85-88EB-B478-55C3-C7485A4D2076}"/>
              </a:ext>
            </a:extLst>
          </p:cNvPr>
          <p:cNvSpPr/>
          <p:nvPr/>
        </p:nvSpPr>
        <p:spPr>
          <a:xfrm>
            <a:off x="4520842" y="2393652"/>
            <a:ext cx="3888105" cy="2083098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9BE6CC2-ADB8-79F3-152E-0A9802AFFF18}"/>
              </a:ext>
            </a:extLst>
          </p:cNvPr>
          <p:cNvSpPr txBox="1"/>
          <p:nvPr/>
        </p:nvSpPr>
        <p:spPr>
          <a:xfrm>
            <a:off x="7791869" y="1908905"/>
            <a:ext cx="2213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1 </a:t>
            </a:r>
          </a:p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↓ 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28A5A7E1-CB7A-CCAB-CC8A-7764D144B9C7}"/>
              </a:ext>
            </a:extLst>
          </p:cNvPr>
          <p:cNvSpPr/>
          <p:nvPr/>
        </p:nvSpPr>
        <p:spPr>
          <a:xfrm>
            <a:off x="6157018" y="2127676"/>
            <a:ext cx="129006" cy="140471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9EBDF71-9F0B-AA75-A378-EF19E0A3BA5C}"/>
              </a:ext>
            </a:extLst>
          </p:cNvPr>
          <p:cNvSpPr txBox="1"/>
          <p:nvPr/>
        </p:nvSpPr>
        <p:spPr>
          <a:xfrm>
            <a:off x="6110837" y="1678188"/>
            <a:ext cx="2213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 </a:t>
            </a:r>
          </a:p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↓ </a:t>
            </a:r>
          </a:p>
        </p:txBody>
      </p:sp>
    </p:spTree>
    <p:extLst>
      <p:ext uri="{BB962C8B-B14F-4D97-AF65-F5344CB8AC3E}">
        <p14:creationId xmlns:p14="http://schemas.microsoft.com/office/powerpoint/2010/main" val="1961105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Generate the Design</a:t>
            </a:r>
          </a:p>
        </p:txBody>
      </p:sp>
      <p:pic>
        <p:nvPicPr>
          <p:cNvPr id="5" name="Immagine 4" descr="Immagine che contiene Elementi grafici, Carattere, design&#10;&#10;Descrizione generata automaticamente">
            <a:extLst>
              <a:ext uri="{FF2B5EF4-FFF2-40B4-BE49-F238E27FC236}">
                <a16:creationId xmlns:a16="http://schemas.microsoft.com/office/drawing/2014/main" id="{8DC751A2-117E-A341-CE5A-8CC3B921D6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157" y="4749161"/>
            <a:ext cx="704651" cy="310046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D9BE21B-3E94-C924-D206-236B9B48627B}"/>
              </a:ext>
            </a:extLst>
          </p:cNvPr>
          <p:cNvSpPr txBox="1"/>
          <p:nvPr/>
        </p:nvSpPr>
        <p:spPr>
          <a:xfrm>
            <a:off x="5126743" y="781516"/>
            <a:ext cx="3674357" cy="3580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EDA tool generates the code of our design taking into consideration the input and output ports of the chip:</a:t>
            </a:r>
            <a:endParaRPr lang="en-GB" b="1" dirty="0">
              <a:solidFill>
                <a:srgbClr val="002060"/>
              </a:solidFill>
              <a:latin typeface="Times New Roman" panose="02020603050405020304" pitchFamily="18" charset="0"/>
              <a:ea typeface="Baskerville Display PT" panose="02030602080406020203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+mj-lt"/>
              <a:buAutoNum type="arabicPeriod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Right-click on block design 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“</a:t>
            </a:r>
            <a:r>
              <a:rPr lang="en-GB" i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half_adder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”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in Design Sources</a:t>
            </a:r>
            <a:endParaRPr lang="en-GB" i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Baskerville Display PT" panose="02030602080406020203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+mj-lt"/>
              <a:buAutoNum type="arabicPeriod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Select Create HDL Wrapper…</a:t>
            </a:r>
          </a:p>
          <a:p>
            <a:pPr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new window with the available modules will pop up</a:t>
            </a:r>
            <a:endParaRPr lang="en-GB" i="1" dirty="0">
              <a:solidFill>
                <a:srgbClr val="002060"/>
              </a:solidFill>
              <a:latin typeface="Times New Roman" panose="02020603050405020304" pitchFamily="18" charset="0"/>
              <a:ea typeface="Baskerville Display PT" panose="02030602080406020203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+mj-lt"/>
              <a:buAutoNum type="arabicPeriod" startAt="3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Ok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72FE34-23C4-EA33-E1AA-1C546A61F84E}"/>
              </a:ext>
            </a:extLst>
          </p:cNvPr>
          <p:cNvGrpSpPr/>
          <p:nvPr/>
        </p:nvGrpSpPr>
        <p:grpSpPr>
          <a:xfrm>
            <a:off x="457200" y="1359337"/>
            <a:ext cx="4310801" cy="2424826"/>
            <a:chOff x="555407" y="1359337"/>
            <a:chExt cx="4310801" cy="2424826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30BF47FD-4185-6FA2-9B81-81EDEE3E7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5407" y="1359337"/>
              <a:ext cx="4310801" cy="242482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7" name="Immagine 16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87EACD06-D375-4FBA-BFBE-50E6ADBAB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8267" y="1792263"/>
              <a:ext cx="276533" cy="276533"/>
            </a:xfrm>
            <a:prstGeom prst="rect">
              <a:avLst/>
            </a:prstGeom>
          </p:spPr>
        </p:pic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175DD08D-77C8-9D0E-D878-E105FC8E46C8}"/>
                </a:ext>
              </a:extLst>
            </p:cNvPr>
            <p:cNvSpPr txBox="1"/>
            <p:nvPr/>
          </p:nvSpPr>
          <p:spPr>
            <a:xfrm>
              <a:off x="950358" y="1830511"/>
              <a:ext cx="336176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419A1239-EEC7-6CD5-95ED-7C47AF6FB4D7}"/>
                </a:ext>
              </a:extLst>
            </p:cNvPr>
            <p:cNvSpPr txBox="1"/>
            <p:nvPr/>
          </p:nvSpPr>
          <p:spPr>
            <a:xfrm>
              <a:off x="1256713" y="2029304"/>
              <a:ext cx="336176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id="{639562FC-C521-0D18-DF6D-4FC2262FA0C2}"/>
                </a:ext>
              </a:extLst>
            </p:cNvPr>
            <p:cNvSpPr/>
            <p:nvPr/>
          </p:nvSpPr>
          <p:spPr>
            <a:xfrm>
              <a:off x="1510662" y="2091108"/>
              <a:ext cx="902196" cy="110347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7329D404-B191-26BF-796B-8937B47E891C}"/>
              </a:ext>
            </a:extLst>
          </p:cNvPr>
          <p:cNvGrpSpPr/>
          <p:nvPr/>
        </p:nvGrpSpPr>
        <p:grpSpPr>
          <a:xfrm>
            <a:off x="167565" y="4638727"/>
            <a:ext cx="1684021" cy="530915"/>
            <a:chOff x="952500" y="1916113"/>
            <a:chExt cx="1869523" cy="823694"/>
          </a:xfrm>
        </p:grpSpPr>
        <p:sp>
          <p:nvSpPr>
            <p:cNvPr id="9" name="Titolo 1">
              <a:extLst>
                <a:ext uri="{FF2B5EF4-FFF2-40B4-BE49-F238E27FC236}">
                  <a16:creationId xmlns:a16="http://schemas.microsoft.com/office/drawing/2014/main" id="{EA0362BB-616F-BB5C-1084-D81F0B047277}"/>
                </a:ext>
              </a:extLst>
            </p:cNvPr>
            <p:cNvSpPr txBox="1">
              <a:spLocks/>
            </p:cNvSpPr>
            <p:nvPr/>
          </p:nvSpPr>
          <p:spPr>
            <a:xfrm>
              <a:off x="952500" y="1916113"/>
              <a:ext cx="597713" cy="823694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1500" dirty="0">
                  <a:solidFill>
                    <a:srgbClr val="003153">
                      <a:alpha val="60000"/>
                    </a:srgb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L02.</a:t>
              </a: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88BA7CFB-ECB0-0D67-EEEA-AFE341FFFC72}"/>
                </a:ext>
              </a:extLst>
            </p:cNvPr>
            <p:cNvSpPr txBox="1"/>
            <p:nvPr/>
          </p:nvSpPr>
          <p:spPr>
            <a:xfrm>
              <a:off x="1464375" y="2184710"/>
              <a:ext cx="1357648" cy="28650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just"/>
              <a:r>
                <a:rPr lang="en-GB" sz="600" dirty="0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Design of a Full-Adder</a:t>
              </a:r>
              <a:endParaRPr lang="it-IT" sz="600" dirty="0">
                <a:solidFill>
                  <a:srgbClr val="00457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0449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38A64-2C7E-BB31-D56C-27E2413B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C8291D4-E201-4EC1-E63F-F741B673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Verify the Design (Simulation)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F373828-AB3F-01F8-1EC1-61C35D00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19" y="740987"/>
            <a:ext cx="6305550" cy="148113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the design and verify its correctness</a:t>
            </a:r>
          </a:p>
          <a:p>
            <a:pPr lvl="1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Left-click on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Simulation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Flow Navigator window</a:t>
            </a:r>
          </a:p>
          <a:p>
            <a:pPr lvl="1" algn="just"/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GB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Simulation</a:t>
            </a:r>
          </a:p>
          <a:p>
            <a:pPr lvl="1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waveforms…</a:t>
            </a:r>
          </a:p>
        </p:txBody>
      </p:sp>
      <p:pic>
        <p:nvPicPr>
          <p:cNvPr id="5" name="Immagine 4" descr="Immagine che contiene Elementi grafici, Carattere, design&#10;&#10;Descrizione generata automaticamente">
            <a:extLst>
              <a:ext uri="{FF2B5EF4-FFF2-40B4-BE49-F238E27FC236}">
                <a16:creationId xmlns:a16="http://schemas.microsoft.com/office/drawing/2014/main" id="{1B088C76-1B37-286E-56EC-0C8EC935CA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157" y="4749161"/>
            <a:ext cx="704651" cy="310046"/>
          </a:xfrm>
          <a:prstGeom prst="rect">
            <a:avLst/>
          </a:prstGeom>
        </p:spPr>
      </p:pic>
      <p:grpSp>
        <p:nvGrpSpPr>
          <p:cNvPr id="24" name="Gruppo 23">
            <a:extLst>
              <a:ext uri="{FF2B5EF4-FFF2-40B4-BE49-F238E27FC236}">
                <a16:creationId xmlns:a16="http://schemas.microsoft.com/office/drawing/2014/main" id="{34585A7E-4632-7405-AA9D-2ADEE7DDE92F}"/>
              </a:ext>
            </a:extLst>
          </p:cNvPr>
          <p:cNvGrpSpPr/>
          <p:nvPr/>
        </p:nvGrpSpPr>
        <p:grpSpPr>
          <a:xfrm>
            <a:off x="167564" y="4638727"/>
            <a:ext cx="1684022" cy="530915"/>
            <a:chOff x="952499" y="1916113"/>
            <a:chExt cx="1869524" cy="823694"/>
          </a:xfrm>
        </p:grpSpPr>
        <p:sp>
          <p:nvSpPr>
            <p:cNvPr id="25" name="Titolo 1">
              <a:extLst>
                <a:ext uri="{FF2B5EF4-FFF2-40B4-BE49-F238E27FC236}">
                  <a16:creationId xmlns:a16="http://schemas.microsoft.com/office/drawing/2014/main" id="{0F28544C-4B63-FB83-86B3-24ECDE782A34}"/>
                </a:ext>
              </a:extLst>
            </p:cNvPr>
            <p:cNvSpPr txBox="1">
              <a:spLocks/>
            </p:cNvSpPr>
            <p:nvPr/>
          </p:nvSpPr>
          <p:spPr>
            <a:xfrm>
              <a:off x="952499" y="1916113"/>
              <a:ext cx="567856" cy="823694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1500" dirty="0">
                  <a:solidFill>
                    <a:srgbClr val="003153">
                      <a:alpha val="60000"/>
                    </a:srgb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L01.</a:t>
              </a:r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5ED41814-0729-6749-F6F8-CC443D58F46D}"/>
                </a:ext>
              </a:extLst>
            </p:cNvPr>
            <p:cNvSpPr txBox="1"/>
            <p:nvPr/>
          </p:nvSpPr>
          <p:spPr>
            <a:xfrm>
              <a:off x="1464376" y="2113085"/>
              <a:ext cx="1357647" cy="42975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just"/>
              <a:r>
                <a:rPr lang="en-GB" sz="600" dirty="0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Introduction to </a:t>
              </a:r>
              <a:r>
                <a:rPr lang="en-GB" sz="600" dirty="0" err="1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Vivado</a:t>
              </a:r>
              <a:r>
                <a:rPr lang="en-GB" sz="600" dirty="0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&amp; Logic Gates</a:t>
              </a:r>
            </a:p>
          </p:txBody>
        </p:sp>
      </p:grpSp>
      <p:pic>
        <p:nvPicPr>
          <p:cNvPr id="6" name="Immagine 5">
            <a:extLst>
              <a:ext uri="{FF2B5EF4-FFF2-40B4-BE49-F238E27FC236}">
                <a16:creationId xmlns:a16="http://schemas.microsoft.com/office/drawing/2014/main" id="{4E553DAF-23B2-B222-8895-7D34901FF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588" y="1618038"/>
            <a:ext cx="4889348" cy="2750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3976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4B56-780D-C067-6A6D-33F321EA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12979A93-14E9-D34E-B4B6-6E5339660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9516"/>
            <a:ext cx="2717574" cy="330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48CE0DDC-3E16-2DF3-4E37-73242A2E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 Complete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C2C488D-8B73-2883-AD90-7D1801F9461F}"/>
              </a:ext>
            </a:extLst>
          </p:cNvPr>
          <p:cNvSpPr/>
          <p:nvPr/>
        </p:nvSpPr>
        <p:spPr>
          <a:xfrm>
            <a:off x="557405" y="3489878"/>
            <a:ext cx="1945005" cy="697670"/>
          </a:xfrm>
          <a:prstGeom prst="round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D9A7725-26CD-D1D2-06F7-B39B690BFC48}"/>
              </a:ext>
            </a:extLst>
          </p:cNvPr>
          <p:cNvSpPr txBox="1"/>
          <p:nvPr/>
        </p:nvSpPr>
        <p:spPr>
          <a:xfrm>
            <a:off x="4019549" y="578897"/>
            <a:ext cx="3195639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`timescale 1 </a:t>
            </a:r>
            <a:r>
              <a:rPr lang="en-GB" sz="1100" b="1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1 </a:t>
            </a:r>
            <a:r>
              <a:rPr lang="en-GB" sz="1100" b="1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endParaRPr lang="en-GB" sz="1100" b="1" dirty="0">
              <a:solidFill>
                <a:schemeClr val="accent3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100" b="1" dirty="0">
              <a:solidFill>
                <a:schemeClr val="accent3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GB" sz="1100" b="1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half_adder_wrapper</a:t>
            </a:r>
            <a:endParaRPr lang="en-GB" sz="1100" b="1" dirty="0">
              <a:solidFill>
                <a:schemeClr val="accent3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(A,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B,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C0,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C1);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A;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B;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C0;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C1;</a:t>
            </a:r>
          </a:p>
          <a:p>
            <a:endParaRPr lang="en-GB" sz="1100" b="1" dirty="0">
              <a:solidFill>
                <a:schemeClr val="accent3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wire A;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wire B;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wire C0;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wire C1;</a:t>
            </a:r>
          </a:p>
          <a:p>
            <a:endParaRPr lang="en-GB" sz="1100" b="1" dirty="0">
              <a:solidFill>
                <a:schemeClr val="accent3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100" b="1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half_adder</a:t>
            </a:r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100" b="1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half_adder_i</a:t>
            </a:r>
            <a:endParaRPr lang="en-GB" sz="1100" b="1" dirty="0">
              <a:solidFill>
                <a:schemeClr val="accent3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(.A(A),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.B(B),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.C0(C0),</a:t>
            </a:r>
          </a:p>
          <a:p>
            <a:r>
              <a:rPr lang="en-GB" sz="11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.C1(C1));</a:t>
            </a:r>
          </a:p>
          <a:p>
            <a:r>
              <a:rPr lang="en-GB" sz="1100" b="1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GB" sz="1100" b="1" dirty="0">
              <a:solidFill>
                <a:schemeClr val="accent3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794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DA34-1301-5F65-1781-96A96740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6B0F2-D37B-87CB-232C-9364EA7B7A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02 Part 2: </a:t>
            </a:r>
            <a:br>
              <a:rPr lang="en-US" dirty="0"/>
            </a:br>
            <a:r>
              <a:rPr lang="en-IT" dirty="0"/>
              <a:t>Full Adder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2EA3E6D-333D-47A1-43B2-004181862E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2882631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2574-A3FA-DDEC-0528-FB00FEB8F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F1D1B8C-178A-1398-FFD5-815F1220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Representing Numbers with More Bits…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1FB208A-4BB7-95B4-2430-9B76B2578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244" y="666750"/>
            <a:ext cx="6767513" cy="3927873"/>
          </a:xfrm>
          <a:ln>
            <a:noFill/>
          </a:ln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2 bits, we can represent 4 natural numbers:</a:t>
            </a:r>
          </a:p>
          <a:p>
            <a:pPr marL="441325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</a:p>
          <a:p>
            <a:pPr marL="441325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marL="441325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lvl="2" indent="0">
              <a:buNone/>
              <a:tabLst>
                <a:tab pos="2216150" algn="l"/>
              </a:tabLst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</a:p>
          <a:p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3 bits, 8 numbers, and so on…</a:t>
            </a:r>
          </a:p>
          <a:p>
            <a:pPr marL="441325" lvl="2" indent="0">
              <a:buNone/>
            </a:pPr>
            <a:r>
              <a:rPr lang="en-IT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 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		</a:t>
            </a:r>
            <a:r>
              <a:rPr lang="en-IT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 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</a:p>
          <a:p>
            <a:pPr marL="441325" lvl="2" indent="0">
              <a:buNone/>
            </a:pPr>
            <a:r>
              <a:rPr lang="en-IT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		</a:t>
            </a:r>
            <a:r>
              <a:rPr lang="en-IT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</a:p>
          <a:p>
            <a:pPr marL="441325" lvl="2" indent="0">
              <a:buNone/>
            </a:pPr>
            <a:r>
              <a:rPr lang="en-IT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		</a:t>
            </a:r>
            <a:r>
              <a:rPr lang="en-IT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  <a:p>
            <a:pPr marL="441325" lvl="2" indent="0">
              <a:buNone/>
            </a:pPr>
            <a:r>
              <a:rPr lang="en-IT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		</a:t>
            </a:r>
            <a:r>
              <a:rPr lang="en-IT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  <a:endParaRPr lang="en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28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9C10-ADA2-9D52-5C50-670EFBD4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9F9430B-EDD9-33A6-6AF9-05A44579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73AF8F6-0BFC-807F-2185-CAC5BD33C354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sum a multi-bit number, we use the same method you learned in elementary school for decimal numbers. </a:t>
            </a:r>
          </a:p>
          <a:p>
            <a:pPr algn="just"/>
            <a:endParaRPr lang="en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010 (2) + 011 (3) using 3 bits.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7BC82-AB4C-FB29-75E2-3F5440E6C4A0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DB9AF-A1AF-A780-4E5F-D41C082A00D1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B2F1C-22CE-B5FF-245D-29988A60FE5A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F1CEB2-74F3-140C-9B5E-89185B8921F9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28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F479-2A94-2BF4-89BE-3C1F1A75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C56B34B-C6E5-0301-966B-CA76C864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F63EAB-ACB8-0099-B3A9-28408B5787A4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0DAAA3-6B34-AB5E-760B-5F17061936CD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BB62B-5FA2-A79D-1E1C-DEC73FE147B4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         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8D190C-0EDA-D60F-3DA3-9BD926F8E23D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99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3E9C-FEB8-B7B8-B76C-2A8AB3BA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01B4A7E-6F1D-5A41-6608-3B98EFADA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38A2C3-C546-E48E-5BCF-5C3499D79AD6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29A7D3-5094-F178-8FD2-82976FC3DAE9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82106-A052-EB5A-92FC-61A870859896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  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F7BCD0-7F09-D8F0-67B8-0A71EA592E4D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ECDCCFA-59D0-2C1A-C389-FE8E56CDEBEC}"/>
              </a:ext>
            </a:extLst>
          </p:cNvPr>
          <p:cNvSpPr txBox="1"/>
          <p:nvPr/>
        </p:nvSpPr>
        <p:spPr>
          <a:xfrm>
            <a:off x="4322495" y="3501277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chemeClr val="accent2">
                    <a:lumMod val="7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63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C6C34-7E13-F884-6DF5-9126686A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0FDA800-D1D9-8EAC-8ACA-F0C49C78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2D7D2E-2281-013C-C9A6-535B64A04ABD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987AD-CB31-2DD3-03B4-9D41BF5E4A2C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F755F-EE8C-45EF-AA4A-0CAE8CE2EB84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  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0201D9-D894-0B2F-9E3D-26496D7F4FDF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9A027CB-8972-FB07-0646-2CBCC46B46A9}"/>
              </a:ext>
            </a:extLst>
          </p:cNvPr>
          <p:cNvSpPr txBox="1"/>
          <p:nvPr/>
        </p:nvSpPr>
        <p:spPr>
          <a:xfrm>
            <a:off x="3934361" y="2391088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chemeClr val="accent2">
                    <a:lumMod val="7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D2A41C58-E222-A149-1B8D-E76A894E0371}"/>
              </a:ext>
            </a:extLst>
          </p:cNvPr>
          <p:cNvCxnSpPr>
            <a:cxnSpLocks/>
            <a:endCxn id="21" idx="3"/>
          </p:cNvCxnSpPr>
          <p:nvPr/>
        </p:nvCxnSpPr>
        <p:spPr>
          <a:xfrm rot="16200000" flipV="1">
            <a:off x="3858351" y="2963166"/>
            <a:ext cx="944417" cy="215759"/>
          </a:xfrm>
          <a:prstGeom prst="curvedConnector2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1F837B8-E012-03E4-B873-3DF789688516}"/>
              </a:ext>
            </a:extLst>
          </p:cNvPr>
          <p:cNvSpPr txBox="1"/>
          <p:nvPr/>
        </p:nvSpPr>
        <p:spPr>
          <a:xfrm>
            <a:off x="4322496" y="2324653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chemeClr val="accent2">
                    <a:lumMod val="7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Carry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DC0021-8FB5-1FC4-4174-F69FAF9031DF}"/>
              </a:ext>
            </a:extLst>
          </p:cNvPr>
          <p:cNvSpPr txBox="1"/>
          <p:nvPr/>
        </p:nvSpPr>
        <p:spPr>
          <a:xfrm>
            <a:off x="4322495" y="3501277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chemeClr val="accent2">
                    <a:lumMod val="7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57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FBC-27A3-5B2F-D612-59C73E44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6E478C1-00B1-58B4-D5AD-467E0F316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EA7F96-AADB-8E1D-72A0-5A34180FC2C7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EE694-993B-BD43-667D-1325FDF96BEA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A3F5C-8262-FB43-563D-CF9F306D5F75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  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BAB8F8-477F-75D2-0CA1-8FC637C0FCE8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F0EEC72-687F-8873-E53B-C6FE2C40D40B}"/>
              </a:ext>
            </a:extLst>
          </p:cNvPr>
          <p:cNvSpPr txBox="1"/>
          <p:nvPr/>
        </p:nvSpPr>
        <p:spPr>
          <a:xfrm>
            <a:off x="3934361" y="2391088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chemeClr val="accent2">
                    <a:lumMod val="7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60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9024-E8D1-0DAF-7A10-CA1C2925A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113830D-1035-6B74-6427-70B33753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2CF778-1EB5-A03F-C1DC-5B82871729D4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D56BF-8E24-43E6-88D4-E64654B7F2BD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FEF54C-9983-B345-E230-46868385C7BA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1     0     1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135D2E-6FE6-8A30-F540-D64B0E547ACA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A007ACB-CF8F-DC7C-6558-74B05EB9424D}"/>
              </a:ext>
            </a:extLst>
          </p:cNvPr>
          <p:cNvSpPr txBox="1"/>
          <p:nvPr/>
        </p:nvSpPr>
        <p:spPr>
          <a:xfrm>
            <a:off x="3934361" y="2391088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chemeClr val="accent2">
                    <a:lumMod val="7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D63544A6-2DF8-FD22-D8DA-99AD36548DBC}"/>
              </a:ext>
            </a:extLst>
          </p:cNvPr>
          <p:cNvSpPr/>
          <p:nvPr/>
        </p:nvSpPr>
        <p:spPr>
          <a:xfrm>
            <a:off x="1691900" y="4105440"/>
            <a:ext cx="4484922" cy="518523"/>
          </a:xfrm>
          <a:prstGeom prst="wedgeRectCallout">
            <a:avLst>
              <a:gd name="adj1" fmla="val 4867"/>
              <a:gd name="adj2" fmla="val -9875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/>
              <a:t>The result is 5 </a:t>
            </a:r>
            <a:r>
              <a:rPr lang="en-IT" b="1" i="1" dirty="0"/>
              <a:t>(see slide 14)</a:t>
            </a:r>
            <a:r>
              <a:rPr lang="en-IT" b="1" dirty="0"/>
              <a:t>, as expected!</a:t>
            </a:r>
          </a:p>
        </p:txBody>
      </p:sp>
    </p:spTree>
    <p:extLst>
      <p:ext uri="{BB962C8B-B14F-4D97-AF65-F5344CB8AC3E}">
        <p14:creationId xmlns:p14="http://schemas.microsoft.com/office/powerpoint/2010/main" val="148852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E4D4-C035-9460-B332-2058947A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9B9884D-724A-770A-3E52-4CF4B531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Circuit for Addition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BE1A884-CE87-AF46-9BC4-945D0F1E4E7C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“column” of the sum: </a:t>
            </a:r>
          </a:p>
          <a:p>
            <a:pPr lvl="1"/>
            <a:r>
              <a:rPr lang="en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actually need to </a:t>
            </a:r>
            <a:r>
              <a:rPr lang="en-IT" sz="2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three bits </a:t>
            </a:r>
            <a:r>
              <a:rPr lang="en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 B and a possible carry)</a:t>
            </a:r>
          </a:p>
          <a:p>
            <a:pPr lvl="1"/>
            <a:endParaRPr lang="en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can be: </a:t>
            </a:r>
          </a:p>
          <a:p>
            <a:pPr lvl="2"/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 (0)</a:t>
            </a:r>
          </a:p>
          <a:p>
            <a:pPr lvl="2"/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(1)</a:t>
            </a:r>
          </a:p>
          <a:p>
            <a:pPr lvl="2"/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(2), i.e.,  </a:t>
            </a:r>
            <a:r>
              <a:rPr lang="en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with a carry</a:t>
            </a:r>
            <a:endParaRPr lang="en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(3), i.e.,  </a:t>
            </a:r>
            <a:r>
              <a:rPr lang="en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with a carry</a:t>
            </a:r>
            <a:endParaRPr lang="en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   It </a:t>
            </a:r>
            <a:r>
              <a:rPr lang="en-IT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requires </a:t>
            </a:r>
            <a:r>
              <a:rPr lang="en-IT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two bits!!</a:t>
            </a:r>
            <a:endParaRPr lang="en-IT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79C02F-E189-352E-B68C-A70E5E67C2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34</a:t>
            </a:fld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D47BAA-A433-DFC0-A8DB-186EA6B31472}"/>
              </a:ext>
            </a:extLst>
          </p:cNvPr>
          <p:cNvSpPr txBox="1"/>
          <p:nvPr/>
        </p:nvSpPr>
        <p:spPr>
          <a:xfrm>
            <a:off x="6400800" y="2484224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0563C-CAF6-4592-2F8F-B18D7C7498BA}"/>
              </a:ext>
            </a:extLst>
          </p:cNvPr>
          <p:cNvSpPr txBox="1"/>
          <p:nvPr/>
        </p:nvSpPr>
        <p:spPr>
          <a:xfrm>
            <a:off x="6400800" y="2045642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039D6-3821-BFE2-0373-4DEF2CC001AD}"/>
              </a:ext>
            </a:extLst>
          </p:cNvPr>
          <p:cNvSpPr txBox="1"/>
          <p:nvPr/>
        </p:nvSpPr>
        <p:spPr>
          <a:xfrm>
            <a:off x="6400800" y="2879640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1     0     1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ADFAE2-8EA1-3AE8-C678-F8AA26A18C08}"/>
              </a:ext>
            </a:extLst>
          </p:cNvPr>
          <p:cNvCxnSpPr>
            <a:cxnSpLocks/>
          </p:cNvCxnSpPr>
          <p:nvPr/>
        </p:nvCxnSpPr>
        <p:spPr>
          <a:xfrm>
            <a:off x="6277049" y="2904323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5C8844-5E5B-1643-6ABB-38B296A315DC}"/>
              </a:ext>
            </a:extLst>
          </p:cNvPr>
          <p:cNvSpPr txBox="1"/>
          <p:nvPr/>
        </p:nvSpPr>
        <p:spPr>
          <a:xfrm>
            <a:off x="6928816" y="1787790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chemeClr val="accent2">
                    <a:lumMod val="7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98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2nd Circuit for Addition</a:t>
            </a:r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A51A0-46EA-3C66-86C5-698651224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663" y="1234678"/>
            <a:ext cx="5462588" cy="1905000"/>
          </a:xfrm>
        </p:spPr>
        <p:txBody>
          <a:bodyPr>
            <a:normAutofit/>
          </a:bodyPr>
          <a:lstStyle/>
          <a:p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circuit that implements “one column” of our sum is called a </a:t>
            </a:r>
            <a:r>
              <a:rPr lang="en-IT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ADDER</a:t>
            </a:r>
          </a:p>
          <a:p>
            <a:endParaRPr lang="en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derive its truth table….</a:t>
            </a: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21F4F10A-EE95-05AF-38B8-0AD5BFAE63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35</a:t>
            </a:fld>
            <a:endParaRPr lang="it-IT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1C12DA1-5357-E5EB-963C-D70C27051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86" y="1161314"/>
            <a:ext cx="2689128" cy="346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66FF26A1-78E3-BFDC-F58B-B136169C2922}"/>
              </a:ext>
            </a:extLst>
          </p:cNvPr>
          <p:cNvSpPr/>
          <p:nvPr/>
        </p:nvSpPr>
        <p:spPr>
          <a:xfrm>
            <a:off x="312786" y="3600744"/>
            <a:ext cx="5635037" cy="518523"/>
          </a:xfrm>
          <a:prstGeom prst="wedgeRectCallout">
            <a:avLst>
              <a:gd name="adj1" fmla="val 58840"/>
              <a:gd name="adj2" fmla="val 854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100" b="1" dirty="0">
                <a:ea typeface="Baskerville" panose="02020502070401020303" pitchFamily="18" charset="0"/>
              </a:rPr>
              <a:t>Earlier, we called them C</a:t>
            </a:r>
            <a:r>
              <a:rPr lang="en-IT" sz="2100" b="1" baseline="-25000" dirty="0">
                <a:ea typeface="Baskerville" panose="02020502070401020303" pitchFamily="18" charset="0"/>
              </a:rPr>
              <a:t>0</a:t>
            </a:r>
            <a:r>
              <a:rPr lang="en-IT" sz="2100" b="1" dirty="0">
                <a:ea typeface="Baskerville" panose="02020502070401020303" pitchFamily="18" charset="0"/>
              </a:rPr>
              <a:t> (S) and C</a:t>
            </a:r>
            <a:r>
              <a:rPr lang="en-IT" sz="2100" b="1" baseline="-25000" dirty="0">
                <a:ea typeface="Baskerville" panose="02020502070401020303" pitchFamily="18" charset="0"/>
              </a:rPr>
              <a:t>1</a:t>
            </a:r>
            <a:r>
              <a:rPr lang="en-IT" sz="2100" b="1" dirty="0">
                <a:ea typeface="Baskerville" panose="02020502070401020303" pitchFamily="18" charset="0"/>
              </a:rPr>
              <a:t> (C</a:t>
            </a:r>
            <a:r>
              <a:rPr lang="en-IT" sz="2100" b="1" baseline="-25000" dirty="0">
                <a:ea typeface="Baskerville" panose="02020502070401020303" pitchFamily="18" charset="0"/>
              </a:rPr>
              <a:t>out</a:t>
            </a:r>
            <a:r>
              <a:rPr lang="en-IT" sz="2100" b="1" dirty="0">
                <a:ea typeface="Baskerville" panose="02020502070401020303" pitchFamily="18" charset="0"/>
              </a:rPr>
              <a:t>)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3C801CA8-A46D-69B7-4315-B256532E9425}"/>
              </a:ext>
            </a:extLst>
          </p:cNvPr>
          <p:cNvSpPr/>
          <p:nvPr/>
        </p:nvSpPr>
        <p:spPr>
          <a:xfrm>
            <a:off x="7575948" y="1234678"/>
            <a:ext cx="1487045" cy="923605"/>
          </a:xfrm>
          <a:prstGeom prst="wedgeRectCallout">
            <a:avLst>
              <a:gd name="adj1" fmla="val -4605"/>
              <a:gd name="adj2" fmla="val 8975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100" b="1" dirty="0">
                <a:ea typeface="Baskerville" panose="02020502070401020303" pitchFamily="18" charset="0"/>
              </a:rPr>
              <a:t>Input carry</a:t>
            </a:r>
          </a:p>
          <a:p>
            <a:pPr algn="ctr"/>
            <a:r>
              <a:rPr lang="en-IT" b="1" dirty="0">
                <a:ea typeface="Baskerville" panose="02020502070401020303" pitchFamily="18" charset="0"/>
              </a:rPr>
              <a:t>(new input)</a:t>
            </a:r>
          </a:p>
        </p:txBody>
      </p:sp>
    </p:spTree>
    <p:extLst>
      <p:ext uri="{BB962C8B-B14F-4D97-AF65-F5344CB8AC3E}">
        <p14:creationId xmlns:p14="http://schemas.microsoft.com/office/powerpoint/2010/main" val="178255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4E0FACD-B90C-66AB-0D37-CEED60D4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Truth Table of a Full Adder</a:t>
            </a:r>
            <a:endParaRPr lang="en-IT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39B468D-4F57-06EA-3221-A4B828E7B4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532979"/>
              </p:ext>
            </p:extLst>
          </p:nvPr>
        </p:nvGraphicFramePr>
        <p:xfrm>
          <a:off x="1353738" y="811125"/>
          <a:ext cx="6436525" cy="352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305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287305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287305">
                  <a:extLst>
                    <a:ext uri="{9D8B030D-6E8A-4147-A177-3AD203B41FA5}">
                      <a16:colId xmlns:a16="http://schemas.microsoft.com/office/drawing/2014/main" val="3875621490"/>
                    </a:ext>
                  </a:extLst>
                </a:gridCol>
                <a:gridCol w="1287305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  <a:gridCol w="1287305">
                  <a:extLst>
                    <a:ext uri="{9D8B030D-6E8A-4147-A177-3AD203B41FA5}">
                      <a16:colId xmlns:a16="http://schemas.microsoft.com/office/drawing/2014/main" val="3690170667"/>
                    </a:ext>
                  </a:extLst>
                </a:gridCol>
              </a:tblGrid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in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out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Sum</a:t>
                      </a:r>
                      <a:endParaRPr lang="en-IT" sz="2200" b="1" baseline="-25000" dirty="0"/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868285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497528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670227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488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92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7F42E-D3F3-976C-0EEE-B4A7BB99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82FB914-8B41-3A10-0EAF-9F93AE5C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5688B64-2C1A-EF1A-F0E0-F2CD7019A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2567644"/>
              </p:ext>
            </p:extLst>
          </p:nvPr>
        </p:nvGraphicFramePr>
        <p:xfrm>
          <a:off x="4208006" y="811125"/>
          <a:ext cx="4385588" cy="352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397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875621490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690170667"/>
                    </a:ext>
                  </a:extLst>
                </a:gridCol>
              </a:tblGrid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in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Sum</a:t>
                      </a:r>
                      <a:endParaRPr lang="en-IT" sz="2200" b="1" baseline="-25000" dirty="0"/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868285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497528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670227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488820"/>
                  </a:ext>
                </a:extLst>
              </a:tr>
            </a:tbl>
          </a:graphicData>
        </a:graphic>
      </p:graphicFrame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8ECB43-0C41-6D8E-2846-D4D753D17F6E}"/>
              </a:ext>
            </a:extLst>
          </p:cNvPr>
          <p:cNvSpPr txBox="1">
            <a:spLocks/>
          </p:cNvSpPr>
          <p:nvPr/>
        </p:nvSpPr>
        <p:spPr>
          <a:xfrm>
            <a:off x="340957" y="783602"/>
            <a:ext cx="3529013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spcBef>
                <a:spcPct val="20000"/>
              </a:spcBef>
            </a:pPr>
            <a:r>
              <a:rPr lang="en-IT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one output at a time…</a:t>
            </a:r>
          </a:p>
          <a:p>
            <a:pPr marL="271463" indent="-271463">
              <a:spcBef>
                <a:spcPct val="20000"/>
              </a:spcBef>
            </a:pPr>
            <a:endParaRPr lang="en-IT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indent="-271463">
              <a:spcBef>
                <a:spcPct val="20000"/>
              </a:spcBef>
            </a:pPr>
            <a:r>
              <a:rPr lang="en-IT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 the ones:</a:t>
            </a:r>
          </a:p>
          <a:p>
            <a:endParaRPr lang="en-IT" sz="2100" dirty="0">
              <a:latin typeface="Times New Roman" panose="02020603050405020304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  <a:p>
            <a:endParaRPr lang="en-IT" sz="2100" dirty="0">
              <a:latin typeface="Times New Roman" panose="02020603050405020304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tangolo con angoli arrotondati 5">
            <a:extLst>
              <a:ext uri="{FF2B5EF4-FFF2-40B4-BE49-F238E27FC236}">
                <a16:creationId xmlns:a16="http://schemas.microsoft.com/office/drawing/2014/main" id="{5E227CAB-C594-9DA5-BF43-00CE5F8004F9}"/>
              </a:ext>
            </a:extLst>
          </p:cNvPr>
          <p:cNvSpPr/>
          <p:nvPr/>
        </p:nvSpPr>
        <p:spPr>
          <a:xfrm>
            <a:off x="4407304" y="1655774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" name="Rettangolo con angoli arrotondati 6">
            <a:extLst>
              <a:ext uri="{FF2B5EF4-FFF2-40B4-BE49-F238E27FC236}">
                <a16:creationId xmlns:a16="http://schemas.microsoft.com/office/drawing/2014/main" id="{46D88BB4-7621-79C9-09D4-1D0A6DEBA608}"/>
              </a:ext>
            </a:extLst>
          </p:cNvPr>
          <p:cNvSpPr/>
          <p:nvPr/>
        </p:nvSpPr>
        <p:spPr>
          <a:xfrm>
            <a:off x="4407302" y="2837056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" name="Rettangolo con angoli arrotondati 9">
            <a:extLst>
              <a:ext uri="{FF2B5EF4-FFF2-40B4-BE49-F238E27FC236}">
                <a16:creationId xmlns:a16="http://schemas.microsoft.com/office/drawing/2014/main" id="{32A2B2BA-D4FF-D299-04A0-448566C071D5}"/>
              </a:ext>
            </a:extLst>
          </p:cNvPr>
          <p:cNvSpPr/>
          <p:nvPr/>
        </p:nvSpPr>
        <p:spPr>
          <a:xfrm>
            <a:off x="4407302" y="2050927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" name="Rettangolo con angoli arrotondati 10">
            <a:extLst>
              <a:ext uri="{FF2B5EF4-FFF2-40B4-BE49-F238E27FC236}">
                <a16:creationId xmlns:a16="http://schemas.microsoft.com/office/drawing/2014/main" id="{D22F85D4-535E-B30E-7697-942FF8EE4BC5}"/>
              </a:ext>
            </a:extLst>
          </p:cNvPr>
          <p:cNvSpPr/>
          <p:nvPr/>
        </p:nvSpPr>
        <p:spPr>
          <a:xfrm>
            <a:off x="4407302" y="3998108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4F566257-FB8E-CD9B-890D-7930317DAF46}"/>
                  </a:ext>
                </a:extLst>
              </p:cNvPr>
              <p:cNvSpPr txBox="1"/>
              <p:nvPr/>
            </p:nvSpPr>
            <p:spPr>
              <a:xfrm>
                <a:off x="163190" y="2535211"/>
                <a:ext cx="3875798" cy="925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7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</m:oMath>
                  </m:oMathPara>
                </a14:m>
                <a:endParaRPr lang="en-US" sz="27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4F566257-FB8E-CD9B-890D-7930317DA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90" y="2535211"/>
                <a:ext cx="3875798" cy="9252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265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A45B6-380A-4DE6-4152-71095877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29C65A-CB82-00FB-8D23-F8E0539B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ABA8FD68-D048-676D-700D-A29218572A73}"/>
                  </a:ext>
                </a:extLst>
              </p:cNvPr>
              <p:cNvSpPr txBox="1"/>
              <p:nvPr/>
            </p:nvSpPr>
            <p:spPr>
              <a:xfrm>
                <a:off x="1242855" y="788493"/>
                <a:ext cx="6658289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7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ABA8FD68-D048-676D-700D-A29218572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855" y="788493"/>
                <a:ext cx="6658289" cy="5087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6B7DC4B5-4018-DFBA-AE10-E79173647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132" y="1209019"/>
            <a:ext cx="2935737" cy="349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602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8675-5DB3-A8E6-8358-1BDEAC0FA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29777E-4188-596B-FAF1-DFA12A16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4B46DC-8F62-2F60-9C0A-327C31D40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1"/>
            <a:ext cx="8534400" cy="1366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simplify 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41FB9B0D-969D-6D9E-0633-A98F68EA2566}"/>
                  </a:ext>
                </a:extLst>
              </p:cNvPr>
              <p:cNvSpPr txBox="1"/>
              <p:nvPr/>
            </p:nvSpPr>
            <p:spPr>
              <a:xfrm>
                <a:off x="1422670" y="1235246"/>
                <a:ext cx="6658289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7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41FB9B0D-969D-6D9E-0633-A98F68EA2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70" y="1235246"/>
                <a:ext cx="6658289" cy="5087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026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27AB6C-029A-2799-3E4E-9DD40A65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B0E656C-C661-9DE5-FA33-7402400B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676B28A-19D6-0DB4-9AA7-51C95C077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Can we simplify it?</a:t>
            </a:r>
          </a:p>
          <a:p>
            <a:endParaRPr lang="en-GB" dirty="0"/>
          </a:p>
          <a:p>
            <a:endParaRPr lang="en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A4D12D67-2B6B-24A9-0807-D58832142397}"/>
                  </a:ext>
                </a:extLst>
              </p:cNvPr>
              <p:cNvSpPr txBox="1"/>
              <p:nvPr/>
            </p:nvSpPr>
            <p:spPr>
              <a:xfrm>
                <a:off x="1403009" y="1225713"/>
                <a:ext cx="6658289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A4D12D67-2B6B-24A9-0807-D58832142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009" y="1225713"/>
                <a:ext cx="6658289" cy="508794"/>
              </a:xfrm>
              <a:prstGeom prst="rect">
                <a:avLst/>
              </a:prstGeom>
              <a:blipFill>
                <a:blip r:embed="rId3"/>
                <a:stretch>
                  <a:fillRect l="-381" b="-2195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830C36-AA4E-AA22-DFA9-BE8468993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2342" y="1734507"/>
                <a:ext cx="8011715" cy="2540921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𝑆𝑢𝑚</m:t>
                      </m:r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+ 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𝐴𝐵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)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+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</m:oMath>
                  </m:oMathPara>
                </a14:m>
                <a:endParaRPr lang="en-US" sz="2100" dirty="0">
                  <a:solidFill>
                    <a:schemeClr val="accent2">
                      <a:lumMod val="75000"/>
                    </a:schemeClr>
                  </a:solidFill>
                  <a:latin typeface="Baskerville" panose="02020502070401020303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(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)</m:t>
                          </m:r>
                        </m:e>
                      </m:acc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</m:oMath>
                  </m:oMathPara>
                </a14:m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ctrlP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𝑨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𝑩</m:t>
                          </m:r>
                        </m:e>
                      </m:d>
                      <m:sSub>
                        <m:sSubPr>
                          <m:ctrlP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𝒊𝒏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</m:oMath>
                  </m:oMathPara>
                </a14:m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endParaRPr lang="en-US" sz="2100" dirty="0">
                  <a:solidFill>
                    <a:schemeClr val="accent2">
                      <a:lumMod val="75000"/>
                    </a:schemeClr>
                  </a:solidFill>
                  <a:latin typeface="Baskerville" panose="02020502070401020303" pitchFamily="18" charset="0"/>
                  <a:ea typeface="Inter" panose="02000503000000020004" pitchFamily="2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830C36-AA4E-AA22-DFA9-BE8468993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42" y="1734507"/>
                <a:ext cx="8011715" cy="25409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279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7712F-0B5A-5CE3-5535-DFA46B8E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9C73D5-26C6-956D-76FB-8115D061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F2BEF1-70BB-18CD-0AA8-BB84709E0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simplify it?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6B7C0CDE-ED3D-71FD-A3C0-7A0A6AE0B187}"/>
                  </a:ext>
                </a:extLst>
              </p:cNvPr>
              <p:cNvSpPr txBox="1"/>
              <p:nvPr/>
            </p:nvSpPr>
            <p:spPr>
              <a:xfrm>
                <a:off x="1422670" y="1235246"/>
                <a:ext cx="6658289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7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6B7C0CDE-ED3D-71FD-A3C0-7A0A6AE0B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70" y="1235246"/>
                <a:ext cx="6658289" cy="5087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F22E45-1D49-197C-E86D-28DA2E08C0FE}"/>
                  </a:ext>
                </a:extLst>
              </p:cNvPr>
              <p:cNvSpPr txBox="1"/>
              <p:nvPr/>
            </p:nvSpPr>
            <p:spPr>
              <a:xfrm>
                <a:off x="2284214" y="3298018"/>
                <a:ext cx="45755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𝑺𝒖𝒎</m:t>
                      </m:r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𝑨</m:t>
                          </m:r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𝑩</m:t>
                          </m:r>
                        </m:e>
                      </m:d>
                      <m:sSub>
                        <m:sSubPr>
                          <m:ctrlP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𝒊𝒏</m:t>
                          </m:r>
                        </m:sub>
                      </m:sSub>
                    </m:oMath>
                  </m:oMathPara>
                </a14:m>
                <a:endParaRPr lang="en-IT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F22E45-1D49-197C-E86D-28DA2E08C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214" y="3298018"/>
                <a:ext cx="457557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own Arrow 10">
            <a:extLst>
              <a:ext uri="{FF2B5EF4-FFF2-40B4-BE49-F238E27FC236}">
                <a16:creationId xmlns:a16="http://schemas.microsoft.com/office/drawing/2014/main" id="{0CB4AAEF-6E54-16FA-2F05-AA81810062C2}"/>
              </a:ext>
            </a:extLst>
          </p:cNvPr>
          <p:cNvSpPr/>
          <p:nvPr/>
        </p:nvSpPr>
        <p:spPr>
          <a:xfrm>
            <a:off x="4249993" y="2028133"/>
            <a:ext cx="796413" cy="11012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A41E8EF1-B3F3-1740-E928-4ECF51DBF5F6}"/>
              </a:ext>
            </a:extLst>
          </p:cNvPr>
          <p:cNvSpPr/>
          <p:nvPr/>
        </p:nvSpPr>
        <p:spPr>
          <a:xfrm>
            <a:off x="304800" y="2255316"/>
            <a:ext cx="3636739" cy="739174"/>
          </a:xfrm>
          <a:prstGeom prst="wedgeRectCallout">
            <a:avLst>
              <a:gd name="adj1" fmla="val 67960"/>
              <a:gd name="adj2" fmla="val -16134"/>
            </a:avLst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100" b="1" dirty="0">
                <a:ea typeface="Baskerville" panose="02020502070401020303" pitchFamily="18" charset="0"/>
              </a:rPr>
              <a:t>In practice, the EDA tool can do this for us</a:t>
            </a:r>
          </a:p>
        </p:txBody>
      </p:sp>
    </p:spTree>
    <p:extLst>
      <p:ext uri="{BB962C8B-B14F-4D97-AF65-F5344CB8AC3E}">
        <p14:creationId xmlns:p14="http://schemas.microsoft.com/office/powerpoint/2010/main" val="7591055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8356-A08C-8A0E-2564-7360E1B3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0D1BE-90B1-40B0-025F-07FD5917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7B090E04-0E2F-5BEC-19AD-F04EF2C070A6}"/>
                  </a:ext>
                </a:extLst>
              </p:cNvPr>
              <p:cNvSpPr txBox="1"/>
              <p:nvPr/>
            </p:nvSpPr>
            <p:spPr>
              <a:xfrm>
                <a:off x="269042" y="888539"/>
                <a:ext cx="5079705" cy="416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1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7B090E04-0E2F-5BEC-19AD-F04EF2C07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42" y="888539"/>
                <a:ext cx="5079705" cy="41614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762880-A729-6CC2-C465-46D8F58A7A09}"/>
                  </a:ext>
                </a:extLst>
              </p:cNvPr>
              <p:cNvSpPr txBox="1"/>
              <p:nvPr/>
            </p:nvSpPr>
            <p:spPr>
              <a:xfrm>
                <a:off x="5202461" y="890042"/>
                <a:ext cx="3636739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𝑺𝒖𝒎</m:t>
                      </m:r>
                      <m:r>
                        <a:rPr lang="en-US" sz="21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  <m:d>
                        <m:dPr>
                          <m:ctrlP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𝑨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𝑩</m:t>
                          </m:r>
                        </m:e>
                      </m:d>
                      <m:sSub>
                        <m:sSubPr>
                          <m:ctrlP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𝒊𝒏</m:t>
                          </m:r>
                        </m:sub>
                      </m:sSub>
                    </m:oMath>
                  </m:oMathPara>
                </a14:m>
                <a:endParaRPr lang="en-IT" sz="2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762880-A729-6CC2-C465-46D8F58A7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461" y="890042"/>
                <a:ext cx="3636739" cy="415498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B59B88BD-A84F-C2A6-A916-5A544F16567F}"/>
              </a:ext>
            </a:extLst>
          </p:cNvPr>
          <p:cNvSpPr/>
          <p:nvPr/>
        </p:nvSpPr>
        <p:spPr>
          <a:xfrm>
            <a:off x="4092773" y="3350310"/>
            <a:ext cx="3636739" cy="739174"/>
          </a:xfrm>
          <a:prstGeom prst="wedgeRectCallout">
            <a:avLst>
              <a:gd name="adj1" fmla="val 40351"/>
              <a:gd name="adj2" fmla="val -111358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100" b="1" dirty="0">
                <a:ea typeface="Baskerville" panose="02020502070401020303" pitchFamily="18" charset="0"/>
              </a:rPr>
              <a:t>Smaller circuit, same result…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7D79BE-8A34-B98F-7944-517EC2D1E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13" y="1270983"/>
            <a:ext cx="2968984" cy="353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E61D18-C87D-3E18-23A6-85A2A69C4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1678868"/>
            <a:ext cx="45910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271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5DE3-308F-1496-27C8-BE08B9CF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3">
            <a:extLst>
              <a:ext uri="{FF2B5EF4-FFF2-40B4-BE49-F238E27FC236}">
                <a16:creationId xmlns:a16="http://schemas.microsoft.com/office/drawing/2014/main" id="{9153DB15-C953-7752-4645-CC220B5F6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53359109-0E5F-3214-0FC9-6FDBE0D355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958624"/>
              </p:ext>
            </p:extLst>
          </p:nvPr>
        </p:nvGraphicFramePr>
        <p:xfrm>
          <a:off x="4225012" y="841272"/>
          <a:ext cx="4385588" cy="352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397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875621490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690170667"/>
                    </a:ext>
                  </a:extLst>
                </a:gridCol>
              </a:tblGrid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in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out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868285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497528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670227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488820"/>
                  </a:ext>
                </a:extLst>
              </a:tr>
            </a:tbl>
          </a:graphicData>
        </a:graphic>
      </p:graphicFrame>
      <p:sp>
        <p:nvSpPr>
          <p:cNvPr id="9" name="Rettangolo con angoli arrotondati 5">
            <a:extLst>
              <a:ext uri="{FF2B5EF4-FFF2-40B4-BE49-F238E27FC236}">
                <a16:creationId xmlns:a16="http://schemas.microsoft.com/office/drawing/2014/main" id="{7D81750A-2FE1-71DC-EBF0-57142CA91753}"/>
              </a:ext>
            </a:extLst>
          </p:cNvPr>
          <p:cNvSpPr/>
          <p:nvPr/>
        </p:nvSpPr>
        <p:spPr>
          <a:xfrm>
            <a:off x="4458436" y="3219824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" name="Rettangolo con angoli arrotondati 6">
            <a:extLst>
              <a:ext uri="{FF2B5EF4-FFF2-40B4-BE49-F238E27FC236}">
                <a16:creationId xmlns:a16="http://schemas.microsoft.com/office/drawing/2014/main" id="{8F44014B-D7F4-39F8-54D0-6397856E09E9}"/>
              </a:ext>
            </a:extLst>
          </p:cNvPr>
          <p:cNvSpPr/>
          <p:nvPr/>
        </p:nvSpPr>
        <p:spPr>
          <a:xfrm>
            <a:off x="4458436" y="2447825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" name="Rettangolo con angoli arrotondati 9">
            <a:extLst>
              <a:ext uri="{FF2B5EF4-FFF2-40B4-BE49-F238E27FC236}">
                <a16:creationId xmlns:a16="http://schemas.microsoft.com/office/drawing/2014/main" id="{76783E4B-D59A-428B-24BF-2B1AAB8D8083}"/>
              </a:ext>
            </a:extLst>
          </p:cNvPr>
          <p:cNvSpPr/>
          <p:nvPr/>
        </p:nvSpPr>
        <p:spPr>
          <a:xfrm>
            <a:off x="4458436" y="3615716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" name="Rettangolo con angoli arrotondati 10">
            <a:extLst>
              <a:ext uri="{FF2B5EF4-FFF2-40B4-BE49-F238E27FC236}">
                <a16:creationId xmlns:a16="http://schemas.microsoft.com/office/drawing/2014/main" id="{4B5AC895-1391-C163-EB61-D0494D7D9530}"/>
              </a:ext>
            </a:extLst>
          </p:cNvPr>
          <p:cNvSpPr/>
          <p:nvPr/>
        </p:nvSpPr>
        <p:spPr>
          <a:xfrm>
            <a:off x="4458436" y="4009182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2D27A5B1-A54D-004E-508C-53567EFFCC48}"/>
                  </a:ext>
                </a:extLst>
              </p:cNvPr>
              <p:cNvSpPr txBox="1"/>
              <p:nvPr/>
            </p:nvSpPr>
            <p:spPr>
              <a:xfrm>
                <a:off x="167565" y="2268659"/>
                <a:ext cx="4561312" cy="925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𝑜𝑢𝑡</m:t>
                          </m:r>
                        </m:sub>
                      </m:sSub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</m:oMath>
                  </m:oMathPara>
                </a14:m>
                <a:endParaRPr lang="en-US" sz="27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2D27A5B1-A54D-004E-508C-53567EFF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65" y="2268659"/>
                <a:ext cx="4561312" cy="9252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5B5D221-69A6-CD0A-5BC2-B48972644525}"/>
              </a:ext>
            </a:extLst>
          </p:cNvPr>
          <p:cNvSpPr txBox="1">
            <a:spLocks/>
          </p:cNvSpPr>
          <p:nvPr/>
        </p:nvSpPr>
        <p:spPr>
          <a:xfrm>
            <a:off x="343289" y="841272"/>
            <a:ext cx="3371461" cy="125083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None/>
            </a:pPr>
            <a:r>
              <a:rPr lang="en-IT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about </a:t>
            </a:r>
            <a:r>
              <a:rPr lang="en-IT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T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</a:p>
          <a:p>
            <a:pPr marL="271463" indent="-271463">
              <a:spcBef>
                <a:spcPct val="20000"/>
              </a:spcBef>
            </a:pPr>
            <a:endParaRPr lang="en-IT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indent="-271463">
              <a:spcBef>
                <a:spcPct val="20000"/>
              </a:spcBef>
            </a:pPr>
            <a:r>
              <a:rPr lang="en-IT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 the ones:</a:t>
            </a:r>
          </a:p>
          <a:p>
            <a:endParaRPr lang="en-IT" sz="2100" dirty="0">
              <a:latin typeface="Times New Roman" panose="02020603050405020304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  <a:p>
            <a:endParaRPr lang="en-IT" sz="2100" dirty="0">
              <a:latin typeface="Times New Roman" panose="02020603050405020304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4179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4FBF-C7C8-B9EC-E567-38E04529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8EE2BA-668C-53D9-DA5F-9C46786FF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F4A2F9B-FB95-D5EA-A1AE-CB460462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Simplify…: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F38ACA1-4895-11A0-597A-BF810959BF04}"/>
              </a:ext>
            </a:extLst>
          </p:cNvPr>
          <p:cNvSpPr/>
          <p:nvPr/>
        </p:nvSpPr>
        <p:spPr>
          <a:xfrm>
            <a:off x="4249993" y="2028133"/>
            <a:ext cx="796413" cy="11012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15">
                <a:extLst>
                  <a:ext uri="{FF2B5EF4-FFF2-40B4-BE49-F238E27FC236}">
                    <a16:creationId xmlns:a16="http://schemas.microsoft.com/office/drawing/2014/main" id="{9501841F-FF40-0860-03DC-1813AEDE89B1}"/>
                  </a:ext>
                </a:extLst>
              </p:cNvPr>
              <p:cNvSpPr txBox="1"/>
              <p:nvPr/>
            </p:nvSpPr>
            <p:spPr>
              <a:xfrm>
                <a:off x="1031249" y="1346215"/>
                <a:ext cx="7081502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𝑜𝑢𝑡</m:t>
                          </m:r>
                        </m:sub>
                      </m:sSub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8" name="CasellaDiTesto 15">
                <a:extLst>
                  <a:ext uri="{FF2B5EF4-FFF2-40B4-BE49-F238E27FC236}">
                    <a16:creationId xmlns:a16="http://schemas.microsoft.com/office/drawing/2014/main" id="{9501841F-FF40-0860-03DC-1813AEDE8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49" y="1346215"/>
                <a:ext cx="7081502" cy="5087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129EEB82-A34F-F17B-5A72-70E8F89720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4585" y="3346215"/>
                <a:ext cx="5694830" cy="592373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𝑪</m:t>
                          </m:r>
                        </m:e>
                        <m:sub>
                          <m:r>
                            <a:rPr lang="en-US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𝒐𝒖𝒕</m:t>
                          </m:r>
                        </m:sub>
                      </m:sSub>
                      <m:r>
                        <a:rPr lang="en-US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  <m:d>
                        <m:dPr>
                          <m:ctrlP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𝑨</m:t>
                          </m:r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⋅</m:t>
                          </m:r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m:rPr>
                          <m:nor/>
                        </m:rPr>
                        <a:rPr lang="en-GB" sz="3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𝐁</m:t>
                      </m:r>
                      <m:r>
                        <a:rPr lang="en-GB" sz="32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solidFill>
                    <a:schemeClr val="accent2">
                      <a:lumMod val="75000"/>
                    </a:schemeClr>
                  </a:solidFill>
                  <a:latin typeface="Baskerville" panose="02020502070401020303" pitchFamily="18" charset="0"/>
                  <a:ea typeface="Inter" panose="02000503000000020004" pitchFamily="2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</p:txBody>
          </p:sp>
        </mc:Choice>
        <mc:Fallback xmlns=""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129EEB82-A34F-F17B-5A72-70E8F8972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585" y="3346215"/>
                <a:ext cx="5694830" cy="5923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356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B6B6-0BB1-93B1-46EB-A000A76B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Full-adder Circuit</a:t>
            </a:r>
            <a:endParaRPr lang="en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FA12A1F6-524D-E7D0-1CA8-08FB9C19240E}"/>
                  </a:ext>
                </a:extLst>
              </p:cNvPr>
              <p:cNvSpPr txBox="1"/>
              <p:nvPr/>
            </p:nvSpPr>
            <p:spPr>
              <a:xfrm>
                <a:off x="156256" y="1244966"/>
                <a:ext cx="4561312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=(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)⊕</m:t>
                      </m:r>
                      <m:sSub>
                        <m:sSubPr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FA12A1F6-524D-E7D0-1CA8-08FB9C192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6" y="1244966"/>
                <a:ext cx="4561312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14EA948-4752-4C42-9793-2C00663D5A12}"/>
                  </a:ext>
                </a:extLst>
              </p:cNvPr>
              <p:cNvSpPr txBox="1"/>
              <p:nvPr/>
            </p:nvSpPr>
            <p:spPr>
              <a:xfrm>
                <a:off x="376365" y="3009755"/>
                <a:ext cx="4629023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Inter" panose="02000503000000020004" pitchFamily="2" charset="0"/>
                      </a:rPr>
                      <m:t>=</m:t>
                    </m:r>
                    <m:d>
                      <m:dPr>
                        <m:ctrlP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Inter" panose="02000503000000020004" pitchFamily="2" charset="0"/>
                          </a:rPr>
                        </m:ctrlPr>
                      </m:dPr>
                      <m:e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Inter" panose="02000503000000020004" pitchFamily="2" charset="0"/>
                          </a:rPr>
                          <m:t>𝐴</m:t>
                        </m:r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Inter" panose="02000503000000020004" pitchFamily="2" charset="0"/>
                          </a:rPr>
                          <m:t>⋅</m:t>
                        </m:r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700" dirty="0">
                    <a:solidFill>
                      <a:schemeClr val="accent2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GB" sz="27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GB" sz="27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14EA948-4752-4C42-9793-2C00663D5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65" y="3009755"/>
                <a:ext cx="4629023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C7B6BCA3-D6FE-FEC5-4F13-EE3E0B8CF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976129"/>
            <a:ext cx="4405185" cy="303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3678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B052B2-DAF1-F318-93C1-9A121BEC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Building an Adder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DAB429-FFB5-3C4C-2718-71DF3A8F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1837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circuit that sums </a:t>
            </a:r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bits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simply connect multiple full adders </a:t>
            </a:r>
            <a:r>
              <a:rPr lang="en-IT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chain</a:t>
            </a:r>
            <a:r>
              <a:rPr lang="en-IT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A338673-1988-9859-B55B-F99813424ED7}"/>
              </a:ext>
            </a:extLst>
          </p:cNvPr>
          <p:cNvGrpSpPr/>
          <p:nvPr/>
        </p:nvGrpSpPr>
        <p:grpSpPr>
          <a:xfrm>
            <a:off x="3321106" y="1806561"/>
            <a:ext cx="5621780" cy="2187340"/>
            <a:chOff x="2855778" y="2084315"/>
            <a:chExt cx="6250752" cy="2432063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AB8138E-A12D-9F6B-D2C4-0255ED293E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5494" y="2123532"/>
              <a:ext cx="1828566" cy="2353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1D10C10C-8E0E-C4A7-0A6D-99AF721F14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306" y="2123532"/>
              <a:ext cx="1828566" cy="2353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C2656593-89C5-6C5F-E275-BE3BD5B7A7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5778" y="2123532"/>
              <a:ext cx="1828566" cy="2353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92BB49-E617-4AB2-E931-8FCE7CBC5DA4}"/>
                </a:ext>
              </a:extLst>
            </p:cNvPr>
            <p:cNvSpPr/>
            <p:nvPr/>
          </p:nvSpPr>
          <p:spPr>
            <a:xfrm>
              <a:off x="7591972" y="3873361"/>
              <a:ext cx="286130" cy="274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12D135-99E5-76A9-832C-421972E8096D}"/>
                </a:ext>
              </a:extLst>
            </p:cNvPr>
            <p:cNvSpPr/>
            <p:nvPr/>
          </p:nvSpPr>
          <p:spPr>
            <a:xfrm>
              <a:off x="6197517" y="3025385"/>
              <a:ext cx="286130" cy="274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F40021B-EC5A-8FB5-03E1-33FF41E5F799}"/>
                </a:ext>
              </a:extLst>
            </p:cNvPr>
            <p:cNvSpPr/>
            <p:nvPr/>
          </p:nvSpPr>
          <p:spPr>
            <a:xfrm>
              <a:off x="5518095" y="3873361"/>
              <a:ext cx="286130" cy="274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AFFBEA-212A-207F-C696-60650CE1905B}"/>
                </a:ext>
              </a:extLst>
            </p:cNvPr>
            <p:cNvSpPr/>
            <p:nvPr/>
          </p:nvSpPr>
          <p:spPr>
            <a:xfrm>
              <a:off x="4223251" y="3025385"/>
              <a:ext cx="286130" cy="274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17" name="Elbow Connector 16">
              <a:extLst>
                <a:ext uri="{FF2B5EF4-FFF2-40B4-BE49-F238E27FC236}">
                  <a16:creationId xmlns:a16="http://schemas.microsoft.com/office/drawing/2014/main" id="{574017A2-04F8-464E-401B-48548ABD4161}"/>
                </a:ext>
              </a:extLst>
            </p:cNvPr>
            <p:cNvCxnSpPr>
              <a:stCxn id="11" idx="2"/>
              <a:endCxn id="13" idx="3"/>
            </p:cNvCxnSpPr>
            <p:nvPr/>
          </p:nvCxnSpPr>
          <p:spPr>
            <a:xfrm rot="5400000" flipH="1">
              <a:off x="6616802" y="3029334"/>
              <a:ext cx="985080" cy="1251390"/>
            </a:xfrm>
            <a:prstGeom prst="bentConnector4">
              <a:avLst>
                <a:gd name="adj1" fmla="val -42170"/>
                <a:gd name="adj2" fmla="val 68287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839008C1-BE1D-82ED-6391-1ACB95467DE7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rot="5400000" flipH="1">
              <a:off x="4592731" y="3079140"/>
              <a:ext cx="985080" cy="1151779"/>
            </a:xfrm>
            <a:prstGeom prst="bentConnector4">
              <a:avLst>
                <a:gd name="adj1" fmla="val -47161"/>
                <a:gd name="adj2" fmla="val 7328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F56C54-5911-AFFC-9DF0-4556DA2E62FB}"/>
                </a:ext>
              </a:extLst>
            </p:cNvPr>
            <p:cNvSpPr txBox="1"/>
            <p:nvPr/>
          </p:nvSpPr>
          <p:spPr>
            <a:xfrm>
              <a:off x="2998842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4"/>
                  </a:solidFill>
                </a:rPr>
                <a:t>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9DD965-23E0-7B14-250C-54A7575917FA}"/>
                </a:ext>
              </a:extLst>
            </p:cNvPr>
            <p:cNvSpPr txBox="1"/>
            <p:nvPr/>
          </p:nvSpPr>
          <p:spPr>
            <a:xfrm>
              <a:off x="3440679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3"/>
                  </a:solidFill>
                </a:rPr>
                <a:t>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6823ECD-E380-9212-BE2F-8AEF5F63DE93}"/>
                </a:ext>
              </a:extLst>
            </p:cNvPr>
            <p:cNvSpPr txBox="1"/>
            <p:nvPr/>
          </p:nvSpPr>
          <p:spPr>
            <a:xfrm>
              <a:off x="5004116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781D87D-64E8-8AEC-CF29-07D4951F7FBD}"/>
                </a:ext>
              </a:extLst>
            </p:cNvPr>
            <p:cNvSpPr txBox="1"/>
            <p:nvPr/>
          </p:nvSpPr>
          <p:spPr>
            <a:xfrm>
              <a:off x="5464067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3"/>
                  </a:solidFill>
                </a:rPr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012330-C777-F7CE-F195-FD78690B11C4}"/>
                </a:ext>
              </a:extLst>
            </p:cNvPr>
            <p:cNvSpPr txBox="1"/>
            <p:nvPr/>
          </p:nvSpPr>
          <p:spPr>
            <a:xfrm>
              <a:off x="7147608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4"/>
                  </a:solidFill>
                </a:rPr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6738D2-6F39-2130-869C-98AF56BD4F24}"/>
                </a:ext>
              </a:extLst>
            </p:cNvPr>
            <p:cNvSpPr txBox="1"/>
            <p:nvPr/>
          </p:nvSpPr>
          <p:spPr>
            <a:xfrm>
              <a:off x="7591972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3"/>
                  </a:solidFill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64E9FC2-E841-EC5C-D9E6-852E745BCF9A}"/>
                </a:ext>
              </a:extLst>
            </p:cNvPr>
            <p:cNvSpPr txBox="1"/>
            <p:nvPr/>
          </p:nvSpPr>
          <p:spPr>
            <a:xfrm>
              <a:off x="8754771" y="2977823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/>
                <a:t>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65E74E-8596-B25D-A69F-0E86ED3C46E0}"/>
                </a:ext>
              </a:extLst>
            </p:cNvPr>
            <p:cNvSpPr txBox="1"/>
            <p:nvPr/>
          </p:nvSpPr>
          <p:spPr>
            <a:xfrm>
              <a:off x="7795118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3E69CC8-D6E6-EAF8-F33B-A851B012F486}"/>
                </a:ext>
              </a:extLst>
            </p:cNvPr>
            <p:cNvSpPr txBox="1"/>
            <p:nvPr/>
          </p:nvSpPr>
          <p:spPr>
            <a:xfrm>
              <a:off x="7126335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9E9CC34-1166-391C-4988-97FF98172A77}"/>
                </a:ext>
              </a:extLst>
            </p:cNvPr>
            <p:cNvSpPr txBox="1"/>
            <p:nvPr/>
          </p:nvSpPr>
          <p:spPr>
            <a:xfrm>
              <a:off x="5707525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3596488-534E-D7CE-03C2-D5D51706F8A5}"/>
                </a:ext>
              </a:extLst>
            </p:cNvPr>
            <p:cNvSpPr txBox="1"/>
            <p:nvPr/>
          </p:nvSpPr>
          <p:spPr>
            <a:xfrm>
              <a:off x="5038742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E3D040-056A-58B1-E2D4-189DBB58B2DF}"/>
                </a:ext>
              </a:extLst>
            </p:cNvPr>
            <p:cNvSpPr txBox="1"/>
            <p:nvPr/>
          </p:nvSpPr>
          <p:spPr>
            <a:xfrm>
              <a:off x="3619932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C67D8D4-9A41-5BD5-0815-806A05269DF0}"/>
                </a:ext>
              </a:extLst>
            </p:cNvPr>
            <p:cNvSpPr txBox="1"/>
            <p:nvPr/>
          </p:nvSpPr>
          <p:spPr>
            <a:xfrm>
              <a:off x="2951149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6"/>
                  </a:solidFill>
                </a:rPr>
                <a:t>1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5A6EDD7-0822-B996-BC45-F14B96F05231}"/>
              </a:ext>
            </a:extLst>
          </p:cNvPr>
          <p:cNvGrpSpPr/>
          <p:nvPr/>
        </p:nvGrpSpPr>
        <p:grpSpPr>
          <a:xfrm>
            <a:off x="474717" y="2503899"/>
            <a:ext cx="2709633" cy="1553515"/>
            <a:chOff x="481488" y="2440386"/>
            <a:chExt cx="2709633" cy="1553515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0022F89-BA91-02D1-6C73-732A5007F7CD}"/>
                </a:ext>
              </a:extLst>
            </p:cNvPr>
            <p:cNvSpPr txBox="1"/>
            <p:nvPr/>
          </p:nvSpPr>
          <p:spPr>
            <a:xfrm>
              <a:off x="525439" y="3136820"/>
              <a:ext cx="26656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(3)   </a:t>
              </a:r>
              <a:r>
                <a:rPr lang="en-IT" sz="2400" b="1" dirty="0">
                  <a:solidFill>
                    <a:schemeClr val="accent3"/>
                  </a:solidFill>
                  <a:latin typeface="Baskerville" panose="02020502070401020303" pitchFamily="18" charset="0"/>
                  <a:ea typeface="Baskerville" panose="02020502070401020303" pitchFamily="18" charset="0"/>
                </a:rPr>
                <a:t>0     1     1  </a:t>
              </a:r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=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CE74054-806B-00DE-34F8-5B4AAC92058D}"/>
                </a:ext>
              </a:extLst>
            </p:cNvPr>
            <p:cNvSpPr txBox="1"/>
            <p:nvPr/>
          </p:nvSpPr>
          <p:spPr>
            <a:xfrm>
              <a:off x="525439" y="2698238"/>
              <a:ext cx="23182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(2)   </a:t>
              </a:r>
              <a:r>
                <a:rPr lang="en-IT" sz="2400" b="1" dirty="0">
                  <a:solidFill>
                    <a:schemeClr val="accent4"/>
                  </a:solidFill>
                  <a:latin typeface="Baskerville" panose="02020502070401020303" pitchFamily="18" charset="0"/>
                  <a:ea typeface="Baskerville" panose="02020502070401020303" pitchFamily="18" charset="0"/>
                </a:rPr>
                <a:t>0     1     0  </a:t>
              </a:r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+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ABA3BB1-58FF-304C-C579-141E64D97777}"/>
                </a:ext>
              </a:extLst>
            </p:cNvPr>
            <p:cNvSpPr txBox="1"/>
            <p:nvPr/>
          </p:nvSpPr>
          <p:spPr>
            <a:xfrm>
              <a:off x="525439" y="3532236"/>
              <a:ext cx="25115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       </a:t>
              </a:r>
              <a:r>
                <a:rPr lang="en-IT" sz="2400" b="1" dirty="0">
                  <a:solidFill>
                    <a:schemeClr val="accent6"/>
                  </a:solidFill>
                  <a:latin typeface="Baskerville" panose="02020502070401020303" pitchFamily="18" charset="0"/>
                  <a:ea typeface="Baskerville" panose="02020502070401020303" pitchFamily="18" charset="0"/>
                </a:rPr>
                <a:t>1     0     1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AB6CCE0-D5BB-C495-4A15-901C3F1FE3C1}"/>
                </a:ext>
              </a:extLst>
            </p:cNvPr>
            <p:cNvCxnSpPr>
              <a:cxnSpLocks/>
            </p:cNvCxnSpPr>
            <p:nvPr/>
          </p:nvCxnSpPr>
          <p:spPr>
            <a:xfrm>
              <a:off x="481488" y="3556919"/>
              <a:ext cx="2039245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393928A-DA01-AE49-B50E-3BA3D0A93D9C}"/>
                </a:ext>
              </a:extLst>
            </p:cNvPr>
            <p:cNvSpPr txBox="1"/>
            <p:nvPr/>
          </p:nvSpPr>
          <p:spPr>
            <a:xfrm>
              <a:off x="1053455" y="2440386"/>
              <a:ext cx="288318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T" sz="2100" dirty="0">
                  <a:solidFill>
                    <a:srgbClr val="FF0000"/>
                  </a:solidFill>
                  <a:latin typeface="Baskerville" panose="02020502070401020303" pitchFamily="18" charset="0"/>
                  <a:ea typeface="Baskerville" panose="02020502070401020303" pitchFamily="18" charset="0"/>
                </a:rPr>
                <a:t>1</a:t>
              </a:r>
              <a:endParaRPr lang="en-IT" sz="21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0713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4C1D-DBF6-671E-9A1C-8796340E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Practice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6DB6D-8448-90C2-4B51-65BB87B64EC0}"/>
              </a:ext>
            </a:extLst>
          </p:cNvPr>
          <p:cNvSpPr txBox="1"/>
          <p:nvPr/>
        </p:nvSpPr>
        <p:spPr>
          <a:xfrm>
            <a:off x="3888188" y="3799085"/>
            <a:ext cx="121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…again</a:t>
            </a:r>
          </a:p>
        </p:txBody>
      </p:sp>
      <p:pic>
        <p:nvPicPr>
          <p:cNvPr id="1028" name="Picture 4" descr="YOUR TURN">
            <a:extLst>
              <a:ext uri="{FF2B5EF4-FFF2-40B4-BE49-F238E27FC236}">
                <a16:creationId xmlns:a16="http://schemas.microsoft.com/office/drawing/2014/main" id="{B1FCC1E4-DAD0-53DA-BB54-52D253B4F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00" y="882750"/>
            <a:ext cx="28448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866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5DC55-A653-54F4-151C-B4E87B14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>
            <a:extLst>
              <a:ext uri="{FF2B5EF4-FFF2-40B4-BE49-F238E27FC236}">
                <a16:creationId xmlns:a16="http://schemas.microsoft.com/office/drawing/2014/main" id="{8A842F97-0EA1-66DA-8B9F-DEE0C5EE3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30" y="2082030"/>
            <a:ext cx="2400508" cy="1754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D2F45D34-D21D-30FF-188D-2BC6549A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 of an Adder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EA0CBD-DAE2-222E-E73C-DFDCB4DB2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for the 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Lab02b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create a new block design: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INTEGRATOR → Create Block Design, on the left Flow Navigator bar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“Create Block Design”  window 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appear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name”: adder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“OK”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DE59F763-5711-CE27-DCDB-AFBB290A2EDA}"/>
              </a:ext>
            </a:extLst>
          </p:cNvPr>
          <p:cNvGrpSpPr/>
          <p:nvPr/>
        </p:nvGrpSpPr>
        <p:grpSpPr>
          <a:xfrm>
            <a:off x="4387208" y="1734087"/>
            <a:ext cx="1916526" cy="2286198"/>
            <a:chOff x="6381157" y="1851268"/>
            <a:chExt cx="2555367" cy="3048264"/>
          </a:xfrm>
        </p:grpSpPr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4213586A-B81C-F864-C791-72C51D2C8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015" y="1851268"/>
              <a:ext cx="2179509" cy="304826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EE4C8253-A343-3D35-EC8C-2B20521AF800}"/>
                </a:ext>
              </a:extLst>
            </p:cNvPr>
            <p:cNvSpPr/>
            <p:nvPr/>
          </p:nvSpPr>
          <p:spPr>
            <a:xfrm>
              <a:off x="6757015" y="3629278"/>
              <a:ext cx="1616241" cy="738785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A2A487D5-C9D5-8973-8109-48310D80C640}"/>
                </a:ext>
              </a:extLst>
            </p:cNvPr>
            <p:cNvSpPr txBox="1"/>
            <p:nvPr/>
          </p:nvSpPr>
          <p:spPr>
            <a:xfrm>
              <a:off x="6381157" y="3798616"/>
              <a:ext cx="44823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</p:grp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6364803A-FAED-1CF2-8B6D-83040CC29C2F}"/>
              </a:ext>
            </a:extLst>
          </p:cNvPr>
          <p:cNvSpPr/>
          <p:nvPr/>
        </p:nvSpPr>
        <p:spPr>
          <a:xfrm>
            <a:off x="6597684" y="2740152"/>
            <a:ext cx="2281562" cy="32486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5C994A2-3442-ED38-2A06-9ACA5B56BE87}"/>
              </a:ext>
            </a:extLst>
          </p:cNvPr>
          <p:cNvSpPr txBox="1"/>
          <p:nvPr/>
        </p:nvSpPr>
        <p:spPr>
          <a:xfrm>
            <a:off x="6303734" y="2788663"/>
            <a:ext cx="3361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2.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A8DD92F3-CAAC-7AFA-27F4-DD7B149A5739}"/>
              </a:ext>
            </a:extLst>
          </p:cNvPr>
          <p:cNvSpPr/>
          <p:nvPr/>
        </p:nvSpPr>
        <p:spPr>
          <a:xfrm>
            <a:off x="7665308" y="3491100"/>
            <a:ext cx="346532" cy="175763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9695307-9307-35E9-4326-4F522D7B1FFA}"/>
              </a:ext>
            </a:extLst>
          </p:cNvPr>
          <p:cNvSpPr txBox="1"/>
          <p:nvPr/>
        </p:nvSpPr>
        <p:spPr>
          <a:xfrm>
            <a:off x="7356873" y="3444048"/>
            <a:ext cx="3306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1784959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RTL Design: Input &amp; Output Ports</a:t>
            </a:r>
            <a:endParaRPr lang="it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B553C-9590-7D9B-30A3-BC6EDBE0E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input and output ports: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10">
            <a:extLst>
              <a:ext uri="{FF2B5EF4-FFF2-40B4-BE49-F238E27FC236}">
                <a16:creationId xmlns:a16="http://schemas.microsoft.com/office/drawing/2014/main" id="{E5434D27-1797-60AF-24C8-774319DA7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433" y="1158432"/>
            <a:ext cx="6095135" cy="3377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733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RTL Design: Logic Gates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C4098E-EABC-8AE5-C725-931FECC3C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logic gates to build the full adder: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CCE76FA-3720-8751-153F-65045E82B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995" y="810520"/>
            <a:ext cx="2514600" cy="3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magine 19">
            <a:extLst>
              <a:ext uri="{FF2B5EF4-FFF2-40B4-BE49-F238E27FC236}">
                <a16:creationId xmlns:a16="http://schemas.microsoft.com/office/drawing/2014/main" id="{4EAF555C-7E0E-67E3-1E20-4CBDFA898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59" y="1253012"/>
            <a:ext cx="5309420" cy="2938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320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21F53D96-F4E0-2F54-269E-A7B091C3E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022" y="1497951"/>
            <a:ext cx="5425956" cy="3021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Design: Interconnections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AE935-DFEB-F310-F778-7C96990E6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different logic gates to create the circuit: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design</a:t>
            </a:r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794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D5D4A-6980-11B1-52F2-09CB8029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1360EEB-DFFC-6D0D-383A-C9A378B5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Verify the Design (Simulation)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9DEF7FF-5914-1B72-E48F-4457B0311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the design and verify its correctness</a:t>
            </a:r>
          </a:p>
          <a:p>
            <a:pPr lvl="1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 descr="Immagine che contiene Elementi grafici, Carattere, design&#10;&#10;Descrizione generata automaticamente">
            <a:extLst>
              <a:ext uri="{FF2B5EF4-FFF2-40B4-BE49-F238E27FC236}">
                <a16:creationId xmlns:a16="http://schemas.microsoft.com/office/drawing/2014/main" id="{1E360940-4F5C-D6D6-04B9-3BC63CFA38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157" y="4749161"/>
            <a:ext cx="704651" cy="310046"/>
          </a:xfrm>
          <a:prstGeom prst="rect">
            <a:avLst/>
          </a:prstGeom>
        </p:spPr>
      </p:pic>
      <p:grpSp>
        <p:nvGrpSpPr>
          <p:cNvPr id="24" name="Gruppo 23">
            <a:extLst>
              <a:ext uri="{FF2B5EF4-FFF2-40B4-BE49-F238E27FC236}">
                <a16:creationId xmlns:a16="http://schemas.microsoft.com/office/drawing/2014/main" id="{63747E06-B9DA-A05D-0112-CD1A4B545A91}"/>
              </a:ext>
            </a:extLst>
          </p:cNvPr>
          <p:cNvGrpSpPr/>
          <p:nvPr/>
        </p:nvGrpSpPr>
        <p:grpSpPr>
          <a:xfrm>
            <a:off x="167564" y="4638727"/>
            <a:ext cx="1684022" cy="530915"/>
            <a:chOff x="952499" y="1916113"/>
            <a:chExt cx="1869524" cy="823694"/>
          </a:xfrm>
        </p:grpSpPr>
        <p:sp>
          <p:nvSpPr>
            <p:cNvPr id="25" name="Titolo 1">
              <a:extLst>
                <a:ext uri="{FF2B5EF4-FFF2-40B4-BE49-F238E27FC236}">
                  <a16:creationId xmlns:a16="http://schemas.microsoft.com/office/drawing/2014/main" id="{47601150-7A97-0FD1-57A4-D4F4D705BC68}"/>
                </a:ext>
              </a:extLst>
            </p:cNvPr>
            <p:cNvSpPr txBox="1">
              <a:spLocks/>
            </p:cNvSpPr>
            <p:nvPr/>
          </p:nvSpPr>
          <p:spPr>
            <a:xfrm>
              <a:off x="952499" y="1916113"/>
              <a:ext cx="567856" cy="823694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1500" dirty="0">
                  <a:solidFill>
                    <a:srgbClr val="003153">
                      <a:alpha val="60000"/>
                    </a:srgb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L01.</a:t>
              </a:r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F9387438-E0FD-C773-D029-0951007B0C78}"/>
                </a:ext>
              </a:extLst>
            </p:cNvPr>
            <p:cNvSpPr txBox="1"/>
            <p:nvPr/>
          </p:nvSpPr>
          <p:spPr>
            <a:xfrm>
              <a:off x="1464376" y="2113085"/>
              <a:ext cx="1357647" cy="42975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just"/>
              <a:r>
                <a:rPr lang="en-GB" sz="600" dirty="0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Introduction to </a:t>
              </a:r>
              <a:r>
                <a:rPr lang="en-GB" sz="600" dirty="0" err="1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Vivado</a:t>
              </a:r>
              <a:r>
                <a:rPr lang="en-GB" sz="600" dirty="0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&amp; Logic Gates</a:t>
              </a:r>
            </a:p>
          </p:txBody>
        </p:sp>
      </p:grpSp>
      <p:pic>
        <p:nvPicPr>
          <p:cNvPr id="6" name="Immagine 5">
            <a:extLst>
              <a:ext uri="{FF2B5EF4-FFF2-40B4-BE49-F238E27FC236}">
                <a16:creationId xmlns:a16="http://schemas.microsoft.com/office/drawing/2014/main" id="{CB22C634-2729-9956-A99F-3D263C48B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526" y="1350100"/>
            <a:ext cx="4889348" cy="2750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61567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 Complete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A60325-5B8F-918A-603A-0D8C2F71EBC7}"/>
              </a:ext>
            </a:extLst>
          </p:cNvPr>
          <p:cNvSpPr txBox="1"/>
          <p:nvPr/>
        </p:nvSpPr>
        <p:spPr>
          <a:xfrm>
            <a:off x="3433764" y="740763"/>
            <a:ext cx="5241332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full_adder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input wire a,         // Input a</a:t>
            </a:r>
          </a:p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input wire b,         // Input b    		   input wire 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     // Carry in    		   </a:t>
            </a:r>
          </a:p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output wire sum,      // Sum output    		   output wire 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 Carry out</a:t>
            </a:r>
          </a:p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wire 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axb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            // Intermediate XOR of a and b    wire ab, 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a_xor_b_cin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// Intermediate AND gates</a:t>
            </a:r>
          </a:p>
          <a:p>
            <a:endParaRPr lang="en-GB" sz="105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XOR gate for sum </a:t>
            </a:r>
          </a:p>
          <a:p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xor_gate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xor1 ( .a(a), .b(b), .y(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axb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);   </a:t>
            </a:r>
          </a:p>
          <a:p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xor_gate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xor2 ( .a(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axb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.b(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.y(sum) );  </a:t>
            </a:r>
          </a:p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AND gates for carry    </a:t>
            </a:r>
          </a:p>
          <a:p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and_gate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and1 ( .a(a), .b(b), .y(ab) );    </a:t>
            </a:r>
          </a:p>
          <a:p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and_gate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and2 ( .a(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axb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.b(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.y(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a_xor_b_cin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);    </a:t>
            </a:r>
          </a:p>
          <a:p>
            <a:endParaRPr lang="en-GB" sz="105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OR gate for carry out    </a:t>
            </a:r>
          </a:p>
          <a:p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or_gate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or1 ( .a(ab), .b(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a_xor_b_cin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.y(</a:t>
            </a:r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sz="105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GB" sz="105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GB" sz="105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D007AC7-9AD2-7015-E12A-1D073EDC5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9516"/>
            <a:ext cx="2717574" cy="330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tangolo con angoli arrotondati 8">
            <a:extLst>
              <a:ext uri="{FF2B5EF4-FFF2-40B4-BE49-F238E27FC236}">
                <a16:creationId xmlns:a16="http://schemas.microsoft.com/office/drawing/2014/main" id="{97454FC7-488F-0AF6-63E4-95ED514A09A1}"/>
              </a:ext>
            </a:extLst>
          </p:cNvPr>
          <p:cNvSpPr/>
          <p:nvPr/>
        </p:nvSpPr>
        <p:spPr>
          <a:xfrm>
            <a:off x="557405" y="3489878"/>
            <a:ext cx="1945005" cy="697670"/>
          </a:xfrm>
          <a:prstGeom prst="round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16749419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B7EF-FA44-7A1F-F5C2-1157F8D7D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54FF-26E3-E213-686A-37E3509B9A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02 Part 3: </a:t>
            </a:r>
            <a:br>
              <a:rPr lang="en-US" dirty="0"/>
            </a:br>
            <a:r>
              <a:rPr lang="en-IT" dirty="0"/>
              <a:t>Full Adder running on the Board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5F2C70B4-EE05-7126-8A52-C24E19588F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5700901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142A-8600-8822-7892-956784FE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41A513AA-AEF3-851C-00D7-440D35F6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 the Circuit  on the Board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6F8BED-03A1-85C7-23DF-D14FA0AD5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“Generate Bitstream” and the EDA Tool will provide the files to upload the design on the board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“Hardware 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manager”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9031C1D-4475-BA69-BA24-26BDDE16A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50" y="1369743"/>
            <a:ext cx="5576007" cy="3136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Connettore curvo 2">
            <a:extLst>
              <a:ext uri="{FF2B5EF4-FFF2-40B4-BE49-F238E27FC236}">
                <a16:creationId xmlns:a16="http://schemas.microsoft.com/office/drawing/2014/main" id="{B98FF79E-E97F-1E4B-6DF6-44127D79FA93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1946737" y="2395438"/>
            <a:ext cx="1457294" cy="1378532"/>
          </a:xfrm>
          <a:prstGeom prst="curvedConnector2">
            <a:avLst/>
          </a:prstGeom>
          <a:ln w="76200">
            <a:solidFill>
              <a:schemeClr val="accent2">
                <a:lumMod val="7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F4C20CA-F530-8B0B-9688-D8A21FFCF3FB}"/>
              </a:ext>
            </a:extLst>
          </p:cNvPr>
          <p:cNvSpPr/>
          <p:nvPr/>
        </p:nvSpPr>
        <p:spPr>
          <a:xfrm>
            <a:off x="3364650" y="3676650"/>
            <a:ext cx="632738" cy="273401"/>
          </a:xfrm>
          <a:prstGeom prst="round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27994134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8F78-381F-BFEA-A1CF-43C3E390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AE06D2B5-EF9D-865E-E7C2-8B1AA54B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Hardware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EF027-9A65-0FF6-56F7-C62E6A62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199" y="1273643"/>
            <a:ext cx="2995797" cy="2596214"/>
          </a:xfrm>
        </p:spPr>
        <p:txBody>
          <a:bodyPr/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Hardware Manager handles the connections with the board. 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connect:</a:t>
            </a:r>
            <a:endParaRPr lang="en-GB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target</a:t>
            </a:r>
          </a:p>
          <a:p>
            <a:pPr lvl="1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Connect</a:t>
            </a:r>
            <a:endParaRPr lang="en-IT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7D7F25F9-C994-1079-84FB-8ED085097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2993"/>
            <a:ext cx="5257800" cy="2957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35828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37C0-F279-13F1-BFA9-F16E8990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1F26278A-B188-F1C9-4A55-7D0E532C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Hardware manager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436C2-2180-E6B9-9ADE-4FDC71FDA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program the device, click 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device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8BD841E1-70A1-807B-5B52-85642775E4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57</a:t>
            </a:fld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13CD0DE-F161-D38B-3162-E227B7FA8B5F}"/>
              </a:ext>
            </a:extLst>
          </p:cNvPr>
          <p:cNvSpPr txBox="1"/>
          <p:nvPr/>
        </p:nvSpPr>
        <p:spPr>
          <a:xfrm>
            <a:off x="6290109" y="2030521"/>
            <a:ext cx="2425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400" b="1" dirty="0">
                <a:solidFill>
                  <a:srgbClr val="82B366"/>
                </a:solidFill>
                <a:ea typeface="Baskerville Display PT" panose="02030602080406020203" pitchFamily="18" charset="0"/>
              </a:rPr>
              <a:t>Now your design is working on the board!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B0FB5DF-843C-D365-9316-9403D079E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6" y="1278165"/>
            <a:ext cx="5259878" cy="29562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0323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8969-89DF-4B4A-7A8B-912CB971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0C3F-31E7-A843-E227-C4058161D6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02 Part 4: </a:t>
            </a:r>
            <a:br>
              <a:rPr lang="en-US" dirty="0"/>
            </a:br>
            <a:r>
              <a:rPr lang="en-IT" dirty="0"/>
              <a:t>Multi-bit Adder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598F4E89-2E41-7312-87EF-0878D0D8A8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3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204DF12F-0D3C-94A3-333C-C48E55219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26" y="3124987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985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CF30-7AB7-8332-20B5-4A72F005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>
            <a:extLst>
              <a:ext uri="{FF2B5EF4-FFF2-40B4-BE49-F238E27FC236}">
                <a16:creationId xmlns:a16="http://schemas.microsoft.com/office/drawing/2014/main" id="{768E1E3C-C90A-4F84-A9ED-9B5A5D4E2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47" y="2056630"/>
            <a:ext cx="2400508" cy="1754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6BCC9C54-1A9C-A237-0201-0092AD8B7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 of a Multi-bit Adder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4DF361-2F26-6A4C-761A-B27A2CAB8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for the 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Lab02c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create a new block design: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INTEGRATOR → Create Block Design, on the left Flow Navigator bar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“Create Block Design”  window 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appear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name”: adder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“OK”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6C77CCAB-3399-D429-AB59-4971CAC385EB}"/>
              </a:ext>
            </a:extLst>
          </p:cNvPr>
          <p:cNvGrpSpPr/>
          <p:nvPr/>
        </p:nvGrpSpPr>
        <p:grpSpPr>
          <a:xfrm>
            <a:off x="4445375" y="1745180"/>
            <a:ext cx="1916526" cy="2286198"/>
            <a:chOff x="6381157" y="1851268"/>
            <a:chExt cx="2555367" cy="3048264"/>
          </a:xfrm>
        </p:grpSpPr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4E33E51B-365F-61EC-B1E5-F074E0448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015" y="1851268"/>
              <a:ext cx="2179509" cy="304826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B48FAEED-C8AF-828E-1F19-DDC571BB9448}"/>
                </a:ext>
              </a:extLst>
            </p:cNvPr>
            <p:cNvSpPr/>
            <p:nvPr/>
          </p:nvSpPr>
          <p:spPr>
            <a:xfrm>
              <a:off x="6757015" y="3629278"/>
              <a:ext cx="1616241" cy="738785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C1577DA3-BF44-9513-6670-0ABE0DCBAE12}"/>
                </a:ext>
              </a:extLst>
            </p:cNvPr>
            <p:cNvSpPr txBox="1"/>
            <p:nvPr/>
          </p:nvSpPr>
          <p:spPr>
            <a:xfrm>
              <a:off x="6381157" y="3798616"/>
              <a:ext cx="44823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</p:grp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5B6BE79F-A36D-2995-B03D-CB30ED7BB978}"/>
              </a:ext>
            </a:extLst>
          </p:cNvPr>
          <p:cNvSpPr/>
          <p:nvPr/>
        </p:nvSpPr>
        <p:spPr>
          <a:xfrm>
            <a:off x="6591301" y="2714752"/>
            <a:ext cx="2281562" cy="32486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A720A38-636F-1824-BCB0-0D15DFC80FB4}"/>
              </a:ext>
            </a:extLst>
          </p:cNvPr>
          <p:cNvSpPr txBox="1"/>
          <p:nvPr/>
        </p:nvSpPr>
        <p:spPr>
          <a:xfrm>
            <a:off x="6311004" y="2749779"/>
            <a:ext cx="3361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2.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7FEB554E-A80E-5834-C5BF-4A18BBE25759}"/>
              </a:ext>
            </a:extLst>
          </p:cNvPr>
          <p:cNvSpPr/>
          <p:nvPr/>
        </p:nvSpPr>
        <p:spPr>
          <a:xfrm>
            <a:off x="7658925" y="3465700"/>
            <a:ext cx="346532" cy="175763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BD2C5ED-575F-28AB-3965-A07F9D7F69EB}"/>
              </a:ext>
            </a:extLst>
          </p:cNvPr>
          <p:cNvSpPr txBox="1"/>
          <p:nvPr/>
        </p:nvSpPr>
        <p:spPr>
          <a:xfrm>
            <a:off x="7350490" y="3418648"/>
            <a:ext cx="3306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3327650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13EA-FA38-8E65-4851-F3D7D391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541A16-7AA4-8361-5859-54CC3858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RTL Design of a Multi-bit Adder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A6CA03-7C40-1212-DA8A-02AEAA664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logic gates to build the full adder: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different logic gates to create the circuit: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design</a:t>
            </a: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9681C6-798A-FF1B-84E9-1CD9E3366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17962"/>
            <a:ext cx="8529638" cy="25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27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1E82-D28D-AC0F-9E80-720816A9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8607A4-43D7-6DAE-04FD-CEB27A7ED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RTL Design of a Multi-bit Adder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CCBD99-04F0-3A54-EBF5-41CA88428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design should look like something like this:</a:t>
            </a: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7180D3A5-59B7-251F-8707-7A347957EE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" t="4709" r="-369" b="806"/>
          <a:stretch>
            <a:fillRect/>
          </a:stretch>
        </p:blipFill>
        <p:spPr>
          <a:xfrm>
            <a:off x="1565544" y="1331247"/>
            <a:ext cx="6165311" cy="31455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803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00138-E660-5317-B79D-44EAF8776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FF73252-4E93-6B74-E022-5EBC8FA4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Verify the Design (Simulation)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18D1B5-28CA-C2E7-1D50-928BC084A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the design and verify its correctness</a:t>
            </a:r>
          </a:p>
          <a:p>
            <a:pPr lvl="1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 descr="Immagine che contiene Elementi grafici, Carattere, design&#10;&#10;Descrizione generata automaticamente">
            <a:extLst>
              <a:ext uri="{FF2B5EF4-FFF2-40B4-BE49-F238E27FC236}">
                <a16:creationId xmlns:a16="http://schemas.microsoft.com/office/drawing/2014/main" id="{B699A839-1055-3D06-75EA-0C955D0522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157" y="4749161"/>
            <a:ext cx="704651" cy="310046"/>
          </a:xfrm>
          <a:prstGeom prst="rect">
            <a:avLst/>
          </a:prstGeom>
        </p:spPr>
      </p:pic>
      <p:grpSp>
        <p:nvGrpSpPr>
          <p:cNvPr id="24" name="Gruppo 23">
            <a:extLst>
              <a:ext uri="{FF2B5EF4-FFF2-40B4-BE49-F238E27FC236}">
                <a16:creationId xmlns:a16="http://schemas.microsoft.com/office/drawing/2014/main" id="{77535148-62B4-64AA-2132-7965BF706418}"/>
              </a:ext>
            </a:extLst>
          </p:cNvPr>
          <p:cNvGrpSpPr/>
          <p:nvPr/>
        </p:nvGrpSpPr>
        <p:grpSpPr>
          <a:xfrm>
            <a:off x="167564" y="4638727"/>
            <a:ext cx="1684022" cy="530915"/>
            <a:chOff x="952499" y="1916113"/>
            <a:chExt cx="1869524" cy="823694"/>
          </a:xfrm>
        </p:grpSpPr>
        <p:sp>
          <p:nvSpPr>
            <p:cNvPr id="25" name="Titolo 1">
              <a:extLst>
                <a:ext uri="{FF2B5EF4-FFF2-40B4-BE49-F238E27FC236}">
                  <a16:creationId xmlns:a16="http://schemas.microsoft.com/office/drawing/2014/main" id="{B3DAC88D-F403-14B6-3036-12D67C2DBC61}"/>
                </a:ext>
              </a:extLst>
            </p:cNvPr>
            <p:cNvSpPr txBox="1">
              <a:spLocks/>
            </p:cNvSpPr>
            <p:nvPr/>
          </p:nvSpPr>
          <p:spPr>
            <a:xfrm>
              <a:off x="952499" y="1916113"/>
              <a:ext cx="567856" cy="823694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1500" dirty="0">
                  <a:solidFill>
                    <a:srgbClr val="003153">
                      <a:alpha val="60000"/>
                    </a:srgb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L01.</a:t>
              </a:r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A0BCE861-F2F2-D639-084A-B9E2543F77CA}"/>
                </a:ext>
              </a:extLst>
            </p:cNvPr>
            <p:cNvSpPr txBox="1"/>
            <p:nvPr/>
          </p:nvSpPr>
          <p:spPr>
            <a:xfrm>
              <a:off x="1464376" y="2113085"/>
              <a:ext cx="1357647" cy="42975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just"/>
              <a:r>
                <a:rPr lang="en-GB" sz="600" dirty="0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Introduction to </a:t>
              </a:r>
              <a:r>
                <a:rPr lang="en-GB" sz="600" dirty="0" err="1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Vivado</a:t>
              </a:r>
              <a:r>
                <a:rPr lang="en-GB" sz="600" dirty="0">
                  <a:solidFill>
                    <a:srgbClr val="00457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&amp; Logic Gates</a:t>
              </a:r>
            </a:p>
          </p:txBody>
        </p:sp>
      </p:grp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A8069C4-5C6A-F1F7-8D64-986E8EFDB0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994" y="1140448"/>
            <a:ext cx="6196012" cy="3300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0747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</a:t>
            </a:r>
            <a:r>
              <a:rPr lang="en-GB"/>
              <a:t>Attribution – Non-commercial </a:t>
            </a:r>
            <a:r>
              <a:rPr lang="en-GB" dirty="0"/>
              <a:t>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4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5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6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7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8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9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>
            <a:extLst>
              <a:ext uri="{FF2B5EF4-FFF2-40B4-BE49-F238E27FC236}">
                <a16:creationId xmlns:a16="http://schemas.microsoft.com/office/drawing/2014/main" id="{EE11BDA6-1C6D-05DC-86F5-F0F3D5675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8" y="1673123"/>
            <a:ext cx="1339414" cy="5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53C0C51-3C38-49CF-6104-CBF2827CC1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" y="3349015"/>
            <a:ext cx="1808212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2370</TotalTime>
  <Words>2779</Words>
  <Application>Microsoft Macintosh PowerPoint</Application>
  <PresentationFormat>On-screen Show (16:9)</PresentationFormat>
  <Paragraphs>734</Paragraphs>
  <Slides>63</Slides>
  <Notes>49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3" baseType="lpstr">
      <vt:lpstr>Inter</vt:lpstr>
      <vt:lpstr>Arial</vt:lpstr>
      <vt:lpstr>Arial Narrow</vt:lpstr>
      <vt:lpstr>Baskerville</vt:lpstr>
      <vt:lpstr>Baskerville Display PT</vt:lpstr>
      <vt:lpstr>Calibri</vt:lpstr>
      <vt:lpstr>Cambria Math</vt:lpstr>
      <vt:lpstr>Courier New</vt:lpstr>
      <vt:lpstr>Times New Roman</vt:lpstr>
      <vt:lpstr>3_Office Theme</vt:lpstr>
      <vt:lpstr>Lab 02: Design of an Adder</vt:lpstr>
      <vt:lpstr>Electronic Design Automation Tools</vt:lpstr>
      <vt:lpstr>Hands-on: An Adder</vt:lpstr>
      <vt:lpstr>Lab 02 Part 1:  Half Adder</vt:lpstr>
      <vt:lpstr>Summing Two Bits</vt:lpstr>
      <vt:lpstr>Summing Two Bits</vt:lpstr>
      <vt:lpstr>PowerPoint Presentation</vt:lpstr>
      <vt:lpstr>A (first) Truth Table for Bit-Addition</vt:lpstr>
      <vt:lpstr>A (first) Truth Table for Bit-Addition</vt:lpstr>
      <vt:lpstr>A (first) Truth Table for Bit-Addition</vt:lpstr>
      <vt:lpstr>A (first) Truth Table for Bit-Addition</vt:lpstr>
      <vt:lpstr>A (first) Truth Table for Bit-Addition</vt:lpstr>
      <vt:lpstr>A (first) Truth Table for Bit-Addition</vt:lpstr>
      <vt:lpstr>A (first) Circuit for Bit-Addition</vt:lpstr>
      <vt:lpstr>PowerPoint Presentation</vt:lpstr>
      <vt:lpstr>RTL Design of an Adder</vt:lpstr>
      <vt:lpstr>RTL Design of an Adder</vt:lpstr>
      <vt:lpstr>RTL Design: Input &amp; Output Ports</vt:lpstr>
      <vt:lpstr>RTL Design: Input &amp; Output Ports</vt:lpstr>
      <vt:lpstr>RTL Design: Logic Gates</vt:lpstr>
      <vt:lpstr>RTL Design: Logic Gates</vt:lpstr>
      <vt:lpstr>RTL Design: Interconnections</vt:lpstr>
      <vt:lpstr>Generate the Design</vt:lpstr>
      <vt:lpstr>Verify the Design (Simulation)</vt:lpstr>
      <vt:lpstr>RTL Design Complete</vt:lpstr>
      <vt:lpstr>Lab 02 Part 2:  Full Adder</vt:lpstr>
      <vt:lpstr>Representing Numbers with More Bits…</vt:lpstr>
      <vt:lpstr>Summing More Bits</vt:lpstr>
      <vt:lpstr>Summing More Bits</vt:lpstr>
      <vt:lpstr>Summing More Bits</vt:lpstr>
      <vt:lpstr>Summing More Bits</vt:lpstr>
      <vt:lpstr>Summing More Bits</vt:lpstr>
      <vt:lpstr>Summing More Bits</vt:lpstr>
      <vt:lpstr>A Circuit for Addition</vt:lpstr>
      <vt:lpstr>A 2nd Circuit for Addition</vt:lpstr>
      <vt:lpstr>Truth Table of a Full Adder</vt:lpstr>
      <vt:lpstr>From the Truth Table to the Logic Gates</vt:lpstr>
      <vt:lpstr>From the Truth Table to the Logic Gates</vt:lpstr>
      <vt:lpstr>From the Truth Table to the Logic Gates</vt:lpstr>
      <vt:lpstr>PowerPoint Presentation</vt:lpstr>
      <vt:lpstr>From the Truth Table to the Logic Gates</vt:lpstr>
      <vt:lpstr>From the Truth Table to the Logic Gates</vt:lpstr>
      <vt:lpstr>From the Truth Table to the Logic Gates</vt:lpstr>
      <vt:lpstr>From the Truth Table to the Logic Gates</vt:lpstr>
      <vt:lpstr>Final Full-adder Circuit</vt:lpstr>
      <vt:lpstr>Building an Adder</vt:lpstr>
      <vt:lpstr>Practice Time</vt:lpstr>
      <vt:lpstr>RTL Design of an Adder</vt:lpstr>
      <vt:lpstr>RTL Design: Input &amp; Output Ports</vt:lpstr>
      <vt:lpstr>RTL Design: Logic Gates</vt:lpstr>
      <vt:lpstr>RTL Design: Interconnections</vt:lpstr>
      <vt:lpstr>Verify the Design (Simulation)</vt:lpstr>
      <vt:lpstr>RTL Design Complete</vt:lpstr>
      <vt:lpstr>Lab 02 Part 3:  Full Adder running on the Board</vt:lpstr>
      <vt:lpstr>Implement the Circuit  on the Board</vt:lpstr>
      <vt:lpstr>The Hardware manager</vt:lpstr>
      <vt:lpstr>The Hardware manager</vt:lpstr>
      <vt:lpstr>Lab 02 Part 4:  Multi-bit Adder</vt:lpstr>
      <vt:lpstr>RTL Design of a Multi-bit Adder</vt:lpstr>
      <vt:lpstr>RTL Design of a Multi-bit Adder</vt:lpstr>
      <vt:lpstr>RTL Design of a Multi-bit Adder</vt:lpstr>
      <vt:lpstr>Verify the Design (Simulation)</vt:lpstr>
      <vt:lpstr>Authorship &amp; License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Cristiana Bolchini</cp:lastModifiedBy>
  <cp:revision>214</cp:revision>
  <dcterms:created xsi:type="dcterms:W3CDTF">2006-08-16T00:00:00Z</dcterms:created>
  <dcterms:modified xsi:type="dcterms:W3CDTF">2025-06-22T01:24:28Z</dcterms:modified>
</cp:coreProperties>
</file>