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67"/>
  </p:notesMasterIdLst>
  <p:handoutMasterIdLst>
    <p:handoutMasterId r:id="rId68"/>
  </p:handoutMasterIdLst>
  <p:sldIdLst>
    <p:sldId id="306" r:id="rId2"/>
    <p:sldId id="302" r:id="rId3"/>
    <p:sldId id="307" r:id="rId4"/>
    <p:sldId id="308" r:id="rId5"/>
    <p:sldId id="309" r:id="rId6"/>
    <p:sldId id="304" r:id="rId7"/>
    <p:sldId id="305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348" r:id="rId22"/>
    <p:sldId id="273" r:id="rId23"/>
    <p:sldId id="274" r:id="rId24"/>
    <p:sldId id="275" r:id="rId25"/>
    <p:sldId id="276" r:id="rId26"/>
    <p:sldId id="310" r:id="rId27"/>
    <p:sldId id="312" r:id="rId28"/>
    <p:sldId id="313" r:id="rId29"/>
    <p:sldId id="315" r:id="rId30"/>
    <p:sldId id="314" r:id="rId31"/>
    <p:sldId id="318" r:id="rId32"/>
    <p:sldId id="349" r:id="rId33"/>
    <p:sldId id="277" r:id="rId34"/>
    <p:sldId id="279" r:id="rId35"/>
    <p:sldId id="280" r:id="rId36"/>
    <p:sldId id="281" r:id="rId37"/>
    <p:sldId id="282" r:id="rId38"/>
    <p:sldId id="327" r:id="rId39"/>
    <p:sldId id="320" r:id="rId40"/>
    <p:sldId id="331" r:id="rId41"/>
    <p:sldId id="326" r:id="rId42"/>
    <p:sldId id="322" r:id="rId43"/>
    <p:sldId id="332" r:id="rId44"/>
    <p:sldId id="333" r:id="rId45"/>
    <p:sldId id="325" r:id="rId46"/>
    <p:sldId id="342" r:id="rId47"/>
    <p:sldId id="345" r:id="rId48"/>
    <p:sldId id="343" r:id="rId49"/>
    <p:sldId id="344" r:id="rId50"/>
    <p:sldId id="346" r:id="rId51"/>
    <p:sldId id="347" r:id="rId52"/>
    <p:sldId id="283" r:id="rId53"/>
    <p:sldId id="285" r:id="rId54"/>
    <p:sldId id="334" r:id="rId55"/>
    <p:sldId id="337" r:id="rId56"/>
    <p:sldId id="336" r:id="rId57"/>
    <p:sldId id="340" r:id="rId58"/>
    <p:sldId id="341" r:id="rId59"/>
    <p:sldId id="338" r:id="rId60"/>
    <p:sldId id="339" r:id="rId61"/>
    <p:sldId id="335" r:id="rId62"/>
    <p:sldId id="317" r:id="rId63"/>
    <p:sldId id="316" r:id="rId64"/>
    <p:sldId id="311" r:id="rId65"/>
    <p:sldId id="350" r:id="rId66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000"/>
    <a:srgbClr val="10749F"/>
    <a:srgbClr val="3399FF"/>
    <a:srgbClr val="92D0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2785" autoAdjust="0"/>
    <p:restoredTop sz="94660"/>
  </p:normalViewPr>
  <p:slideViewPr>
    <p:cSldViewPr snapToGrid="0">
      <p:cViewPr>
        <p:scale>
          <a:sx n="90" d="100"/>
          <a:sy n="90" d="100"/>
        </p:scale>
        <p:origin x="-1368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D2635-5275-4098-AD60-7790B5E23E07}" type="datetime1">
              <a:rPr lang="it-IT" smtClean="0"/>
              <a:t>05/11/2025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29CCA-B9F4-48B8-9532-2E221268C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072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AF0D9F6-9452-4D4C-AD5C-14B9D27978DA}" type="datetime1">
              <a:rPr lang="it-IT" smtClean="0"/>
              <a:t>05/11/2025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2EE5ADC-1E0F-46C3-9101-8CC723F02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3321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ACEAFE-4362-4C64-9691-F7FB8B814AC3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58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013B18C-E53B-4EA2-832E-F060E6A760FE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37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883" indent="-285725"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898" indent="-228580"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057" indent="-228580"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17" indent="-228580"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376" indent="-228580" defTabSz="74923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536" indent="-228580" defTabSz="74923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694" indent="-228580" defTabSz="74923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854" indent="-228580" defTabSz="74923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r>
              <a:rPr lang="en-US" altLang="en-US" sz="1400">
                <a:latin typeface="Arial" pitchFamily="34" charset="0"/>
              </a:rPr>
              <a:t>Fondamenti di Informatica</a:t>
            </a:r>
          </a:p>
        </p:txBody>
      </p:sp>
      <p:sp>
        <p:nvSpPr>
          <p:cNvPr id="7024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883" indent="-285725"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2898" indent="-228580"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057" indent="-228580"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217" indent="-228580" defTabSz="749233"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376" indent="-228580" defTabSz="74923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536" indent="-228580" defTabSz="74923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8694" indent="-228580" defTabSz="74923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5854" indent="-228580" defTabSz="74923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fld id="{E0AC8F35-108E-4420-9FF3-4196DE55E81E}" type="datetime1">
              <a:rPr lang="it-IT" altLang="en-US" sz="1400" smtClean="0">
                <a:latin typeface="Arial" pitchFamily="34" charset="0"/>
              </a:rPr>
              <a:t>05/11/2025</a:t>
            </a:fld>
            <a:endParaRPr lang="en-US" altLang="en-US" sz="1400">
              <a:latin typeface="Arial" pitchFamily="34" charset="0"/>
            </a:endParaRPr>
          </a:p>
        </p:txBody>
      </p:sp>
      <p:sp>
        <p:nvSpPr>
          <p:cNvPr id="7024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1200150"/>
            <a:ext cx="5759450" cy="3240088"/>
          </a:xfrm>
          <a:ln cap="flat"/>
        </p:spPr>
      </p:sp>
      <p:sp>
        <p:nvSpPr>
          <p:cNvPr id="70246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7DD7C47-3B88-4DFA-B56D-064C1460D3AB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12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7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FD90BE0-A690-4CFB-AD6E-998213B87A20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74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8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2573014-7C70-4A1E-ABB5-E6B21F017F72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49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9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F91DA0B-A78C-4484-A528-15A9E9A85EB7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10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7464241-6F99-4C9E-BDEC-A322B5CC12FA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15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11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0A6FDCC-EAEA-4D52-B74E-E61DA78B343C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47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B6CAAAF-ED5A-452F-8E43-7C54356153DE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40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13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D14C27-4B01-4154-B944-B69209986F7A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30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14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7B3DCE-FDB5-4499-B68A-967626FF84BA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32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15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F04F82-7144-4C89-BD0D-175C55802035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32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16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ED605D-F41D-4EEA-80C5-A1EC6021CB70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16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17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5B44005-DE71-4C2D-A3A7-A7B2EBF9BDEE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68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18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E7FABE-3312-415E-AF92-CD21FFB77270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90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19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C5A7CD-8E34-417E-B072-9DA9F8B03B43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0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20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83E996-C14C-4275-A59E-5712E6CBF93D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40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DB0268-D4FF-3496-E047-A167064E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xmlns="" id="{62771F15-FAB7-941C-CEE3-8F7AFDCA7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xmlns="" id="{3BFE1871-E615-CA00-1ABF-CE853C16C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xmlns="" id="{55264DD2-E311-EC55-EE7F-8263FFD0B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21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A3346E-68F4-449B-923D-BC74DCAF7C99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88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C6FF5E-8A2C-459E-B0C9-A0792809C020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04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23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05E57FA-2B92-4F37-97F1-AF6A8C919DA6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35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24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5576C7-5120-4E12-9BBA-7E6ECF2692AD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659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25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73460C-36D4-4FFB-A499-7DCFFB164CD2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638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F1051F-5C9D-0EF4-7C5E-7F2608D11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xmlns="" id="{5EAFD0AA-D94A-C20D-7884-A1793AE51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xmlns="" id="{05E3CF94-E30C-9161-9758-F3FA1F68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xmlns="" id="{2AD1C635-F438-6CBA-725D-522E59323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B0DF2CE-642B-40CA-8763-CC5BB80F7B6D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824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B8543B-CB2E-4BFD-BC19-A4E2B1544D46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012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4FD3AF-6931-4017-A79B-090820807E11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178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9D3C622-7C75-4963-96EB-288E394E6B8F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049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2B09DB5-8438-47C1-827B-4A0449DBB153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708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37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1783498-21C5-4EA6-B72C-2141CEA3D618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887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6275" y="842963"/>
            <a:ext cx="5964238" cy="3354387"/>
          </a:xfrm>
          <a:ln cap="flat"/>
        </p:spPr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6" y="4564064"/>
            <a:ext cx="5365750" cy="40401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90" tIns="48634" rIns="95590" bIns="48634"/>
          <a:lstStyle/>
          <a:p>
            <a:endParaRPr lang="it-IT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D415D97-2D73-4238-B61F-13CEEB86F471}" type="datetime1">
              <a:rPr lang="it-IT" smtClean="0"/>
              <a:t>05/11/2025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39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CBBAC99-82E6-4B42-BEA9-23DAC7EBC00D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19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40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C9C6EC-F35A-4A8C-81ED-B19A3D49F7D4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19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3422934-8704-B085-3FC7-D4BF8C7EF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xmlns="" id="{76056A32-E5DB-5804-9180-C408A912A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xmlns="" id="{78B97DF1-0F11-95BA-9B6C-45B94CA33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xmlns="" id="{E6F981BE-8B43-7E61-512B-5B0CAB65E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E184CE-41CC-4225-8EDE-46BCAE748515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920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45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F634F2-655C-4F83-9F43-8FD20A7966C2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055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46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2B2F04-3DFA-427E-9416-90D5E654DA80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2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47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165567-676B-4728-BFBC-1ED1B67B58AD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928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48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16EB014-B021-4C43-9520-0A717F72274F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865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49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84B1204-0831-45D3-979E-F9DC24D671D6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2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51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2C9B40-8264-4E11-80DB-ED30EBD9A420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2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90E1E5-CE21-4ED4-A0F2-35D0796B3BB8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54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92ED5F-4216-E99C-6E0D-83767352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xmlns="" id="{7ECF7808-956E-FCB6-EF01-36A244D02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xmlns="" id="{35BD336C-84EA-2B4E-F8EC-294A0D986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xmlns="" id="{2B816B95-8374-D675-D2C1-5EBA785AD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53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609A39-93A0-4B0E-AA90-A54BBFA47315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178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55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F1651B9-682C-4CFF-8891-9D1761F8518E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54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64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305FF8-F57B-4B0A-8294-321528A834CB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494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65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8C7887B-BAC7-4E9F-BDB5-A6BF71E0B62F}" type="datetime1">
              <a:rPr lang="it-IT" smtClean="0"/>
              <a:t>05/11/2025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:a16="http://schemas.microsoft.com/office/drawing/2014/main" xmlns="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xmlns="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9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xmlns="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7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5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0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53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uman_computer_china.mp4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hyperlink" Target="mailto:daniele.jahier@polito.it" TargetMode="External"/><Relationship Id="rId13" Type="http://schemas.openxmlformats.org/officeDocument/2006/relationships/image" Target="../media/image101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gianvito.urgese@polito.it" TargetMode="External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44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hristian.conti@polito.it" TargetMode="External"/><Relationship Id="rId11" Type="http://schemas.openxmlformats.org/officeDocument/2006/relationships/hyperlink" Target="mailto:fabrizio.ferrandi@polimi.it" TargetMode="External"/><Relationship Id="rId5" Type="http://schemas.openxmlformats.org/officeDocument/2006/relationships/image" Target="../media/image99.png"/><Relationship Id="rId15" Type="http://schemas.openxmlformats.org/officeDocument/2006/relationships/image" Target="../media/image103.png"/><Relationship Id="rId10" Type="http://schemas.openxmlformats.org/officeDocument/2006/relationships/hyperlink" Target="mailto:cristiana.bolchini@polimi.it" TargetMode="External"/><Relationship Id="rId4" Type="http://schemas.openxmlformats.org/officeDocument/2006/relationships/image" Target="../media/image98.png"/><Relationship Id="rId9" Type="http://schemas.openxmlformats.org/officeDocument/2006/relationships/hyperlink" Target="mailto:enrico.macii@polito.it" TargetMode="External"/><Relationship Id="rId14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Lecture 2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Fundamentals of Digital Design</a:t>
            </a:r>
            <a:br>
              <a:rPr lang="en-US" dirty="0"/>
            </a:br>
            <a:r>
              <a:rPr lang="en-US" sz="4000" dirty="0"/>
              <a:t>(Part I)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7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Table</a:t>
            </a:r>
            <a:r>
              <a:rPr lang="it-IT" dirty="0"/>
              <a:t> of </a:t>
            </a:r>
            <a:r>
              <a:rPr lang="it-IT" dirty="0" err="1"/>
              <a:t>Contents</a:t>
            </a:r>
            <a:endParaRPr lang="it-IT" dirty="0"/>
          </a:p>
        </p:txBody>
      </p:sp>
      <p:grpSp>
        <p:nvGrpSpPr>
          <p:cNvPr id="14" name="Gruppo 3">
            <a:extLst>
              <a:ext uri="{FF2B5EF4-FFF2-40B4-BE49-F238E27FC236}">
                <a16:creationId xmlns:a16="http://schemas.microsoft.com/office/drawing/2014/main" xmlns="" id="{A78ABE17-757C-B613-3839-93A7D3941E52}"/>
              </a:ext>
            </a:extLst>
          </p:cNvPr>
          <p:cNvGrpSpPr/>
          <p:nvPr/>
        </p:nvGrpSpPr>
        <p:grpSpPr>
          <a:xfrm>
            <a:off x="2319459" y="1088982"/>
            <a:ext cx="4505082" cy="2992962"/>
            <a:chOff x="3540341" y="1874581"/>
            <a:chExt cx="4772336" cy="3990616"/>
          </a:xfrm>
        </p:grpSpPr>
        <p:sp>
          <p:nvSpPr>
            <p:cNvPr id="17" name="Titolo 1">
              <a:extLst>
                <a:ext uri="{FF2B5EF4-FFF2-40B4-BE49-F238E27FC236}">
                  <a16:creationId xmlns:a16="http://schemas.microsoft.com/office/drawing/2014/main" xmlns="" id="{7EFC7DCB-10AD-FF2D-1C43-76C25EB816C7}"/>
                </a:ext>
              </a:extLst>
            </p:cNvPr>
            <p:cNvSpPr txBox="1">
              <a:spLocks/>
            </p:cNvSpPr>
            <p:nvPr/>
          </p:nvSpPr>
          <p:spPr>
            <a:xfrm>
              <a:off x="3597549" y="2078289"/>
              <a:ext cx="896251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21" name="CasellaDiTesto 14">
              <a:extLst>
                <a:ext uri="{FF2B5EF4-FFF2-40B4-BE49-F238E27FC236}">
                  <a16:creationId xmlns:a16="http://schemas.microsoft.com/office/drawing/2014/main" xmlns="" id="{A038A995-FB2E-ACA1-F9D5-E0AAD899B3B0}"/>
                </a:ext>
              </a:extLst>
            </p:cNvPr>
            <p:cNvSpPr txBox="1"/>
            <p:nvPr/>
          </p:nvSpPr>
          <p:spPr>
            <a:xfrm>
              <a:off x="4608213" y="1874581"/>
              <a:ext cx="3600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Inside the Computer's Brain: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An Introduction to Boolean Algebra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CasellaDiTesto 15">
              <a:extLst>
                <a:ext uri="{FF2B5EF4-FFF2-40B4-BE49-F238E27FC236}">
                  <a16:creationId xmlns:a16="http://schemas.microsoft.com/office/drawing/2014/main" xmlns="" id="{FE575A6A-6E06-F462-0228-6E776B88C5EC}"/>
                </a:ext>
              </a:extLst>
            </p:cNvPr>
            <p:cNvSpPr txBox="1"/>
            <p:nvPr/>
          </p:nvSpPr>
          <p:spPr>
            <a:xfrm>
              <a:off x="4248677" y="3007109"/>
              <a:ext cx="4064000" cy="160043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Fundamentals of Digital Logic: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From Logic Operators to Logic Gates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itolo 1">
              <a:extLst>
                <a:ext uri="{FF2B5EF4-FFF2-40B4-BE49-F238E27FC236}">
                  <a16:creationId xmlns:a16="http://schemas.microsoft.com/office/drawing/2014/main" xmlns="" id="{C9AD44E9-7BA0-B4AF-CC8A-9A23DD6B8054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3445298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24" name="CasellaDiTesto 18">
              <a:extLst>
                <a:ext uri="{FF2B5EF4-FFF2-40B4-BE49-F238E27FC236}">
                  <a16:creationId xmlns:a16="http://schemas.microsoft.com/office/drawing/2014/main" xmlns="" id="{530114A7-3A13-8B7C-F12B-4B1033F37E65}"/>
                </a:ext>
              </a:extLst>
            </p:cNvPr>
            <p:cNvSpPr txBox="1"/>
            <p:nvPr/>
          </p:nvSpPr>
          <p:spPr>
            <a:xfrm>
              <a:off x="4608212" y="4634090"/>
              <a:ext cx="3600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The Path from Logic Gates to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Logic Circuits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itolo 1">
              <a:extLst>
                <a:ext uri="{FF2B5EF4-FFF2-40B4-BE49-F238E27FC236}">
                  <a16:creationId xmlns:a16="http://schemas.microsoft.com/office/drawing/2014/main" xmlns="" id="{EB004AEB-12A0-6029-CC53-51421FEFAD0E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4837796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301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 computation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are switches (open/closed).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are high/low (represented as 1/0).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 occur as if signals represent conditions (TRUE/FALSE).</a:t>
            </a:r>
          </a:p>
        </p:txBody>
      </p:sp>
      <p:pic>
        <p:nvPicPr>
          <p:cNvPr id="158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1" y="2457450"/>
            <a:ext cx="2985911" cy="863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8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2171701"/>
            <a:ext cx="2362200" cy="1410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930784" y="3654848"/>
            <a:ext cx="3257943" cy="76174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en-US" sz="1500" dirty="0"/>
              <a:t>This is called an </a:t>
            </a:r>
            <a:r>
              <a:rPr lang="en-US" sz="1500" b="1" dirty="0"/>
              <a:t>AND</a:t>
            </a:r>
            <a:r>
              <a:rPr lang="en-US" sz="1500" dirty="0"/>
              <a:t> operation</a:t>
            </a:r>
            <a:br>
              <a:rPr lang="en-US" sz="1500" dirty="0"/>
            </a:br>
            <a:r>
              <a:rPr lang="en-US" sz="1500" dirty="0"/>
              <a:t>(signal passes if and only if both A and B</a:t>
            </a:r>
            <a:br>
              <a:rPr lang="en-US" sz="1500" dirty="0"/>
            </a:br>
            <a:r>
              <a:rPr lang="en-US" sz="1500" dirty="0"/>
              <a:t>are closed, i.e., 1 or  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7826" y="3657599"/>
            <a:ext cx="3076548" cy="76174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lIns="68580" tIns="34290" rIns="68580" bIns="34290" rtlCol="0">
            <a:spAutoFit/>
          </a:bodyPr>
          <a:lstStyle/>
          <a:p>
            <a:pPr algn="ctr"/>
            <a:r>
              <a:rPr lang="en-US" sz="1500" dirty="0"/>
              <a:t>This is called an </a:t>
            </a:r>
            <a:r>
              <a:rPr lang="en-US" sz="1500" b="1" dirty="0"/>
              <a:t>OR </a:t>
            </a:r>
            <a:r>
              <a:rPr lang="en-US" sz="1500" dirty="0"/>
              <a:t>operation</a:t>
            </a:r>
            <a:br>
              <a:rPr lang="en-US" sz="1500" dirty="0"/>
            </a:br>
            <a:r>
              <a:rPr lang="en-US" sz="1500" dirty="0"/>
              <a:t>(signal passes if at least one between </a:t>
            </a:r>
            <a:br>
              <a:rPr lang="en-US" sz="1500" dirty="0"/>
            </a:br>
            <a:r>
              <a:rPr lang="en-US" sz="1500" dirty="0"/>
              <a:t>A and B is closed, i.e., 1 or  TRUE)</a:t>
            </a:r>
          </a:p>
        </p:txBody>
      </p:sp>
      <p:sp>
        <p:nvSpPr>
          <p:cNvPr id="9" name="Right Arrow 8"/>
          <p:cNvSpPr/>
          <p:nvPr/>
        </p:nvSpPr>
        <p:spPr bwMode="auto">
          <a:xfrm>
            <a:off x="533400" y="2800350"/>
            <a:ext cx="457200" cy="228600"/>
          </a:xfrm>
          <a:prstGeom prst="rightArrow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>
            <a:off x="4114800" y="2800350"/>
            <a:ext cx="457200" cy="228600"/>
          </a:xfrm>
          <a:prstGeom prst="rightArrow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1" name="Right Arrow 10"/>
          <p:cNvSpPr/>
          <p:nvPr/>
        </p:nvSpPr>
        <p:spPr bwMode="auto">
          <a:xfrm>
            <a:off x="5181600" y="2800350"/>
            <a:ext cx="457200" cy="228600"/>
          </a:xfrm>
          <a:prstGeom prst="rightArrow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12" name="Right Arrow 11"/>
          <p:cNvSpPr/>
          <p:nvPr/>
        </p:nvSpPr>
        <p:spPr bwMode="auto">
          <a:xfrm>
            <a:off x="8077200" y="2800350"/>
            <a:ext cx="457200" cy="228600"/>
          </a:xfrm>
          <a:prstGeom prst="rightArrow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11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Digital computation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such an elementary circuit be more efficient than a “richer” circuit (i.e., analog)?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are the keys:</a:t>
            </a:r>
          </a:p>
          <a:p>
            <a:pPr marL="604838" lvl="1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they are simple (just switches…), they can be ultra-fast.</a:t>
            </a:r>
          </a:p>
          <a:p>
            <a:pPr marL="858441" lvl="2" indent="-342900" algn="just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can switch billions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times per second!!!</a:t>
            </a:r>
          </a:p>
          <a:p>
            <a:pPr marL="604838" lvl="1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they are simple, they can be built in ultra-small scale.</a:t>
            </a:r>
          </a:p>
          <a:p>
            <a:pPr marL="858441" lvl="2" indent="-342900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size of one switch &lt; 20 nm  (10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-9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m).</a:t>
            </a:r>
          </a:p>
          <a:p>
            <a:pPr marL="858441" lvl="2" indent="-342900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means that you can fit billions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transistors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single chip !!!</a:t>
            </a:r>
          </a:p>
          <a:p>
            <a:pPr marL="858441" lvl="2" indent="-342900"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59556"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fast and small!</a:t>
            </a:r>
          </a:p>
          <a:p>
            <a:pPr marL="604838" lvl="1" indent="-34290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[and, as a consequence, they need little power to switch...]</a:t>
            </a:r>
          </a:p>
        </p:txBody>
      </p:sp>
    </p:spTree>
    <p:extLst>
      <p:ext uri="{BB962C8B-B14F-4D97-AF65-F5344CB8AC3E}">
        <p14:creationId xmlns:p14="http://schemas.microsoft.com/office/powerpoint/2010/main" val="31247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Logic of the Computers (Boolean)</a:t>
            </a:r>
            <a:endParaRPr lang="en-US" altLang="en-US" dirty="0"/>
          </a:p>
        </p:txBody>
      </p:sp>
      <p:sp>
        <p:nvSpPr>
          <p:cNvPr id="2570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36321"/>
            <a:ext cx="5402580" cy="3070859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1847, George Boole introduced a new type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formal logic, based solely on statements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whose truth or falsity could be unequivocally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verified.</a:t>
            </a:r>
          </a:p>
          <a:p>
            <a:pPr marL="0" indent="0" algn="just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 logic is the formal model at the basis of the calculations that computers do, as it provides the framework for manipulating information expressed in binary format.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345902">
            <a:off x="6370505" y="1353382"/>
            <a:ext cx="1898417" cy="24367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79835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Boolean Algebra</a:t>
            </a:r>
            <a:endParaRPr lang="en-GB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xmlns="" id="{264984CC-11E9-E741-C3ED-29ED30599D7F}"/>
              </a:ext>
            </a:extLst>
          </p:cNvPr>
          <p:cNvSpPr txBox="1"/>
          <p:nvPr/>
        </p:nvSpPr>
        <p:spPr>
          <a:xfrm>
            <a:off x="4002360" y="1005639"/>
            <a:ext cx="4174831" cy="31931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Digital devices elaborate the information expressed in binary format </a:t>
            </a: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(i.e., represented with 0 &amp; 1</a:t>
            </a:r>
            <a:r>
              <a:rPr lang="en-GB" i="1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).</a:t>
            </a:r>
            <a:endParaRPr lang="en-GB" i="1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Digital circuits (or logic circuits)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work thanks to the information carried by the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bits.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ctr" defTabSz="685800">
              <a:spcAft>
                <a:spcPts val="1350"/>
              </a:spcAft>
              <a:buClr>
                <a:srgbClr val="003153"/>
              </a:buClr>
              <a:defRPr/>
            </a:pPr>
            <a:r>
              <a:rPr lang="en-GB" sz="2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Boolean Algebra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It is used to describe the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of a digital circuit.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941B4227-5C7C-C01A-50AB-2DF521C93FC6}"/>
              </a:ext>
            </a:extLst>
          </p:cNvPr>
          <p:cNvSpPr txBox="1"/>
          <p:nvPr/>
        </p:nvSpPr>
        <p:spPr>
          <a:xfrm>
            <a:off x="1219136" y="922020"/>
            <a:ext cx="1574039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DIGITAL SIGNAL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BBCCF042-ED97-597E-44BB-116227B154CB}"/>
              </a:ext>
            </a:extLst>
          </p:cNvPr>
          <p:cNvSpPr txBox="1"/>
          <p:nvPr/>
        </p:nvSpPr>
        <p:spPr>
          <a:xfrm>
            <a:off x="1219136" y="3007753"/>
            <a:ext cx="1638928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rPr>
              <a:t>LOGIC FUNCTION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xmlns="" id="{A84EF2A0-C06E-82C2-0D01-66C2A6E86623}"/>
              </a:ext>
            </a:extLst>
          </p:cNvPr>
          <p:cNvSpPr txBox="1"/>
          <p:nvPr/>
        </p:nvSpPr>
        <p:spPr>
          <a:xfrm>
            <a:off x="854673" y="3631001"/>
            <a:ext cx="2367856" cy="37702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000" i="1" dirty="0">
                <a:solidFill>
                  <a:srgbClr val="002060"/>
                </a:solidFill>
                <a:ea typeface="Inter" panose="02000503000000020004" pitchFamily="2" charset="0"/>
              </a:rPr>
              <a:t>Y </a:t>
            </a:r>
            <a:r>
              <a:rPr lang="en-GB" sz="2000" dirty="0">
                <a:solidFill>
                  <a:srgbClr val="002060"/>
                </a:solidFill>
                <a:ea typeface="Inter" panose="02000503000000020004" pitchFamily="2" charset="0"/>
              </a:rPr>
              <a:t>= </a:t>
            </a:r>
            <a:r>
              <a:rPr lang="en-GB" sz="2000" i="1" dirty="0">
                <a:solidFill>
                  <a:srgbClr val="002060"/>
                </a:solidFill>
                <a:ea typeface="Inter" panose="02000503000000020004" pitchFamily="2" charset="0"/>
              </a:rPr>
              <a:t>f </a:t>
            </a:r>
            <a:r>
              <a:rPr lang="en-GB" sz="2000" dirty="0">
                <a:solidFill>
                  <a:srgbClr val="002060"/>
                </a:solidFill>
                <a:ea typeface="Inter" panose="02000503000000020004" pitchFamily="2" charset="0"/>
              </a:rPr>
              <a:t>(A, B, C, </a:t>
            </a:r>
            <a:r>
              <a:rPr lang="en-GB" sz="2000" dirty="0" smtClean="0">
                <a:solidFill>
                  <a:srgbClr val="002060"/>
                </a:solidFill>
                <a:ea typeface="Inter" panose="02000503000000020004" pitchFamily="2" charset="0"/>
              </a:rPr>
              <a:t>…)</a:t>
            </a:r>
            <a:endParaRPr lang="en-GB" sz="2000" dirty="0">
              <a:solidFill>
                <a:srgbClr val="002060"/>
              </a:solidFill>
              <a:ea typeface="Inter" panose="02000503000000020004" pitchFamily="2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F275F8CF-D226-AE7B-E8DA-4295C5744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56" y="1464824"/>
            <a:ext cx="274320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75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:a16="http://schemas.microsoft.com/office/drawing/2014/main" xmlns="" id="{63BC5591-8618-903E-FF27-1B8DB27A9293}"/>
              </a:ext>
            </a:extLst>
          </p:cNvPr>
          <p:cNvSpPr/>
          <p:nvPr/>
        </p:nvSpPr>
        <p:spPr>
          <a:xfrm>
            <a:off x="2423160" y="533400"/>
            <a:ext cx="5928360" cy="4076700"/>
          </a:xfrm>
          <a:prstGeom prst="rect">
            <a:avLst/>
          </a:prstGeom>
          <a:solidFill>
            <a:srgbClr val="F1E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Operators</a:t>
            </a:r>
            <a:endParaRPr lang="en-US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FC2F8B96-060E-BA54-13A6-56316AA85C36}"/>
              </a:ext>
            </a:extLst>
          </p:cNvPr>
          <p:cNvSpPr txBox="1"/>
          <p:nvPr/>
        </p:nvSpPr>
        <p:spPr>
          <a:xfrm>
            <a:off x="3050534" y="980288"/>
            <a:ext cx="4607513" cy="318292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Boolean algebra utilizes binary variables:</a:t>
            </a:r>
          </a:p>
          <a:p>
            <a:pPr marL="557213" lvl="1" indent="-214313" algn="just">
              <a:spcAft>
                <a:spcPts val="1350"/>
              </a:spcAft>
              <a:buClr>
                <a:srgbClr val="498621"/>
              </a:buClr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Binary variables can only assume 2 values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0 &amp; </a:t>
            </a:r>
            <a:r>
              <a:rPr lang="en-GB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1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.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Boolean algebra is based on three fundamental operators:</a:t>
            </a:r>
          </a:p>
          <a:p>
            <a:pPr marL="600075" lvl="1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Logic product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(AND operator</a:t>
            </a:r>
            <a:r>
              <a:rPr lang="en-GB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).</a:t>
            </a:r>
            <a:endParaRPr lang="en-GB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600075" lvl="1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Logic sum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(OR operator</a:t>
            </a:r>
            <a:r>
              <a:rPr lang="en-GB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).</a:t>
            </a:r>
            <a:endParaRPr lang="en-GB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600075" lvl="1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Complementation </a:t>
            </a: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(NOT operator</a:t>
            </a:r>
            <a:r>
              <a:rPr lang="en-GB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).</a:t>
            </a:r>
            <a:endParaRPr lang="en-GB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7309D6CC-B322-3807-1437-C9A9196A9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67" y="644943"/>
            <a:ext cx="1677553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67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xmlns="" id="{1E2E3DDC-D058-049D-8418-31C02A3A2B37}"/>
              </a:ext>
            </a:extLst>
          </p:cNvPr>
          <p:cNvGrpSpPr/>
          <p:nvPr/>
        </p:nvGrpSpPr>
        <p:grpSpPr>
          <a:xfrm>
            <a:off x="2423160" y="533400"/>
            <a:ext cx="5928360" cy="4076700"/>
            <a:chOff x="1066800" y="711200"/>
            <a:chExt cx="7904480" cy="5435600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xmlns="" id="{63BC5591-8618-903E-FF27-1B8DB27A9293}"/>
                </a:ext>
              </a:extLst>
            </p:cNvPr>
            <p:cNvSpPr/>
            <p:nvPr/>
          </p:nvSpPr>
          <p:spPr>
            <a:xfrm>
              <a:off x="1066800" y="711200"/>
              <a:ext cx="7904480" cy="5435600"/>
            </a:xfrm>
            <a:prstGeom prst="rect">
              <a:avLst/>
            </a:prstGeom>
            <a:solidFill>
              <a:srgbClr val="F1E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xmlns="" id="{18D586F0-BBAB-BBB3-FAAF-EA43CE84FF51}"/>
                </a:ext>
              </a:extLst>
            </p:cNvPr>
            <p:cNvSpPr txBox="1"/>
            <p:nvPr/>
          </p:nvSpPr>
          <p:spPr>
            <a:xfrm>
              <a:off x="1066800" y="805093"/>
              <a:ext cx="790448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sz="3000" spc="375" dirty="0">
                <a:solidFill>
                  <a:srgbClr val="003153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endParaRPr>
            </a:p>
          </p:txBody>
        </p:sp>
      </p:grp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Functions and Truth Tables</a:t>
            </a:r>
            <a:endParaRPr lang="en-US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FC2F8B96-060E-BA54-13A6-56316AA85C36}"/>
              </a:ext>
            </a:extLst>
          </p:cNvPr>
          <p:cNvSpPr txBox="1"/>
          <p:nvPr/>
        </p:nvSpPr>
        <p:spPr>
          <a:xfrm>
            <a:off x="3466961" y="746891"/>
            <a:ext cx="4232787" cy="364971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Logic (or Boolean) functions are obtained by combining Boolean operators and binary variables: 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Such functions can be represented through </a:t>
            </a:r>
          </a:p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Truth Tables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truth table specifies the value of function </a:t>
            </a: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Y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for any possible combination of </a:t>
            </a: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N 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inputs (binary variables). Thus, the table has 2</a:t>
            </a:r>
            <a:r>
              <a:rPr lang="en-GB" baseline="30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N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rows.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xmlns="" id="{49914A10-291B-FC16-7985-EDA15B9093E1}"/>
              </a:ext>
            </a:extLst>
          </p:cNvPr>
          <p:cNvSpPr txBox="1"/>
          <p:nvPr/>
        </p:nvSpPr>
        <p:spPr>
          <a:xfrm>
            <a:off x="4203412" y="1763086"/>
            <a:ext cx="2367856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i="1" dirty="0">
                <a:solidFill>
                  <a:srgbClr val="002060"/>
                </a:solidFill>
                <a:ea typeface="Inter" panose="02000503000000020004" pitchFamily="2" charset="0"/>
              </a:rPr>
              <a:t>Y </a:t>
            </a:r>
            <a:r>
              <a:rPr lang="en-GB" dirty="0">
                <a:solidFill>
                  <a:srgbClr val="002060"/>
                </a:solidFill>
                <a:ea typeface="Inter" panose="02000503000000020004" pitchFamily="2" charset="0"/>
              </a:rPr>
              <a:t>= </a:t>
            </a:r>
            <a:r>
              <a:rPr lang="en-GB" i="1" dirty="0">
                <a:solidFill>
                  <a:srgbClr val="002060"/>
                </a:solidFill>
                <a:ea typeface="Inter" panose="02000503000000020004" pitchFamily="2" charset="0"/>
              </a:rPr>
              <a:t>f </a:t>
            </a:r>
            <a:r>
              <a:rPr lang="en-GB" dirty="0">
                <a:solidFill>
                  <a:srgbClr val="002060"/>
                </a:solidFill>
                <a:ea typeface="Inter" panose="02000503000000020004" pitchFamily="2" charset="0"/>
              </a:rPr>
              <a:t>(A, B, C, </a:t>
            </a:r>
            <a:r>
              <a:rPr lang="en-GB" dirty="0" smtClean="0">
                <a:solidFill>
                  <a:srgbClr val="002060"/>
                </a:solidFill>
                <a:ea typeface="Inter" panose="02000503000000020004" pitchFamily="2" charset="0"/>
              </a:rPr>
              <a:t>…)</a:t>
            </a:r>
            <a:endParaRPr lang="en-GB" dirty="0">
              <a:solidFill>
                <a:srgbClr val="002060"/>
              </a:solidFill>
              <a:ea typeface="Inter" panose="02000503000000020004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105A897F-F197-668C-58B4-B1EA519997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37" b="23755"/>
          <a:stretch/>
        </p:blipFill>
        <p:spPr bwMode="auto">
          <a:xfrm>
            <a:off x="483733" y="1363931"/>
            <a:ext cx="2650331" cy="241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999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Operators: NOT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xmlns="" id="{9691DE1F-23FE-A382-4371-6C0817652EA2}"/>
                  </a:ext>
                </a:extLst>
              </p:cNvPr>
              <p:cNvSpPr txBox="1"/>
              <p:nvPr/>
            </p:nvSpPr>
            <p:spPr>
              <a:xfrm>
                <a:off x="3708914" y="1349202"/>
                <a:ext cx="3779520" cy="2551211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500" i="1" dirty="0" smtClean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“If it is </a:t>
                </a:r>
                <a:r>
                  <a:rPr lang="en-GB" sz="1500" b="1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NOT</a:t>
                </a:r>
                <a:r>
                  <a:rPr lang="en-GB" sz="1500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cold outside, I’ll go to school with my </a:t>
                </a:r>
                <a:r>
                  <a:rPr lang="en-GB" sz="1500" i="1" dirty="0" smtClean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bike.”</a:t>
                </a:r>
                <a:endParaRPr lang="en-GB" sz="15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𝑓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(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en-GB" sz="15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𝐼𝑡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𝑐𝑜𝑙𝑑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𝐼𝑡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𝑵𝑶𝑻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𝑐𝑜𝑙𝑑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Inter" panose="02000503000000020004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→</m:t>
                                  </m:r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𝑙𝑙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𝑔𝑜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𝑠𝑐h𝑜𝑜𝑙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𝑏𝑦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𝑏𝑖𝑘𝑒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𝐼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𝑤𝑖𝑙𝑙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𝑵𝑶𝑻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𝑔𝑜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𝑠𝑐h𝑜𝑜𝑙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𝑏𝑦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𝑏𝑖𝑘𝑒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691DE1F-23FE-A382-4371-6C0817652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914" y="1349202"/>
                <a:ext cx="3779520" cy="2551211"/>
              </a:xfrm>
              <a:prstGeom prst="rect">
                <a:avLst/>
              </a:prstGeom>
              <a:blipFill rotWithShape="1">
                <a:blip r:embed="rId3"/>
                <a:stretch>
                  <a:fillRect l="-1129" t="-955" r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xmlns="" id="{5CFD55EB-4AFD-BD0A-C9B0-6A0CE86A5040}"/>
                  </a:ext>
                </a:extLst>
              </p:cNvPr>
              <p:cNvSpPr txBox="1"/>
              <p:nvPr/>
            </p:nvSpPr>
            <p:spPr>
              <a:xfrm>
                <a:off x="990600" y="3340787"/>
                <a:ext cx="2367856" cy="526363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i="1" dirty="0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5CFD55EB-4AFD-BD0A-C9B0-6A0CE86A5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340787"/>
                <a:ext cx="2367856" cy="5263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EACCFDBD-1272-78F2-0B90-642EDAAA9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0" t="31012" r="12984" b="31839"/>
          <a:stretch/>
        </p:blipFill>
        <p:spPr bwMode="auto">
          <a:xfrm>
            <a:off x="1510499" y="1450444"/>
            <a:ext cx="1328058" cy="170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38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Operators: NOT</a:t>
            </a:r>
            <a:endParaRPr lang="it-IT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7DB5C460-8FB4-0590-812A-642945090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633" y="2690809"/>
            <a:ext cx="4049999" cy="145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xmlns="" id="{9C07425C-97F8-16C8-E90A-39AFE3C61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634" y="666750"/>
            <a:ext cx="4469800" cy="202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xmlns="" id="{EACCFDBD-1272-78F2-0B90-642EDAAA9D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50" t="31012" r="12984" b="31839"/>
          <a:stretch/>
        </p:blipFill>
        <p:spPr bwMode="auto">
          <a:xfrm>
            <a:off x="1510499" y="1450444"/>
            <a:ext cx="1328058" cy="1709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11">
                <a:extLst>
                  <a:ext uri="{FF2B5EF4-FFF2-40B4-BE49-F238E27FC236}">
                    <a16:creationId xmlns:a16="http://schemas.microsoft.com/office/drawing/2014/main" xmlns="" id="{DF065DC6-5159-36AC-60AB-B268ECBDA26F}"/>
                  </a:ext>
                </a:extLst>
              </p:cNvPr>
              <p:cNvSpPr txBox="1"/>
              <p:nvPr/>
            </p:nvSpPr>
            <p:spPr>
              <a:xfrm>
                <a:off x="990600" y="3340787"/>
                <a:ext cx="2367856" cy="526363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i="1" dirty="0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asellaDiTesto 11">
                <a:extLst>
                  <a:ext uri="{FF2B5EF4-FFF2-40B4-BE49-F238E27FC236}">
                    <a16:creationId xmlns:a16="http://schemas.microsoft.com/office/drawing/2014/main" id="{DF065DC6-5159-36AC-60AB-B268ECBDA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340787"/>
                <a:ext cx="2367856" cy="5263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9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Operators: AND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xmlns="" id="{D178A238-0651-43C6-8D14-11E344FAD331}"/>
                  </a:ext>
                </a:extLst>
              </p:cNvPr>
              <p:cNvSpPr txBox="1"/>
              <p:nvPr/>
            </p:nvSpPr>
            <p:spPr>
              <a:xfrm>
                <a:off x="914400" y="969709"/>
                <a:ext cx="4343400" cy="2926122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500" i="1" dirty="0" smtClean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“If it is warm outside </a:t>
                </a:r>
                <a:r>
                  <a:rPr lang="en-GB" sz="1500" b="1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AND</a:t>
                </a:r>
                <a:r>
                  <a:rPr lang="en-GB" sz="1500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it is sunny, I'll go to school with my </a:t>
                </a:r>
                <a:r>
                  <a:rPr lang="en-GB" sz="1500" i="1" dirty="0" smtClean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bike.”</a:t>
                </a:r>
                <a:endParaRPr lang="en-GB" sz="15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𝑓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(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, 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GB" sz="1500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en-GB" sz="15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𝐼𝑡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𝑤𝑎𝑟𝑚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𝐼𝑡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𝑛𝑜𝑡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𝑤𝑎𝑟𝑚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𝐼𝑡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𝑠𝑢𝑛𝑛𝑦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𝐼𝑡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𝑛𝑜𝑡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𝑠𝑢𝑛𝑛𝑦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1 </m:t>
                              </m:r>
                              <m:sSup>
                                <m:sSupPr>
                                  <m:ctrlP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Inter" panose="02000503000000020004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→</m:t>
                                  </m:r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𝑙𝑙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𝑔𝑜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𝑠𝑐h𝑜𝑜𝑙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𝑏𝑦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𝑏𝑖𝑘𝑒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𝐼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𝑤𝑖𝑙𝑙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𝑛𝑜𝑡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𝑔𝑜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𝑠𝑐h𝑜𝑜𝑙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𝑏𝑦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𝑏𝑖𝑘𝑒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178A238-0651-43C6-8D14-11E344FAD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969709"/>
                <a:ext cx="4343400" cy="2926122"/>
              </a:xfrm>
              <a:prstGeom prst="rect">
                <a:avLst/>
              </a:prstGeom>
              <a:blipFill rotWithShape="1">
                <a:blip r:embed="rId3"/>
                <a:stretch>
                  <a:fillRect l="-982" t="-833" r="-1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xmlns="" id="{217F866D-B53E-7B8A-52D6-EF84EC99EE2F}"/>
                  </a:ext>
                </a:extLst>
              </p:cNvPr>
              <p:cNvSpPr txBox="1"/>
              <p:nvPr/>
            </p:nvSpPr>
            <p:spPr>
              <a:xfrm>
                <a:off x="5475021" y="3900229"/>
                <a:ext cx="23678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217F866D-B53E-7B8A-52D6-EF84EC99E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021" y="3900229"/>
                <a:ext cx="2367856" cy="525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xmlns="" id="{3C9E8176-C478-C5B9-C58C-1281C3C7E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0" r="1747" b="19819"/>
          <a:stretch/>
        </p:blipFill>
        <p:spPr bwMode="auto">
          <a:xfrm>
            <a:off x="5360438" y="1200151"/>
            <a:ext cx="2597024" cy="275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5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Operators: AND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xmlns="" id="{D178A238-0651-43C6-8D14-11E344FAD331}"/>
                  </a:ext>
                </a:extLst>
              </p:cNvPr>
              <p:cNvSpPr txBox="1"/>
              <p:nvPr/>
            </p:nvSpPr>
            <p:spPr>
              <a:xfrm>
                <a:off x="1189900" y="1200150"/>
                <a:ext cx="3779520" cy="134088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5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The condition </a:t>
                </a:r>
                <a:r>
                  <a:rPr lang="en-GB" sz="1500" i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Y </a:t>
                </a: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is verified only if both </a:t>
                </a:r>
                <a:r>
                  <a:rPr lang="en-GB" sz="1500" i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A &amp; B </a:t>
                </a: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are true.</a:t>
                </a:r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1 </m:t>
                              </m:r>
                              <m:sSup>
                                <m:sSupPr>
                                  <m:ctrlP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Inter" panose="02000503000000020004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→</m:t>
                                  </m:r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𝑙𝑙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𝑔𝑜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𝑠𝑐h𝑜𝑜𝑙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𝑏𝑦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𝑏𝑖𝑘𝑒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𝐼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𝑤𝑖𝑙𝑙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𝑛𝑜𝑡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𝑔𝑜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𝑠𝑐h𝑜𝑜𝑙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𝑏𝑦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𝑏𝑖𝑘𝑒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178A238-0651-43C6-8D14-11E344FAD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00" y="1200150"/>
                <a:ext cx="3779520" cy="1340880"/>
              </a:xfrm>
              <a:prstGeom prst="rect">
                <a:avLst/>
              </a:prstGeom>
              <a:blipFill rotWithShape="1">
                <a:blip r:embed="rId3"/>
                <a:stretch>
                  <a:fillRect l="-1129" t="-1818" r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xmlns="" id="{D96F0E99-ECBF-0978-652B-28B5DDBA98CA}"/>
                  </a:ext>
                </a:extLst>
              </p:cNvPr>
              <p:cNvSpPr txBox="1"/>
              <p:nvPr/>
            </p:nvSpPr>
            <p:spPr>
              <a:xfrm>
                <a:off x="1895732" y="2579365"/>
                <a:ext cx="23678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96F0E99-ECBF-0978-652B-28B5DDBA9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732" y="2579365"/>
                <a:ext cx="2367856" cy="52578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>
            <a:extLst>
              <a:ext uri="{FF2B5EF4-FFF2-40B4-BE49-F238E27FC236}">
                <a16:creationId xmlns:a16="http://schemas.microsoft.com/office/drawing/2014/main" xmlns="" id="{258637F3-8F49-A462-6A28-64E5E1A2A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754" y="2518758"/>
            <a:ext cx="1271588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xmlns="" id="{7EEF683D-6F17-BBC4-408E-C4882D8951C1}"/>
                  </a:ext>
                </a:extLst>
              </p:cNvPr>
              <p:cNvSpPr txBox="1"/>
              <p:nvPr/>
            </p:nvSpPr>
            <p:spPr>
              <a:xfrm>
                <a:off x="5475021" y="3900229"/>
                <a:ext cx="23678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7EEF683D-6F17-BBC4-408E-C4882D895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021" y="3900229"/>
                <a:ext cx="2367856" cy="525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>
            <a:extLst>
              <a:ext uri="{FF2B5EF4-FFF2-40B4-BE49-F238E27FC236}">
                <a16:creationId xmlns:a16="http://schemas.microsoft.com/office/drawing/2014/main" xmlns="" id="{8680E547-E398-205C-1CB1-39148A7D39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0" r="1747" b="19819"/>
          <a:stretch/>
        </p:blipFill>
        <p:spPr bwMode="auto">
          <a:xfrm>
            <a:off x="5360438" y="1200151"/>
            <a:ext cx="2597024" cy="275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7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Operators: AND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83B0E60-4A3D-7876-417A-A70A781A1EBB}"/>
              </a:ext>
            </a:extLst>
          </p:cNvPr>
          <p:cNvGrpSpPr/>
          <p:nvPr/>
        </p:nvGrpSpPr>
        <p:grpSpPr>
          <a:xfrm>
            <a:off x="1145381" y="476250"/>
            <a:ext cx="4036219" cy="4191000"/>
            <a:chOff x="1145381" y="590550"/>
            <a:chExt cx="4036219" cy="4191000"/>
          </a:xfrm>
        </p:grpSpPr>
        <p:pic>
          <p:nvPicPr>
            <p:cNvPr id="6146" name="Picture 2">
              <a:extLst>
                <a:ext uri="{FF2B5EF4-FFF2-40B4-BE49-F238E27FC236}">
                  <a16:creationId xmlns:a16="http://schemas.microsoft.com/office/drawing/2014/main" xmlns="" id="{459F3772-DE18-CDD6-DB02-0FAFA7C582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381" y="590550"/>
              <a:ext cx="3821906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xmlns="" id="{C748DE3C-8076-61F8-79FC-8B678A68AF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381" y="1504950"/>
              <a:ext cx="3821906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0" name="Picture 6">
              <a:extLst>
                <a:ext uri="{FF2B5EF4-FFF2-40B4-BE49-F238E27FC236}">
                  <a16:creationId xmlns:a16="http://schemas.microsoft.com/office/drawing/2014/main" xmlns="" id="{D02D76C0-5A45-E15F-41DC-4715C37F0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381" y="2419350"/>
              <a:ext cx="3821906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2" name="Picture 8">
              <a:extLst>
                <a:ext uri="{FF2B5EF4-FFF2-40B4-BE49-F238E27FC236}">
                  <a16:creationId xmlns:a16="http://schemas.microsoft.com/office/drawing/2014/main" xmlns="" id="{EFDD01D5-8BFB-ED60-D5ED-D2E8618DDD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381" y="3409950"/>
              <a:ext cx="4036219" cy="1371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xmlns="" id="{8680E547-E398-205C-1CB1-39148A7D39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0" r="1747" b="19819"/>
          <a:stretch/>
        </p:blipFill>
        <p:spPr bwMode="auto">
          <a:xfrm>
            <a:off x="5360438" y="1200150"/>
            <a:ext cx="2597024" cy="275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6">
                <a:extLst>
                  <a:ext uri="{FF2B5EF4-FFF2-40B4-BE49-F238E27FC236}">
                    <a16:creationId xmlns:a16="http://schemas.microsoft.com/office/drawing/2014/main" xmlns="" id="{D22A2B7A-3F0B-D51D-1D2B-E01B597BE521}"/>
                  </a:ext>
                </a:extLst>
              </p:cNvPr>
              <p:cNvSpPr txBox="1"/>
              <p:nvPr/>
            </p:nvSpPr>
            <p:spPr>
              <a:xfrm>
                <a:off x="5475021" y="3900229"/>
                <a:ext cx="23678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CasellaDiTesto 6">
                <a:extLst>
                  <a:ext uri="{FF2B5EF4-FFF2-40B4-BE49-F238E27FC236}">
                    <a16:creationId xmlns:a16="http://schemas.microsoft.com/office/drawing/2014/main" id="{D22A2B7A-3F0B-D51D-1D2B-E01B597BE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021" y="3900229"/>
                <a:ext cx="2367856" cy="5257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86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Operators: OR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xmlns="" id="{9691DE1F-23FE-A382-4371-6C0817652EA2}"/>
                  </a:ext>
                </a:extLst>
              </p:cNvPr>
              <p:cNvSpPr txBox="1"/>
              <p:nvPr/>
            </p:nvSpPr>
            <p:spPr>
              <a:xfrm>
                <a:off x="4191000" y="969709"/>
                <a:ext cx="3779520" cy="283699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500" i="1" dirty="0" smtClean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“If in TV there </a:t>
                </a:r>
                <a:r>
                  <a:rPr lang="en-GB" sz="1500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is a movie </a:t>
                </a:r>
                <a:r>
                  <a:rPr lang="en-GB" sz="1500" b="1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OR</a:t>
                </a:r>
                <a:r>
                  <a:rPr lang="en-GB" sz="1500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a cartoon, I'll watch television.”</a:t>
                </a:r>
              </a:p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𝑓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(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, 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en-GB" sz="1500" i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𝐼𝑛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𝑇𝑉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𝑡h𝑒𝑟𝑒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𝑚𝑜𝑣𝑖𝑒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𝐼𝑛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𝑇𝑉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𝑡h𝑒𝑟𝑒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𝑛𝑜𝑡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𝑚𝑜𝑣𝑖𝑒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𝐼𝑛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𝑇𝑉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𝑡h𝑒𝑟𝑒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𝑐𝑎𝑟𝑡𝑜𝑜𝑛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𝐼𝑛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𝑇𝑉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𝑡h𝑒𝑟𝑒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𝑖𝑠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𝑛𝑜𝑡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𝑐𝑎𝑟𝑡𝑜𝑜𝑛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1 </m:t>
                              </m:r>
                              <m:sSup>
                                <m:sSupPr>
                                  <m:ctrlP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Inter" panose="02000503000000020004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→</m:t>
                                  </m:r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𝑙𝑙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𝑤𝑎𝑡𝑐h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𝑡𝑒𝑙𝑒𝑣𝑖𝑠𝑖𝑜𝑛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𝑤𝑖𝑙𝑙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𝑛𝑜𝑡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𝑤𝑎𝑡𝑐h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𝑡𝑒𝑙𝑒𝑣𝑖𝑠𝑖𝑜𝑛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691DE1F-23FE-A382-4371-6C0817652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969709"/>
                <a:ext cx="3779520" cy="2836995"/>
              </a:xfrm>
              <a:prstGeom prst="rect">
                <a:avLst/>
              </a:prstGeom>
              <a:blipFill rotWithShape="1">
                <a:blip r:embed="rId3"/>
                <a:stretch>
                  <a:fillRect l="-1290" t="-860" r="-1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xmlns="" id="{5CFD55EB-4AFD-BD0A-C9B0-6A0CE86A5040}"/>
                  </a:ext>
                </a:extLst>
              </p:cNvPr>
              <p:cNvSpPr txBox="1"/>
              <p:nvPr/>
            </p:nvSpPr>
            <p:spPr>
              <a:xfrm>
                <a:off x="899666" y="3798565"/>
                <a:ext cx="23678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CFD55EB-4AFD-BD0A-C9B0-6A0CE86A5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66" y="3798565"/>
                <a:ext cx="2367856" cy="525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B308CE68-27CE-6231-BE5F-5DC8047B44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47" b="20957"/>
          <a:stretch/>
        </p:blipFill>
        <p:spPr bwMode="auto">
          <a:xfrm>
            <a:off x="762000" y="1130852"/>
            <a:ext cx="2643188" cy="266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64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Operators: OR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xmlns="" id="{0D28E5AE-CD13-B918-B21B-8208C9F2E0E1}"/>
                  </a:ext>
                </a:extLst>
              </p:cNvPr>
              <p:cNvSpPr txBox="1"/>
              <p:nvPr/>
            </p:nvSpPr>
            <p:spPr>
              <a:xfrm>
                <a:off x="4114800" y="1216488"/>
                <a:ext cx="3779520" cy="1288366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The condition </a:t>
                </a:r>
                <a:r>
                  <a:rPr lang="en-GB" sz="1500" i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Y</a:t>
                </a: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is verified if </a:t>
                </a:r>
                <a:r>
                  <a:rPr lang="en-GB" sz="15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either </a:t>
                </a:r>
                <a:r>
                  <a:rPr lang="en-GB" sz="1500" i="1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A </a:t>
                </a:r>
                <a:r>
                  <a:rPr lang="en-GB" sz="1500" i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or B </a:t>
                </a:r>
                <a:r>
                  <a:rPr lang="en-GB" sz="1500" i="1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(or both) </a:t>
                </a:r>
                <a:r>
                  <a:rPr lang="en-GB" sz="15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is </a:t>
                </a: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true.</a:t>
                </a:r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1 </m:t>
                              </m:r>
                              <m:sSup>
                                <m:sSupPr>
                                  <m:ctrlP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/>
                                      <a:ea typeface="Inter" panose="02000503000000020004" pitchFamily="2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→</m:t>
                                  </m:r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en-GB" sz="15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Inter" panose="02000503000000020004" pitchFamily="2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𝑙𝑙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𝑤𝑎𝑡𝑐h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𝑡𝑒𝑙𝑒𝑣𝑖𝑠𝑖𝑜𝑛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𝐼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𝑤𝑖𝑙𝑙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𝑛𝑜𝑡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𝑤𝑎𝑡𝑐h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𝑡𝑒𝑙𝑒𝑣𝑖𝑠𝑖𝑜𝑛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D28E5AE-CD13-B918-B21B-8208C9F2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1216488"/>
                <a:ext cx="3779520" cy="1288366"/>
              </a:xfrm>
              <a:prstGeom prst="rect">
                <a:avLst/>
              </a:prstGeom>
              <a:blipFill rotWithShape="1">
                <a:blip r:embed="rId3"/>
                <a:stretch>
                  <a:fillRect l="-1129" t="-1896" r="-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xmlns="" id="{631C1B7E-8914-5C1D-C366-0C90F99A7109}"/>
                  </a:ext>
                </a:extLst>
              </p:cNvPr>
              <p:cNvSpPr txBox="1"/>
              <p:nvPr/>
            </p:nvSpPr>
            <p:spPr>
              <a:xfrm>
                <a:off x="899666" y="3798565"/>
                <a:ext cx="23678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631C1B7E-8914-5C1D-C366-0C90F99A7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66" y="3798565"/>
                <a:ext cx="2367856" cy="525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5F9F45E4-7E22-A618-C363-979CB5640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47" b="20957"/>
          <a:stretch/>
        </p:blipFill>
        <p:spPr bwMode="auto">
          <a:xfrm>
            <a:off x="762000" y="1130852"/>
            <a:ext cx="2643188" cy="266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xmlns="" id="{F1AC2A57-28B6-3EA6-870F-E7ED8717CC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9" b="15169"/>
          <a:stretch/>
        </p:blipFill>
        <p:spPr bwMode="auto">
          <a:xfrm>
            <a:off x="5385785" y="2815929"/>
            <a:ext cx="1264444" cy="1356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xmlns="" id="{070C1DD0-874A-E51E-31F2-71396DACFE57}"/>
                  </a:ext>
                </a:extLst>
              </p:cNvPr>
              <p:cNvSpPr txBox="1"/>
              <p:nvPr/>
            </p:nvSpPr>
            <p:spPr>
              <a:xfrm>
                <a:off x="5476973" y="2517006"/>
                <a:ext cx="11732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GB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70C1DD0-874A-E51E-31F2-71396DAC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973" y="2517006"/>
                <a:ext cx="1173256" cy="52578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525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Logic Operators: OR</a:t>
            </a:r>
            <a:endParaRPr lang="it-IT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xmlns="" id="{2A6283C6-C790-F4BA-E695-B77A4BF56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038" y="895350"/>
            <a:ext cx="2386013" cy="157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xmlns="" id="{03820D8F-1B2F-21B2-37F1-DAC9B037D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039" y="2641952"/>
            <a:ext cx="2621756" cy="146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xmlns="" id="{CB249AF2-1182-DADE-7BEA-299F0F33F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844" y="954361"/>
            <a:ext cx="2621756" cy="167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xmlns="" id="{4A6910A0-C2C6-8B5E-D2C4-5D7762145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611" y="2641952"/>
            <a:ext cx="2621756" cy="146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8">
                <a:extLst>
                  <a:ext uri="{FF2B5EF4-FFF2-40B4-BE49-F238E27FC236}">
                    <a16:creationId xmlns:a16="http://schemas.microsoft.com/office/drawing/2014/main" xmlns="" id="{631C1B7E-8914-5C1D-C366-0C90F99A7109}"/>
                  </a:ext>
                </a:extLst>
              </p:cNvPr>
              <p:cNvSpPr txBox="1"/>
              <p:nvPr/>
            </p:nvSpPr>
            <p:spPr>
              <a:xfrm>
                <a:off x="899666" y="3798565"/>
                <a:ext cx="23678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CasellaDiTesto 8">
                <a:extLst>
                  <a:ext uri="{FF2B5EF4-FFF2-40B4-BE49-F238E27FC236}">
                    <a16:creationId xmlns:a16="http://schemas.microsoft.com/office/drawing/2014/main" id="{631C1B7E-8914-5C1D-C366-0C90F99A7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66" y="3798565"/>
                <a:ext cx="2367856" cy="525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2">
            <a:extLst>
              <a:ext uri="{FF2B5EF4-FFF2-40B4-BE49-F238E27FC236}">
                <a16:creationId xmlns:a16="http://schemas.microsoft.com/office/drawing/2014/main" xmlns="" id="{5F9F45E4-7E22-A618-C363-979CB56402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47" b="20957"/>
          <a:stretch/>
        </p:blipFill>
        <p:spPr bwMode="auto">
          <a:xfrm>
            <a:off x="762000" y="1130852"/>
            <a:ext cx="2643188" cy="266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10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xmlns="" id="{1E2E3DDC-D058-049D-8418-31C02A3A2B37}"/>
              </a:ext>
            </a:extLst>
          </p:cNvPr>
          <p:cNvGrpSpPr/>
          <p:nvPr/>
        </p:nvGrpSpPr>
        <p:grpSpPr>
          <a:xfrm>
            <a:off x="2423160" y="533400"/>
            <a:ext cx="5928360" cy="4076700"/>
            <a:chOff x="1066800" y="711200"/>
            <a:chExt cx="7904480" cy="5435600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xmlns="" id="{63BC5591-8618-903E-FF27-1B8DB27A9293}"/>
                </a:ext>
              </a:extLst>
            </p:cNvPr>
            <p:cNvSpPr/>
            <p:nvPr/>
          </p:nvSpPr>
          <p:spPr>
            <a:xfrm>
              <a:off x="1066800" y="711200"/>
              <a:ext cx="7904480" cy="5435600"/>
            </a:xfrm>
            <a:prstGeom prst="rect">
              <a:avLst/>
            </a:prstGeom>
            <a:solidFill>
              <a:srgbClr val="F1E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xmlns="" id="{18D586F0-BBAB-BBB3-FAAF-EA43CE84FF51}"/>
                </a:ext>
              </a:extLst>
            </p:cNvPr>
            <p:cNvSpPr txBox="1"/>
            <p:nvPr/>
          </p:nvSpPr>
          <p:spPr>
            <a:xfrm>
              <a:off x="1066800" y="805093"/>
              <a:ext cx="790448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sz="3000" spc="375" dirty="0">
                <a:solidFill>
                  <a:srgbClr val="003153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endParaRPr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Composed Logic Operators</a:t>
            </a:r>
            <a:endParaRPr lang="en-US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FC2F8B96-060E-BA54-13A6-56316AA85C36}"/>
              </a:ext>
            </a:extLst>
          </p:cNvPr>
          <p:cNvSpPr txBox="1"/>
          <p:nvPr/>
        </p:nvSpPr>
        <p:spPr>
          <a:xfrm>
            <a:off x="3147238" y="1436824"/>
            <a:ext cx="4558254" cy="226985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Boolean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Algebra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includes a few additional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operators, different 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from the fundamental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ones, which are used often: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600075" lvl="1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NAND </a:t>
            </a:r>
            <a:r>
              <a:rPr lang="en-GB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operator.</a:t>
            </a:r>
            <a:endParaRPr lang="en-GB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600075" lvl="1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NOR </a:t>
            </a:r>
            <a:r>
              <a:rPr lang="en-GB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operator.</a:t>
            </a:r>
            <a:endParaRPr lang="en-GB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600075" lvl="1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XOR (exclusive-OR operator).</a:t>
            </a:r>
          </a:p>
        </p:txBody>
      </p:sp>
    </p:spTree>
    <p:extLst>
      <p:ext uri="{BB962C8B-B14F-4D97-AF65-F5344CB8AC3E}">
        <p14:creationId xmlns:p14="http://schemas.microsoft.com/office/powerpoint/2010/main" val="373075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Composed Logic Operators: NAND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xmlns="" id="{5CFD55EB-4AFD-BD0A-C9B0-6A0CE86A5040}"/>
                  </a:ext>
                </a:extLst>
              </p:cNvPr>
              <p:cNvSpPr txBox="1"/>
              <p:nvPr/>
            </p:nvSpPr>
            <p:spPr>
              <a:xfrm>
                <a:off x="1174554" y="3721787"/>
                <a:ext cx="2367856" cy="526363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i="1" dirty="0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5CFD55EB-4AFD-BD0A-C9B0-6A0CE86A5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554" y="3721787"/>
                <a:ext cx="2367856" cy="52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xmlns="" id="{0D28E5AE-CD13-B918-B21B-8208C9F2E0E1}"/>
                  </a:ext>
                </a:extLst>
              </p:cNvPr>
              <p:cNvSpPr txBox="1"/>
              <p:nvPr/>
            </p:nvSpPr>
            <p:spPr>
              <a:xfrm>
                <a:off x="4189927" y="1343529"/>
                <a:ext cx="3647787" cy="2456442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The NAND operator is the complemented logical product of the inputs.</a:t>
                </a:r>
              </a:p>
              <a:p>
                <a:pPr marL="257175" indent="-257175" algn="just">
                  <a:spcAft>
                    <a:spcPts val="1350"/>
                  </a:spcAft>
                  <a:buClr>
                    <a:srgbClr val="003153"/>
                  </a:buClr>
                  <a:buFont typeface="Arial" panose="020B0604020202020204" pitchFamily="34" charset="0"/>
                  <a:buChar char="•"/>
                </a:pP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It is the composition of the </a:t>
                </a:r>
                <a:r>
                  <a:rPr lang="en-GB" sz="1500" i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AND + NOT</a:t>
                </a:r>
                <a:r>
                  <a:rPr lang="en-GB" sz="15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 </a:t>
                </a: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operators.</a:t>
                </a: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𝑓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(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, 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en-GB" sz="15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𝑤h𝑒𝑛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𝐴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𝑶𝑹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𝐵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𝑒𝑞𝑢𝑎𝑙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0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𝑤h𝑒𝑛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𝐴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𝑨𝑵𝑫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𝐵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𝑒𝑞𝑢𝑎𝑙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D28E5AE-CD13-B918-B21B-8208C9F2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927" y="1343529"/>
                <a:ext cx="3647787" cy="2456442"/>
              </a:xfrm>
              <a:prstGeom prst="rect">
                <a:avLst/>
              </a:prstGeom>
              <a:blipFill>
                <a:blip r:embed="rId4"/>
                <a:stretch>
                  <a:fillRect l="-1169" t="-993" r="-1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9DDCAF0D-605F-C51E-23DB-1B23FAD172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9" b="22968"/>
          <a:stretch/>
        </p:blipFill>
        <p:spPr bwMode="auto">
          <a:xfrm>
            <a:off x="1036887" y="787719"/>
            <a:ext cx="2643188" cy="280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380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Composed Logic Operators: NOR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xmlns="" id="{5CFD55EB-4AFD-BD0A-C9B0-6A0CE86A5040}"/>
                  </a:ext>
                </a:extLst>
              </p:cNvPr>
              <p:cNvSpPr txBox="1"/>
              <p:nvPr/>
            </p:nvSpPr>
            <p:spPr>
              <a:xfrm>
                <a:off x="1174554" y="3721787"/>
                <a:ext cx="2367856" cy="526363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i="1" dirty="0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+</m:t>
                          </m:r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5CFD55EB-4AFD-BD0A-C9B0-6A0CE86A5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554" y="3721787"/>
                <a:ext cx="2367856" cy="526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xmlns="" id="{0D28E5AE-CD13-B918-B21B-8208C9F2E0E1}"/>
                  </a:ext>
                </a:extLst>
              </p:cNvPr>
              <p:cNvSpPr txBox="1"/>
              <p:nvPr/>
            </p:nvSpPr>
            <p:spPr>
              <a:xfrm>
                <a:off x="4327593" y="1343529"/>
                <a:ext cx="3557624" cy="2456442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The NOR operator is the complemented logical sum of the inputs.</a:t>
                </a:r>
              </a:p>
              <a:p>
                <a:pPr marL="257175" indent="-257175" algn="just">
                  <a:spcAft>
                    <a:spcPts val="1350"/>
                  </a:spcAft>
                  <a:buClr>
                    <a:srgbClr val="003153"/>
                  </a:buClr>
                  <a:buFont typeface="Arial" panose="020B0604020202020204" pitchFamily="34" charset="0"/>
                  <a:buChar char="•"/>
                </a:pP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It is the composition of the </a:t>
                </a:r>
                <a:r>
                  <a:rPr lang="en-GB" sz="1500" i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OR + NOT</a:t>
                </a:r>
                <a:r>
                  <a:rPr lang="en-GB" sz="15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 </a:t>
                </a: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operators.</a:t>
                </a: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𝑓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(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, 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en-GB" sz="15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𝑤h𝑒𝑛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𝐴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𝑨𝑵𝑫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𝐵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𝑒𝑞𝑢𝑎𝑙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0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𝑤h𝑒𝑛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𝐴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𝑶𝑹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𝐵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𝑒𝑞𝑢𝑎𝑙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𝑡𝑜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D28E5AE-CD13-B918-B21B-8208C9F2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593" y="1343529"/>
                <a:ext cx="3557624" cy="2456442"/>
              </a:xfrm>
              <a:prstGeom prst="rect">
                <a:avLst/>
              </a:prstGeom>
              <a:blipFill>
                <a:blip r:embed="rId4"/>
                <a:stretch>
                  <a:fillRect l="-1370" t="-993" r="-1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036887" y="929470"/>
            <a:ext cx="2643188" cy="2667713"/>
            <a:chOff x="1036887" y="929470"/>
            <a:chExt cx="2643188" cy="2667713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xmlns="" id="{43672B0B-8C68-D026-0A8B-141AE70500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146" b="22968"/>
            <a:stretch/>
          </p:blipFill>
          <p:spPr bwMode="auto">
            <a:xfrm>
              <a:off x="1036887" y="929470"/>
              <a:ext cx="2643188" cy="2667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2795653" y="2018830"/>
              <a:ext cx="36813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95653" y="2479980"/>
              <a:ext cx="36813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028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Composed Logic Operators: XOR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xmlns="" id="{5CFD55EB-4AFD-BD0A-C9B0-6A0CE86A5040}"/>
                  </a:ext>
                </a:extLst>
              </p:cNvPr>
              <p:cNvSpPr txBox="1"/>
              <p:nvPr/>
            </p:nvSpPr>
            <p:spPr>
              <a:xfrm>
                <a:off x="1227506" y="3586929"/>
                <a:ext cx="2639150" cy="526363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i="1" dirty="0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Inter" panose="02000503000000020004" pitchFamily="2" charset="0"/>
                            </a:rPr>
                            <m:t>𝐴</m:t>
                          </m:r>
                        </m:e>
                      </m:acc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+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/>
                          <a:ea typeface="Inter" panose="02000503000000020004" pitchFamily="2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GB" i="1" dirty="0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  <m:t>𝐵</m:t>
                          </m:r>
                        </m:e>
                      </m:acc>
                      <m:r>
                        <a:rPr lang="en-GB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A</m:t>
                      </m:r>
                      <m:r>
                        <a:rPr lang="en-GB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GB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CFD55EB-4AFD-BD0A-C9B0-6A0CE86A5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506" y="3586929"/>
                <a:ext cx="2639150" cy="52636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xmlns="" id="{0D28E5AE-CD13-B918-B21B-8208C9F2E0E1}"/>
                  </a:ext>
                </a:extLst>
              </p:cNvPr>
              <p:cNvSpPr txBox="1"/>
              <p:nvPr/>
            </p:nvSpPr>
            <p:spPr>
              <a:xfrm>
                <a:off x="4373880" y="1548714"/>
                <a:ext cx="3779520" cy="2046073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The XOR operator, or </a:t>
                </a:r>
                <a:r>
                  <a:rPr lang="en-GB" sz="1500" i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exclusive-OR,</a:t>
                </a:r>
                <a:r>
                  <a:rPr lang="en-GB" sz="15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is a composed Boolean operator for which the output is equal to</a:t>
                </a:r>
                <a:r>
                  <a:rPr lang="en-GB" sz="15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GB" sz="1500" i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1 when A is different from B.</a:t>
                </a: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𝑓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(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, 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GB" sz="15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en-GB" sz="15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15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500" i="1">
                              <a:solidFill>
                                <a:srgbClr val="002060"/>
                              </a:solidFill>
                              <a:latin typeface="Cambria Math"/>
                              <a:ea typeface="Inter" panose="02000503000000020004" pitchFamily="2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</m:ctrlPr>
                            </m:eqArrPr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1</m:t>
                              </m:r>
                              <m:r>
                                <a:rPr lang="en-US" sz="1500" b="1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𝑤h𝑒𝑛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𝐴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𝑨𝑵𝑫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𝐵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𝑑𝑖𝑓𝑓𝑒𝑟𝑒𝑛𝑡</m:t>
                              </m:r>
                            </m:e>
                            <m:e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0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𝑤h𝑒𝑛</m:t>
                              </m:r>
                              <m:r>
                                <a:rPr lang="en-US" sz="1500" b="0" i="1" smtClean="0">
                                  <a:solidFill>
                                    <a:srgbClr val="002060"/>
                                  </a:solidFill>
                                  <a:latin typeface="Cambria Math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𝐴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𝑨𝑵𝑫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𝐵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𝑎𝑟𝑒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 </m:t>
                              </m:r>
                              <m:r>
                                <a:rPr lang="en-GB" sz="15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Inter" panose="02000503000000020004" pitchFamily="2" charset="0"/>
                                </a:rPr>
                                <m:t>𝑒𝑞𝑢𝑎𝑙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1500" i="1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D28E5AE-CD13-B918-B21B-8208C9F2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880" y="1548714"/>
                <a:ext cx="3779520" cy="2046073"/>
              </a:xfrm>
              <a:prstGeom prst="rect">
                <a:avLst/>
              </a:prstGeom>
              <a:blipFill>
                <a:blip r:embed="rId4"/>
                <a:stretch>
                  <a:fillRect l="-1290" t="-1190" r="-1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5AD9BEDB-99DE-07EB-ABC6-0740FBF343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34" b="23119"/>
          <a:stretch/>
        </p:blipFill>
        <p:spPr bwMode="auto">
          <a:xfrm>
            <a:off x="1227506" y="895350"/>
            <a:ext cx="2643188" cy="269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30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5B3F46-0ECF-380B-736A-C5B7B143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D2E865CC-ABCE-1921-BA4E-A1DD2252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Table</a:t>
            </a:r>
            <a:r>
              <a:rPr lang="it-IT" dirty="0"/>
              <a:t> of </a:t>
            </a:r>
            <a:r>
              <a:rPr lang="it-IT" dirty="0" err="1"/>
              <a:t>Contents</a:t>
            </a:r>
            <a:endParaRPr lang="it-IT" dirty="0"/>
          </a:p>
        </p:txBody>
      </p:sp>
      <p:grpSp>
        <p:nvGrpSpPr>
          <p:cNvPr id="14" name="Gruppo 3">
            <a:extLst>
              <a:ext uri="{FF2B5EF4-FFF2-40B4-BE49-F238E27FC236}">
                <a16:creationId xmlns:a16="http://schemas.microsoft.com/office/drawing/2014/main" xmlns="" id="{49F29F43-F460-A815-28D4-6B0F1BB8BF56}"/>
              </a:ext>
            </a:extLst>
          </p:cNvPr>
          <p:cNvGrpSpPr/>
          <p:nvPr/>
        </p:nvGrpSpPr>
        <p:grpSpPr>
          <a:xfrm>
            <a:off x="2319459" y="1088982"/>
            <a:ext cx="4505082" cy="2992962"/>
            <a:chOff x="3540341" y="1874581"/>
            <a:chExt cx="4772336" cy="3990616"/>
          </a:xfrm>
        </p:grpSpPr>
        <p:sp>
          <p:nvSpPr>
            <p:cNvPr id="17" name="Titolo 1">
              <a:extLst>
                <a:ext uri="{FF2B5EF4-FFF2-40B4-BE49-F238E27FC236}">
                  <a16:creationId xmlns:a16="http://schemas.microsoft.com/office/drawing/2014/main" xmlns="" id="{58C3C0CE-6A83-A582-9EF3-C090EB9E111A}"/>
                </a:ext>
              </a:extLst>
            </p:cNvPr>
            <p:cNvSpPr txBox="1">
              <a:spLocks/>
            </p:cNvSpPr>
            <p:nvPr/>
          </p:nvSpPr>
          <p:spPr>
            <a:xfrm>
              <a:off x="3597549" y="2078289"/>
              <a:ext cx="896251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21" name="CasellaDiTesto 14">
              <a:extLst>
                <a:ext uri="{FF2B5EF4-FFF2-40B4-BE49-F238E27FC236}">
                  <a16:creationId xmlns:a16="http://schemas.microsoft.com/office/drawing/2014/main" xmlns="" id="{96A448AA-4339-EE6E-2C22-AF65CC14AEB1}"/>
                </a:ext>
              </a:extLst>
            </p:cNvPr>
            <p:cNvSpPr txBox="1"/>
            <p:nvPr/>
          </p:nvSpPr>
          <p:spPr>
            <a:xfrm>
              <a:off x="4608213" y="1874581"/>
              <a:ext cx="3600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Inside the Computer's Brain: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An Introduction to Boolean Algebra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CasellaDiTesto 15">
              <a:extLst>
                <a:ext uri="{FF2B5EF4-FFF2-40B4-BE49-F238E27FC236}">
                  <a16:creationId xmlns:a16="http://schemas.microsoft.com/office/drawing/2014/main" xmlns="" id="{8ED168D6-C4E2-405C-E636-DA90C66C11D3}"/>
                </a:ext>
              </a:extLst>
            </p:cNvPr>
            <p:cNvSpPr txBox="1"/>
            <p:nvPr/>
          </p:nvSpPr>
          <p:spPr>
            <a:xfrm>
              <a:off x="4248677" y="3007109"/>
              <a:ext cx="4064000" cy="160043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Fundamentals of Digital Logic: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From Logic Operators to Logic Gates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itolo 1">
              <a:extLst>
                <a:ext uri="{FF2B5EF4-FFF2-40B4-BE49-F238E27FC236}">
                  <a16:creationId xmlns:a16="http://schemas.microsoft.com/office/drawing/2014/main" xmlns="" id="{8199BEB6-AF9C-0401-D799-BF63EED806ED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3445298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24" name="CasellaDiTesto 18">
              <a:extLst>
                <a:ext uri="{FF2B5EF4-FFF2-40B4-BE49-F238E27FC236}">
                  <a16:creationId xmlns:a16="http://schemas.microsoft.com/office/drawing/2014/main" xmlns="" id="{F4337624-C46A-D434-C7BA-DC998BD8B966}"/>
                </a:ext>
              </a:extLst>
            </p:cNvPr>
            <p:cNvSpPr txBox="1"/>
            <p:nvPr/>
          </p:nvSpPr>
          <p:spPr>
            <a:xfrm>
              <a:off x="4608212" y="4634090"/>
              <a:ext cx="3600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The Path from Logic Gates to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Logic Circuits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itolo 1">
              <a:extLst>
                <a:ext uri="{FF2B5EF4-FFF2-40B4-BE49-F238E27FC236}">
                  <a16:creationId xmlns:a16="http://schemas.microsoft.com/office/drawing/2014/main" xmlns="" id="{BD88076D-C2BB-B083-FAAF-3C01ABB8B88E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4837796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642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Logic Operators to Logic Gates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xmlns="" id="{FB8471F5-79FA-C185-9204-D9B223BED5D1}"/>
              </a:ext>
            </a:extLst>
          </p:cNvPr>
          <p:cNvSpPr txBox="1"/>
          <p:nvPr/>
        </p:nvSpPr>
        <p:spPr>
          <a:xfrm>
            <a:off x="683467" y="1200862"/>
            <a:ext cx="3888533" cy="274177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logic gate is the implementation, through electronic devices (i.e., transistors) of a logic operator.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Logic gates can be combined to create logic circuits that implement complex logic functions performing arithmetic calculations, memory storage, and other tasks in computers and other electronic systems.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14AD8A84-07A0-C60C-8E3E-7AD628F73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117" y="1270005"/>
            <a:ext cx="3384233" cy="244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29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Logic Operators to Logic Gates</a:t>
            </a:r>
            <a:endParaRPr lang="it-IT" dirty="0"/>
          </a:p>
        </p:txBody>
      </p:sp>
      <p:grpSp>
        <p:nvGrpSpPr>
          <p:cNvPr id="3" name="Group 2"/>
          <p:cNvGrpSpPr/>
          <p:nvPr/>
        </p:nvGrpSpPr>
        <p:grpSpPr>
          <a:xfrm>
            <a:off x="2009884" y="971550"/>
            <a:ext cx="5381516" cy="3254432"/>
            <a:chOff x="2009884" y="971550"/>
            <a:chExt cx="5381516" cy="3254432"/>
          </a:xfrm>
        </p:grpSpPr>
        <p:pic>
          <p:nvPicPr>
            <p:cNvPr id="14338" name="Picture 2">
              <a:extLst>
                <a:ext uri="{FF2B5EF4-FFF2-40B4-BE49-F238E27FC236}">
                  <a16:creationId xmlns:a16="http://schemas.microsoft.com/office/drawing/2014/main" xmlns="" id="{B5AAB497-EF59-D8D8-B305-C210489BC2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239" b="28601"/>
            <a:stretch/>
          </p:blipFill>
          <p:spPr bwMode="auto">
            <a:xfrm>
              <a:off x="2009884" y="971550"/>
              <a:ext cx="5381516" cy="3254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2514600" y="1047750"/>
              <a:ext cx="41910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+mj-lt"/>
                </a:rPr>
                <a:t>NOT operator → INVERTER gate 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904516" y="2078211"/>
            <a:ext cx="36813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9622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Logic Operators to Logic Gates</a:t>
            </a:r>
            <a:endParaRPr lang="it-IT" dirty="0"/>
          </a:p>
        </p:txBody>
      </p:sp>
      <p:grpSp>
        <p:nvGrpSpPr>
          <p:cNvPr id="2" name="Group 1"/>
          <p:cNvGrpSpPr/>
          <p:nvPr/>
        </p:nvGrpSpPr>
        <p:grpSpPr>
          <a:xfrm>
            <a:off x="1968165" y="819150"/>
            <a:ext cx="5207670" cy="3306825"/>
            <a:chOff x="1968165" y="819150"/>
            <a:chExt cx="5207670" cy="3306825"/>
          </a:xfrm>
        </p:grpSpPr>
        <p:pic>
          <p:nvPicPr>
            <p:cNvPr id="15362" name="Picture 2">
              <a:extLst>
                <a:ext uri="{FF2B5EF4-FFF2-40B4-BE49-F238E27FC236}">
                  <a16:creationId xmlns:a16="http://schemas.microsoft.com/office/drawing/2014/main" xmlns="" id="{2DFB2459-9D7D-ABB3-3405-C754AD90D6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502" r="3730" b="22482"/>
            <a:stretch/>
          </p:blipFill>
          <p:spPr bwMode="auto">
            <a:xfrm>
              <a:off x="1968165" y="819150"/>
              <a:ext cx="5207670" cy="3306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590800" y="890885"/>
              <a:ext cx="41910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+mj-lt"/>
                </a:rPr>
                <a:t>AND operator → AND gate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177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Logic Operators to Logic Gates</a:t>
            </a:r>
            <a:endParaRPr lang="it-IT" dirty="0"/>
          </a:p>
        </p:txBody>
      </p:sp>
      <p:grpSp>
        <p:nvGrpSpPr>
          <p:cNvPr id="2" name="Group 1"/>
          <p:cNvGrpSpPr/>
          <p:nvPr/>
        </p:nvGrpSpPr>
        <p:grpSpPr>
          <a:xfrm>
            <a:off x="2013564" y="819150"/>
            <a:ext cx="5301636" cy="3373358"/>
            <a:chOff x="2013564" y="819150"/>
            <a:chExt cx="5301636" cy="3373358"/>
          </a:xfrm>
        </p:grpSpPr>
        <p:pic>
          <p:nvPicPr>
            <p:cNvPr id="16390" name="Picture 6">
              <a:extLst>
                <a:ext uri="{FF2B5EF4-FFF2-40B4-BE49-F238E27FC236}">
                  <a16:creationId xmlns:a16="http://schemas.microsoft.com/office/drawing/2014/main" xmlns="" id="{34C54B44-95A6-2D94-000D-A3395051F1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423" b="20029"/>
            <a:stretch/>
          </p:blipFill>
          <p:spPr bwMode="auto">
            <a:xfrm>
              <a:off x="2013564" y="819150"/>
              <a:ext cx="5301636" cy="3373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667000" y="890885"/>
              <a:ext cx="419100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+mj-lt"/>
                </a:rPr>
                <a:t>OR operator → OR gate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4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a Logic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4590" y="971550"/>
            <a:ext cx="4274820" cy="3200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electronic element used to build logic gates is a device, called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transistor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behaves like a switch.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particular, logic gates use MOS (Metal Oxide Semiconductor) transistors as building blocks.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connecting several transistors, one can implement any logic function.</a:t>
            </a:r>
          </a:p>
        </p:txBody>
      </p:sp>
    </p:spTree>
    <p:extLst>
      <p:ext uri="{BB962C8B-B14F-4D97-AF65-F5344CB8AC3E}">
        <p14:creationId xmlns:p14="http://schemas.microsoft.com/office/powerpoint/2010/main" val="201950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MOS Transistors as Switches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80085" y="590551"/>
            <a:ext cx="7783830" cy="1523999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 transistors are electrically controlled switches.</a:t>
            </a: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at “gate” controls the current path from “source” to “drain”.</a:t>
            </a:r>
          </a:p>
          <a:p>
            <a:pPr marL="0" indent="0" algn="just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MOS transistors: </a:t>
            </a:r>
            <a:r>
              <a:rPr lang="en-US" altLang="en-US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transistors are always used in pairs to form </a:t>
            </a:r>
            <a:r>
              <a:rPr lang="en-US" alt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CMOS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devices.</a:t>
            </a:r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134698"/>
              </p:ext>
            </p:extLst>
          </p:nvPr>
        </p:nvGraphicFramePr>
        <p:xfrm>
          <a:off x="990600" y="2114550"/>
          <a:ext cx="7162800" cy="2556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VISIO" r:id="rId3" imgW="3361680" imgH="1599480" progId="Visio.Drawing.6">
                  <p:embed/>
                </p:oleObj>
              </mc:Choice>
              <mc:Fallback>
                <p:oleObj name="VISIO" r:id="rId3" imgW="3361680" imgH="15994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114550"/>
                        <a:ext cx="7162800" cy="2556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676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CMOS Inverter</a:t>
            </a:r>
          </a:p>
        </p:txBody>
      </p:sp>
      <p:graphicFrame>
        <p:nvGraphicFramePr>
          <p:cNvPr id="67633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014054"/>
              </p:ext>
            </p:extLst>
          </p:nvPr>
        </p:nvGraphicFramePr>
        <p:xfrm>
          <a:off x="1435100" y="1257300"/>
          <a:ext cx="1447800" cy="1257301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79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14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79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67629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898671"/>
              </p:ext>
            </p:extLst>
          </p:nvPr>
        </p:nvGraphicFramePr>
        <p:xfrm>
          <a:off x="4787900" y="971550"/>
          <a:ext cx="3594100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VISIO" r:id="rId3" imgW="770040" imgH="1012680" progId="Visio.Drawing.6">
                  <p:embed/>
                </p:oleObj>
              </mc:Choice>
              <mc:Fallback>
                <p:oleObj name="VISIO" r:id="rId3" imgW="770040" imgH="1012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971550"/>
                        <a:ext cx="3594100" cy="354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30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499891"/>
              </p:ext>
            </p:extLst>
          </p:nvPr>
        </p:nvGraphicFramePr>
        <p:xfrm>
          <a:off x="1358900" y="3257550"/>
          <a:ext cx="3733800" cy="815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VISIO" r:id="rId5" imgW="969840" imgH="282600" progId="Visio.Drawing.6">
                  <p:embed/>
                </p:oleObj>
              </mc:Choice>
              <mc:Fallback>
                <p:oleObj name="VISIO" r:id="rId5" imgW="969840" imgH="282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3257550"/>
                        <a:ext cx="3733800" cy="815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455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CMOS Inverter</a:t>
            </a:r>
          </a:p>
        </p:txBody>
      </p:sp>
      <p:graphicFrame>
        <p:nvGraphicFramePr>
          <p:cNvPr id="100373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619581"/>
              </p:ext>
            </p:extLst>
          </p:nvPr>
        </p:nvGraphicFramePr>
        <p:xfrm>
          <a:off x="1435100" y="1257300"/>
          <a:ext cx="1447800" cy="1257301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79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Y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14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79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0036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325943"/>
              </p:ext>
            </p:extLst>
          </p:nvPr>
        </p:nvGraphicFramePr>
        <p:xfrm>
          <a:off x="4787900" y="971550"/>
          <a:ext cx="3594100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VISIO" r:id="rId3" imgW="770040" imgH="1012680" progId="Visio.Drawing.6">
                  <p:embed/>
                </p:oleObj>
              </mc:Choice>
              <mc:Fallback>
                <p:oleObj name="VISIO" r:id="rId3" imgW="770040" imgH="1012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971550"/>
                        <a:ext cx="3594100" cy="354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746239"/>
              </p:ext>
            </p:extLst>
          </p:nvPr>
        </p:nvGraphicFramePr>
        <p:xfrm>
          <a:off x="1358900" y="3257550"/>
          <a:ext cx="3733800" cy="815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VISIO" r:id="rId5" imgW="969840" imgH="282600" progId="Visio.Drawing.6">
                  <p:embed/>
                </p:oleObj>
              </mc:Choice>
              <mc:Fallback>
                <p:oleObj name="VISIO" r:id="rId5" imgW="969840" imgH="282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3257550"/>
                        <a:ext cx="3733800" cy="815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256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CMOS Inverter</a:t>
            </a:r>
          </a:p>
        </p:txBody>
      </p:sp>
      <p:graphicFrame>
        <p:nvGraphicFramePr>
          <p:cNvPr id="99349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149012"/>
              </p:ext>
            </p:extLst>
          </p:nvPr>
        </p:nvGraphicFramePr>
        <p:xfrm>
          <a:off x="1437167" y="1257300"/>
          <a:ext cx="1447800" cy="1257301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179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Y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14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79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6991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969963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993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286738"/>
              </p:ext>
            </p:extLst>
          </p:nvPr>
        </p:nvGraphicFramePr>
        <p:xfrm>
          <a:off x="4789967" y="971550"/>
          <a:ext cx="3594100" cy="35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VISIO" r:id="rId3" imgW="770040" imgH="1012680" progId="Visio.Drawing.6">
                  <p:embed/>
                </p:oleObj>
              </mc:Choice>
              <mc:Fallback>
                <p:oleObj name="VISIO" r:id="rId3" imgW="770040" imgH="101268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9967" y="971550"/>
                        <a:ext cx="3594100" cy="354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556345"/>
              </p:ext>
            </p:extLst>
          </p:nvPr>
        </p:nvGraphicFramePr>
        <p:xfrm>
          <a:off x="1360967" y="3257550"/>
          <a:ext cx="3733800" cy="815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VISIO" r:id="rId5" imgW="969840" imgH="282600" progId="Visio.Drawing.6">
                  <p:embed/>
                </p:oleObj>
              </mc:Choice>
              <mc:Fallback>
                <p:oleObj name="VISIO" r:id="rId5" imgW="969840" imgH="28260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967" y="3257550"/>
                        <a:ext cx="3733800" cy="815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264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Size Scaling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681" y="719282"/>
            <a:ext cx="4606119" cy="3890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64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67D011-78B0-4F4D-7D2D-87E0BBDD3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0A457003-BA45-9EFE-9306-276F13FD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Table</a:t>
            </a:r>
            <a:r>
              <a:rPr lang="it-IT" dirty="0"/>
              <a:t> of </a:t>
            </a:r>
            <a:r>
              <a:rPr lang="it-IT" dirty="0" err="1"/>
              <a:t>Contents</a:t>
            </a:r>
            <a:endParaRPr lang="it-IT" dirty="0"/>
          </a:p>
        </p:txBody>
      </p:sp>
      <p:grpSp>
        <p:nvGrpSpPr>
          <p:cNvPr id="14" name="Gruppo 3">
            <a:extLst>
              <a:ext uri="{FF2B5EF4-FFF2-40B4-BE49-F238E27FC236}">
                <a16:creationId xmlns:a16="http://schemas.microsoft.com/office/drawing/2014/main" xmlns="" id="{3897BA49-ADB4-331C-8B84-8DD716DDECAA}"/>
              </a:ext>
            </a:extLst>
          </p:cNvPr>
          <p:cNvGrpSpPr/>
          <p:nvPr/>
        </p:nvGrpSpPr>
        <p:grpSpPr>
          <a:xfrm>
            <a:off x="2319459" y="1088982"/>
            <a:ext cx="4505082" cy="2992962"/>
            <a:chOff x="3540341" y="1874581"/>
            <a:chExt cx="4772336" cy="3990616"/>
          </a:xfrm>
        </p:grpSpPr>
        <p:sp>
          <p:nvSpPr>
            <p:cNvPr id="17" name="Titolo 1">
              <a:extLst>
                <a:ext uri="{FF2B5EF4-FFF2-40B4-BE49-F238E27FC236}">
                  <a16:creationId xmlns:a16="http://schemas.microsoft.com/office/drawing/2014/main" xmlns="" id="{29A470A7-3B43-26F2-88BE-50CF4989ED02}"/>
                </a:ext>
              </a:extLst>
            </p:cNvPr>
            <p:cNvSpPr txBox="1">
              <a:spLocks/>
            </p:cNvSpPr>
            <p:nvPr/>
          </p:nvSpPr>
          <p:spPr>
            <a:xfrm>
              <a:off x="3597549" y="2078289"/>
              <a:ext cx="896251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21" name="CasellaDiTesto 14">
              <a:extLst>
                <a:ext uri="{FF2B5EF4-FFF2-40B4-BE49-F238E27FC236}">
                  <a16:creationId xmlns:a16="http://schemas.microsoft.com/office/drawing/2014/main" xmlns="" id="{C9EAC3CD-2484-134E-1E94-45445D182BC5}"/>
                </a:ext>
              </a:extLst>
            </p:cNvPr>
            <p:cNvSpPr txBox="1"/>
            <p:nvPr/>
          </p:nvSpPr>
          <p:spPr>
            <a:xfrm>
              <a:off x="4608213" y="1874581"/>
              <a:ext cx="3600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Inside the Computer's Brain: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An Introduction to Boolean Algebra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CasellaDiTesto 15">
              <a:extLst>
                <a:ext uri="{FF2B5EF4-FFF2-40B4-BE49-F238E27FC236}">
                  <a16:creationId xmlns:a16="http://schemas.microsoft.com/office/drawing/2014/main" xmlns="" id="{A3A4B3C5-955B-A1F9-230B-5ABF3C852196}"/>
                </a:ext>
              </a:extLst>
            </p:cNvPr>
            <p:cNvSpPr txBox="1"/>
            <p:nvPr/>
          </p:nvSpPr>
          <p:spPr>
            <a:xfrm>
              <a:off x="4248677" y="3007109"/>
              <a:ext cx="4064000" cy="160043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Fundamentals of Digital Logic: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From Logic Operators to Logic Gates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itolo 1">
              <a:extLst>
                <a:ext uri="{FF2B5EF4-FFF2-40B4-BE49-F238E27FC236}">
                  <a16:creationId xmlns:a16="http://schemas.microsoft.com/office/drawing/2014/main" xmlns="" id="{6487498F-DD8B-C721-7701-B680CF45FC84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3445298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24" name="CasellaDiTesto 18">
              <a:extLst>
                <a:ext uri="{FF2B5EF4-FFF2-40B4-BE49-F238E27FC236}">
                  <a16:creationId xmlns:a16="http://schemas.microsoft.com/office/drawing/2014/main" xmlns="" id="{5B8DBDA7-B210-B512-53ED-2D798079F3FD}"/>
                </a:ext>
              </a:extLst>
            </p:cNvPr>
            <p:cNvSpPr txBox="1"/>
            <p:nvPr/>
          </p:nvSpPr>
          <p:spPr>
            <a:xfrm>
              <a:off x="4608212" y="4634090"/>
              <a:ext cx="3600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The Path from Logic Gates to </a:t>
              </a:r>
              <a:b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</a:br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Logic Circuits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itolo 1">
              <a:extLst>
                <a:ext uri="{FF2B5EF4-FFF2-40B4-BE49-F238E27FC236}">
                  <a16:creationId xmlns:a16="http://schemas.microsoft.com/office/drawing/2014/main" xmlns="" id="{3A59D133-5C8E-17E7-152B-40FE835AA724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4837796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832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Circuits</a:t>
            </a:r>
            <a:endParaRPr lang="en-US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FC2F8B96-060E-BA54-13A6-56316AA85C36}"/>
              </a:ext>
            </a:extLst>
          </p:cNvPr>
          <p:cNvSpPr txBox="1"/>
          <p:nvPr/>
        </p:nvSpPr>
        <p:spPr>
          <a:xfrm>
            <a:off x="2686050" y="658852"/>
            <a:ext cx="6153149" cy="392158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Logic circuits implement complex logic functions and are built by interconnecting several logic gates.</a:t>
            </a:r>
          </a:p>
          <a:p>
            <a:pPr marL="257175" indent="-257175" algn="just">
              <a:spcAft>
                <a:spcPts val="1350"/>
              </a:spcAft>
              <a:buClr>
                <a:srgbClr val="498621"/>
              </a:buClr>
              <a:buFont typeface="Arial" panose="020B0604020202020204" pitchFamily="34" charset="0"/>
              <a:buChar char="•"/>
            </a:pPr>
            <a:r>
              <a:rPr lang="en-GB" sz="16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Combinational circuit:</a:t>
            </a:r>
          </a:p>
          <a:p>
            <a:pPr lvl="1" algn="just">
              <a:spcAft>
                <a:spcPts val="1350"/>
              </a:spcAft>
              <a:buClr>
                <a:srgbClr val="498621"/>
              </a:buClr>
            </a:pP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 whose future output depends only on the current input, that is, it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always gives the same future output for a given input.</a:t>
            </a:r>
            <a:endParaRPr lang="en-GB" sz="1600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6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Sequential circuit:</a:t>
            </a:r>
          </a:p>
          <a:p>
            <a:pPr lvl="1" algn="just">
              <a:spcAft>
                <a:spcPts val="1350"/>
              </a:spcAft>
              <a:buClr>
                <a:srgbClr val="498621"/>
              </a:buClr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 whose future output depends on the current input and the current output, that is, it may give a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different future output for a given input (and a different current output).</a:t>
            </a:r>
          </a:p>
          <a:p>
            <a:pPr lvl="1" algn="just">
              <a:spcAft>
                <a:spcPts val="1350"/>
              </a:spcAft>
              <a:buClr>
                <a:srgbClr val="498621"/>
              </a:buClr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Sequential circuits have “memory” capabilities, therefore they can be used to implement more complex logic functions than combinational circuits, including storage functions.</a:t>
            </a:r>
            <a:endParaRPr lang="en-GB" sz="16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64" y="760021"/>
            <a:ext cx="2026472" cy="2229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47" y="3135084"/>
            <a:ext cx="1714886" cy="1482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027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o 2">
            <a:extLst>
              <a:ext uri="{FF2B5EF4-FFF2-40B4-BE49-F238E27FC236}">
                <a16:creationId xmlns:a16="http://schemas.microsoft.com/office/drawing/2014/main" xmlns="" id="{1E2E3DDC-D058-049D-8418-31C02A3A2B37}"/>
              </a:ext>
            </a:extLst>
          </p:cNvPr>
          <p:cNvGrpSpPr/>
          <p:nvPr/>
        </p:nvGrpSpPr>
        <p:grpSpPr>
          <a:xfrm>
            <a:off x="2423160" y="533400"/>
            <a:ext cx="5928360" cy="4076700"/>
            <a:chOff x="1066800" y="711200"/>
            <a:chExt cx="7904480" cy="5435600"/>
          </a:xfrm>
        </p:grpSpPr>
        <p:sp>
          <p:nvSpPr>
            <p:cNvPr id="22" name="Rettangolo 15">
              <a:extLst>
                <a:ext uri="{FF2B5EF4-FFF2-40B4-BE49-F238E27FC236}">
                  <a16:creationId xmlns:a16="http://schemas.microsoft.com/office/drawing/2014/main" xmlns="" id="{63BC5591-8618-903E-FF27-1B8DB27A9293}"/>
                </a:ext>
              </a:extLst>
            </p:cNvPr>
            <p:cNvSpPr/>
            <p:nvPr/>
          </p:nvSpPr>
          <p:spPr>
            <a:xfrm>
              <a:off x="1066800" y="711200"/>
              <a:ext cx="7904480" cy="5435600"/>
            </a:xfrm>
            <a:prstGeom prst="rect">
              <a:avLst/>
            </a:prstGeom>
            <a:solidFill>
              <a:srgbClr val="F1E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3" name="CasellaDiTesto 1">
              <a:extLst>
                <a:ext uri="{FF2B5EF4-FFF2-40B4-BE49-F238E27FC236}">
                  <a16:creationId xmlns:a16="http://schemas.microsoft.com/office/drawing/2014/main" xmlns="" id="{18D586F0-BBAB-BBB3-FAAF-EA43CE84FF51}"/>
                </a:ext>
              </a:extLst>
            </p:cNvPr>
            <p:cNvSpPr txBox="1"/>
            <p:nvPr/>
          </p:nvSpPr>
          <p:spPr>
            <a:xfrm>
              <a:off x="1066800" y="805093"/>
              <a:ext cx="790448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sz="3000" spc="375" dirty="0">
                <a:solidFill>
                  <a:srgbClr val="003153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endParaRPr>
            </a:p>
          </p:txBody>
        </p:sp>
      </p:grpSp>
      <p:pic>
        <p:nvPicPr>
          <p:cNvPr id="19458" name="Picture 2">
            <a:extLst>
              <a:ext uri="{FF2B5EF4-FFF2-40B4-BE49-F238E27FC236}">
                <a16:creationId xmlns:a16="http://schemas.microsoft.com/office/drawing/2014/main" xmlns="" id="{C63FC6E8-A7BD-0A7D-A54E-5F4EDA947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719" y="3049625"/>
            <a:ext cx="6786563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Combinational Circuits</a:t>
            </a: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xmlns="" id="{BE7E30F9-C3CD-1F86-377D-3083F40AD1C4}"/>
              </a:ext>
            </a:extLst>
          </p:cNvPr>
          <p:cNvSpPr txBox="1"/>
          <p:nvPr/>
        </p:nvSpPr>
        <p:spPr>
          <a:xfrm>
            <a:off x="3048000" y="971550"/>
            <a:ext cx="4632424" cy="20903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combinational circuit is a collection of logic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gates.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Each combinational circuit can be described by its schematic or its truth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table.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gates in the circuit are traversed from left to right, and the logic function is derived.</a:t>
            </a:r>
          </a:p>
        </p:txBody>
      </p:sp>
    </p:spTree>
    <p:extLst>
      <p:ext uri="{BB962C8B-B14F-4D97-AF65-F5344CB8AC3E}">
        <p14:creationId xmlns:p14="http://schemas.microsoft.com/office/powerpoint/2010/main" val="93129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o 2">
            <a:extLst>
              <a:ext uri="{FF2B5EF4-FFF2-40B4-BE49-F238E27FC236}">
                <a16:creationId xmlns:a16="http://schemas.microsoft.com/office/drawing/2014/main" xmlns="" id="{1E2E3DDC-D058-049D-8418-31C02A3A2B37}"/>
              </a:ext>
            </a:extLst>
          </p:cNvPr>
          <p:cNvGrpSpPr/>
          <p:nvPr/>
        </p:nvGrpSpPr>
        <p:grpSpPr>
          <a:xfrm>
            <a:off x="2423160" y="533400"/>
            <a:ext cx="5928360" cy="4076700"/>
            <a:chOff x="1066800" y="711200"/>
            <a:chExt cx="7904480" cy="5435600"/>
          </a:xfrm>
        </p:grpSpPr>
        <p:sp>
          <p:nvSpPr>
            <p:cNvPr id="21" name="Rettangolo 15">
              <a:extLst>
                <a:ext uri="{FF2B5EF4-FFF2-40B4-BE49-F238E27FC236}">
                  <a16:creationId xmlns:a16="http://schemas.microsoft.com/office/drawing/2014/main" xmlns="" id="{63BC5591-8618-903E-FF27-1B8DB27A9293}"/>
                </a:ext>
              </a:extLst>
            </p:cNvPr>
            <p:cNvSpPr/>
            <p:nvPr/>
          </p:nvSpPr>
          <p:spPr>
            <a:xfrm>
              <a:off x="1066800" y="711200"/>
              <a:ext cx="7904480" cy="5435600"/>
            </a:xfrm>
            <a:prstGeom prst="rect">
              <a:avLst/>
            </a:prstGeom>
            <a:solidFill>
              <a:srgbClr val="F1E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2" name="CasellaDiTesto 1">
              <a:extLst>
                <a:ext uri="{FF2B5EF4-FFF2-40B4-BE49-F238E27FC236}">
                  <a16:creationId xmlns:a16="http://schemas.microsoft.com/office/drawing/2014/main" xmlns="" id="{18D586F0-BBAB-BBB3-FAAF-EA43CE84FF51}"/>
                </a:ext>
              </a:extLst>
            </p:cNvPr>
            <p:cNvSpPr txBox="1"/>
            <p:nvPr/>
          </p:nvSpPr>
          <p:spPr>
            <a:xfrm>
              <a:off x="1066800" y="805093"/>
              <a:ext cx="790448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sz="3000" spc="375" dirty="0">
                <a:solidFill>
                  <a:srgbClr val="003153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endParaRPr>
            </a:p>
          </p:txBody>
        </p:sp>
      </p:grpSp>
      <p:pic>
        <p:nvPicPr>
          <p:cNvPr id="19458" name="Picture 2">
            <a:extLst>
              <a:ext uri="{FF2B5EF4-FFF2-40B4-BE49-F238E27FC236}">
                <a16:creationId xmlns:a16="http://schemas.microsoft.com/office/drawing/2014/main" xmlns="" id="{C63FC6E8-A7BD-0A7D-A54E-5F4EDA947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719" y="3049625"/>
            <a:ext cx="6786563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Combinational Circuits</a:t>
            </a:r>
            <a:endParaRPr lang="en-US" dirty="0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xmlns="" id="{7B923D08-B4DE-3AAE-56EF-28F2035CAA43}"/>
              </a:ext>
            </a:extLst>
          </p:cNvPr>
          <p:cNvSpPr/>
          <p:nvPr/>
        </p:nvSpPr>
        <p:spPr>
          <a:xfrm>
            <a:off x="3097530" y="3163252"/>
            <a:ext cx="500063" cy="48272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xmlns="" sd="2650216993">
                  <a:custGeom>
                    <a:avLst/>
                    <a:gdLst>
                      <a:gd name="connsiteX0" fmla="*/ 0 w 500063"/>
                      <a:gd name="connsiteY0" fmla="*/ 241363 h 482726"/>
                      <a:gd name="connsiteX1" fmla="*/ 250032 w 500063"/>
                      <a:gd name="connsiteY1" fmla="*/ 0 h 482726"/>
                      <a:gd name="connsiteX2" fmla="*/ 500064 w 500063"/>
                      <a:gd name="connsiteY2" fmla="*/ 241363 h 482726"/>
                      <a:gd name="connsiteX3" fmla="*/ 250032 w 500063"/>
                      <a:gd name="connsiteY3" fmla="*/ 482726 h 482726"/>
                      <a:gd name="connsiteX4" fmla="*/ 0 w 500063"/>
                      <a:gd name="connsiteY4" fmla="*/ 241363 h 4827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0063" h="482726" extrusionOk="0">
                        <a:moveTo>
                          <a:pt x="0" y="241363"/>
                        </a:moveTo>
                        <a:cubicBezTo>
                          <a:pt x="-12843" y="108611"/>
                          <a:pt x="119112" y="7048"/>
                          <a:pt x="250032" y="0"/>
                        </a:cubicBezTo>
                        <a:cubicBezTo>
                          <a:pt x="396238" y="16660"/>
                          <a:pt x="500452" y="119909"/>
                          <a:pt x="500064" y="241363"/>
                        </a:cubicBezTo>
                        <a:cubicBezTo>
                          <a:pt x="485153" y="352168"/>
                          <a:pt x="401277" y="498633"/>
                          <a:pt x="250032" y="482726"/>
                        </a:cubicBezTo>
                        <a:cubicBezTo>
                          <a:pt x="113252" y="477858"/>
                          <a:pt x="11949" y="396943"/>
                          <a:pt x="0" y="24136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A125C0D6-2BC1-0064-FF86-11AEDB04E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83" y="1727848"/>
            <a:ext cx="2164556" cy="72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4">
            <a:extLst>
              <a:ext uri="{FF2B5EF4-FFF2-40B4-BE49-F238E27FC236}">
                <a16:creationId xmlns:a16="http://schemas.microsoft.com/office/drawing/2014/main" xmlns="" id="{09A49013-D44C-716E-DE7D-0B4D80B59F36}"/>
              </a:ext>
            </a:extLst>
          </p:cNvPr>
          <p:cNvSpPr txBox="1"/>
          <p:nvPr/>
        </p:nvSpPr>
        <p:spPr>
          <a:xfrm>
            <a:off x="3048000" y="971550"/>
            <a:ext cx="4632424" cy="20903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combinational circuit is a collection of logic gates;</a:t>
            </a: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Each combinational circuit can be described by its schematic or its truth table;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gates in the circuit are traversed from left to right, and the logic function is derived.</a:t>
            </a:r>
          </a:p>
        </p:txBody>
      </p:sp>
    </p:spTree>
    <p:extLst>
      <p:ext uri="{BB962C8B-B14F-4D97-AF65-F5344CB8AC3E}">
        <p14:creationId xmlns:p14="http://schemas.microsoft.com/office/powerpoint/2010/main" val="424345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o 2">
            <a:extLst>
              <a:ext uri="{FF2B5EF4-FFF2-40B4-BE49-F238E27FC236}">
                <a16:creationId xmlns:a16="http://schemas.microsoft.com/office/drawing/2014/main" xmlns="" id="{1E2E3DDC-D058-049D-8418-31C02A3A2B37}"/>
              </a:ext>
            </a:extLst>
          </p:cNvPr>
          <p:cNvGrpSpPr/>
          <p:nvPr/>
        </p:nvGrpSpPr>
        <p:grpSpPr>
          <a:xfrm>
            <a:off x="2423160" y="533400"/>
            <a:ext cx="5928360" cy="4076700"/>
            <a:chOff x="1066800" y="711200"/>
            <a:chExt cx="7904480" cy="5435600"/>
          </a:xfrm>
        </p:grpSpPr>
        <p:sp>
          <p:nvSpPr>
            <p:cNvPr id="22" name="Rettangolo 15">
              <a:extLst>
                <a:ext uri="{FF2B5EF4-FFF2-40B4-BE49-F238E27FC236}">
                  <a16:creationId xmlns:a16="http://schemas.microsoft.com/office/drawing/2014/main" xmlns="" id="{63BC5591-8618-903E-FF27-1B8DB27A9293}"/>
                </a:ext>
              </a:extLst>
            </p:cNvPr>
            <p:cNvSpPr/>
            <p:nvPr/>
          </p:nvSpPr>
          <p:spPr>
            <a:xfrm>
              <a:off x="1066800" y="711200"/>
              <a:ext cx="7904480" cy="5435600"/>
            </a:xfrm>
            <a:prstGeom prst="rect">
              <a:avLst/>
            </a:prstGeom>
            <a:solidFill>
              <a:srgbClr val="F1E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3" name="CasellaDiTesto 1">
              <a:extLst>
                <a:ext uri="{FF2B5EF4-FFF2-40B4-BE49-F238E27FC236}">
                  <a16:creationId xmlns:a16="http://schemas.microsoft.com/office/drawing/2014/main" xmlns="" id="{18D586F0-BBAB-BBB3-FAAF-EA43CE84FF51}"/>
                </a:ext>
              </a:extLst>
            </p:cNvPr>
            <p:cNvSpPr txBox="1"/>
            <p:nvPr/>
          </p:nvSpPr>
          <p:spPr>
            <a:xfrm>
              <a:off x="1066800" y="805093"/>
              <a:ext cx="790448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sz="3000" spc="375" dirty="0">
                <a:solidFill>
                  <a:srgbClr val="003153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endParaRPr>
            </a:p>
          </p:txBody>
        </p:sp>
      </p:grpSp>
      <p:pic>
        <p:nvPicPr>
          <p:cNvPr id="19458" name="Picture 2">
            <a:extLst>
              <a:ext uri="{FF2B5EF4-FFF2-40B4-BE49-F238E27FC236}">
                <a16:creationId xmlns:a16="http://schemas.microsoft.com/office/drawing/2014/main" xmlns="" id="{C63FC6E8-A7BD-0A7D-A54E-5F4EDA947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719" y="3049625"/>
            <a:ext cx="6786563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Combinational Circuits</a:t>
            </a:r>
            <a:endParaRPr 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xmlns="" id="{4A46F25E-ADDC-678C-D955-EF458335B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206" y="1593820"/>
            <a:ext cx="2333588" cy="100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e 4">
            <a:extLst>
              <a:ext uri="{FF2B5EF4-FFF2-40B4-BE49-F238E27FC236}">
                <a16:creationId xmlns:a16="http://schemas.microsoft.com/office/drawing/2014/main" xmlns="" id="{8D6B11C3-A17B-8B24-9CEB-5B8B69E69429}"/>
              </a:ext>
            </a:extLst>
          </p:cNvPr>
          <p:cNvSpPr/>
          <p:nvPr/>
        </p:nvSpPr>
        <p:spPr>
          <a:xfrm>
            <a:off x="3097530" y="3163252"/>
            <a:ext cx="500063" cy="48272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  <a:alpha val="50000"/>
              </a:schemeClr>
            </a:solidFill>
            <a:extLst>
              <a:ext uri="{C807C97D-BFC1-408E-A445-0C87EB9F89A2}">
                <ask:lineSketchStyleProps xmlns:ask="http://schemas.microsoft.com/office/drawing/2018/sketchyshapes" xmlns="" sd="2650216993">
                  <a:custGeom>
                    <a:avLst/>
                    <a:gdLst>
                      <a:gd name="connsiteX0" fmla="*/ 0 w 500063"/>
                      <a:gd name="connsiteY0" fmla="*/ 241363 h 482726"/>
                      <a:gd name="connsiteX1" fmla="*/ 250032 w 500063"/>
                      <a:gd name="connsiteY1" fmla="*/ 0 h 482726"/>
                      <a:gd name="connsiteX2" fmla="*/ 500064 w 500063"/>
                      <a:gd name="connsiteY2" fmla="*/ 241363 h 482726"/>
                      <a:gd name="connsiteX3" fmla="*/ 250032 w 500063"/>
                      <a:gd name="connsiteY3" fmla="*/ 482726 h 482726"/>
                      <a:gd name="connsiteX4" fmla="*/ 0 w 500063"/>
                      <a:gd name="connsiteY4" fmla="*/ 241363 h 4827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0063" h="482726" extrusionOk="0">
                        <a:moveTo>
                          <a:pt x="0" y="241363"/>
                        </a:moveTo>
                        <a:cubicBezTo>
                          <a:pt x="-12843" y="108611"/>
                          <a:pt x="119112" y="7048"/>
                          <a:pt x="250032" y="0"/>
                        </a:cubicBezTo>
                        <a:cubicBezTo>
                          <a:pt x="396238" y="16660"/>
                          <a:pt x="500452" y="119909"/>
                          <a:pt x="500064" y="241363"/>
                        </a:cubicBezTo>
                        <a:cubicBezTo>
                          <a:pt x="485153" y="352168"/>
                          <a:pt x="401277" y="498633"/>
                          <a:pt x="250032" y="482726"/>
                        </a:cubicBezTo>
                        <a:cubicBezTo>
                          <a:pt x="113252" y="477858"/>
                          <a:pt x="11949" y="396943"/>
                          <a:pt x="0" y="24136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xmlns="" id="{3F570469-BAB5-E34B-09DB-27B0108B8967}"/>
              </a:ext>
            </a:extLst>
          </p:cNvPr>
          <p:cNvSpPr/>
          <p:nvPr/>
        </p:nvSpPr>
        <p:spPr>
          <a:xfrm>
            <a:off x="4334113" y="3175392"/>
            <a:ext cx="1015841" cy="577322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xmlns="" sd="662569824">
                  <a:custGeom>
                    <a:avLst/>
                    <a:gdLst>
                      <a:gd name="connsiteX0" fmla="*/ 0 w 1015841"/>
                      <a:gd name="connsiteY0" fmla="*/ 288661 h 577322"/>
                      <a:gd name="connsiteX1" fmla="*/ 507921 w 1015841"/>
                      <a:gd name="connsiteY1" fmla="*/ 0 h 577322"/>
                      <a:gd name="connsiteX2" fmla="*/ 1015842 w 1015841"/>
                      <a:gd name="connsiteY2" fmla="*/ 288661 h 577322"/>
                      <a:gd name="connsiteX3" fmla="*/ 507921 w 1015841"/>
                      <a:gd name="connsiteY3" fmla="*/ 577322 h 577322"/>
                      <a:gd name="connsiteX4" fmla="*/ 0 w 1015841"/>
                      <a:gd name="connsiteY4" fmla="*/ 288661 h 5773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5841" h="577322" extrusionOk="0">
                        <a:moveTo>
                          <a:pt x="0" y="288661"/>
                        </a:moveTo>
                        <a:cubicBezTo>
                          <a:pt x="-37422" y="175174"/>
                          <a:pt x="170349" y="49016"/>
                          <a:pt x="507921" y="0"/>
                        </a:cubicBezTo>
                        <a:cubicBezTo>
                          <a:pt x="789312" y="24580"/>
                          <a:pt x="1010373" y="127464"/>
                          <a:pt x="1015842" y="288661"/>
                        </a:cubicBezTo>
                        <a:cubicBezTo>
                          <a:pt x="1054589" y="442098"/>
                          <a:pt x="765161" y="621909"/>
                          <a:pt x="507921" y="577322"/>
                        </a:cubicBezTo>
                        <a:cubicBezTo>
                          <a:pt x="198892" y="573117"/>
                          <a:pt x="13983" y="436770"/>
                          <a:pt x="0" y="28866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2" name="CasellaDiTesto 4">
            <a:extLst>
              <a:ext uri="{FF2B5EF4-FFF2-40B4-BE49-F238E27FC236}">
                <a16:creationId xmlns:a16="http://schemas.microsoft.com/office/drawing/2014/main" xmlns="" id="{E2F021FB-6F77-1D65-5C11-D54DC4093AFE}"/>
              </a:ext>
            </a:extLst>
          </p:cNvPr>
          <p:cNvSpPr txBox="1"/>
          <p:nvPr/>
        </p:nvSpPr>
        <p:spPr>
          <a:xfrm>
            <a:off x="3048000" y="971550"/>
            <a:ext cx="4632424" cy="20903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combinational circuit is a collection of logic gates;</a:t>
            </a: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Each combinational circuit can be described by its schematic or its truth table;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gates in the circuit are traversed from left to right, and the logic function is derived.</a:t>
            </a:r>
          </a:p>
        </p:txBody>
      </p:sp>
    </p:spTree>
    <p:extLst>
      <p:ext uri="{BB962C8B-B14F-4D97-AF65-F5344CB8AC3E}">
        <p14:creationId xmlns:p14="http://schemas.microsoft.com/office/powerpoint/2010/main" val="419413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o 2">
            <a:extLst>
              <a:ext uri="{FF2B5EF4-FFF2-40B4-BE49-F238E27FC236}">
                <a16:creationId xmlns:a16="http://schemas.microsoft.com/office/drawing/2014/main" xmlns="" id="{1E2E3DDC-D058-049D-8418-31C02A3A2B37}"/>
              </a:ext>
            </a:extLst>
          </p:cNvPr>
          <p:cNvGrpSpPr/>
          <p:nvPr/>
        </p:nvGrpSpPr>
        <p:grpSpPr>
          <a:xfrm>
            <a:off x="2423160" y="533400"/>
            <a:ext cx="5928360" cy="4076700"/>
            <a:chOff x="1066800" y="711200"/>
            <a:chExt cx="7904480" cy="5435600"/>
          </a:xfrm>
        </p:grpSpPr>
        <p:sp>
          <p:nvSpPr>
            <p:cNvPr id="22" name="Rettangolo 15">
              <a:extLst>
                <a:ext uri="{FF2B5EF4-FFF2-40B4-BE49-F238E27FC236}">
                  <a16:creationId xmlns:a16="http://schemas.microsoft.com/office/drawing/2014/main" xmlns="" id="{63BC5591-8618-903E-FF27-1B8DB27A9293}"/>
                </a:ext>
              </a:extLst>
            </p:cNvPr>
            <p:cNvSpPr/>
            <p:nvPr/>
          </p:nvSpPr>
          <p:spPr>
            <a:xfrm>
              <a:off x="1066800" y="711200"/>
              <a:ext cx="7904480" cy="5435600"/>
            </a:xfrm>
            <a:prstGeom prst="rect">
              <a:avLst/>
            </a:prstGeom>
            <a:solidFill>
              <a:srgbClr val="F1E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3" name="CasellaDiTesto 1">
              <a:extLst>
                <a:ext uri="{FF2B5EF4-FFF2-40B4-BE49-F238E27FC236}">
                  <a16:creationId xmlns:a16="http://schemas.microsoft.com/office/drawing/2014/main" xmlns="" id="{18D586F0-BBAB-BBB3-FAAF-EA43CE84FF51}"/>
                </a:ext>
              </a:extLst>
            </p:cNvPr>
            <p:cNvSpPr txBox="1"/>
            <p:nvPr/>
          </p:nvSpPr>
          <p:spPr>
            <a:xfrm>
              <a:off x="1066800" y="805093"/>
              <a:ext cx="790448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sz="3000" spc="375" dirty="0">
                <a:solidFill>
                  <a:srgbClr val="003153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endParaRPr>
            </a:p>
          </p:txBody>
        </p:sp>
      </p:grpSp>
      <p:pic>
        <p:nvPicPr>
          <p:cNvPr id="19458" name="Picture 2">
            <a:extLst>
              <a:ext uri="{FF2B5EF4-FFF2-40B4-BE49-F238E27FC236}">
                <a16:creationId xmlns:a16="http://schemas.microsoft.com/office/drawing/2014/main" xmlns="" id="{C63FC6E8-A7BD-0A7D-A54E-5F4EDA947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719" y="3049625"/>
            <a:ext cx="6786563" cy="13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Combinational Circuits</a:t>
            </a:r>
            <a:endParaRPr lang="en-US" dirty="0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xmlns="" id="{7B923D08-B4DE-3AAE-56EF-28F2035CAA43}"/>
              </a:ext>
            </a:extLst>
          </p:cNvPr>
          <p:cNvSpPr/>
          <p:nvPr/>
        </p:nvSpPr>
        <p:spPr>
          <a:xfrm>
            <a:off x="3097530" y="3163252"/>
            <a:ext cx="500063" cy="482726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  <a:alpha val="50000"/>
              </a:schemeClr>
            </a:solidFill>
            <a:extLst>
              <a:ext uri="{C807C97D-BFC1-408E-A445-0C87EB9F89A2}">
                <ask:lineSketchStyleProps xmlns:ask="http://schemas.microsoft.com/office/drawing/2018/sketchyshapes" xmlns="" sd="3777221985">
                  <a:custGeom>
                    <a:avLst/>
                    <a:gdLst>
                      <a:gd name="connsiteX0" fmla="*/ 0 w 500063"/>
                      <a:gd name="connsiteY0" fmla="*/ 241363 h 482726"/>
                      <a:gd name="connsiteX1" fmla="*/ 250032 w 500063"/>
                      <a:gd name="connsiteY1" fmla="*/ 0 h 482726"/>
                      <a:gd name="connsiteX2" fmla="*/ 500064 w 500063"/>
                      <a:gd name="connsiteY2" fmla="*/ 241363 h 482726"/>
                      <a:gd name="connsiteX3" fmla="*/ 250032 w 500063"/>
                      <a:gd name="connsiteY3" fmla="*/ 482726 h 482726"/>
                      <a:gd name="connsiteX4" fmla="*/ 0 w 500063"/>
                      <a:gd name="connsiteY4" fmla="*/ 241363 h 4827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0063" h="482726" extrusionOk="0">
                        <a:moveTo>
                          <a:pt x="0" y="241363"/>
                        </a:moveTo>
                        <a:cubicBezTo>
                          <a:pt x="-24333" y="111798"/>
                          <a:pt x="108819" y="8398"/>
                          <a:pt x="250032" y="0"/>
                        </a:cubicBezTo>
                        <a:cubicBezTo>
                          <a:pt x="386650" y="1344"/>
                          <a:pt x="526433" y="104147"/>
                          <a:pt x="500064" y="241363"/>
                        </a:cubicBezTo>
                        <a:cubicBezTo>
                          <a:pt x="507457" y="387977"/>
                          <a:pt x="371857" y="496801"/>
                          <a:pt x="250032" y="482726"/>
                        </a:cubicBezTo>
                        <a:cubicBezTo>
                          <a:pt x="111000" y="477836"/>
                          <a:pt x="-529" y="378498"/>
                          <a:pt x="0" y="24136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xmlns="" id="{A4C46046-249B-40B1-81F7-5A6DE3F111A0}"/>
              </a:ext>
            </a:extLst>
          </p:cNvPr>
          <p:cNvSpPr/>
          <p:nvPr/>
        </p:nvSpPr>
        <p:spPr>
          <a:xfrm>
            <a:off x="4334113" y="3175392"/>
            <a:ext cx="1015841" cy="577322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  <a:alpha val="50000"/>
              </a:schemeClr>
            </a:solidFill>
            <a:extLst>
              <a:ext uri="{C807C97D-BFC1-408E-A445-0C87EB9F89A2}">
                <ask:lineSketchStyleProps xmlns:ask="http://schemas.microsoft.com/office/drawing/2018/sketchyshapes" xmlns="" sd="662569824">
                  <a:custGeom>
                    <a:avLst/>
                    <a:gdLst>
                      <a:gd name="connsiteX0" fmla="*/ 0 w 1015841"/>
                      <a:gd name="connsiteY0" fmla="*/ 288661 h 577322"/>
                      <a:gd name="connsiteX1" fmla="*/ 507921 w 1015841"/>
                      <a:gd name="connsiteY1" fmla="*/ 0 h 577322"/>
                      <a:gd name="connsiteX2" fmla="*/ 1015842 w 1015841"/>
                      <a:gd name="connsiteY2" fmla="*/ 288661 h 577322"/>
                      <a:gd name="connsiteX3" fmla="*/ 507921 w 1015841"/>
                      <a:gd name="connsiteY3" fmla="*/ 577322 h 577322"/>
                      <a:gd name="connsiteX4" fmla="*/ 0 w 1015841"/>
                      <a:gd name="connsiteY4" fmla="*/ 288661 h 5773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15841" h="577322" extrusionOk="0">
                        <a:moveTo>
                          <a:pt x="0" y="288661"/>
                        </a:moveTo>
                        <a:cubicBezTo>
                          <a:pt x="-37422" y="175174"/>
                          <a:pt x="170349" y="49016"/>
                          <a:pt x="507921" y="0"/>
                        </a:cubicBezTo>
                        <a:cubicBezTo>
                          <a:pt x="789312" y="24580"/>
                          <a:pt x="1010373" y="127464"/>
                          <a:pt x="1015842" y="288661"/>
                        </a:cubicBezTo>
                        <a:cubicBezTo>
                          <a:pt x="1054589" y="442098"/>
                          <a:pt x="765161" y="621909"/>
                          <a:pt x="507921" y="577322"/>
                        </a:cubicBezTo>
                        <a:cubicBezTo>
                          <a:pt x="198892" y="573117"/>
                          <a:pt x="13983" y="436770"/>
                          <a:pt x="0" y="28866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xmlns="" id="{25201015-647B-266B-D307-99C28012C56F}"/>
              </a:ext>
            </a:extLst>
          </p:cNvPr>
          <p:cNvSpPr/>
          <p:nvPr/>
        </p:nvSpPr>
        <p:spPr>
          <a:xfrm>
            <a:off x="5850493" y="3607953"/>
            <a:ext cx="2009537" cy="577322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xmlns="" sd="841812847">
                  <a:custGeom>
                    <a:avLst/>
                    <a:gdLst>
                      <a:gd name="connsiteX0" fmla="*/ 0 w 2009537"/>
                      <a:gd name="connsiteY0" fmla="*/ 288661 h 577322"/>
                      <a:gd name="connsiteX1" fmla="*/ 1004769 w 2009537"/>
                      <a:gd name="connsiteY1" fmla="*/ 0 h 577322"/>
                      <a:gd name="connsiteX2" fmla="*/ 2009538 w 2009537"/>
                      <a:gd name="connsiteY2" fmla="*/ 288661 h 577322"/>
                      <a:gd name="connsiteX3" fmla="*/ 1004769 w 2009537"/>
                      <a:gd name="connsiteY3" fmla="*/ 577322 h 577322"/>
                      <a:gd name="connsiteX4" fmla="*/ 0 w 2009537"/>
                      <a:gd name="connsiteY4" fmla="*/ 288661 h 5773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09537" h="577322" extrusionOk="0">
                        <a:moveTo>
                          <a:pt x="0" y="288661"/>
                        </a:moveTo>
                        <a:cubicBezTo>
                          <a:pt x="-7337" y="154449"/>
                          <a:pt x="459852" y="-27971"/>
                          <a:pt x="1004769" y="0"/>
                        </a:cubicBezTo>
                        <a:cubicBezTo>
                          <a:pt x="1525439" y="22658"/>
                          <a:pt x="2044074" y="157147"/>
                          <a:pt x="2009538" y="288661"/>
                        </a:cubicBezTo>
                        <a:cubicBezTo>
                          <a:pt x="2019463" y="383532"/>
                          <a:pt x="1636714" y="588300"/>
                          <a:pt x="1004769" y="577322"/>
                        </a:cubicBezTo>
                        <a:cubicBezTo>
                          <a:pt x="463176" y="582081"/>
                          <a:pt x="-17223" y="418540"/>
                          <a:pt x="0" y="28866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4FFD4ABE-A779-0941-7B12-E24BAED8A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02" y="1589737"/>
            <a:ext cx="2402068" cy="100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4">
            <a:extLst>
              <a:ext uri="{FF2B5EF4-FFF2-40B4-BE49-F238E27FC236}">
                <a16:creationId xmlns:a16="http://schemas.microsoft.com/office/drawing/2014/main" xmlns="" id="{C8B880D1-B2CE-7A43-B0D2-D1F4E09F8D75}"/>
              </a:ext>
            </a:extLst>
          </p:cNvPr>
          <p:cNvSpPr txBox="1"/>
          <p:nvPr/>
        </p:nvSpPr>
        <p:spPr>
          <a:xfrm>
            <a:off x="3048000" y="971550"/>
            <a:ext cx="4632424" cy="20903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combinational circuit is a collection of logic gates;</a:t>
            </a: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Each combinational circuit can be described by its schematic or its truth table;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gates in the circuit are traversed from left to right, and the logic function is derived.</a:t>
            </a:r>
          </a:p>
        </p:txBody>
      </p:sp>
    </p:spTree>
    <p:extLst>
      <p:ext uri="{BB962C8B-B14F-4D97-AF65-F5344CB8AC3E}">
        <p14:creationId xmlns:p14="http://schemas.microsoft.com/office/powerpoint/2010/main" val="160685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the specification to the circuit</a:t>
            </a:r>
            <a:endParaRPr lang="en-US" altLang="en-US" dirty="0"/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>
          <a:xfrm>
            <a:off x="1832337" y="971550"/>
            <a:ext cx="5461592" cy="33528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specification of a function, to obtain the corresponding circuit, the following steps are applied: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binary variables (input and output).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truth table.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expression of the function from the truth table.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Possibly minimize the expression of the function.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circuit using logic gates consistently with the function.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89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The Multiplexer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34200" y="41719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7546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9323" y="811287"/>
            <a:ext cx="2283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</a:rPr>
              <a:t>Y=A (A cars can go)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752" y="1280776"/>
            <a:ext cx="4080782" cy="271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sellaDiTesto 15">
            <a:extLst>
              <a:ext uri="{FF2B5EF4-FFF2-40B4-BE49-F238E27FC236}">
                <a16:creationId xmlns:a16="http://schemas.microsoft.com/office/drawing/2014/main" xmlns="" id="{E665739F-5360-EA25-EB0B-33D86F8F39E5}"/>
              </a:ext>
            </a:extLst>
          </p:cNvPr>
          <p:cNvSpPr txBox="1"/>
          <p:nvPr/>
        </p:nvSpPr>
        <p:spPr>
          <a:xfrm>
            <a:off x="361508" y="603263"/>
            <a:ext cx="4159124" cy="344453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spcAft>
                <a:spcPts val="135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multiplexer is a combinational circuit that selects one way among two available inputs.</a:t>
            </a:r>
          </a:p>
          <a:p>
            <a:pPr>
              <a:spcAft>
                <a:spcPts val="135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Functionality: </a:t>
            </a:r>
            <a:b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Based on the value of control S, the output Y assumes the value of input A (if S = 0) or the value of input B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if  S = 1).</a:t>
            </a:r>
          </a:p>
          <a:p>
            <a:pPr>
              <a:spcAft>
                <a:spcPts val="60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Identification of the variables:</a:t>
            </a:r>
          </a:p>
          <a:p>
            <a:pPr>
              <a:spcAft>
                <a:spcPts val="600"/>
              </a:spcAft>
              <a:buClr>
                <a:srgbClr val="003153"/>
              </a:buClr>
            </a:pP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3 input signals (A, B, S) and 1 output </a:t>
            </a: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signal (Y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):</a:t>
            </a:r>
          </a:p>
          <a:p>
            <a:pPr marL="1057275" lvl="2" indent="-257175">
              <a:spcAft>
                <a:spcPts val="6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1600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A – Way A</a:t>
            </a:r>
          </a:p>
          <a:p>
            <a:pPr marL="1057275" lvl="2" indent="-257175">
              <a:spcAft>
                <a:spcPts val="6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1600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 B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– Way B</a:t>
            </a:r>
          </a:p>
          <a:p>
            <a:pPr marL="1057275" lvl="2" indent="-257175">
              <a:spcAft>
                <a:spcPts val="6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1600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 S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– Control</a:t>
            </a:r>
          </a:p>
        </p:txBody>
      </p:sp>
    </p:spTree>
    <p:extLst>
      <p:ext uri="{BB962C8B-B14F-4D97-AF65-F5344CB8AC3E}">
        <p14:creationId xmlns:p14="http://schemas.microsoft.com/office/powerpoint/2010/main" val="415741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The Multiplexer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34200" y="41719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7546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10396" y="810197"/>
            <a:ext cx="2233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</a:rPr>
              <a:t>Y=B (B cars can go)</a:t>
            </a: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752" y="1287976"/>
            <a:ext cx="4073238" cy="271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sellaDiTesto 15">
            <a:extLst>
              <a:ext uri="{FF2B5EF4-FFF2-40B4-BE49-F238E27FC236}">
                <a16:creationId xmlns:a16="http://schemas.microsoft.com/office/drawing/2014/main" xmlns="" id="{E665739F-5360-EA25-EB0B-33D86F8F39E5}"/>
              </a:ext>
            </a:extLst>
          </p:cNvPr>
          <p:cNvSpPr txBox="1"/>
          <p:nvPr/>
        </p:nvSpPr>
        <p:spPr>
          <a:xfrm>
            <a:off x="361508" y="603263"/>
            <a:ext cx="4159124" cy="344453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spcAft>
                <a:spcPts val="135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multiplexer is a combinational circuit that selects one way among two available inputs.</a:t>
            </a:r>
          </a:p>
          <a:p>
            <a:pPr>
              <a:spcAft>
                <a:spcPts val="135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Functionality: </a:t>
            </a:r>
            <a:b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Based on the value of control S, the output Y assumes the value of input A (if S = 0) or the value of input B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if  S = 1).</a:t>
            </a:r>
          </a:p>
          <a:p>
            <a:pPr>
              <a:spcAft>
                <a:spcPts val="60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Identification of the variables:</a:t>
            </a:r>
          </a:p>
          <a:p>
            <a:pPr>
              <a:spcAft>
                <a:spcPts val="600"/>
              </a:spcAft>
              <a:buClr>
                <a:srgbClr val="003153"/>
              </a:buClr>
            </a:pP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3 input signals (A, B, S) and 1 output </a:t>
            </a: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signal (Y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):</a:t>
            </a:r>
          </a:p>
          <a:p>
            <a:pPr marL="1057275" lvl="2" indent="-257175">
              <a:spcAft>
                <a:spcPts val="6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1600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A – Way A</a:t>
            </a:r>
          </a:p>
          <a:p>
            <a:pPr marL="1057275" lvl="2" indent="-257175">
              <a:spcAft>
                <a:spcPts val="6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1600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 B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– Way B</a:t>
            </a:r>
          </a:p>
          <a:p>
            <a:pPr marL="1057275" lvl="2" indent="-257175">
              <a:spcAft>
                <a:spcPts val="60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sz="1600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 S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– Control</a:t>
            </a:r>
          </a:p>
        </p:txBody>
      </p:sp>
    </p:spTree>
    <p:extLst>
      <p:ext uri="{BB962C8B-B14F-4D97-AF65-F5344CB8AC3E}">
        <p14:creationId xmlns:p14="http://schemas.microsoft.com/office/powerpoint/2010/main" val="371725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Truth</a:t>
            </a:r>
            <a:r>
              <a:rPr lang="it-IT" dirty="0"/>
              <a:t> </a:t>
            </a:r>
            <a:r>
              <a:rPr lang="it-IT" dirty="0" err="1"/>
              <a:t>Table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4E54D18E-F855-1882-AA44-8B4FAFE913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03"/>
          <a:stretch/>
        </p:blipFill>
        <p:spPr bwMode="auto">
          <a:xfrm>
            <a:off x="3439907" y="438686"/>
            <a:ext cx="2255044" cy="4068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51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3ED202-B4EB-3BAD-C0AA-5D4F73FC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From the </a:t>
            </a:r>
            <a:r>
              <a:rPr lang="it-IT" dirty="0" err="1"/>
              <a:t>Truth</a:t>
            </a:r>
            <a:r>
              <a:rPr lang="it-IT" dirty="0"/>
              <a:t> </a:t>
            </a:r>
            <a:r>
              <a:rPr lang="it-IT" dirty="0" err="1"/>
              <a:t>Table</a:t>
            </a:r>
            <a:r>
              <a:rPr lang="it-IT" dirty="0"/>
              <a:t> to the </a:t>
            </a:r>
            <a:r>
              <a:rPr lang="it-IT" dirty="0" err="1"/>
              <a:t>Function</a:t>
            </a:r>
            <a:endParaRPr lang="en-US" dirty="0"/>
          </a:p>
        </p:txBody>
      </p:sp>
      <p:sp>
        <p:nvSpPr>
          <p:cNvPr id="23" name="Segnaposto contenuto 2">
            <a:extLst>
              <a:ext uri="{FF2B5EF4-FFF2-40B4-BE49-F238E27FC236}">
                <a16:creationId xmlns:a16="http://schemas.microsoft.com/office/drawing/2014/main" xmlns="" id="{1205740C-9D5A-44CC-B804-FD81D5521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4438" y="1006866"/>
            <a:ext cx="5322016" cy="3308280"/>
          </a:xfrm>
        </p:spPr>
        <p:txBody>
          <a:bodyPr>
            <a:no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for values "1" in the output column.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will represent generic terms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SAB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function.</a:t>
            </a:r>
          </a:p>
          <a:p>
            <a:pPr lvl="1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 + SAB + SAB +SAB </a:t>
            </a:r>
            <a:b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it-IT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four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"1“)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consider the values ​​of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S, 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rows selected above.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their zero value, the variable must be complemented.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76237" lvl="1" indent="0">
              <a:buNone/>
            </a:pP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96712" y="428402"/>
            <a:ext cx="2255044" cy="4068365"/>
            <a:chOff x="1230960" y="-198312"/>
            <a:chExt cx="2255044" cy="4068365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xmlns="" id="{F1E156EE-4541-B6CB-2DF2-DBB9B69B03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903"/>
            <a:stretch/>
          </p:blipFill>
          <p:spPr bwMode="auto">
            <a:xfrm>
              <a:off x="1230960" y="-198312"/>
              <a:ext cx="2255044" cy="4068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ttangolo con angoli arrotondati 17">
              <a:extLst>
                <a:ext uri="{FF2B5EF4-FFF2-40B4-BE49-F238E27FC236}">
                  <a16:creationId xmlns:a16="http://schemas.microsoft.com/office/drawing/2014/main" xmlns="" id="{B0A8E89B-AE2F-C2B2-86AF-3C21B8BFE11F}"/>
                </a:ext>
              </a:extLst>
            </p:cNvPr>
            <p:cNvSpPr/>
            <p:nvPr/>
          </p:nvSpPr>
          <p:spPr>
            <a:xfrm>
              <a:off x="1384300" y="1409698"/>
              <a:ext cx="1847850" cy="323850"/>
            </a:xfrm>
            <a:prstGeom prst="roundRect">
              <a:avLst/>
            </a:prstGeom>
            <a:noFill/>
            <a:ln w="28575">
              <a:solidFill>
                <a:srgbClr val="82B3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19" name="Rettangolo con angoli arrotondati 18">
              <a:extLst>
                <a:ext uri="{FF2B5EF4-FFF2-40B4-BE49-F238E27FC236}">
                  <a16:creationId xmlns:a16="http://schemas.microsoft.com/office/drawing/2014/main" xmlns="" id="{205B3E04-6BD7-9987-14D7-119FB601A95C}"/>
                </a:ext>
              </a:extLst>
            </p:cNvPr>
            <p:cNvSpPr/>
            <p:nvPr/>
          </p:nvSpPr>
          <p:spPr>
            <a:xfrm>
              <a:off x="1384300" y="1779695"/>
              <a:ext cx="1847850" cy="323850"/>
            </a:xfrm>
            <a:prstGeom prst="roundRect">
              <a:avLst/>
            </a:prstGeom>
            <a:noFill/>
            <a:ln w="28575">
              <a:solidFill>
                <a:srgbClr val="82B3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xmlns="" id="{33CE7E70-51C5-7CBE-8CAA-1B320E4D60BB}"/>
                </a:ext>
              </a:extLst>
            </p:cNvPr>
            <p:cNvSpPr/>
            <p:nvPr/>
          </p:nvSpPr>
          <p:spPr>
            <a:xfrm>
              <a:off x="1384300" y="2588265"/>
              <a:ext cx="1847850" cy="323850"/>
            </a:xfrm>
            <a:prstGeom prst="roundRect">
              <a:avLst/>
            </a:prstGeom>
            <a:noFill/>
            <a:ln w="28575">
              <a:solidFill>
                <a:srgbClr val="82B3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xmlns="" id="{52C1B6C8-CD55-5BEB-3D2A-8F6F4EBB81B6}"/>
                </a:ext>
              </a:extLst>
            </p:cNvPr>
            <p:cNvSpPr/>
            <p:nvPr/>
          </p:nvSpPr>
          <p:spPr>
            <a:xfrm>
              <a:off x="1384300" y="3391575"/>
              <a:ext cx="1847850" cy="323850"/>
            </a:xfrm>
            <a:prstGeom prst="roundRect">
              <a:avLst/>
            </a:prstGeom>
            <a:noFill/>
            <a:ln w="28575">
              <a:solidFill>
                <a:srgbClr val="82B3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13">
                <a:extLst>
                  <a:ext uri="{FF2B5EF4-FFF2-40B4-BE49-F238E27FC236}">
                    <a16:creationId xmlns:a16="http://schemas.microsoft.com/office/drawing/2014/main" xmlns="" id="{2F36ED3C-9FBE-76C4-3F88-10BF6145DAD5}"/>
                  </a:ext>
                </a:extLst>
              </p:cNvPr>
              <p:cNvSpPr txBox="1"/>
              <p:nvPr/>
            </p:nvSpPr>
            <p:spPr>
              <a:xfrm>
                <a:off x="3647961" y="3376904"/>
                <a:ext cx="4495034" cy="377732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Inter" panose="02000503000000020004" pitchFamily="2" charset="0"/>
                      </a:rPr>
                      <m:t>𝑌</m:t>
                    </m:r>
                    <m:r>
                      <a:rPr lang="en-GB" sz="20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Inter" panose="02000503000000020004" pitchFamily="2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GB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000" dirty="0">
                    <a:solidFill>
                      <a:schemeClr val="accent2">
                        <a:lumMod val="75000"/>
                      </a:schemeClr>
                    </a:solidFill>
                    <a:latin typeface="Agency FB" panose="020B0503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GB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𝐴𝐵</m:t>
                    </m:r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acc>
                      <m:accPr>
                        <m:chr m:val="̅"/>
                        <m:ctrlPr>
                          <a:rPr lang="en-GB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𝑆𝐴𝐵</m:t>
                    </m:r>
                  </m:oMath>
                </a14:m>
                <a:endParaRPr lang="en-GB" sz="2000" dirty="0">
                  <a:solidFill>
                    <a:schemeClr val="accent2">
                      <a:lumMod val="75000"/>
                    </a:schemeClr>
                  </a:solidFill>
                  <a:latin typeface="Agency FB" panose="020B0503020202020204" pitchFamily="34" charset="0"/>
                </a:endParaRPr>
              </a:p>
            </p:txBody>
          </p:sp>
        </mc:Choice>
        <mc:Fallback xmlns="">
          <p:sp>
            <p:nvSpPr>
              <p:cNvPr id="24" name="CasellaDiTesto 13">
                <a:extLst>
                  <a:ext uri="{FF2B5EF4-FFF2-40B4-BE49-F238E27FC236}">
                    <a16:creationId xmlns:a16="http://schemas.microsoft.com/office/drawing/2014/main" id="{2F36ED3C-9FBE-76C4-3F88-10BF6145D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961" y="3376904"/>
                <a:ext cx="4495034" cy="377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81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Function to the Circuit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23680"/>
            <a:ext cx="7204415" cy="362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967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 Minimization (if possible)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1488559" y="985741"/>
            <a:ext cx="6209414" cy="1470394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 of the function can be minimized using some properties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Boolean Algebra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helpful for making the circuit more efficient (smaller, i.e., fewer gates, faster, and lower power consuming)</a:t>
            </a: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305" y="2538302"/>
            <a:ext cx="4810125" cy="183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132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xmlns="" id="{FFAFC1BD-2038-3B1D-9AF8-61DC3214E982}"/>
                  </a:ext>
                </a:extLst>
              </p:cNvPr>
              <p:cNvSpPr txBox="1"/>
              <p:nvPr/>
            </p:nvSpPr>
            <p:spPr>
              <a:xfrm>
                <a:off x="2866854" y="848756"/>
                <a:ext cx="4099135" cy="701539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1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sz="41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sz="41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41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41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4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4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4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4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1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41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FAFC1BD-2038-3B1D-9AF8-61DC3214E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854" y="848756"/>
                <a:ext cx="4099135" cy="70153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2">
            <a:extLst>
              <a:ext uri="{FF2B5EF4-FFF2-40B4-BE49-F238E27FC236}">
                <a16:creationId xmlns:a16="http://schemas.microsoft.com/office/drawing/2014/main" xmlns="" id="{B4BB3DD9-6873-2993-7495-686ACDB59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921" y="1787555"/>
            <a:ext cx="3829002" cy="264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Function to the Circuit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015341" y="3384465"/>
            <a:ext cx="5937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5341" y="1862446"/>
            <a:ext cx="59376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15454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Impact of Design Choices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xmlns="" id="{E8C09944-3C44-3077-975E-5E9910923194}"/>
              </a:ext>
            </a:extLst>
          </p:cNvPr>
          <p:cNvSpPr txBox="1"/>
          <p:nvPr/>
        </p:nvSpPr>
        <p:spPr>
          <a:xfrm>
            <a:off x="1929582" y="1789312"/>
            <a:ext cx="5136236" cy="154657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Different implementations can lead to circuits with the same functionality, </a:t>
            </a:r>
            <a:r>
              <a:rPr lang="en-GB" sz="2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/>
            </a:r>
            <a:br>
              <a:rPr lang="en-GB" sz="2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sz="2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but </a:t>
            </a:r>
            <a:r>
              <a:rPr lang="en-GB" sz="2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with different area, speed, cost, and power consumption.</a:t>
            </a:r>
          </a:p>
        </p:txBody>
      </p:sp>
    </p:spTree>
    <p:extLst>
      <p:ext uri="{BB962C8B-B14F-4D97-AF65-F5344CB8AC3E}">
        <p14:creationId xmlns:p14="http://schemas.microsoft.com/office/powerpoint/2010/main" val="214150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Area Minimization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93496379-7924-323E-716A-36B59C497333}"/>
              </a:ext>
            </a:extLst>
          </p:cNvPr>
          <p:cNvSpPr txBox="1"/>
          <p:nvPr/>
        </p:nvSpPr>
        <p:spPr>
          <a:xfrm>
            <a:off x="2420191" y="3562350"/>
            <a:ext cx="4303618" cy="6232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number of logic gates defines the area of the circuit. More gates means larger circuit.</a:t>
            </a:r>
          </a:p>
        </p:txBody>
      </p:sp>
      <p:pic>
        <p:nvPicPr>
          <p:cNvPr id="15" name="Picture 12">
            <a:extLst>
              <a:ext uri="{FF2B5EF4-FFF2-40B4-BE49-F238E27FC236}">
                <a16:creationId xmlns:a16="http://schemas.microsoft.com/office/drawing/2014/main" xmlns="" id="{B4BB3DD9-6873-2993-7495-686ACDB59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243052"/>
            <a:ext cx="2432388" cy="168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1219200" y="1169670"/>
            <a:ext cx="3733800" cy="1828800"/>
            <a:chOff x="990600" y="1200150"/>
            <a:chExt cx="3733800" cy="1828800"/>
          </a:xfrm>
        </p:grpSpPr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1200150"/>
              <a:ext cx="3623015" cy="1821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2895600" y="2800350"/>
              <a:ext cx="1828800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227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xmlns="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 Minimization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xmlns="" id="{5469EF6C-0C5E-E454-1987-53693C385F14}"/>
              </a:ext>
            </a:extLst>
          </p:cNvPr>
          <p:cNvSpPr txBox="1"/>
          <p:nvPr/>
        </p:nvSpPr>
        <p:spPr>
          <a:xfrm>
            <a:off x="1516045" y="3486150"/>
            <a:ext cx="6111911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Circuits with fewer levels of logic are faster than deeper circuits.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77C102D6-4D5F-2253-8F35-626001F65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657" y="1123950"/>
            <a:ext cx="3195743" cy="187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xmlns="" id="{6E9BB5B5-5300-C683-45AB-0AC296207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15" y="1338426"/>
            <a:ext cx="3710185" cy="144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97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Trade-Offs</a:t>
            </a:r>
          </a:p>
        </p:txBody>
      </p:sp>
      <p:sp>
        <p:nvSpPr>
          <p:cNvPr id="11" name="CasellaDiTesto 11">
            <a:extLst>
              <a:ext uri="{FF2B5EF4-FFF2-40B4-BE49-F238E27FC236}">
                <a16:creationId xmlns:a16="http://schemas.microsoft.com/office/drawing/2014/main" xmlns="" id="{E8C09944-3C44-3077-975E-5E9910923194}"/>
              </a:ext>
            </a:extLst>
          </p:cNvPr>
          <p:cNvSpPr txBox="1"/>
          <p:nvPr/>
        </p:nvSpPr>
        <p:spPr>
          <a:xfrm>
            <a:off x="433292" y="1190603"/>
            <a:ext cx="3556818" cy="255711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Often, optimizations do not move </a:t>
            </a:r>
            <a:b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all in the same direction.</a:t>
            </a:r>
          </a:p>
          <a:p>
            <a:pPr>
              <a:spcAft>
                <a:spcPts val="600"/>
              </a:spcAft>
              <a:buClr>
                <a:srgbClr val="003153"/>
              </a:buClr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Example: </a:t>
            </a:r>
          </a:p>
          <a:p>
            <a:pPr marL="342900" indent="-342900">
              <a:spcAft>
                <a:spcPts val="60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Area and delay require opposite optimizations. </a:t>
            </a:r>
          </a:p>
          <a:p>
            <a:pPr marL="342900" indent="-342900">
              <a:spcAft>
                <a:spcPts val="60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A fast circuit is large, a small circuit is slow.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027096" y="1072589"/>
            <a:ext cx="4375083" cy="3203930"/>
            <a:chOff x="4027096" y="1072589"/>
            <a:chExt cx="4375083" cy="3203930"/>
          </a:xfrm>
        </p:grpSpPr>
        <p:grpSp>
          <p:nvGrpSpPr>
            <p:cNvPr id="5" name="Group 4"/>
            <p:cNvGrpSpPr/>
            <p:nvPr/>
          </p:nvGrpSpPr>
          <p:grpSpPr>
            <a:xfrm>
              <a:off x="4027096" y="1072589"/>
              <a:ext cx="4375083" cy="3203930"/>
              <a:chOff x="1803069" y="890998"/>
              <a:chExt cx="4859244" cy="3558664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xmlns="" id="{42018F51-BFD0-5A96-2FC0-0F5B585B66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73184" y="890998"/>
                <a:ext cx="4405745" cy="35420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5712287" y="4049552"/>
                <a:ext cx="950026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Delay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803069" y="936172"/>
                <a:ext cx="950026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2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</a:t>
                </a: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5348175" y="1360968"/>
              <a:ext cx="119084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900" dirty="0" smtClean="0">
                  <a:solidFill>
                    <a:srgbClr val="9A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Fastest</a:t>
              </a:r>
              <a:br>
                <a:rPr lang="en-US" sz="900" dirty="0" smtClean="0">
                  <a:solidFill>
                    <a:srgbClr val="9A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900" dirty="0" smtClean="0">
                  <a:solidFill>
                    <a:srgbClr val="9A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implementation</a:t>
              </a:r>
              <a:endParaRPr lang="en-US" sz="900" dirty="0">
                <a:solidFill>
                  <a:srgbClr val="9A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51401" y="3097618"/>
              <a:ext cx="114831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900" dirty="0" smtClean="0">
                  <a:solidFill>
                    <a:srgbClr val="9A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Smallest</a:t>
              </a:r>
              <a:br>
                <a:rPr lang="en-US" sz="900" dirty="0" smtClean="0">
                  <a:solidFill>
                    <a:srgbClr val="9A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900" dirty="0" smtClean="0">
                  <a:solidFill>
                    <a:srgbClr val="9A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implementation</a:t>
              </a:r>
              <a:endParaRPr lang="en-US" sz="900" dirty="0">
                <a:solidFill>
                  <a:srgbClr val="9A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0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Trade-Offs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491" y="1122456"/>
            <a:ext cx="4224855" cy="2898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sellaDiTesto 11">
            <a:extLst>
              <a:ext uri="{FF2B5EF4-FFF2-40B4-BE49-F238E27FC236}">
                <a16:creationId xmlns:a16="http://schemas.microsoft.com/office/drawing/2014/main" xmlns="" id="{E8C09944-3C44-3077-975E-5E9910923194}"/>
              </a:ext>
            </a:extLst>
          </p:cNvPr>
          <p:cNvSpPr txBox="1"/>
          <p:nvPr/>
        </p:nvSpPr>
        <p:spPr>
          <a:xfrm>
            <a:off x="433292" y="1190603"/>
            <a:ext cx="3616194" cy="255711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Often, optimizations do not move </a:t>
            </a:r>
            <a:b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all in the same direction.</a:t>
            </a:r>
          </a:p>
          <a:p>
            <a:pPr algn="just">
              <a:spcAft>
                <a:spcPts val="600"/>
              </a:spcAft>
              <a:buClr>
                <a:srgbClr val="003153"/>
              </a:buClr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Example: </a:t>
            </a:r>
          </a:p>
          <a:p>
            <a:pPr marL="342900" indent="-342900" algn="just">
              <a:spcAft>
                <a:spcPts val="60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Power and delay require opposite optimizations. </a:t>
            </a:r>
          </a:p>
          <a:p>
            <a:pPr marL="342900" indent="-342900" algn="just">
              <a:spcAft>
                <a:spcPts val="60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A fast circuit is power-eager, a power-efficient circuit is slow.</a:t>
            </a:r>
          </a:p>
        </p:txBody>
      </p:sp>
    </p:spTree>
    <p:extLst>
      <p:ext uri="{BB962C8B-B14F-4D97-AF65-F5344CB8AC3E}">
        <p14:creationId xmlns:p14="http://schemas.microsoft.com/office/powerpoint/2010/main" val="362579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Design Exploration Capabilities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xmlns="" id="{E8C09944-3C44-3077-975E-5E9910923194}"/>
              </a:ext>
            </a:extLst>
          </p:cNvPr>
          <p:cNvSpPr txBox="1"/>
          <p:nvPr/>
        </p:nvSpPr>
        <p:spPr>
          <a:xfrm>
            <a:off x="1929582" y="787929"/>
            <a:ext cx="5136236" cy="356764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Different implementations can lead to circuits with the same functionality, but, with different area, speed, cost, and power consumption.</a:t>
            </a:r>
          </a:p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Need for </a:t>
            </a:r>
            <a:br>
              <a:rPr lang="en-GB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</a:br>
            <a:r>
              <a:rPr lang="en-GB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Design Space Exploration</a:t>
            </a:r>
            <a:br>
              <a:rPr lang="en-GB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</a:br>
            <a:r>
              <a:rPr lang="en-GB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capabilities.</a:t>
            </a:r>
          </a:p>
          <a:p>
            <a:pPr algn="ctr">
              <a:spcAft>
                <a:spcPts val="1350"/>
              </a:spcAft>
              <a:buClr>
                <a:srgbClr val="003153"/>
              </a:buClr>
            </a:pPr>
            <a:r>
              <a:rPr lang="en-GB" sz="20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Designers need to explore different design options in order to obtain implementations which are compliant with the given constraints.</a:t>
            </a:r>
          </a:p>
        </p:txBody>
      </p:sp>
    </p:spTree>
    <p:extLst>
      <p:ext uri="{BB962C8B-B14F-4D97-AF65-F5344CB8AC3E}">
        <p14:creationId xmlns:p14="http://schemas.microsoft.com/office/powerpoint/2010/main" val="322934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The Comparator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xmlns="" id="{D3DC82FC-2044-7B68-568C-54990A98DF5B}"/>
                  </a:ext>
                </a:extLst>
              </p:cNvPr>
              <p:cNvSpPr txBox="1"/>
              <p:nvPr/>
            </p:nvSpPr>
            <p:spPr>
              <a:xfrm>
                <a:off x="287079" y="595568"/>
                <a:ext cx="3522922" cy="4029308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The comparator is a combinational circuit that compares numbers expressed in binary format.</a:t>
                </a:r>
              </a:p>
              <a:p>
                <a:pPr algn="just">
                  <a:spcAft>
                    <a:spcPts val="1350"/>
                  </a:spcAft>
                  <a:buClr>
                    <a:srgbClr val="003153"/>
                  </a:buClr>
                </a:pPr>
                <a:r>
                  <a:rPr lang="en-GB" sz="1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Functionality: </a:t>
                </a:r>
                <a:br>
                  <a:rPr lang="en-GB" sz="1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</a:br>
                <a:r>
                  <a:rPr lang="en-GB" sz="16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The comparator checks if binary number A is less than, equal to, or greater than binary B.</a:t>
                </a:r>
              </a:p>
              <a:p>
                <a:pPr marL="0" lvl="1" algn="just">
                  <a:buClr>
                    <a:srgbClr val="003153"/>
                  </a:buClr>
                </a:pPr>
                <a:r>
                  <a:rPr lang="en-GB" sz="16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Identification of the variables:</a:t>
                </a:r>
              </a:p>
              <a:p>
                <a:pPr marL="361950" lvl="1" algn="just">
                  <a:buClr>
                    <a:srgbClr val="003153"/>
                  </a:buClr>
                </a:pPr>
                <a:r>
                  <a:rPr lang="en-GB" sz="16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INPUTS: </a:t>
                </a:r>
                <a:endParaRPr lang="en-GB" sz="1600" dirty="0" smtClean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marL="361950" lvl="1" algn="just">
                  <a:buClr>
                    <a:srgbClr val="003153"/>
                  </a:buClr>
                </a:pPr>
                <a:r>
                  <a:rPr lang="en-GB" sz="1600" dirty="0" smtClean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A </a:t>
                </a:r>
                <a:r>
                  <a:rPr lang="en-GB" sz="16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and B</a:t>
                </a:r>
              </a:p>
              <a:p>
                <a:pPr marL="361950" lvl="1" algn="just">
                  <a:buClr>
                    <a:srgbClr val="003153"/>
                  </a:buClr>
                </a:pPr>
                <a:endParaRPr lang="en-GB" sz="400" dirty="0" smtClean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marL="361950" lvl="1" algn="just">
                  <a:buClr>
                    <a:srgbClr val="003153"/>
                  </a:buClr>
                </a:pPr>
                <a:r>
                  <a:rPr lang="en-GB" sz="1600" dirty="0" smtClean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OUTPUTS</a:t>
                </a:r>
                <a:r>
                  <a:rPr lang="en-GB" sz="16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lvl="1" algn="just">
                  <a:spcAft>
                    <a:spcPts val="60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0 =1</m:t>
                      </m:r>
                      <m:r>
                        <m:rPr>
                          <m:nor/>
                        </m:rP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when</m:t>
                      </m:r>
                      <m:r>
                        <m:rPr>
                          <m:nor/>
                        </m:rP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600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600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&gt;</m:t>
                      </m:r>
                      <m:r>
                        <a:rPr lang="en-GB" sz="1600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𝐵</m:t>
                      </m:r>
                      <m: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6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otherwise</m:t>
                      </m:r>
                    </m:oMath>
                  </m:oMathPara>
                </a14:m>
                <a:endParaRPr lang="en-GB" sz="1600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marL="342900" lvl="1" algn="just">
                  <a:spcAft>
                    <a:spcPts val="60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1 =1</m:t>
                      </m:r>
                      <m:r>
                        <m:rPr>
                          <m:nor/>
                        </m:rP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when</m:t>
                      </m:r>
                      <m:r>
                        <m:rPr>
                          <m:nor/>
                        </m:rP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600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sz="1600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sz="1600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/>
                          <a:ea typeface="Inter" panose="02000503000000020004" pitchFamily="2" charset="0"/>
                        </a:rPr>
                        <m:t>𝐵</m:t>
                      </m:r>
                      <m:r>
                        <m:rPr>
                          <m:nor/>
                        </m:rP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600" b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0 </m:t>
                      </m:r>
                      <m:r>
                        <m:rPr>
                          <m:nor/>
                        </m:rP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otherwise</m:t>
                      </m:r>
                      <m:r>
                        <m:rPr>
                          <m:nor/>
                        </m:rPr>
                        <a:rPr lang="en-US" sz="16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ea typeface="Inter" panose="02000503000000020004" pitchFamily="2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GB" sz="1600" i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endParaRPr>
              </a:p>
              <a:p>
                <a:pPr marL="342900" lvl="1" algn="just">
                  <a:spcAft>
                    <a:spcPts val="600"/>
                  </a:spcAft>
                  <a:buClr>
                    <a:srgbClr val="003153"/>
                  </a:buClr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𝑌</m:t>
                    </m:r>
                    <m:r>
                      <a:rPr lang="en-US" sz="1600" b="0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2</m:t>
                    </m:r>
                    <m:r>
                      <a:rPr lang="en-US" sz="1600" b="0" i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 </m:t>
                    </m:r>
                    <m:r>
                      <a:rPr lang="en-US" sz="160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=1</m:t>
                    </m:r>
                    <m:r>
                      <a:rPr lang="en-US" sz="1600" b="0" i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Inter" panose="02000503000000020004" pitchFamily="2" charset="0"/>
                        <a:cs typeface="Times New Roman" panose="02020603050405020304" pitchFamily="18" charset="0"/>
                      </a:rPr>
                      <m:t>when</m:t>
                    </m:r>
                    <m:r>
                      <a:rPr lang="en-US" sz="1600" b="0" i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 </m:t>
                    </m:r>
                    <m:r>
                      <a:rPr lang="en-GB" sz="160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𝐴</m:t>
                    </m:r>
                    <m:r>
                      <a:rPr lang="en-GB" sz="160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&lt;</m:t>
                    </m:r>
                    <m:r>
                      <a:rPr lang="en-GB" sz="160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𝐵</m:t>
                    </m:r>
                    <m:r>
                      <a:rPr lang="en-US" sz="1600" b="0" i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/>
                        <a:ea typeface="Inter" panose="02000503000000020004" pitchFamily="2" charset="0"/>
                      </a:rPr>
                      <m:t>,</m:t>
                    </m:r>
                    <m:r>
                      <m:rPr>
                        <m:nor/>
                      </m:rPr>
                      <a:rPr lang="en-US" sz="160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Inter" panose="02000503000000020004" pitchFamily="2" charset="0"/>
                        <a:cs typeface="Times New Roman" panose="020206030504050203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sz="1600" b="0" i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Inter" panose="02000503000000020004" pitchFamily="2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Inter" panose="02000503000000020004" pitchFamily="2" charset="0"/>
                        <a:cs typeface="Times New Roman" panose="02020603050405020304" pitchFamily="18" charset="0"/>
                      </a:rPr>
                      <m:t>otherwise</m:t>
                    </m:r>
                  </m:oMath>
                </a14:m>
                <a:r>
                  <a:rPr lang="en-GB" sz="16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Inter" panose="02000503000000020004" pitchFamily="2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3DC82FC-2044-7B68-568C-54990A98D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79" y="595568"/>
                <a:ext cx="3522922" cy="4029308"/>
              </a:xfrm>
              <a:prstGeom prst="rect">
                <a:avLst/>
              </a:prstGeom>
              <a:blipFill rotWithShape="1">
                <a:blip r:embed="rId3"/>
                <a:stretch>
                  <a:fillRect l="-1557" t="-756" r="-1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124893" y="1467301"/>
            <a:ext cx="2551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493" y="2071780"/>
            <a:ext cx="4960776" cy="1607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728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32621C-650D-11F6-2328-AD9166B0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DE059E69-4ECD-122A-50F4-E58FDA9E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Functions and Circuits</a:t>
            </a:r>
            <a:endParaRPr lang="it-IT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93" y="961487"/>
            <a:ext cx="2775098" cy="1673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ounded Rectangle 14"/>
          <p:cNvSpPr/>
          <p:nvPr/>
        </p:nvSpPr>
        <p:spPr>
          <a:xfrm>
            <a:off x="301233" y="1951827"/>
            <a:ext cx="2488019" cy="251638"/>
          </a:xfrm>
          <a:prstGeom prst="roundRect">
            <a:avLst/>
          </a:prstGeom>
          <a:solidFill>
            <a:srgbClr val="92D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618" y="961487"/>
            <a:ext cx="2765052" cy="166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473" y="961487"/>
            <a:ext cx="2741968" cy="166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Rounded Rectangle 21"/>
          <p:cNvSpPr/>
          <p:nvPr/>
        </p:nvSpPr>
        <p:spPr>
          <a:xfrm>
            <a:off x="3341086" y="1328049"/>
            <a:ext cx="2488019" cy="251638"/>
          </a:xfrm>
          <a:prstGeom prst="roundRect">
            <a:avLst/>
          </a:prstGeom>
          <a:solidFill>
            <a:srgbClr val="92D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341086" y="2277924"/>
            <a:ext cx="2488019" cy="251638"/>
          </a:xfrm>
          <a:prstGeom prst="roundRect">
            <a:avLst/>
          </a:prstGeom>
          <a:solidFill>
            <a:srgbClr val="92D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379448" y="1643515"/>
            <a:ext cx="2488019" cy="251638"/>
          </a:xfrm>
          <a:prstGeom prst="roundRect">
            <a:avLst/>
          </a:prstGeom>
          <a:solidFill>
            <a:srgbClr val="92D05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928554" y="2735273"/>
            <a:ext cx="1233377" cy="369332"/>
            <a:chOff x="1047304" y="2438398"/>
            <a:chExt cx="1233377" cy="369332"/>
          </a:xfrm>
        </p:grpSpPr>
        <p:sp>
          <p:nvSpPr>
            <p:cNvPr id="16" name="TextBox 15"/>
            <p:cNvSpPr txBox="1"/>
            <p:nvPr/>
          </p:nvSpPr>
          <p:spPr>
            <a:xfrm>
              <a:off x="1047304" y="2438398"/>
              <a:ext cx="1233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Y0 = A·B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1976412" y="2483479"/>
              <a:ext cx="8506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711753" y="2731351"/>
            <a:ext cx="1720493" cy="369332"/>
            <a:chOff x="3499788" y="2438398"/>
            <a:chExt cx="1720493" cy="369332"/>
          </a:xfrm>
        </p:grpSpPr>
        <p:sp>
          <p:nvSpPr>
            <p:cNvPr id="26" name="TextBox 25"/>
            <p:cNvSpPr txBox="1"/>
            <p:nvPr/>
          </p:nvSpPr>
          <p:spPr>
            <a:xfrm>
              <a:off x="3499788" y="2438398"/>
              <a:ext cx="1720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Y1 = A·B + AB</a:t>
              </a:r>
            </a:p>
          </p:txBody>
        </p:sp>
        <p:cxnSp>
          <p:nvCxnSpPr>
            <p:cNvPr id="30" name="Straight Connector 29"/>
            <p:cNvCxnSpPr/>
            <p:nvPr/>
          </p:nvCxnSpPr>
          <p:spPr>
            <a:xfrm>
              <a:off x="4186649" y="2487401"/>
              <a:ext cx="8506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397665" y="2487401"/>
              <a:ext cx="8506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7006769" y="2735273"/>
            <a:ext cx="1233377" cy="369332"/>
            <a:chOff x="6911769" y="2438398"/>
            <a:chExt cx="1233377" cy="369332"/>
          </a:xfrm>
        </p:grpSpPr>
        <p:sp>
          <p:nvSpPr>
            <p:cNvPr id="25" name="TextBox 24"/>
            <p:cNvSpPr txBox="1"/>
            <p:nvPr/>
          </p:nvSpPr>
          <p:spPr>
            <a:xfrm>
              <a:off x="6911769" y="2438398"/>
              <a:ext cx="1233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Y2 = A·B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7627346" y="2500473"/>
              <a:ext cx="8506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26" y="3597415"/>
            <a:ext cx="2125032" cy="568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762" y="3597415"/>
            <a:ext cx="2141390" cy="584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799" y="3327374"/>
            <a:ext cx="3106802" cy="111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859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Circuit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062" y="661615"/>
            <a:ext cx="4809506" cy="382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606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The De-multiplexer Circuit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xmlns="" id="{D3DC82FC-2044-7B68-568C-54990A98DF5B}"/>
              </a:ext>
            </a:extLst>
          </p:cNvPr>
          <p:cNvSpPr txBox="1"/>
          <p:nvPr/>
        </p:nvSpPr>
        <p:spPr>
          <a:xfrm>
            <a:off x="287078" y="849484"/>
            <a:ext cx="3858202" cy="365997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14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de-multiplexer is a combinational circuit that performs the inverse task w.r.t. a multiplexer.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14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Functionality: </a:t>
            </a:r>
            <a:br>
              <a:rPr lang="en-GB" sz="14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sz="14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de-multiplexer receives data on an input line, E, and it transmits them on one out of 4 lines: O0, O1, O2 and O3, based on control inputs S0 and S1.</a:t>
            </a:r>
          </a:p>
          <a:p>
            <a:pPr marL="0" lvl="1" algn="just">
              <a:buClr>
                <a:srgbClr val="003153"/>
              </a:buClr>
            </a:pP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Identification of the variables:</a:t>
            </a:r>
          </a:p>
          <a:p>
            <a:pPr marL="361950" lvl="1" algn="just">
              <a:buClr>
                <a:srgbClr val="003153"/>
              </a:buClr>
            </a:pP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INPUTS: </a:t>
            </a:r>
          </a:p>
          <a:p>
            <a:pPr marL="361950" lvl="1" algn="just">
              <a:buClr>
                <a:srgbClr val="003153"/>
              </a:buClr>
            </a:pP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S0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, </a:t>
            </a: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S1, E</a:t>
            </a:r>
            <a:endParaRPr lang="en-GB" sz="14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361950" lvl="1" algn="just">
              <a:buClr>
                <a:srgbClr val="003153"/>
              </a:buClr>
            </a:pPr>
            <a:endParaRPr lang="en-GB" sz="1000" dirty="0" smtClean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361950" lvl="1" algn="just">
              <a:buClr>
                <a:srgbClr val="003153"/>
              </a:buClr>
            </a:pP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OUTPUTS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:</a:t>
            </a:r>
          </a:p>
          <a:p>
            <a:pPr marL="361950" lvl="1" algn="just">
              <a:buClr>
                <a:srgbClr val="003153"/>
              </a:buClr>
            </a:pP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O0 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E 	</a:t>
            </a: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when  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S0=0 and S1=0</a:t>
            </a:r>
          </a:p>
          <a:p>
            <a:pPr marL="361950" lvl="1" algn="just">
              <a:buClr>
                <a:srgbClr val="003153"/>
              </a:buClr>
            </a:pP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O1 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</a:t>
            </a: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 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	when  S0=0 and S1=1</a:t>
            </a:r>
          </a:p>
          <a:p>
            <a:pPr marL="361950" lvl="1" algn="just">
              <a:buClr>
                <a:srgbClr val="003153"/>
              </a:buClr>
            </a:pP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O2 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E 	when  S0=1 and </a:t>
            </a: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S1=0</a:t>
            </a:r>
          </a:p>
          <a:p>
            <a:pPr marL="361950" lvl="1" algn="just">
              <a:buClr>
                <a:srgbClr val="003153"/>
              </a:buClr>
            </a:pPr>
            <a:r>
              <a:rPr lang="en-GB" sz="1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O3 </a:t>
            </a:r>
            <a:r>
              <a:rPr lang="en-GB" sz="1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E 	when  S0=1 and S1=1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26323" y="829810"/>
            <a:ext cx="2551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922" y="1464431"/>
            <a:ext cx="4274868" cy="2829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95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Functions and Circuit</a:t>
            </a: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181" y="725323"/>
            <a:ext cx="4433177" cy="369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84" y="617305"/>
            <a:ext cx="3719018" cy="246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25" y="3208843"/>
            <a:ext cx="1913493" cy="140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866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Exam Passing Circuit</a:t>
            </a:r>
          </a:p>
        </p:txBody>
      </p:sp>
      <p:sp>
        <p:nvSpPr>
          <p:cNvPr id="4" name="CasellaDiTesto 10">
            <a:extLst>
              <a:ext uri="{FF2B5EF4-FFF2-40B4-BE49-F238E27FC236}">
                <a16:creationId xmlns:a16="http://schemas.microsoft.com/office/drawing/2014/main" xmlns="" id="{D3DC82FC-2044-7B68-568C-54990A98DF5B}"/>
              </a:ext>
            </a:extLst>
          </p:cNvPr>
          <p:cNvSpPr txBox="1"/>
          <p:nvPr/>
        </p:nvSpPr>
        <p:spPr>
          <a:xfrm>
            <a:off x="287078" y="736632"/>
            <a:ext cx="4102042" cy="391645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Combinational circuits that checks the existence of some input conditions.</a:t>
            </a:r>
          </a:p>
          <a:p>
            <a:pPr algn="just">
              <a:spcAft>
                <a:spcPts val="60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Functionality: </a:t>
            </a:r>
            <a:b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 pass an exam, a student should pass two written tests (S1 and S2), or a written test (S1 or S2) and an oral test (O). </a:t>
            </a:r>
          </a:p>
          <a:p>
            <a:pPr marL="0" lvl="1" algn="just">
              <a:buClr>
                <a:srgbClr val="003153"/>
              </a:buClr>
            </a:pP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Identification of the variables:</a:t>
            </a:r>
          </a:p>
          <a:p>
            <a:pPr marL="361950" lvl="1" algn="just">
              <a:buClr>
                <a:srgbClr val="003153"/>
              </a:buClr>
            </a:pP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INPUTS: </a:t>
            </a:r>
          </a:p>
          <a:p>
            <a:pPr marL="361950" lvl="1" algn="just">
              <a:buClr>
                <a:srgbClr val="003153"/>
              </a:buClr>
            </a:pP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S1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, S2, </a:t>
            </a: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</a:t>
            </a:r>
          </a:p>
          <a:p>
            <a:pPr marL="361950" lvl="1" algn="just">
              <a:buClr>
                <a:srgbClr val="003153"/>
              </a:buClr>
            </a:pPr>
            <a:endParaRPr lang="en-GB" sz="10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361950" lvl="1" algn="just">
              <a:buClr>
                <a:srgbClr val="003153"/>
              </a:buClr>
            </a:pP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OUTPUTS:</a:t>
            </a:r>
          </a:p>
          <a:p>
            <a:pPr marL="361950" lvl="1">
              <a:buClr>
                <a:srgbClr val="003153"/>
              </a:buClr>
            </a:pP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1 when S1 = 1 and S2 = 1 or</a:t>
            </a:r>
            <a:b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                  </a:t>
            </a: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S1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1 and </a:t>
            </a: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1 or</a:t>
            </a:r>
            <a:b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                  </a:t>
            </a: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S2 =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1 and </a:t>
            </a: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1 or</a:t>
            </a:r>
          </a:p>
          <a:p>
            <a:pPr marL="361950" lvl="1">
              <a:buClr>
                <a:srgbClr val="003153"/>
              </a:buClr>
            </a:pP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                  </a:t>
            </a:r>
            <a:r>
              <a:rPr lang="en-GB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S1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1 and S2 = 1 and O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76343" y="736632"/>
            <a:ext cx="2551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869" y="1288136"/>
            <a:ext cx="2686227" cy="3155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780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Functions and Circuit</a:t>
            </a:r>
            <a:endParaRPr 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297" y="746092"/>
            <a:ext cx="4826363" cy="1550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99" y="930331"/>
            <a:ext cx="2894079" cy="3399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297" y="2365663"/>
            <a:ext cx="4854055" cy="2102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585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Graduation Circuit</a:t>
            </a:r>
          </a:p>
        </p:txBody>
      </p:sp>
      <p:sp>
        <p:nvSpPr>
          <p:cNvPr id="4" name="CasellaDiTesto 10">
            <a:extLst>
              <a:ext uri="{FF2B5EF4-FFF2-40B4-BE49-F238E27FC236}">
                <a16:creationId xmlns:a16="http://schemas.microsoft.com/office/drawing/2014/main" xmlns="" id="{D3DC82FC-2044-7B68-568C-54990A98DF5B}"/>
              </a:ext>
            </a:extLst>
          </p:cNvPr>
          <p:cNvSpPr txBox="1"/>
          <p:nvPr/>
        </p:nvSpPr>
        <p:spPr>
          <a:xfrm>
            <a:off x="549968" y="834095"/>
            <a:ext cx="4124902" cy="375230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Combinational circuits that checks the existence of some input conditions.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Functionality: </a:t>
            </a:r>
            <a:b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 student can graduate if he/she has passed all the exams (E) and he/she has done a thesis (T) or a stage (S).</a:t>
            </a:r>
          </a:p>
          <a:p>
            <a:pPr marL="0" lvl="1" algn="just">
              <a:buClr>
                <a:srgbClr val="003153"/>
              </a:buClr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Identification of the variables:</a:t>
            </a:r>
          </a:p>
          <a:p>
            <a:pPr marL="361950" lvl="1" algn="just">
              <a:buClr>
                <a:srgbClr val="003153"/>
              </a:buClr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INPUTS: </a:t>
            </a:r>
          </a:p>
          <a:p>
            <a:pPr marL="361950" lvl="1" algn="just">
              <a:buClr>
                <a:srgbClr val="003153"/>
              </a:buClr>
            </a:pP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, T, S</a:t>
            </a:r>
          </a:p>
          <a:p>
            <a:pPr marL="361950" lvl="1" algn="just">
              <a:buClr>
                <a:srgbClr val="003153"/>
              </a:buClr>
            </a:pPr>
            <a:endParaRPr lang="en-GB" sz="1200" dirty="0" smtClean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361950" lvl="1" algn="just">
              <a:buClr>
                <a:srgbClr val="003153"/>
              </a:buClr>
            </a:pP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OUTPUTS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:</a:t>
            </a:r>
          </a:p>
          <a:p>
            <a:pPr marL="361950" lvl="1" algn="just">
              <a:buClr>
                <a:srgbClr val="003153"/>
              </a:buClr>
            </a:pP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= 1 when E = 1 and (T = 1 or S =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17323" y="634411"/>
            <a:ext cx="2551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182" y="1173001"/>
            <a:ext cx="2697212" cy="3168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729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Functions and Circuit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86" y="843560"/>
            <a:ext cx="2826328" cy="331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629" y="743667"/>
            <a:ext cx="3644604" cy="146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69301"/>
            <a:ext cx="3727862" cy="2030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338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Moore’s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568" y="1227851"/>
            <a:ext cx="7488619" cy="2687799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Moore's Law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 transistors in an chip </a:t>
            </a:r>
            <a:br>
              <a:rPr lang="en-US" sz="4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doubles every two years.</a:t>
            </a:r>
          </a:p>
        </p:txBody>
      </p:sp>
    </p:spTree>
    <p:extLst>
      <p:ext uri="{BB962C8B-B14F-4D97-AF65-F5344CB8AC3E}">
        <p14:creationId xmlns:p14="http://schemas.microsoft.com/office/powerpoint/2010/main" val="10573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Moore’s Law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116281" y="629392"/>
            <a:ext cx="7362701" cy="3962174"/>
            <a:chOff x="1116281" y="629392"/>
            <a:chExt cx="7362701" cy="396217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6281" y="666750"/>
              <a:ext cx="7196446" cy="3924816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7576457" y="629392"/>
              <a:ext cx="902525" cy="41563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07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Moore’s Law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375" y="662798"/>
            <a:ext cx="6563087" cy="3735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408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:a16="http://schemas.microsoft.com/office/drawing/2014/main" xmlns="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Human Computer</a:t>
            </a:r>
            <a:endParaRPr lang="en-GB" dirty="0"/>
          </a:p>
        </p:txBody>
      </p:sp>
      <p:pic>
        <p:nvPicPr>
          <p:cNvPr id="7" name="Picture 6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72" y="1066578"/>
            <a:ext cx="7543800" cy="339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9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"Attribution - Non commercial 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9394C041-C18A-46FD-9B3C-ADB3D7FFE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6" y="1586235"/>
            <a:ext cx="1523999" cy="67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xmlns="" id="{EEBFC921-7D9A-3E46-F3DC-0A403C48E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3109156"/>
            <a:ext cx="1544330" cy="113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6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7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8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9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10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11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:a16="http://schemas.microsoft.com/office/drawing/2014/main" xmlns="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:a16="http://schemas.microsoft.com/office/drawing/2014/main" xmlns="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:a16="http://schemas.microsoft.com/office/drawing/2014/main" xmlns="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:a16="http://schemas.microsoft.com/office/drawing/2014/main" xmlns="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:a16="http://schemas.microsoft.com/office/drawing/2014/main" xmlns="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:a16="http://schemas.microsoft.com/office/drawing/2014/main" xmlns="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xmlns="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xmlns="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1225</TotalTime>
  <Words>2320</Words>
  <Application>Microsoft Office PowerPoint</Application>
  <PresentationFormat>On-screen Show (16:9)</PresentationFormat>
  <Paragraphs>425</Paragraphs>
  <Slides>65</Slides>
  <Notes>44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7" baseType="lpstr">
      <vt:lpstr>3_Office Theme</vt:lpstr>
      <vt:lpstr>VISIO</vt:lpstr>
      <vt:lpstr>Lecture 2 Fundamentals of Digital Design (Part I)</vt:lpstr>
      <vt:lpstr>Table of Contents</vt:lpstr>
      <vt:lpstr>Digital computation</vt:lpstr>
      <vt:lpstr>Digital computation (cont.)</vt:lpstr>
      <vt:lpstr>The Logic of the Computers (Boolean)</vt:lpstr>
      <vt:lpstr>Boolean Algebra</vt:lpstr>
      <vt:lpstr>Logic Operators</vt:lpstr>
      <vt:lpstr>Logic Functions and Truth Tables</vt:lpstr>
      <vt:lpstr>Logic Operators: NOT</vt:lpstr>
      <vt:lpstr>Logic Operators: NOT</vt:lpstr>
      <vt:lpstr>Logic Operators: AND</vt:lpstr>
      <vt:lpstr>Logic Operators: AND</vt:lpstr>
      <vt:lpstr>Logic Operators: AND</vt:lpstr>
      <vt:lpstr>Logic Operators: OR</vt:lpstr>
      <vt:lpstr>Logic Operators: OR</vt:lpstr>
      <vt:lpstr>Logic Operators: OR</vt:lpstr>
      <vt:lpstr>Composed Logic Operators</vt:lpstr>
      <vt:lpstr>Composed Logic Operators: NAND</vt:lpstr>
      <vt:lpstr>Composed Logic Operators: NOR</vt:lpstr>
      <vt:lpstr>Composed Logic Operators: XOR</vt:lpstr>
      <vt:lpstr>Table of Contents</vt:lpstr>
      <vt:lpstr>From Logic Operators to Logic Gates</vt:lpstr>
      <vt:lpstr>From Logic Operators to Logic Gates</vt:lpstr>
      <vt:lpstr>From Logic Operators to Logic Gates</vt:lpstr>
      <vt:lpstr>From Logic Operators to Logic Gates</vt:lpstr>
      <vt:lpstr>Inside a Logic Gate</vt:lpstr>
      <vt:lpstr>MOS Transistors as Switches</vt:lpstr>
      <vt:lpstr>CMOS Inverter</vt:lpstr>
      <vt:lpstr>CMOS Inverter</vt:lpstr>
      <vt:lpstr>CMOS Inverter</vt:lpstr>
      <vt:lpstr>Transistor Size Scaling</vt:lpstr>
      <vt:lpstr>Table of Contents</vt:lpstr>
      <vt:lpstr>Logic Circuits</vt:lpstr>
      <vt:lpstr>Combinational Circuits</vt:lpstr>
      <vt:lpstr>Combinational Circuits</vt:lpstr>
      <vt:lpstr>Combinational Circuits</vt:lpstr>
      <vt:lpstr>Combinational Circuits</vt:lpstr>
      <vt:lpstr>From the specification to the circuit</vt:lpstr>
      <vt:lpstr>Example: The Multiplexer Circuit</vt:lpstr>
      <vt:lpstr>Example: The Multiplexer Circuit</vt:lpstr>
      <vt:lpstr>The Truth Table</vt:lpstr>
      <vt:lpstr>From the Truth Table to the Function</vt:lpstr>
      <vt:lpstr>From the Function to the Circuit</vt:lpstr>
      <vt:lpstr>Function Minimization (if possible)</vt:lpstr>
      <vt:lpstr>From the Function to the Circuit</vt:lpstr>
      <vt:lpstr>The Impact of Design Choices</vt:lpstr>
      <vt:lpstr>Area Minimization</vt:lpstr>
      <vt:lpstr>Delay Minimization</vt:lpstr>
      <vt:lpstr>Design Trade-Offs</vt:lpstr>
      <vt:lpstr>Design Trade-Offs</vt:lpstr>
      <vt:lpstr>Need for Design Exploration Capabilities</vt:lpstr>
      <vt:lpstr>Example: The Comparator Circuit</vt:lpstr>
      <vt:lpstr>Logic Functions and Circuits</vt:lpstr>
      <vt:lpstr>Complete Circuit</vt:lpstr>
      <vt:lpstr>Example: The De-multiplexer Circuit</vt:lpstr>
      <vt:lpstr>Logic Functions and Circuit</vt:lpstr>
      <vt:lpstr>Example: Exam Passing Circuit</vt:lpstr>
      <vt:lpstr>Logic Functions and Circuit</vt:lpstr>
      <vt:lpstr>Example: Graduation Circuit</vt:lpstr>
      <vt:lpstr>Logic Functions and Circuit</vt:lpstr>
      <vt:lpstr>Moore’s Law</vt:lpstr>
      <vt:lpstr>Moore’s Law</vt:lpstr>
      <vt:lpstr>Moore’s Law</vt:lpstr>
      <vt:lpstr>The Human Computer</vt:lpstr>
      <vt:lpstr>Authorship &amp; License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utente</cp:lastModifiedBy>
  <cp:revision>88</cp:revision>
  <cp:lastPrinted>2025-11-05T21:59:04Z</cp:lastPrinted>
  <dcterms:created xsi:type="dcterms:W3CDTF">2006-08-16T00:00:00Z</dcterms:created>
  <dcterms:modified xsi:type="dcterms:W3CDTF">2025-11-05T22:00:02Z</dcterms:modified>
</cp:coreProperties>
</file>