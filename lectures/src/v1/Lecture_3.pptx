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handoutMasterIdLst>
    <p:handoutMasterId r:id="rId53"/>
  </p:handoutMasterIdLst>
  <p:sldIdLst>
    <p:sldId id="257" r:id="rId2"/>
    <p:sldId id="259" r:id="rId3"/>
    <p:sldId id="290" r:id="rId4"/>
    <p:sldId id="291" r:id="rId5"/>
    <p:sldId id="292" r:id="rId6"/>
    <p:sldId id="322" r:id="rId7"/>
    <p:sldId id="293" r:id="rId8"/>
    <p:sldId id="314" r:id="rId9"/>
    <p:sldId id="294" r:id="rId10"/>
    <p:sldId id="315" r:id="rId11"/>
    <p:sldId id="295" r:id="rId12"/>
    <p:sldId id="316" r:id="rId13"/>
    <p:sldId id="296" r:id="rId14"/>
    <p:sldId id="317" r:id="rId15"/>
    <p:sldId id="297" r:id="rId16"/>
    <p:sldId id="318" r:id="rId17"/>
    <p:sldId id="298" r:id="rId18"/>
    <p:sldId id="319" r:id="rId19"/>
    <p:sldId id="299" r:id="rId20"/>
    <p:sldId id="320" r:id="rId21"/>
    <p:sldId id="300" r:id="rId22"/>
    <p:sldId id="321" r:id="rId23"/>
    <p:sldId id="301" r:id="rId24"/>
    <p:sldId id="323" r:id="rId25"/>
    <p:sldId id="302" r:id="rId26"/>
    <p:sldId id="303" r:id="rId27"/>
    <p:sldId id="305" r:id="rId28"/>
    <p:sldId id="324" r:id="rId29"/>
    <p:sldId id="304" r:id="rId30"/>
    <p:sldId id="325" r:id="rId31"/>
    <p:sldId id="306" r:id="rId32"/>
    <p:sldId id="260" r:id="rId33"/>
    <p:sldId id="262" r:id="rId34"/>
    <p:sldId id="264" r:id="rId35"/>
    <p:sldId id="263" r:id="rId36"/>
    <p:sldId id="265" r:id="rId37"/>
    <p:sldId id="266" r:id="rId38"/>
    <p:sldId id="268" r:id="rId39"/>
    <p:sldId id="326" r:id="rId40"/>
    <p:sldId id="289" r:id="rId41"/>
    <p:sldId id="275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312" r:id="rId51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8200" autoAdjust="0"/>
    <p:restoredTop sz="94671" autoAdjust="0"/>
  </p:normalViewPr>
  <p:slideViewPr>
    <p:cSldViewPr snapToGrid="0">
      <p:cViewPr>
        <p:scale>
          <a:sx n="90" d="100"/>
          <a:sy n="90" d="100"/>
        </p:scale>
        <p:origin x="-1368" y="-15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6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4433C-9D29-4F7F-927C-B93141F4CE3B}" type="datetime1">
              <a:rPr lang="it-IT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E4E16-DE3A-4970-981E-97958BA37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3058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0B9385A6-8ED5-45F2-8B4D-21EA00FC0445}" type="datetime1">
              <a:rPr lang="it-IT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3DBCEE36-E678-417C-BF67-A610BE6D66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7026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C1F61C7-EDF3-4AED-8BF2-B80F2FE69590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99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DC7633E-080D-4645-B964-1EE35AD985C1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264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33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FC04321-357A-4F3E-ADC3-20EB62B42951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048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34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C35328-4DC8-4325-A7C3-F2244540CA39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90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9E0301-5D63-4218-B75E-159D7C474A4B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174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36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DF26B46-0290-42E5-963E-318C4D304B5C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354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37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23004AE-5090-481C-9BC6-EBADC2901E99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002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38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CCBC7B0-A1B8-4734-973D-23D2A1718A88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940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A641521-217D-E8B4-4AC4-12372127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="" xmlns:a16="http://schemas.microsoft.com/office/drawing/2014/main" id="{93EBB282-1CC6-502E-EA0C-300C35A5D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="" xmlns:a16="http://schemas.microsoft.com/office/drawing/2014/main" id="{F9FC8033-12EB-E449-AB23-25C3A4AAA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="" xmlns:a16="http://schemas.microsoft.com/office/drawing/2014/main" id="{7AA9BE8A-485E-D785-8B06-A620B360C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39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F32C252-8372-4AB9-826F-EB06A9BBD15B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986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41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8A0139A-DDB9-4554-BA7F-AEA3AB5B639B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4280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42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D3C459C-559A-4F68-BED9-BEB08AA938DF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302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43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2D9A9F6-19F5-4EFC-AE66-96BA1632A52F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86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44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F722006-392B-45F1-8485-BCFF50179C70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580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45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6AF9748-1126-4E60-B98E-CCC2A668BF77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6066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46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AA93471-DEE0-4A42-B50C-7A5F89B8B84F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99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47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3A04345-9B43-4E86-AB86-61C1646850BC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5524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48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D5A39F8-93FB-4A77-AB1F-6F22E500ACF3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094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49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8D1CCFB-BF79-4132-8513-8145C90E15BF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7614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50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555116B-396E-4733-9FAE-5762E6FE0647}" type="datetime1">
              <a:rPr lang="it-IT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="" xmlns:a16="http://schemas.microsoft.com/office/drawing/2014/main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="" xmlns:a16="http://schemas.microsoft.com/office/drawing/2014/main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12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="" xmlns:a16="http://schemas.microsoft.com/office/drawing/2014/main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0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4.png"/><Relationship Id="rId4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hyperlink" Target="mailto:daniele.jahier@polito.it" TargetMode="External"/><Relationship Id="rId13" Type="http://schemas.openxmlformats.org/officeDocument/2006/relationships/image" Target="../media/image44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gianvito.urgese@polito.it" TargetMode="External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hristian.conti@polito.it" TargetMode="External"/><Relationship Id="rId11" Type="http://schemas.openxmlformats.org/officeDocument/2006/relationships/hyperlink" Target="mailto:fabrizio.ferrandi@polimi.it" TargetMode="External"/><Relationship Id="rId5" Type="http://schemas.openxmlformats.org/officeDocument/2006/relationships/image" Target="../media/image42.png"/><Relationship Id="rId15" Type="http://schemas.openxmlformats.org/officeDocument/2006/relationships/image" Target="../media/image46.png"/><Relationship Id="rId10" Type="http://schemas.openxmlformats.org/officeDocument/2006/relationships/hyperlink" Target="mailto:cristiana.bolchini@polimi.it" TargetMode="External"/><Relationship Id="rId4" Type="http://schemas.openxmlformats.org/officeDocument/2006/relationships/image" Target="../media/image41.png"/><Relationship Id="rId9" Type="http://schemas.openxmlformats.org/officeDocument/2006/relationships/hyperlink" Target="mailto:enrico.macii@polito.it" TargetMode="External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23014"/>
            <a:ext cx="7772400" cy="1679944"/>
          </a:xfrm>
        </p:spPr>
        <p:txBody>
          <a:bodyPr>
            <a:noAutofit/>
          </a:bodyPr>
          <a:lstStyle/>
          <a:p>
            <a:r>
              <a:rPr lang="en-US" altLang="it-IT" sz="3600" dirty="0"/>
              <a:t>Lecture 3</a:t>
            </a:r>
            <a:r>
              <a:rPr lang="en-US" altLang="it-IT" sz="4000" dirty="0"/>
              <a:t/>
            </a:r>
            <a:br>
              <a:rPr lang="en-US" altLang="it-IT" sz="4000" dirty="0"/>
            </a:br>
            <a:r>
              <a:rPr lang="en-US" altLang="it-IT" sz="4000" dirty="0"/>
              <a:t>Introduction </a:t>
            </a:r>
            <a:r>
              <a:rPr lang="en-US" altLang="it-IT" sz="4000"/>
              <a:t>to </a:t>
            </a:r>
            <a:r>
              <a:rPr lang="en-US" altLang="it-IT" sz="4000" smtClean="0"/>
              <a:t/>
            </a:r>
            <a:br>
              <a:rPr lang="en-US" altLang="it-IT" sz="4000" smtClean="0"/>
            </a:br>
            <a:r>
              <a:rPr lang="en-US" altLang="it-IT" sz="4000" smtClean="0"/>
              <a:t>Design </a:t>
            </a:r>
            <a:r>
              <a:rPr lang="en-US" altLang="it-IT" sz="4000" dirty="0"/>
              <a:t>Flows and EDA Tools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23783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EE4079B4-E495-06FD-4909-A56E45781A20}"/>
              </a:ext>
            </a:extLst>
          </p:cNvPr>
          <p:cNvGrpSpPr/>
          <p:nvPr/>
        </p:nvGrpSpPr>
        <p:grpSpPr>
          <a:xfrm>
            <a:off x="2644982" y="1580948"/>
            <a:ext cx="3511178" cy="1981605"/>
            <a:chOff x="2644982" y="985451"/>
            <a:chExt cx="3511178" cy="1981605"/>
          </a:xfrm>
        </p:grpSpPr>
        <p:sp>
          <p:nvSpPr>
            <p:cNvPr id="4" name="Titolo 1">
              <a:extLst>
                <a:ext uri="{FF2B5EF4-FFF2-40B4-BE49-F238E27FC236}">
                  <a16:creationId xmlns="" xmlns:a16="http://schemas.microsoft.com/office/drawing/2014/main" id="{1A5BE501-CC99-A701-767E-8A43841E7D4D}"/>
                </a:ext>
              </a:extLst>
            </p:cNvPr>
            <p:cNvSpPr txBox="1">
              <a:spLocks/>
            </p:cNvSpPr>
            <p:nvPr/>
          </p:nvSpPr>
          <p:spPr>
            <a:xfrm>
              <a:off x="2698162" y="1154021"/>
              <a:ext cx="672188" cy="617771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="" xmlns:a16="http://schemas.microsoft.com/office/drawing/2014/main" id="{A7B033B1-6B8E-79DE-554B-11C3BE506AF6}"/>
                </a:ext>
              </a:extLst>
            </p:cNvPr>
            <p:cNvSpPr txBox="1"/>
            <p:nvPr/>
          </p:nvSpPr>
          <p:spPr>
            <a:xfrm>
              <a:off x="3456159" y="985451"/>
              <a:ext cx="2700000" cy="90024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Introduction to Design Flows and Electronic Design Automation Tools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="" xmlns:a16="http://schemas.microsoft.com/office/drawing/2014/main" id="{746DBC68-AFFD-F00D-5D7A-990AC71C4566}"/>
                </a:ext>
              </a:extLst>
            </p:cNvPr>
            <p:cNvSpPr txBox="1"/>
            <p:nvPr/>
          </p:nvSpPr>
          <p:spPr>
            <a:xfrm>
              <a:off x="3456160" y="2066810"/>
              <a:ext cx="2700000" cy="90024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Hands-on a real EDA tool, development of a basic logic function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itolo 1">
              <a:extLst>
                <a:ext uri="{FF2B5EF4-FFF2-40B4-BE49-F238E27FC236}">
                  <a16:creationId xmlns="" xmlns:a16="http://schemas.microsoft.com/office/drawing/2014/main" id="{88114B38-05D8-413A-53B5-1E641DAF01BA}"/>
                </a:ext>
              </a:extLst>
            </p:cNvPr>
            <p:cNvSpPr txBox="1">
              <a:spLocks/>
            </p:cNvSpPr>
            <p:nvPr/>
          </p:nvSpPr>
          <p:spPr>
            <a:xfrm>
              <a:off x="2644982" y="2208048"/>
              <a:ext cx="757999" cy="617771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505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55" y="759219"/>
            <a:ext cx="5304890" cy="368949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electronic circuit, a well defined “design flow” needs to be followed, consisting of specific steps.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Normally, the flow is divided into three sections:</a:t>
            </a:r>
          </a:p>
          <a:p>
            <a:pPr marL="271462" lvl="1" indent="0" algn="just">
              <a:buNone/>
            </a:pP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Front-end.</a:t>
            </a:r>
          </a:p>
          <a:p>
            <a:pPr marL="271462" lvl="1" indent="0" algn="just">
              <a:buNone/>
            </a:pPr>
            <a:r>
              <a:rPr lang="en-US" sz="1600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Back-end.</a:t>
            </a:r>
            <a:endParaRPr lang="en-US" sz="1600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1462" lvl="1" indent="0" algn="just">
              <a:buNone/>
            </a:pPr>
            <a:r>
              <a:rPr lang="en-US" sz="1600" i="1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Manufacturing.</a:t>
            </a:r>
            <a:endParaRPr lang="en-US" sz="1600" i="1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front-end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 charge of generating a netlist of gates starting from the circuit’s functional specification.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care of generating the physical description of the circuit.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flow creates the chip from the physical description.</a:t>
            </a:r>
          </a:p>
        </p:txBody>
      </p:sp>
    </p:spTree>
    <p:extLst>
      <p:ext uri="{BB962C8B-B14F-4D97-AF65-F5344CB8AC3E}">
        <p14:creationId xmlns:p14="http://schemas.microsoft.com/office/powerpoint/2010/main" val="3387592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Flow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29" y="830175"/>
            <a:ext cx="7319324" cy="3849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3994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1962" y="1422262"/>
            <a:ext cx="4500077" cy="229897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functionality, performance, power, area, and other requirements for the circuit.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high-level specification document detailing the design requirements, constraints, I/O definitions, and interfaces.</a:t>
            </a:r>
          </a:p>
        </p:txBody>
      </p:sp>
    </p:spTree>
    <p:extLst>
      <p:ext uri="{BB962C8B-B14F-4D97-AF65-F5344CB8AC3E}">
        <p14:creationId xmlns:p14="http://schemas.microsoft.com/office/powerpoint/2010/main" val="389141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</a:t>
            </a:r>
            <a:r>
              <a:rPr lang="en-US" dirty="0" smtClean="0"/>
              <a:t>Specification: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5167" y="1338316"/>
            <a:ext cx="5633666" cy="2466868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to be designed and manufactured requires: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to run imaging algorithms to support virtual reality.</a:t>
            </a: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ARM A53 processors with coherent interconnect and should run at 600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MHz.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3.0, Bluetooth and PCIe 2nd gen interfaces.</a:t>
            </a:r>
          </a:p>
          <a:p>
            <a:pPr marL="0" indent="0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it should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1920x1080 pixel display with appropriate controller.</a:t>
            </a:r>
          </a:p>
        </p:txBody>
      </p:sp>
    </p:spTree>
    <p:extLst>
      <p:ext uri="{BB962C8B-B14F-4D97-AF65-F5344CB8AC3E}">
        <p14:creationId xmlns:p14="http://schemas.microsoft.com/office/powerpoint/2010/main" val="274876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6632" y="661979"/>
            <a:ext cx="5470736" cy="381954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high-level architecture that meets the specification requirements.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data paths, control paths, memory requirements, and other system components.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feasibility studies and high-level simulations.</a:t>
            </a:r>
          </a:p>
          <a:p>
            <a:pPr marL="271462" lvl="1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diagrams, high-level descriptions of modules, and a detailed architecture specification.</a:t>
            </a:r>
          </a:p>
        </p:txBody>
      </p:sp>
    </p:spTree>
    <p:extLst>
      <p:ext uri="{BB962C8B-B14F-4D97-AF65-F5344CB8AC3E}">
        <p14:creationId xmlns:p14="http://schemas.microsoft.com/office/powerpoint/2010/main" val="347620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</a:t>
            </a:r>
            <a:r>
              <a:rPr lang="en-US" dirty="0" smtClean="0"/>
              <a:t>Design: </a:t>
            </a:r>
            <a:r>
              <a:rPr lang="en-US" dirty="0"/>
              <a:t>Example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3" y="1137683"/>
            <a:ext cx="7730658" cy="2849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3646968" y="925032"/>
            <a:ext cx="1286540" cy="1212112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=""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61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7814" y="726115"/>
            <a:ext cx="5168373" cy="36912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design in an HDL (Hardware Description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Language), such as Verilog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VHDL.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RTL code for various modules based on the architectural specification.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RTL code for functional verification using test-benches.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Synthesizable RTL code and test-benches.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199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</a:t>
            </a:r>
            <a:r>
              <a:rPr lang="en-US" dirty="0" smtClean="0"/>
              <a:t>Design: </a:t>
            </a:r>
            <a:r>
              <a:rPr lang="en-US" dirty="0"/>
              <a:t>Example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653" y="852575"/>
            <a:ext cx="3774833" cy="35483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525" y="935665"/>
            <a:ext cx="2815153" cy="3439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Left-Right Arrow 5"/>
          <p:cNvSpPr/>
          <p:nvPr/>
        </p:nvSpPr>
        <p:spPr>
          <a:xfrm>
            <a:off x="4731489" y="2456120"/>
            <a:ext cx="712381" cy="37214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97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7253" y="557538"/>
            <a:ext cx="5109494" cy="40284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that the RTL code matches the design specification and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it works correctly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simulation tools to check the functionality with various test cases.</a:t>
            </a:r>
          </a:p>
          <a:p>
            <a:pPr marL="271462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code coverage analysis to ensure the code is fully tested.</a:t>
            </a:r>
          </a:p>
          <a:p>
            <a:pPr marL="271462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 formal verification to prove certain design properties.</a:t>
            </a:r>
          </a:p>
          <a:p>
            <a:pPr marL="271462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RTL code and test results.</a:t>
            </a:r>
          </a:p>
        </p:txBody>
      </p:sp>
    </p:spTree>
    <p:extLst>
      <p:ext uri="{BB962C8B-B14F-4D97-AF65-F5344CB8AC3E}">
        <p14:creationId xmlns:p14="http://schemas.microsoft.com/office/powerpoint/2010/main" val="2444015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</a:t>
            </a:r>
            <a:r>
              <a:rPr lang="en-US" dirty="0" smtClean="0"/>
              <a:t>Verification: </a:t>
            </a:r>
            <a:r>
              <a:rPr lang="en-US" dirty="0"/>
              <a:t>Example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025" y="645319"/>
            <a:ext cx="4425950" cy="3852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8737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3483" y="654923"/>
            <a:ext cx="5077035" cy="38336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the RTL code into a gate-level netlist based on the target technology library.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synthesis tools (e.g., Synopsys Design Compiler) to translate RTL to a netlist.</a:t>
            </a:r>
          </a:p>
          <a:p>
            <a:pPr marL="271462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for performance, area, and power constraints.</a:t>
            </a:r>
          </a:p>
          <a:p>
            <a:pPr marL="271462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Gate-level netlist and synthesis reports (timing, area, power).</a:t>
            </a:r>
          </a:p>
        </p:txBody>
      </p:sp>
    </p:spTree>
    <p:extLst>
      <p:ext uri="{BB962C8B-B14F-4D97-AF65-F5344CB8AC3E}">
        <p14:creationId xmlns:p14="http://schemas.microsoft.com/office/powerpoint/2010/main" val="2101339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Synthesis: </a:t>
            </a:r>
            <a:r>
              <a:rPr lang="en-US" dirty="0"/>
              <a:t>Example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4769" y="737633"/>
            <a:ext cx="5394462" cy="3668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13727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for Testability (</a:t>
            </a:r>
            <a:r>
              <a:rPr lang="en-US" dirty="0" err="1"/>
              <a:t>DfT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1464" y="803158"/>
            <a:ext cx="4881072" cy="35371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testability features into the design to facilitate manufacturing testing.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scan chains for scan testing.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Built-In Self-Test (BIST) structures for memories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logic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blocks.</a:t>
            </a:r>
          </a:p>
          <a:p>
            <a:pPr marL="271462" lvl="1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gate-level netlist with DFT features.</a:t>
            </a:r>
          </a:p>
        </p:txBody>
      </p:sp>
    </p:spTree>
    <p:extLst>
      <p:ext uri="{BB962C8B-B14F-4D97-AF65-F5344CB8AC3E}">
        <p14:creationId xmlns:p14="http://schemas.microsoft.com/office/powerpoint/2010/main" val="4001818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for Testability (</a:t>
            </a:r>
            <a:r>
              <a:rPr lang="en-US" dirty="0" err="1"/>
              <a:t>DfT</a:t>
            </a:r>
            <a:r>
              <a:rPr lang="en-US" dirty="0" smtClean="0"/>
              <a:t>): </a:t>
            </a:r>
            <a:r>
              <a:rPr lang="en-US" dirty="0"/>
              <a:t>Example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2945" y="1014051"/>
            <a:ext cx="5878111" cy="3115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535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Floorplanning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0425" y="791869"/>
            <a:ext cx="5483150" cy="35597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physical layout and placement of the design components on the silicon die.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Partition the design into logical blocks.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 the placement of macro blocks (e.g., memories,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cores) and decide on routing paths.</a:t>
            </a:r>
          </a:p>
          <a:p>
            <a:pPr marL="271462" lvl="1" indent="0" algn="just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floorplan layout.</a:t>
            </a:r>
          </a:p>
        </p:txBody>
      </p:sp>
    </p:spTree>
    <p:extLst>
      <p:ext uri="{BB962C8B-B14F-4D97-AF65-F5344CB8AC3E}">
        <p14:creationId xmlns:p14="http://schemas.microsoft.com/office/powerpoint/2010/main" val="3008653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Floorplanning</a:t>
            </a:r>
            <a:r>
              <a:rPr lang="en-US" dirty="0" smtClean="0"/>
              <a:t>: </a:t>
            </a:r>
            <a:r>
              <a:rPr lang="en-US" dirty="0"/>
              <a:t>Example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863" y="595313"/>
            <a:ext cx="5248275" cy="395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018199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5793" y="951285"/>
            <a:ext cx="5272415" cy="32409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 standard cells on the chip according to the floorplan.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cell placement optimization to minimize wire length and meet timing constraints.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placement layout.</a:t>
            </a:r>
          </a:p>
        </p:txBody>
      </p:sp>
    </p:spTree>
    <p:extLst>
      <p:ext uri="{BB962C8B-B14F-4D97-AF65-F5344CB8AC3E}">
        <p14:creationId xmlns:p14="http://schemas.microsoft.com/office/powerpoint/2010/main" val="1094479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Placement: </a:t>
            </a:r>
            <a:r>
              <a:rPr lang="en-US" dirty="0"/>
              <a:t>Example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956" y="768554"/>
            <a:ext cx="7200088" cy="3606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2481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Tree Synthesis (CTS)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7122" y="973367"/>
            <a:ext cx="5729757" cy="3196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the clock distribution network to minimize skew and latency.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and optimize the clock tree, ensuring minimal skew across clock paths.</a:t>
            </a:r>
          </a:p>
          <a:p>
            <a:pPr marL="271462" lvl="1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tree layout with balanced clock paths.</a:t>
            </a:r>
          </a:p>
        </p:txBody>
      </p:sp>
    </p:spTree>
    <p:extLst>
      <p:ext uri="{BB962C8B-B14F-4D97-AF65-F5344CB8AC3E}">
        <p14:creationId xmlns:p14="http://schemas.microsoft.com/office/powerpoint/2010/main" val="1211035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Tree Synthesis (CTS</a:t>
            </a:r>
            <a:r>
              <a:rPr lang="en-US" dirty="0" smtClean="0"/>
              <a:t>): </a:t>
            </a:r>
            <a:r>
              <a:rPr lang="en-US" dirty="0"/>
              <a:t>Example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291" y="581468"/>
            <a:ext cx="5307418" cy="3980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46887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2512" y="816329"/>
            <a:ext cx="5138976" cy="35108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the physical connections between placed cells using metal layers.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global routing followed by detailed routing.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routing to minimize congestion, crosstalk, and meet signal integrity constraints.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Routed design layout.</a:t>
            </a:r>
          </a:p>
        </p:txBody>
      </p:sp>
    </p:spTree>
    <p:extLst>
      <p:ext uri="{BB962C8B-B14F-4D97-AF65-F5344CB8AC3E}">
        <p14:creationId xmlns:p14="http://schemas.microsoft.com/office/powerpoint/2010/main" val="26068957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Routing: </a:t>
            </a:r>
            <a:r>
              <a:rPr lang="en-US" dirty="0"/>
              <a:t>Example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903" y="680004"/>
            <a:ext cx="6732194" cy="3783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5813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2587" y="1196387"/>
            <a:ext cx="5976523" cy="27507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sign-off process typically involves a comprehensive checklist to ensure no aspects are missed, including: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closure (all timing paths meet requirements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analysis (total power, IR drop, and thermal analysis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integrity (crosstalk, noise,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electromigration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verification (DRC, LVS, and antenna checks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coverage (DFT and fault coverage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readiness (DFM checks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890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Tape-Out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4016" y="1024771"/>
            <a:ext cx="4695969" cy="309395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Finalize the design for manufacturing.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all design files (GDSII, layout files, timing constraints) and send them to the foundry.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Tape-out package ready for fabrication.</a:t>
            </a:r>
          </a:p>
        </p:txBody>
      </p:sp>
    </p:spTree>
    <p:extLst>
      <p:ext uri="{BB962C8B-B14F-4D97-AF65-F5344CB8AC3E}">
        <p14:creationId xmlns:p14="http://schemas.microsoft.com/office/powerpoint/2010/main" val="3064365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1378" y="1397806"/>
            <a:ext cx="5441244" cy="23478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 the silicon wafers using photolithography and other semiconductor processes.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 wafers with multiple die.</a:t>
            </a:r>
          </a:p>
        </p:txBody>
      </p:sp>
    </p:spTree>
    <p:extLst>
      <p:ext uri="{BB962C8B-B14F-4D97-AF65-F5344CB8AC3E}">
        <p14:creationId xmlns:p14="http://schemas.microsoft.com/office/powerpoint/2010/main" val="26654188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Fabrication: </a:t>
            </a:r>
            <a:r>
              <a:rPr lang="en-US" dirty="0"/>
              <a:t>Example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67" y="711046"/>
            <a:ext cx="4328702" cy="34629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8094" y="2126115"/>
            <a:ext cx="3549639" cy="2204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5589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and Packaging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9114" y="584906"/>
            <a:ext cx="5365773" cy="397368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individual die for functionality before packaging.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Wafer Testing (Probe Test): Use automated test equipment (ATE) to check for defects.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 Packaging: Encapsulate the functional die into a protective package.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Testing: Conduct additional tests (burn-in, functional, parametric) on the packaged chips.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Packaged and tested chips.</a:t>
            </a:r>
          </a:p>
        </p:txBody>
      </p:sp>
    </p:spTree>
    <p:extLst>
      <p:ext uri="{BB962C8B-B14F-4D97-AF65-F5344CB8AC3E}">
        <p14:creationId xmlns:p14="http://schemas.microsoft.com/office/powerpoint/2010/main" val="3858278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and </a:t>
            </a:r>
            <a:r>
              <a:rPr lang="en-US" dirty="0" smtClean="0"/>
              <a:t>Packaging: </a:t>
            </a:r>
            <a:r>
              <a:rPr lang="en-US" dirty="0"/>
              <a:t>Example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789" y="1669035"/>
            <a:ext cx="3121163" cy="1747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08" y="768926"/>
            <a:ext cx="1993850" cy="199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4420" y="2924355"/>
            <a:ext cx="2799413" cy="1613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34199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8380" y="945220"/>
            <a:ext cx="5567240" cy="325306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the product under real-world conditions and ensure it meets all specifications.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stress testing, temperature, and voltage testing.</a:t>
            </a:r>
          </a:p>
          <a:p>
            <a:pPr marL="271462" lvl="1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performance validation to ensure the chip meets the application requirements.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and validated chip ready for market.</a:t>
            </a:r>
          </a:p>
        </p:txBody>
      </p:sp>
    </p:spTree>
    <p:extLst>
      <p:ext uri="{BB962C8B-B14F-4D97-AF65-F5344CB8AC3E}">
        <p14:creationId xmlns:p14="http://schemas.microsoft.com/office/powerpoint/2010/main" val="34031113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=""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Electronic Design Automation Tools</a:t>
            </a:r>
            <a:endParaRPr lang="en-GB" dirty="0"/>
          </a:p>
        </p:txBody>
      </p:sp>
      <p:sp>
        <p:nvSpPr>
          <p:cNvPr id="13" name="CasellaDiTesto 12">
            <a:extLst>
              <a:ext uri="{FF2B5EF4-FFF2-40B4-BE49-F238E27FC236}">
                <a16:creationId xmlns="" xmlns:a16="http://schemas.microsoft.com/office/drawing/2014/main" id="{264984CC-11E9-E741-C3ED-29ED30599D7F}"/>
              </a:ext>
            </a:extLst>
          </p:cNvPr>
          <p:cNvSpPr txBox="1"/>
          <p:nvPr/>
        </p:nvSpPr>
        <p:spPr>
          <a:xfrm>
            <a:off x="962577" y="1339362"/>
            <a:ext cx="3899812" cy="246477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Electronic Design Automation (EDA) tools are software programs that help designers in the different phases of the design flow.</a:t>
            </a:r>
          </a:p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In particular, EDA tools allow engineers and designers to automate some of the complex tasks of the flow.</a:t>
            </a:r>
          </a:p>
        </p:txBody>
      </p:sp>
      <p:pic>
        <p:nvPicPr>
          <p:cNvPr id="11" name="Immagine 10" descr="Immagine che contiene testo, schermata, software, schermo&#10;&#10;Descrizione generata automaticamente">
            <a:extLst>
              <a:ext uri="{FF2B5EF4-FFF2-40B4-BE49-F238E27FC236}">
                <a16:creationId xmlns="" xmlns:a16="http://schemas.microsoft.com/office/drawing/2014/main" id="{BA676995-CA24-29F8-394F-922A06FAF21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787" y="928163"/>
            <a:ext cx="2806125" cy="328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3879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EDA Tools</a:t>
            </a:r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="" xmlns:a16="http://schemas.microsoft.com/office/drawing/2014/main" id="{ED1176A6-E415-4EEC-A55F-3E8E0E00C423}"/>
              </a:ext>
            </a:extLst>
          </p:cNvPr>
          <p:cNvSpPr txBox="1"/>
          <p:nvPr/>
        </p:nvSpPr>
        <p:spPr>
          <a:xfrm>
            <a:off x="905470" y="867073"/>
            <a:ext cx="4229265" cy="300338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EDA tools are very sophisticated and complex software programs utilized to enable the automated design of electronic systems.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There are three types of tools:</a:t>
            </a:r>
          </a:p>
          <a:p>
            <a:pPr marL="557213" lvl="1" indent="-214313" algn="just">
              <a:spcAft>
                <a:spcPts val="1350"/>
              </a:spcAft>
              <a:buClr>
                <a:srgbClr val="49862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Design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tools.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49862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Simulation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tools.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498621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Verification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tools.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182440"/>
            <a:ext cx="4134186" cy="2153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6528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o 2">
            <a:extLst>
              <a:ext uri="{FF2B5EF4-FFF2-40B4-BE49-F238E27FC236}">
                <a16:creationId xmlns="" xmlns:a16="http://schemas.microsoft.com/office/drawing/2014/main" id="{1E2E3DDC-D058-049D-8418-31C02A3A2B37}"/>
              </a:ext>
            </a:extLst>
          </p:cNvPr>
          <p:cNvGrpSpPr/>
          <p:nvPr/>
        </p:nvGrpSpPr>
        <p:grpSpPr>
          <a:xfrm>
            <a:off x="2423160" y="533400"/>
            <a:ext cx="5928360" cy="4076700"/>
            <a:chOff x="1066800" y="711200"/>
            <a:chExt cx="7904480" cy="5435600"/>
          </a:xfrm>
        </p:grpSpPr>
        <p:sp>
          <p:nvSpPr>
            <p:cNvPr id="16" name="Rettangolo 15">
              <a:extLst>
                <a:ext uri="{FF2B5EF4-FFF2-40B4-BE49-F238E27FC236}">
                  <a16:creationId xmlns="" xmlns:a16="http://schemas.microsoft.com/office/drawing/2014/main" id="{63BC5591-8618-903E-FF27-1B8DB27A9293}"/>
                </a:ext>
              </a:extLst>
            </p:cNvPr>
            <p:cNvSpPr/>
            <p:nvPr/>
          </p:nvSpPr>
          <p:spPr>
            <a:xfrm>
              <a:off x="1066800" y="711200"/>
              <a:ext cx="7904480" cy="5435600"/>
            </a:xfrm>
            <a:prstGeom prst="rect">
              <a:avLst/>
            </a:prstGeom>
            <a:solidFill>
              <a:srgbClr val="F1ED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" name="CasellaDiTesto 1">
              <a:extLst>
                <a:ext uri="{FF2B5EF4-FFF2-40B4-BE49-F238E27FC236}">
                  <a16:creationId xmlns="" xmlns:a16="http://schemas.microsoft.com/office/drawing/2014/main" id="{18D586F0-BBAB-BBB3-FAAF-EA43CE84FF51}"/>
                </a:ext>
              </a:extLst>
            </p:cNvPr>
            <p:cNvSpPr txBox="1"/>
            <p:nvPr/>
          </p:nvSpPr>
          <p:spPr>
            <a:xfrm>
              <a:off x="1066800" y="805093"/>
              <a:ext cx="790448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it-IT" sz="3000" spc="375" dirty="0">
                <a:solidFill>
                  <a:srgbClr val="003153"/>
                </a:solidFill>
                <a:latin typeface="Baskerville Display PT" panose="02030602080406020203" pitchFamily="18" charset="0"/>
                <a:ea typeface="Baskerville Display PT" panose="02030602080406020203" pitchFamily="18" charset="0"/>
              </a:endParaRPr>
            </a:p>
          </p:txBody>
        </p:sp>
      </p:grp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an EDA Tool </a:t>
            </a:r>
            <a:r>
              <a:rPr lang="en-GB" dirty="0" smtClean="0"/>
              <a:t>Work? </a:t>
            </a:r>
            <a:r>
              <a:rPr lang="en-GB" dirty="0"/>
              <a:t>Design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FC2F8B96-060E-BA54-13A6-56316AA85C36}"/>
              </a:ext>
            </a:extLst>
          </p:cNvPr>
          <p:cNvSpPr txBox="1"/>
          <p:nvPr/>
        </p:nvSpPr>
        <p:spPr>
          <a:xfrm>
            <a:off x="4100956" y="1129015"/>
            <a:ext cx="3983907" cy="289053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Design tools take a specification of the </a:t>
            </a:r>
            <a:r>
              <a:rPr lang="en-GB" sz="16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 function 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 be implemented and generate the interconnection of different basic elements, such as logic gates, to create the circuit that matches the initial function.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1600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Logic: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the correct elements to solve the circuits are chosen and </a:t>
            </a:r>
            <a:r>
              <a:rPr lang="en-GB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connected.</a:t>
            </a:r>
            <a:endParaRPr lang="en-GB" sz="1600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sz="1600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Physical:</a:t>
            </a:r>
            <a:r>
              <a:rPr lang="en-GB" sz="1600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shapes that implement the circuit on the silicon are assembled, placed, and routed </a:t>
            </a:r>
            <a:r>
              <a:rPr lang="en-US" sz="1600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together.</a:t>
            </a:r>
            <a:endParaRPr lang="en-US" sz="1600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10" name="Immagine 9" descr="Immagine che contiene testo, schermata, software, schermo&#10;&#10;Descrizione generata automaticamente">
            <a:extLst>
              <a:ext uri="{FF2B5EF4-FFF2-40B4-BE49-F238E27FC236}">
                <a16:creationId xmlns="" xmlns:a16="http://schemas.microsoft.com/office/drawing/2014/main" id="{46E0D74D-1535-4C94-3B48-E1B6A1A448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13" y="1228238"/>
            <a:ext cx="3306086" cy="278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2968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="" xmlns:a16="http://schemas.microsoft.com/office/drawing/2014/main" id="{63BC5591-8618-903E-FF27-1B8DB27A9293}"/>
              </a:ext>
            </a:extLst>
          </p:cNvPr>
          <p:cNvSpPr/>
          <p:nvPr/>
        </p:nvSpPr>
        <p:spPr>
          <a:xfrm>
            <a:off x="2423160" y="533400"/>
            <a:ext cx="5928360" cy="4076700"/>
          </a:xfrm>
          <a:prstGeom prst="rect">
            <a:avLst/>
          </a:prstGeom>
          <a:solidFill>
            <a:srgbClr val="F1E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an EDA Tool </a:t>
            </a:r>
            <a:r>
              <a:rPr lang="en-GB" dirty="0" smtClean="0"/>
              <a:t>Work? </a:t>
            </a:r>
            <a:r>
              <a:rPr lang="en-GB" dirty="0"/>
              <a:t>Simulation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FC2F8B96-060E-BA54-13A6-56316AA85C36}"/>
              </a:ext>
            </a:extLst>
          </p:cNvPr>
          <p:cNvSpPr txBox="1"/>
          <p:nvPr/>
        </p:nvSpPr>
        <p:spPr>
          <a:xfrm>
            <a:off x="4115339" y="1258059"/>
            <a:ext cx="3983907" cy="29213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Simulation tools take a description of the proposed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and check its behaviour before physically implementing it.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Simulation tools take a description of the circuit and simulate it in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cycles.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level of detail required usually defines the  time employed for the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simulation.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="" xmlns:a16="http://schemas.microsoft.com/office/drawing/2014/main" id="{A2224204-A494-7EB7-602D-D00402F5C8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360"/>
          <a:stretch/>
        </p:blipFill>
        <p:spPr>
          <a:xfrm>
            <a:off x="317705" y="1158205"/>
            <a:ext cx="3545115" cy="2785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9749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tangolo 15">
            <a:extLst>
              <a:ext uri="{FF2B5EF4-FFF2-40B4-BE49-F238E27FC236}">
                <a16:creationId xmlns="" xmlns:a16="http://schemas.microsoft.com/office/drawing/2014/main" id="{63BC5591-8618-903E-FF27-1B8DB27A9293}"/>
              </a:ext>
            </a:extLst>
          </p:cNvPr>
          <p:cNvSpPr/>
          <p:nvPr/>
        </p:nvSpPr>
        <p:spPr>
          <a:xfrm>
            <a:off x="2423160" y="533400"/>
            <a:ext cx="5928360" cy="4076700"/>
          </a:xfrm>
          <a:prstGeom prst="rect">
            <a:avLst/>
          </a:prstGeom>
          <a:solidFill>
            <a:srgbClr val="F1ED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Does an EDA Tool </a:t>
            </a:r>
            <a:r>
              <a:rPr lang="en-GB" dirty="0" smtClean="0"/>
              <a:t>Work? </a:t>
            </a:r>
            <a:r>
              <a:rPr lang="en-GB" dirty="0"/>
              <a:t>Verification</a:t>
            </a:r>
            <a:endParaRPr lang="en-US" dirty="0"/>
          </a:p>
        </p:txBody>
      </p: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FC2F8B96-060E-BA54-13A6-56316AA85C36}"/>
              </a:ext>
            </a:extLst>
          </p:cNvPr>
          <p:cNvSpPr txBox="1"/>
          <p:nvPr/>
        </p:nvSpPr>
        <p:spPr>
          <a:xfrm>
            <a:off x="3999008" y="1111094"/>
            <a:ext cx="3983907" cy="29213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Verification tools examine the logical or physical representations of the circuit to verify if the resultant design matches the specifications.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Logic: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verify that the implemented function gives the same results as the expected </a:t>
            </a:r>
            <a:r>
              <a:rPr lang="en-GB" dirty="0" err="1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.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Physical: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verify that the placement respects the foundry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guidelines.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="" xmlns:a16="http://schemas.microsoft.com/office/drawing/2014/main" id="{C74BDD1B-3DEF-B480-C510-28A68F6F5A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360"/>
          <a:stretch/>
        </p:blipFill>
        <p:spPr>
          <a:xfrm>
            <a:off x="1452413" y="1430099"/>
            <a:ext cx="2177991" cy="17110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 descr="Immagine che contiene testo, schermata, software, schermo&#10;&#10;Descrizione generata automaticamente">
            <a:extLst>
              <a:ext uri="{FF2B5EF4-FFF2-40B4-BE49-F238E27FC236}">
                <a16:creationId xmlns="" xmlns:a16="http://schemas.microsoft.com/office/drawing/2014/main" id="{46E0D74D-1535-4C94-3B48-E1B6A1A448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76" y="2063052"/>
            <a:ext cx="2140577" cy="18040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640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=""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are EDA tools important?</a:t>
            </a:r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="" xmlns:a16="http://schemas.microsoft.com/office/drawing/2014/main" id="{2D23D9E6-4335-61A0-30B4-E5A74D1F58E9}"/>
              </a:ext>
            </a:extLst>
          </p:cNvPr>
          <p:cNvSpPr txBox="1"/>
          <p:nvPr/>
        </p:nvSpPr>
        <p:spPr>
          <a:xfrm>
            <a:off x="4383247" y="1249593"/>
            <a:ext cx="3631863" cy="319831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57175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Chips are extremely complex,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as they may contain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billions of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transistors,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Managing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such a complexity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requires the assistance of Electronic Design Automation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tools.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rgbClr val="498621"/>
              </a:buClr>
              <a:buFont typeface="+mj-lt"/>
              <a:buAutoNum type="arabicPeriod"/>
            </a:pP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EDA tools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speed-up </a:t>
            </a:r>
            <a:r>
              <a:rPr lang="en-GB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design process and help limiting human errors in chip </a:t>
            </a:r>
            <a:r>
              <a:rPr lang="en-GB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manufacturing.</a:t>
            </a:r>
            <a:endParaRPr lang="en-GB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grpSp>
        <p:nvGrpSpPr>
          <p:cNvPr id="8" name="Gruppo 7">
            <a:extLst>
              <a:ext uri="{FF2B5EF4-FFF2-40B4-BE49-F238E27FC236}">
                <a16:creationId xmlns="" xmlns:a16="http://schemas.microsoft.com/office/drawing/2014/main" id="{F6204087-36E6-A2B1-D7F0-C087F45B5F34}"/>
              </a:ext>
            </a:extLst>
          </p:cNvPr>
          <p:cNvGrpSpPr/>
          <p:nvPr/>
        </p:nvGrpSpPr>
        <p:grpSpPr>
          <a:xfrm>
            <a:off x="937681" y="1501141"/>
            <a:ext cx="2946839" cy="2594609"/>
            <a:chOff x="972335" y="2013019"/>
            <a:chExt cx="3929118" cy="3459479"/>
          </a:xfrm>
        </p:grpSpPr>
        <p:pic>
          <p:nvPicPr>
            <p:cNvPr id="12" name="Immagine 11" descr="Immagine che contiene testo, schermata, software, schermo&#10;&#10;Descrizione generata automaticamente">
              <a:extLst>
                <a:ext uri="{FF2B5EF4-FFF2-40B4-BE49-F238E27FC236}">
                  <a16:creationId xmlns="" xmlns:a16="http://schemas.microsoft.com/office/drawing/2014/main" id="{852A7E0B-B80D-F7C0-038B-F09B1BBBA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607049">
              <a:off x="2070826" y="2013019"/>
              <a:ext cx="1555011" cy="182158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4" name="Immagine 13">
              <a:extLst>
                <a:ext uri="{FF2B5EF4-FFF2-40B4-BE49-F238E27FC236}">
                  <a16:creationId xmlns="" xmlns:a16="http://schemas.microsoft.com/office/drawing/2014/main" id="{8931E439-B768-9B95-6BEF-0EFC6C896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2335" y="2917508"/>
              <a:ext cx="1697464" cy="132556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0" name="Immagine 9">
              <a:extLst>
                <a:ext uri="{FF2B5EF4-FFF2-40B4-BE49-F238E27FC236}">
                  <a16:creationId xmlns="" xmlns:a16="http://schemas.microsoft.com/office/drawing/2014/main" id="{3BBEBCEA-B5FE-E553-CE21-4649A8414A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11360"/>
            <a:stretch/>
          </p:blipFill>
          <p:spPr>
            <a:xfrm rot="920896">
              <a:off x="2981582" y="2788651"/>
              <a:ext cx="1919871" cy="1508306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Immagine 10" descr="Immagine che contiene testo, schermata, software, schermo&#10;&#10;Descrizione generata automaticamente">
              <a:extLst>
                <a:ext uri="{FF2B5EF4-FFF2-40B4-BE49-F238E27FC236}">
                  <a16:creationId xmlns="" xmlns:a16="http://schemas.microsoft.com/office/drawing/2014/main" id="{4AE89694-E667-4C03-86BE-25D1E4B6B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7837">
              <a:off x="2791117" y="3867323"/>
              <a:ext cx="1886891" cy="159028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8" name="Immagine 17">
              <a:extLst>
                <a:ext uri="{FF2B5EF4-FFF2-40B4-BE49-F238E27FC236}">
                  <a16:creationId xmlns="" xmlns:a16="http://schemas.microsoft.com/office/drawing/2014/main" id="{5761A98F-BF27-C07B-0C75-71E53626D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0460607">
              <a:off x="1212152" y="4059004"/>
              <a:ext cx="1810066" cy="141349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413234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olo 1">
            <a:extLst>
              <a:ext uri="{FF2B5EF4-FFF2-40B4-BE49-F238E27FC236}">
                <a16:creationId xmlns="" xmlns:a16="http://schemas.microsoft.com/office/drawing/2014/main" id="{21737178-3D46-A7C5-2695-340D9BAC0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Popular EDA Tools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="" xmlns:a16="http://schemas.microsoft.com/office/drawing/2014/main" id="{264984CC-11E9-E741-C3ED-29ED30599D7F}"/>
              </a:ext>
            </a:extLst>
          </p:cNvPr>
          <p:cNvSpPr txBox="1"/>
          <p:nvPr/>
        </p:nvSpPr>
        <p:spPr>
          <a:xfrm>
            <a:off x="628650" y="1111094"/>
            <a:ext cx="4578052" cy="2921313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Different vendors produce various types of Electronic Design Automation software tailored to specific needs and applications:</a:t>
            </a: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FPGA vendors create EDA tools specifically designed to work with their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products.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557213" lvl="1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General EDA vendors specialized in chip design provide tools that cover the entire design flow of a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chip.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pic>
        <p:nvPicPr>
          <p:cNvPr id="16" name="Immagine 15" descr="Immagine che contiene testo, Carattere, logo, numero&#10;&#10;Descrizione generata automaticamente">
            <a:extLst>
              <a:ext uri="{FF2B5EF4-FFF2-40B4-BE49-F238E27FC236}">
                <a16:creationId xmlns="" xmlns:a16="http://schemas.microsoft.com/office/drawing/2014/main" id="{1FEA648C-424F-0767-ACE6-922A602F09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694" y="1204302"/>
            <a:ext cx="2366162" cy="468547"/>
          </a:xfrm>
          <a:prstGeom prst="rect">
            <a:avLst/>
          </a:prstGeom>
        </p:spPr>
      </p:pic>
      <p:pic>
        <p:nvPicPr>
          <p:cNvPr id="19" name="Immagine 18" descr="Immagine che contiene Carattere, Elementi grafici, testo, logo&#10;&#10;Descrizione generata automaticamente">
            <a:extLst>
              <a:ext uri="{FF2B5EF4-FFF2-40B4-BE49-F238E27FC236}">
                <a16:creationId xmlns="" xmlns:a16="http://schemas.microsoft.com/office/drawing/2014/main" id="{4428CE0C-779B-D4E7-F168-E4509F8BC6C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919" y="2028771"/>
            <a:ext cx="2367320" cy="536659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="" xmlns:a16="http://schemas.microsoft.com/office/drawing/2014/main" id="{02092091-1F41-F0F7-4ECC-7AC07FE1D74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90276" y="2814674"/>
            <a:ext cx="2369579" cy="376762"/>
          </a:xfrm>
          <a:prstGeom prst="rect">
            <a:avLst/>
          </a:prstGeom>
        </p:spPr>
      </p:pic>
      <p:pic>
        <p:nvPicPr>
          <p:cNvPr id="23" name="Immagine 22" descr="Immagine che contiene Carattere, Elementi grafici, schermata, grafica&#10;&#10;Descrizione generata automaticamente">
            <a:extLst>
              <a:ext uri="{FF2B5EF4-FFF2-40B4-BE49-F238E27FC236}">
                <a16:creationId xmlns="" xmlns:a16="http://schemas.microsoft.com/office/drawing/2014/main" id="{C4518681-6D40-C680-4DB1-34FF994325A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835" y="3525789"/>
            <a:ext cx="2367320" cy="39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7003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A4AA857-29DE-480F-00CC-1AEDD3647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925B896A-7E7C-E683-D667-E23ACCC4C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Table</a:t>
            </a:r>
            <a:r>
              <a:rPr lang="it-IT" dirty="0"/>
              <a:t> of </a:t>
            </a:r>
            <a:r>
              <a:rPr lang="it-IT" dirty="0" err="1"/>
              <a:t>Contents</a:t>
            </a:r>
            <a:endParaRPr lang="it-IT" dirty="0"/>
          </a:p>
        </p:txBody>
      </p:sp>
      <p:grpSp>
        <p:nvGrpSpPr>
          <p:cNvPr id="3" name="Group 2">
            <a:extLst>
              <a:ext uri="{FF2B5EF4-FFF2-40B4-BE49-F238E27FC236}">
                <a16:creationId xmlns="" xmlns:a16="http://schemas.microsoft.com/office/drawing/2014/main" id="{CAFE2E4A-3FB3-80BD-23BD-D32967F8D3EF}"/>
              </a:ext>
            </a:extLst>
          </p:cNvPr>
          <p:cNvGrpSpPr/>
          <p:nvPr/>
        </p:nvGrpSpPr>
        <p:grpSpPr>
          <a:xfrm>
            <a:off x="2644982" y="1580948"/>
            <a:ext cx="3511178" cy="1981605"/>
            <a:chOff x="2644982" y="985451"/>
            <a:chExt cx="3511178" cy="1981605"/>
          </a:xfrm>
        </p:grpSpPr>
        <p:sp>
          <p:nvSpPr>
            <p:cNvPr id="4" name="Titolo 1">
              <a:extLst>
                <a:ext uri="{FF2B5EF4-FFF2-40B4-BE49-F238E27FC236}">
                  <a16:creationId xmlns="" xmlns:a16="http://schemas.microsoft.com/office/drawing/2014/main" id="{7E89922C-F89E-EC2F-70F8-D1D098865980}"/>
                </a:ext>
              </a:extLst>
            </p:cNvPr>
            <p:cNvSpPr txBox="1">
              <a:spLocks/>
            </p:cNvSpPr>
            <p:nvPr/>
          </p:nvSpPr>
          <p:spPr>
            <a:xfrm>
              <a:off x="2698162" y="1154021"/>
              <a:ext cx="672188" cy="617771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01.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="" xmlns:a16="http://schemas.microsoft.com/office/drawing/2014/main" id="{08E56B41-B603-A4D2-D9E6-CD2B55FD0664}"/>
                </a:ext>
              </a:extLst>
            </p:cNvPr>
            <p:cNvSpPr txBox="1"/>
            <p:nvPr/>
          </p:nvSpPr>
          <p:spPr>
            <a:xfrm>
              <a:off x="3456159" y="985451"/>
              <a:ext cx="2700000" cy="90024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Introduction to Design Flows and Electronic Design Automation Tools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="" xmlns:a16="http://schemas.microsoft.com/office/drawing/2014/main" id="{C77E187A-4831-E4C7-13B6-E73CEC8EE282}"/>
                </a:ext>
              </a:extLst>
            </p:cNvPr>
            <p:cNvSpPr txBox="1"/>
            <p:nvPr/>
          </p:nvSpPr>
          <p:spPr>
            <a:xfrm>
              <a:off x="3456160" y="2066810"/>
              <a:ext cx="2700000" cy="900246"/>
            </a:xfrm>
            <a:prstGeom prst="rect">
              <a:avLst/>
            </a:prstGeom>
            <a:noFill/>
          </p:spPr>
          <p:txBody>
            <a:bodyPr wrap="square" lIns="68580" tIns="34290" rIns="68580" bIns="34290" rtlCol="0" anchor="ctr" anchorCtr="0">
              <a:spAutoFit/>
            </a:bodyPr>
            <a:lstStyle/>
            <a:p>
              <a:pPr algn="ctr"/>
              <a:r>
                <a:rPr lang="en-GB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Hands-on a real EDA tool, development of a basic logic function</a:t>
              </a:r>
              <a:endParaRPr lang="it-IT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itolo 1">
              <a:extLst>
                <a:ext uri="{FF2B5EF4-FFF2-40B4-BE49-F238E27FC236}">
                  <a16:creationId xmlns="" xmlns:a16="http://schemas.microsoft.com/office/drawing/2014/main" id="{34175570-0D2A-E0A9-CF63-F754F7C6A85C}"/>
                </a:ext>
              </a:extLst>
            </p:cNvPr>
            <p:cNvSpPr txBox="1">
              <a:spLocks/>
            </p:cNvSpPr>
            <p:nvPr/>
          </p:nvSpPr>
          <p:spPr>
            <a:xfrm>
              <a:off x="2644982" y="2208048"/>
              <a:ext cx="757999" cy="617771"/>
            </a:xfrm>
            <a:prstGeom prst="rect">
              <a:avLst/>
            </a:prstGeom>
          </p:spPr>
          <p:txBody>
            <a:bodyPr vert="horz" lIns="68580" tIns="34290" rIns="68580" bIns="3429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it-IT" sz="3000" dirty="0">
                  <a:solidFill>
                    <a:srgbClr val="002060"/>
                  </a:solidFill>
                  <a:latin typeface="Times New Roman" panose="02020603050405020304" pitchFamily="18" charset="0"/>
                  <a:ea typeface="Inter" panose="02000503000000020004" pitchFamily="2" charset="0"/>
                  <a:cs typeface="Times New Roman" panose="02020603050405020304" pitchFamily="18" charset="0"/>
                </a:rPr>
                <a:t>02.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38389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Front-End Design Flow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3393197" y="753067"/>
            <a:ext cx="2979974" cy="3893374"/>
            <a:chOff x="3393197" y="753067"/>
            <a:chExt cx="2979974" cy="3893374"/>
          </a:xfrm>
        </p:grpSpPr>
        <p:sp>
          <p:nvSpPr>
            <p:cNvPr id="25" name="Rounded Rectangle 24"/>
            <p:cNvSpPr/>
            <p:nvPr/>
          </p:nvSpPr>
          <p:spPr>
            <a:xfrm>
              <a:off x="3393197" y="753067"/>
              <a:ext cx="2348842" cy="297711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Design Specification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3393197" y="1293127"/>
              <a:ext cx="2348842" cy="297711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Architecture Design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393197" y="1825928"/>
              <a:ext cx="2348842" cy="297711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RTL Design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393197" y="2363568"/>
              <a:ext cx="2348842" cy="297711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RTL Verification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93197" y="2908468"/>
              <a:ext cx="2348842" cy="297711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Synthesis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393197" y="3448528"/>
              <a:ext cx="2348842" cy="297711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002060"/>
                  </a:solidFill>
                </a:rPr>
                <a:t>DFT</a:t>
              </a:r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4567618" y="1050778"/>
              <a:ext cx="0" cy="242349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4567618" y="1590838"/>
              <a:ext cx="0" cy="237510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567618" y="2126059"/>
              <a:ext cx="0" cy="237509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4567618" y="2661279"/>
              <a:ext cx="0" cy="247189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4567618" y="3206179"/>
              <a:ext cx="0" cy="242349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 rot="16200000">
              <a:off x="5020988" y="2398093"/>
              <a:ext cx="23042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2060"/>
                  </a:solidFill>
                </a:rPr>
                <a:t>Front-End Flow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396735" y="3994349"/>
              <a:ext cx="2348842" cy="652092"/>
            </a:xfrm>
            <a:prstGeom prst="roundRect">
              <a:avLst/>
            </a:prstGeom>
            <a:solidFill>
              <a:srgbClr val="FFFF99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Back-End Flow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4571156" y="3752000"/>
              <a:ext cx="0" cy="242349"/>
            </a:xfrm>
            <a:prstGeom prst="straightConnector1">
              <a:avLst/>
            </a:prstGeom>
            <a:ln w="19050">
              <a:solidFill>
                <a:srgbClr val="0020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ounded Rectangle 40"/>
          <p:cNvSpPr/>
          <p:nvPr/>
        </p:nvSpPr>
        <p:spPr>
          <a:xfrm>
            <a:off x="3179135" y="616688"/>
            <a:ext cx="2743200" cy="2115879"/>
          </a:xfrm>
          <a:prstGeom prst="roundRect">
            <a:avLst/>
          </a:pr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4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Specification</a:t>
            </a:r>
            <a:endParaRPr lang="en-US" dirty="0"/>
          </a:p>
        </p:txBody>
      </p:sp>
      <p:sp>
        <p:nvSpPr>
          <p:cNvPr id="21" name="Content Placeholder 20"/>
          <p:cNvSpPr>
            <a:spLocks noGrp="1"/>
          </p:cNvSpPr>
          <p:nvPr>
            <p:ph idx="1"/>
          </p:nvPr>
        </p:nvSpPr>
        <p:spPr>
          <a:xfrm>
            <a:off x="669807" y="1454561"/>
            <a:ext cx="4215829" cy="24257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Design an electronic circuit implementing the AND operator.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functionality of the AND operator is to output a logic value‘1’  when both inputs have a logic value‘1’ </a:t>
            </a:r>
            <a:r>
              <a:rPr lang="en-GB" dirty="0" smtClean="0"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.</a:t>
            </a:r>
            <a:endParaRPr lang="en-GB" dirty="0"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asellaDiTesto 6">
                <a:extLst>
                  <a:ext uri="{FF2B5EF4-FFF2-40B4-BE49-F238E27FC236}">
                    <a16:creationId xmlns="" xmlns:a16="http://schemas.microsoft.com/office/drawing/2014/main" id="{7EEF683D-6F17-BBC4-408E-C4882D8951C1}"/>
                  </a:ext>
                </a:extLst>
              </p:cNvPr>
              <p:cNvSpPr txBox="1"/>
              <p:nvPr/>
            </p:nvSpPr>
            <p:spPr>
              <a:xfrm>
                <a:off x="5288710" y="3685837"/>
                <a:ext cx="2367856" cy="52578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lstStyle/>
              <a:p>
                <a:pPr algn="ctr">
                  <a:spcAft>
                    <a:spcPts val="1350"/>
                  </a:spcAft>
                  <a:buClr>
                    <a:srgbClr val="003153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𝑌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=</m:t>
                      </m:r>
                      <m:r>
                        <a:rPr lang="en-GB" i="1" dirty="0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Inter" panose="02000503000000020004" pitchFamily="2" charset="0"/>
                        </a:rPr>
                        <m:t>𝐴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GB" i="1" dirty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GB" dirty="0">
                  <a:solidFill>
                    <a:srgbClr val="002060"/>
                  </a:solidFill>
                  <a:latin typeface="Inter" panose="02000503000000020004" pitchFamily="2" charset="0"/>
                  <a:ea typeface="Inter" panose="02000503000000020004" pitchFamily="2" charset="0"/>
                </a:endParaRPr>
              </a:p>
            </p:txBody>
          </p:sp>
        </mc:Choice>
        <mc:Fallback xmlns="">
          <p:sp>
            <p:nvSpPr>
              <p:cNvPr id="24" name="CasellaDiTesto 6">
                <a:extLst>
                  <a:ext uri="{FF2B5EF4-FFF2-40B4-BE49-F238E27FC236}">
                    <a16:creationId xmlns:a16="http://schemas.microsoft.com/office/drawing/2014/main" id="{7EEF683D-6F17-BBC4-408E-C4882D895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710" y="3685837"/>
                <a:ext cx="2367856" cy="5257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">
            <a:extLst>
              <a:ext uri="{FF2B5EF4-FFF2-40B4-BE49-F238E27FC236}">
                <a16:creationId xmlns="" xmlns:a16="http://schemas.microsoft.com/office/drawing/2014/main" id="{8680E547-E398-205C-1CB1-39148A7D39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0" r="1747" b="19819"/>
          <a:stretch/>
        </p:blipFill>
        <p:spPr bwMode="auto">
          <a:xfrm>
            <a:off x="5422087" y="1457664"/>
            <a:ext cx="2101103" cy="2228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14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Architecture</a:t>
            </a:r>
            <a:endParaRPr lang="it-IT" dirty="0"/>
          </a:p>
        </p:txBody>
      </p:sp>
      <p:sp>
        <p:nvSpPr>
          <p:cNvPr id="12" name="CasellaDiTesto 11">
            <a:extLst>
              <a:ext uri="{FF2B5EF4-FFF2-40B4-BE49-F238E27FC236}">
                <a16:creationId xmlns="" xmlns:a16="http://schemas.microsoft.com/office/drawing/2014/main" id="{78A84C01-D46C-EBA5-55F3-8F50130BF035}"/>
              </a:ext>
            </a:extLst>
          </p:cNvPr>
          <p:cNvSpPr txBox="1"/>
          <p:nvPr/>
        </p:nvSpPr>
        <p:spPr>
          <a:xfrm>
            <a:off x="895196" y="1665092"/>
            <a:ext cx="3338327" cy="181331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The architecture of the circuit is very simple, since it must implement only one logic gate:</a:t>
            </a:r>
          </a:p>
          <a:p>
            <a:pPr marL="628650" lvl="1" indent="-285750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2 Input 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ports: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A , </a:t>
            </a:r>
            <a:r>
              <a:rPr lang="en-GB" i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B;</a:t>
            </a:r>
            <a:endParaRPr lang="en-GB" i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Baskerville Display PT" panose="02030602080406020203" pitchFamily="18" charset="0"/>
              <a:cs typeface="Times New Roman" panose="02020603050405020304" pitchFamily="18" charset="0"/>
            </a:endParaRPr>
          </a:p>
          <a:p>
            <a:pPr marL="628650" lvl="1" indent="-285750" algn="just">
              <a:spcAft>
                <a:spcPts val="1350"/>
              </a:spcAft>
              <a:buClr>
                <a:schemeClr val="accent2">
                  <a:lumMod val="50000"/>
                </a:schemeClr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1 Output </a:t>
            </a:r>
            <a:r>
              <a:rPr lang="en-GB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port: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Y;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648200" y="1975713"/>
            <a:ext cx="2971419" cy="1192074"/>
            <a:chOff x="3651031" y="2364003"/>
            <a:chExt cx="2971419" cy="1192074"/>
          </a:xfrm>
        </p:grpSpPr>
        <p:sp>
          <p:nvSpPr>
            <p:cNvPr id="13" name="Arc 10"/>
            <p:cNvSpPr>
              <a:spLocks/>
            </p:cNvSpPr>
            <p:nvPr/>
          </p:nvSpPr>
          <p:spPr bwMode="auto">
            <a:xfrm>
              <a:off x="5010485" y="2506357"/>
              <a:ext cx="506067" cy="5447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rnd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Arc 11"/>
            <p:cNvSpPr>
              <a:spLocks/>
            </p:cNvSpPr>
            <p:nvPr/>
          </p:nvSpPr>
          <p:spPr bwMode="auto">
            <a:xfrm>
              <a:off x="5010485" y="3037861"/>
              <a:ext cx="506067" cy="5182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rnd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4636960" y="2504880"/>
              <a:ext cx="406995" cy="1051197"/>
            </a:xfrm>
            <a:custGeom>
              <a:avLst/>
              <a:gdLst>
                <a:gd name="T0" fmla="*/ 303 w 304"/>
                <a:gd name="T1" fmla="*/ 693 h 694"/>
                <a:gd name="T2" fmla="*/ 0 w 304"/>
                <a:gd name="T3" fmla="*/ 693 h 694"/>
                <a:gd name="T4" fmla="*/ 0 w 304"/>
                <a:gd name="T5" fmla="*/ 0 h 694"/>
                <a:gd name="T6" fmla="*/ 303 w 304"/>
                <a:gd name="T7" fmla="*/ 0 h 6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694"/>
                <a:gd name="T14" fmla="*/ 304 w 304"/>
                <a:gd name="T15" fmla="*/ 694 h 6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694">
                  <a:moveTo>
                    <a:pt x="303" y="693"/>
                  </a:moveTo>
                  <a:lnTo>
                    <a:pt x="0" y="693"/>
                  </a:lnTo>
                  <a:lnTo>
                    <a:pt x="0" y="0"/>
                  </a:lnTo>
                  <a:lnTo>
                    <a:pt x="303" y="0"/>
                  </a:lnTo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rnd" cmpd="sng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389073" y="2706476"/>
              <a:ext cx="12333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gency FB" panose="020B0503020202020204" pitchFamily="34" charset="0"/>
                </a:rPr>
                <a:t>Y = A</a:t>
              </a:r>
              <a:r>
                <a:rPr lang="en-US" sz="2000" dirty="0">
                  <a:latin typeface="Calibri Light"/>
                </a:rPr>
                <a:t>·</a:t>
              </a:r>
              <a:r>
                <a:rPr lang="en-US" sz="2000" dirty="0">
                  <a:latin typeface="Agency FB" panose="020B0503020202020204" pitchFamily="34" charset="0"/>
                </a:rPr>
                <a:t>B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5531878" y="3044940"/>
              <a:ext cx="648072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3978768" y="2724729"/>
              <a:ext cx="648072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3977055" y="3318918"/>
              <a:ext cx="648072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3651031" y="2961616"/>
              <a:ext cx="828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gency FB" panose="020B0503020202020204" pitchFamily="34" charset="0"/>
                </a:rPr>
                <a:t>B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752060" y="2364003"/>
              <a:ext cx="604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gency FB" panose="020B0503020202020204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6705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=""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="" xmlns:a16="http://schemas.microsoft.com/office/drawing/2014/main" id="{33AE60B1-EE7E-C571-D340-1748C604A3B8}"/>
              </a:ext>
            </a:extLst>
          </p:cNvPr>
          <p:cNvSpPr txBox="1"/>
          <p:nvPr/>
        </p:nvSpPr>
        <p:spPr>
          <a:xfrm>
            <a:off x="617115" y="1616361"/>
            <a:ext cx="3656934" cy="191077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During the RTL Design step, the architecture is translated into the hardware description of the electronic system through an HDL language.</a:t>
            </a:r>
          </a:p>
          <a:p>
            <a:pPr algn="just">
              <a:spcAft>
                <a:spcPts val="1350"/>
              </a:spcAft>
              <a:buClr>
                <a:srgbClr val="003153"/>
              </a:buClr>
            </a:pP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In our project, we will use the EDA tools of AMD Xilinx: </a:t>
            </a:r>
            <a:r>
              <a:rPr lang="en-GB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Vivado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" name="Immagine 8" descr="Immagine che contiene Carattere, schermata, Elementi grafici, grafica&#10;&#10;Descrizione generata automaticamente">
            <a:extLst>
              <a:ext uri="{FF2B5EF4-FFF2-40B4-BE49-F238E27FC236}">
                <a16:creationId xmlns="" xmlns:a16="http://schemas.microsoft.com/office/drawing/2014/main" id="{D24EE527-A0DA-11E6-49C6-FFEAA143A5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354"/>
          <a:stretch/>
        </p:blipFill>
        <p:spPr>
          <a:xfrm>
            <a:off x="496612" y="3790809"/>
            <a:ext cx="1656543" cy="449469"/>
          </a:xfrm>
          <a:prstGeom prst="rect">
            <a:avLst/>
          </a:prstGeom>
        </p:spPr>
      </p:pic>
      <p:pic>
        <p:nvPicPr>
          <p:cNvPr id="13" name="Immagine 12" descr="Immagine che contiene Carattere, schermata, Elementi grafici, grafica&#10;&#10;Descrizione generata automaticamente">
            <a:extLst>
              <a:ext uri="{FF2B5EF4-FFF2-40B4-BE49-F238E27FC236}">
                <a16:creationId xmlns="" xmlns:a16="http://schemas.microsoft.com/office/drawing/2014/main" id="{9DBCACD7-0FB9-94F0-D764-C9C3AF96AD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684" b="-43561"/>
          <a:stretch/>
        </p:blipFill>
        <p:spPr>
          <a:xfrm>
            <a:off x="2445582" y="3707411"/>
            <a:ext cx="1656543" cy="946149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1D52D04F-0F6E-9958-02A8-7AE37AA5F166}"/>
              </a:ext>
            </a:extLst>
          </p:cNvPr>
          <p:cNvGrpSpPr/>
          <p:nvPr/>
        </p:nvGrpSpPr>
        <p:grpSpPr>
          <a:xfrm>
            <a:off x="4648200" y="1975713"/>
            <a:ext cx="2971419" cy="1192074"/>
            <a:chOff x="3651031" y="2364003"/>
            <a:chExt cx="2971419" cy="1192074"/>
          </a:xfrm>
        </p:grpSpPr>
        <p:sp>
          <p:nvSpPr>
            <p:cNvPr id="3" name="Arc 10">
              <a:extLst>
                <a:ext uri="{FF2B5EF4-FFF2-40B4-BE49-F238E27FC236}">
                  <a16:creationId xmlns="" xmlns:a16="http://schemas.microsoft.com/office/drawing/2014/main" id="{2BE5D51D-EFE3-8A9A-E375-296ED63EE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485" y="2506357"/>
              <a:ext cx="506067" cy="5447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rnd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Arc 11">
              <a:extLst>
                <a:ext uri="{FF2B5EF4-FFF2-40B4-BE49-F238E27FC236}">
                  <a16:creationId xmlns="" xmlns:a16="http://schemas.microsoft.com/office/drawing/2014/main" id="{BC83307F-1E16-2440-824E-187FE116D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0485" y="3037861"/>
              <a:ext cx="506067" cy="51821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rnd">
              <a:solidFill>
                <a:schemeClr val="accent1">
                  <a:lumMod val="75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" name="Freeform 12">
              <a:extLst>
                <a:ext uri="{FF2B5EF4-FFF2-40B4-BE49-F238E27FC236}">
                  <a16:creationId xmlns="" xmlns:a16="http://schemas.microsoft.com/office/drawing/2014/main" id="{AD1A4355-ED23-A546-7857-DA1123661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6960" y="2504880"/>
              <a:ext cx="406995" cy="1051197"/>
            </a:xfrm>
            <a:custGeom>
              <a:avLst/>
              <a:gdLst>
                <a:gd name="T0" fmla="*/ 303 w 304"/>
                <a:gd name="T1" fmla="*/ 693 h 694"/>
                <a:gd name="T2" fmla="*/ 0 w 304"/>
                <a:gd name="T3" fmla="*/ 693 h 694"/>
                <a:gd name="T4" fmla="*/ 0 w 304"/>
                <a:gd name="T5" fmla="*/ 0 h 694"/>
                <a:gd name="T6" fmla="*/ 303 w 304"/>
                <a:gd name="T7" fmla="*/ 0 h 69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4"/>
                <a:gd name="T13" fmla="*/ 0 h 694"/>
                <a:gd name="T14" fmla="*/ 304 w 304"/>
                <a:gd name="T15" fmla="*/ 694 h 69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4" h="694">
                  <a:moveTo>
                    <a:pt x="303" y="693"/>
                  </a:moveTo>
                  <a:lnTo>
                    <a:pt x="0" y="693"/>
                  </a:lnTo>
                  <a:lnTo>
                    <a:pt x="0" y="0"/>
                  </a:lnTo>
                  <a:lnTo>
                    <a:pt x="303" y="0"/>
                  </a:lnTo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25400" cap="rnd" cmpd="sng">
              <a:solidFill>
                <a:schemeClr val="accent1">
                  <a:lumMod val="75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487FB86-DEBB-C841-55A2-3F700439C55A}"/>
                </a:ext>
              </a:extLst>
            </p:cNvPr>
            <p:cNvSpPr txBox="1"/>
            <p:nvPr/>
          </p:nvSpPr>
          <p:spPr>
            <a:xfrm>
              <a:off x="5389073" y="2706476"/>
              <a:ext cx="12333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gency FB" panose="020B0503020202020204" pitchFamily="34" charset="0"/>
                </a:rPr>
                <a:t>Y = A</a:t>
              </a:r>
              <a:r>
                <a:rPr lang="en-US" sz="2000" dirty="0">
                  <a:latin typeface="Calibri Light"/>
                </a:rPr>
                <a:t>·</a:t>
              </a:r>
              <a:r>
                <a:rPr lang="en-US" sz="2000" dirty="0">
                  <a:latin typeface="Agency FB" panose="020B0503020202020204" pitchFamily="34" charset="0"/>
                </a:rPr>
                <a:t>B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="" xmlns:a16="http://schemas.microsoft.com/office/drawing/2014/main" id="{2ADE8A23-E05E-C975-3C71-ADC26C04A07D}"/>
                </a:ext>
              </a:extLst>
            </p:cNvPr>
            <p:cNvCxnSpPr/>
            <p:nvPr/>
          </p:nvCxnSpPr>
          <p:spPr>
            <a:xfrm>
              <a:off x="5531878" y="3044940"/>
              <a:ext cx="648072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41B06941-6276-E507-CF11-5D7C769D7851}"/>
                </a:ext>
              </a:extLst>
            </p:cNvPr>
            <p:cNvCxnSpPr/>
            <p:nvPr/>
          </p:nvCxnSpPr>
          <p:spPr>
            <a:xfrm>
              <a:off x="3978768" y="2724729"/>
              <a:ext cx="648072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="" xmlns:a16="http://schemas.microsoft.com/office/drawing/2014/main" id="{C939BA03-ECA2-D730-DD8A-1ED8631EF210}"/>
                </a:ext>
              </a:extLst>
            </p:cNvPr>
            <p:cNvCxnSpPr/>
            <p:nvPr/>
          </p:nvCxnSpPr>
          <p:spPr>
            <a:xfrm>
              <a:off x="3977055" y="3318918"/>
              <a:ext cx="648072" cy="0"/>
            </a:xfrm>
            <a:prstGeom prst="line">
              <a:avLst/>
            </a:prstGeom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3B8EC90F-A5C1-C5F0-4E23-F8958B9C19C1}"/>
                </a:ext>
              </a:extLst>
            </p:cNvPr>
            <p:cNvSpPr txBox="1"/>
            <p:nvPr/>
          </p:nvSpPr>
          <p:spPr>
            <a:xfrm>
              <a:off x="3651031" y="2961616"/>
              <a:ext cx="8285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gency FB" panose="020B0503020202020204" pitchFamily="34" charset="0"/>
                </a:rPr>
                <a:t>B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CBF74634-3D82-DF3F-DB7E-F327B58EA121}"/>
                </a:ext>
              </a:extLst>
            </p:cNvPr>
            <p:cNvSpPr txBox="1"/>
            <p:nvPr/>
          </p:nvSpPr>
          <p:spPr>
            <a:xfrm>
              <a:off x="3752060" y="2364003"/>
              <a:ext cx="6041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gency FB" panose="020B0503020202020204" pitchFamily="34" charset="0"/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391266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=""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="" xmlns:a16="http://schemas.microsoft.com/office/drawing/2014/main" id="{837184EA-1A41-56D7-4DDB-49C0C607880B}"/>
              </a:ext>
            </a:extLst>
          </p:cNvPr>
          <p:cNvSpPr txBox="1"/>
          <p:nvPr/>
        </p:nvSpPr>
        <p:spPr>
          <a:xfrm>
            <a:off x="351143" y="3914895"/>
            <a:ext cx="2749538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Step 1: Create a new project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magine 20">
            <a:extLst>
              <a:ext uri="{FF2B5EF4-FFF2-40B4-BE49-F238E27FC236}">
                <a16:creationId xmlns="" xmlns:a16="http://schemas.microsoft.com/office/drawing/2014/main" id="{622ED472-3B51-471C-9CB9-A8F28605724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3568" y="1906911"/>
            <a:ext cx="2565000" cy="16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06407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=""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="" xmlns:a16="http://schemas.microsoft.com/office/drawing/2014/main" id="{21CFCEF2-D588-484B-A815-1CE6564D0F33}"/>
              </a:ext>
            </a:extLst>
          </p:cNvPr>
          <p:cNvSpPr txBox="1"/>
          <p:nvPr/>
        </p:nvSpPr>
        <p:spPr>
          <a:xfrm>
            <a:off x="3261602" y="3914895"/>
            <a:ext cx="2620797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Step 2: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 </a:t>
            </a:r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Instantiate the logic gate</a:t>
            </a:r>
            <a:endParaRPr lang="en-GB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magine 17">
            <a:extLst>
              <a:ext uri="{FF2B5EF4-FFF2-40B4-BE49-F238E27FC236}">
                <a16:creationId xmlns="" xmlns:a16="http://schemas.microsoft.com/office/drawing/2014/main" id="{4892C706-760F-7244-5270-EB4EF7797C7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3568" y="1906911"/>
            <a:ext cx="2565000" cy="16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Immagine 18">
            <a:extLst>
              <a:ext uri="{FF2B5EF4-FFF2-40B4-BE49-F238E27FC236}">
                <a16:creationId xmlns="" xmlns:a16="http://schemas.microsoft.com/office/drawing/2014/main" id="{6E8291C8-83A7-462F-4664-F16B1894B90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289500" y="1906911"/>
            <a:ext cx="2565000" cy="16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sellaDiTesto 18">
            <a:extLst>
              <a:ext uri="{FF2B5EF4-FFF2-40B4-BE49-F238E27FC236}">
                <a16:creationId xmlns="" xmlns:a16="http://schemas.microsoft.com/office/drawing/2014/main" id="{1C511570-AB25-E48E-07F8-D14533AEE7DB}"/>
              </a:ext>
            </a:extLst>
          </p:cNvPr>
          <p:cNvSpPr txBox="1"/>
          <p:nvPr/>
        </p:nvSpPr>
        <p:spPr>
          <a:xfrm>
            <a:off x="351143" y="3914895"/>
            <a:ext cx="2749538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Step 1: Create a new project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751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olo 1">
            <a:extLst>
              <a:ext uri="{FF2B5EF4-FFF2-40B4-BE49-F238E27FC236}">
                <a16:creationId xmlns="" xmlns:a16="http://schemas.microsoft.com/office/drawing/2014/main" id="{3CDE1D49-15E2-A98B-0A23-13D7DF8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="" xmlns:a16="http://schemas.microsoft.com/office/drawing/2014/main" id="{1B2EDC95-D7E0-C048-0D6A-38F896417917}"/>
              </a:ext>
            </a:extLst>
          </p:cNvPr>
          <p:cNvSpPr txBox="1"/>
          <p:nvPr/>
        </p:nvSpPr>
        <p:spPr>
          <a:xfrm>
            <a:off x="6130848" y="3914895"/>
            <a:ext cx="2620797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Step 3: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 Instantiate the input and output ports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Connettore 2 34">
            <a:extLst>
              <a:ext uri="{FF2B5EF4-FFF2-40B4-BE49-F238E27FC236}">
                <a16:creationId xmlns="" xmlns:a16="http://schemas.microsoft.com/office/drawing/2014/main" id="{FC59F0CC-A225-08E5-C09F-8EFA58CA4BAF}"/>
              </a:ext>
            </a:extLst>
          </p:cNvPr>
          <p:cNvCxnSpPr>
            <a:cxnSpLocks/>
          </p:cNvCxnSpPr>
          <p:nvPr/>
        </p:nvCxnSpPr>
        <p:spPr>
          <a:xfrm>
            <a:off x="773566" y="1532273"/>
            <a:ext cx="7596869" cy="0"/>
          </a:xfrm>
          <a:prstGeom prst="straightConnector1">
            <a:avLst/>
          </a:prstGeom>
          <a:ln w="76200"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51000">
                  <a:schemeClr val="accent2">
                    <a:lumMod val="60000"/>
                    <a:lumOff val="40000"/>
                    <a:alpha val="99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lin ang="0" scaled="1"/>
              <a:tileRect/>
            </a:gra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magine 8">
            <a:extLst>
              <a:ext uri="{FF2B5EF4-FFF2-40B4-BE49-F238E27FC236}">
                <a16:creationId xmlns="" xmlns:a16="http://schemas.microsoft.com/office/drawing/2014/main" id="{1572C6AD-1C3E-BC59-7C55-31AFB5D9615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33568" y="1906911"/>
            <a:ext cx="2565000" cy="16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Immagine 9">
            <a:extLst>
              <a:ext uri="{FF2B5EF4-FFF2-40B4-BE49-F238E27FC236}">
                <a16:creationId xmlns="" xmlns:a16="http://schemas.microsoft.com/office/drawing/2014/main" id="{AEC8F570-7DD6-0005-B52C-6739C99EC0F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289500" y="1906911"/>
            <a:ext cx="2565000" cy="16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="" xmlns:a16="http://schemas.microsoft.com/office/drawing/2014/main" id="{142BB3C3-C4A8-CA3B-A079-56D304ECFFC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158747" y="1906911"/>
            <a:ext cx="2565000" cy="16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sellaDiTesto 15">
            <a:extLst>
              <a:ext uri="{FF2B5EF4-FFF2-40B4-BE49-F238E27FC236}">
                <a16:creationId xmlns="" xmlns:a16="http://schemas.microsoft.com/office/drawing/2014/main" id="{40B72089-D828-D556-F836-833E061FE410}"/>
              </a:ext>
            </a:extLst>
          </p:cNvPr>
          <p:cNvSpPr txBox="1"/>
          <p:nvPr/>
        </p:nvSpPr>
        <p:spPr>
          <a:xfrm>
            <a:off x="3261602" y="3914895"/>
            <a:ext cx="2620797" cy="62324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Step 2: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 Instantiate the logic gate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asellaDiTesto 18">
            <a:extLst>
              <a:ext uri="{FF2B5EF4-FFF2-40B4-BE49-F238E27FC236}">
                <a16:creationId xmlns="" xmlns:a16="http://schemas.microsoft.com/office/drawing/2014/main" id="{002C10FD-2DD0-37FE-CDBA-4F87939E7891}"/>
              </a:ext>
            </a:extLst>
          </p:cNvPr>
          <p:cNvSpPr txBox="1"/>
          <p:nvPr/>
        </p:nvSpPr>
        <p:spPr>
          <a:xfrm>
            <a:off x="351143" y="3914895"/>
            <a:ext cx="2749538" cy="34624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n-GB" i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Step 1: </a:t>
            </a:r>
            <a:r>
              <a:rPr lang="en-GB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Baskerville Display PT" panose="02030602080406020203" pitchFamily="18" charset="0"/>
                <a:cs typeface="Times New Roman" panose="02020603050405020304" pitchFamily="18" charset="0"/>
              </a:rPr>
              <a:t>Create a new project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750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Design</a:t>
            </a:r>
            <a:endParaRPr lang="it-IT" dirty="0"/>
          </a:p>
        </p:txBody>
      </p:sp>
      <p:sp>
        <p:nvSpPr>
          <p:cNvPr id="14" name="CasellaDiTesto 13">
            <a:extLst>
              <a:ext uri="{FF2B5EF4-FFF2-40B4-BE49-F238E27FC236}">
                <a16:creationId xmlns="" xmlns:a16="http://schemas.microsoft.com/office/drawing/2014/main" id="{621A2DDA-F1A5-5C75-590D-2334BDBFB537}"/>
              </a:ext>
            </a:extLst>
          </p:cNvPr>
          <p:cNvSpPr txBox="1"/>
          <p:nvPr/>
        </p:nvSpPr>
        <p:spPr>
          <a:xfrm>
            <a:off x="5187316" y="1613795"/>
            <a:ext cx="3214676" cy="1915909"/>
          </a:xfrm>
          <a:prstGeom prst="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 lIns="68580" tIns="34290" rIns="68580" bIns="3429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module </a:t>
            </a:r>
            <a:r>
              <a:rPr lang="en-GB" sz="12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and_gate</a:t>
            </a:r>
            <a:r>
              <a:rPr lang="en-GB" sz="12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</a:p>
          <a:p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GB" sz="12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 a,</a:t>
            </a:r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Input a</a:t>
            </a:r>
          </a:p>
          <a:p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 </a:t>
            </a:r>
            <a:r>
              <a:rPr lang="en-GB" sz="12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 b,</a:t>
            </a:r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Input b</a:t>
            </a:r>
          </a:p>
          <a:p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GB" sz="12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wire y</a:t>
            </a:r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Output y</a:t>
            </a:r>
          </a:p>
          <a:p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en-GB" sz="1200" dirty="0">
              <a:solidFill>
                <a:srgbClr val="FAFAF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GB" sz="12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 y = a </a:t>
            </a:r>
            <a:r>
              <a:rPr lang="en-GB" sz="12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b;</a:t>
            </a:r>
            <a:r>
              <a:rPr lang="en-GB" sz="1200" dirty="0">
                <a:solidFill>
                  <a:srgbClr val="FAFAF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2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AND</a:t>
            </a:r>
          </a:p>
          <a:p>
            <a:endParaRPr lang="en-GB" sz="1200" dirty="0">
              <a:solidFill>
                <a:srgbClr val="FAFAF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2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en-GB" sz="12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="" xmlns:a16="http://schemas.microsoft.com/office/drawing/2014/main" id="{D26F1AD5-A3A7-E2D1-9C03-E1D638F4919B}"/>
              </a:ext>
            </a:extLst>
          </p:cNvPr>
          <p:cNvSpPr txBox="1"/>
          <p:nvPr/>
        </p:nvSpPr>
        <p:spPr>
          <a:xfrm>
            <a:off x="617114" y="1477860"/>
            <a:ext cx="4029075" cy="218777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output generated by the schematic entry tool is a hardware description of the behavior of the AND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gate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.</a:t>
            </a:r>
          </a:p>
          <a:p>
            <a:pPr marL="214313" indent="-214313" algn="just">
              <a:spcAft>
                <a:spcPts val="1350"/>
              </a:spcAft>
              <a:buClr>
                <a:srgbClr val="003153"/>
              </a:buClr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AND gate is described in Verilog, a Hardware Description Language (HDL) utilized for the synthesis of digital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circuits.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627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sellaDiTesto 11">
            <a:extLst>
              <a:ext uri="{FF2B5EF4-FFF2-40B4-BE49-F238E27FC236}">
                <a16:creationId xmlns="" xmlns:a16="http://schemas.microsoft.com/office/drawing/2014/main" id="{78A84C01-D46C-EBA5-55F3-8F50130BF035}"/>
              </a:ext>
            </a:extLst>
          </p:cNvPr>
          <p:cNvSpPr txBox="1"/>
          <p:nvPr/>
        </p:nvSpPr>
        <p:spPr>
          <a:xfrm>
            <a:off x="617146" y="972595"/>
            <a:ext cx="3581873" cy="319831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 simulate the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of the circuit, a “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testbench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” is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designed.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testbench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is a “wrapper” around the circuit that generates different input stimuli representing all the possible input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combinations.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output of the simulation is recorded and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analyzed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to verify the correctness of the </a:t>
            </a:r>
            <a:r>
              <a:rPr lang="en-GB" dirty="0" smtClean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design.</a:t>
            </a:r>
            <a:endParaRPr lang="en-GB" dirty="0">
              <a:solidFill>
                <a:srgbClr val="002060"/>
              </a:solidFill>
              <a:latin typeface="Times New Roman" panose="02020603050405020304" pitchFamily="18" charset="0"/>
              <a:ea typeface="Inter" panose="020005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Verification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="" xmlns:a16="http://schemas.microsoft.com/office/drawing/2014/main" id="{34F149FE-EFBA-2EF6-9A60-10AB048F2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29130"/>
            <a:ext cx="4126492" cy="2285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045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sellaDiTesto 11">
            <a:extLst>
              <a:ext uri="{FF2B5EF4-FFF2-40B4-BE49-F238E27FC236}">
                <a16:creationId xmlns="" xmlns:a16="http://schemas.microsoft.com/office/drawing/2014/main" id="{78A84C01-D46C-EBA5-55F3-8F50130BF035}"/>
              </a:ext>
            </a:extLst>
          </p:cNvPr>
          <p:cNvSpPr txBox="1"/>
          <p:nvPr/>
        </p:nvSpPr>
        <p:spPr>
          <a:xfrm>
            <a:off x="617146" y="972595"/>
            <a:ext cx="3581873" cy="319831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To simulate the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behavior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of the circuit, a “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testbench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” is designed;</a:t>
            </a:r>
          </a:p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testbench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is a “wrapper” around the circuit that generates different input stimuli representing all the possible input combinations;</a:t>
            </a:r>
          </a:p>
          <a:p>
            <a:pPr marL="257175" indent="-257175" algn="just">
              <a:spcAft>
                <a:spcPts val="1350"/>
              </a:spcAft>
              <a:buClr>
                <a:srgbClr val="003153"/>
              </a:buClr>
              <a:buFont typeface="+mj-lt"/>
              <a:buAutoNum type="arabicPeriod"/>
            </a:pP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The output of the simulation is recorded and </a:t>
            </a:r>
            <a:r>
              <a:rPr lang="en-GB" dirty="0" err="1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analyzed</a:t>
            </a:r>
            <a:r>
              <a:rPr lang="en-GB" dirty="0">
                <a:solidFill>
                  <a:srgbClr val="002060"/>
                </a:solidFill>
                <a:latin typeface="Times New Roman" panose="02020603050405020304" pitchFamily="18" charset="0"/>
                <a:ea typeface="Inter" panose="02000503000000020004" pitchFamily="2" charset="0"/>
                <a:cs typeface="Times New Roman" panose="02020603050405020304" pitchFamily="18" charset="0"/>
              </a:rPr>
              <a:t> to verify the correctness of the design;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="" xmlns:a16="http://schemas.microsoft.com/office/drawing/2014/main" id="{16E17201-56E8-19F6-52CE-99A06DB20E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572000" y="1429130"/>
            <a:ext cx="4126492" cy="22852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8" name="Rettangolo con angoli arrotondati 37">
            <a:extLst>
              <a:ext uri="{FF2B5EF4-FFF2-40B4-BE49-F238E27FC236}">
                <a16:creationId xmlns="" xmlns:a16="http://schemas.microsoft.com/office/drawing/2014/main" id="{7D66D557-C9A6-D070-A37D-8C1F8747D2FC}"/>
              </a:ext>
            </a:extLst>
          </p:cNvPr>
          <p:cNvSpPr/>
          <p:nvPr/>
        </p:nvSpPr>
        <p:spPr>
          <a:xfrm>
            <a:off x="2243137" y="2349069"/>
            <a:ext cx="4284746" cy="1871840"/>
          </a:xfrm>
          <a:prstGeom prst="roundRect">
            <a:avLst/>
          </a:prstGeom>
          <a:solidFill>
            <a:schemeClr val="bg2"/>
          </a:solidFill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sp>
        <p:nvSpPr>
          <p:cNvPr id="2" name="Titolo 1">
            <a:extLst>
              <a:ext uri="{FF2B5EF4-FFF2-40B4-BE49-F238E27FC236}">
                <a16:creationId xmlns="" xmlns:a16="http://schemas.microsoft.com/office/drawing/2014/main" id="{EC61FB8A-02B1-818F-A4DD-86E260DC2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RTL Verification</a:t>
            </a:r>
            <a:endParaRPr lang="it-IT" dirty="0"/>
          </a:p>
        </p:txBody>
      </p:sp>
      <p:cxnSp>
        <p:nvCxnSpPr>
          <p:cNvPr id="19" name="Connettore diritto 18">
            <a:extLst>
              <a:ext uri="{FF2B5EF4-FFF2-40B4-BE49-F238E27FC236}">
                <a16:creationId xmlns="" xmlns:a16="http://schemas.microsoft.com/office/drawing/2014/main" id="{D74E0A70-947A-4955-4770-F11A143FACD4}"/>
              </a:ext>
            </a:extLst>
          </p:cNvPr>
          <p:cNvCxnSpPr>
            <a:cxnSpLocks/>
          </p:cNvCxnSpPr>
          <p:nvPr/>
        </p:nvCxnSpPr>
        <p:spPr>
          <a:xfrm flipV="1">
            <a:off x="2436778" y="1624009"/>
            <a:ext cx="2135222" cy="72479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diritto 20">
            <a:extLst>
              <a:ext uri="{FF2B5EF4-FFF2-40B4-BE49-F238E27FC236}">
                <a16:creationId xmlns="" xmlns:a16="http://schemas.microsoft.com/office/drawing/2014/main" id="{CEBC2784-9699-5D42-8FBF-AE5D6BE48C6B}"/>
              </a:ext>
            </a:extLst>
          </p:cNvPr>
          <p:cNvCxnSpPr>
            <a:cxnSpLocks/>
          </p:cNvCxnSpPr>
          <p:nvPr/>
        </p:nvCxnSpPr>
        <p:spPr>
          <a:xfrm flipV="1">
            <a:off x="6457950" y="2194098"/>
            <a:ext cx="2240542" cy="192035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="" xmlns:a16="http://schemas.microsoft.com/office/drawing/2014/main" id="{85DBDFB0-4E23-C610-60AA-1DA99C4E1935}"/>
              </a:ext>
            </a:extLst>
          </p:cNvPr>
          <p:cNvSpPr/>
          <p:nvPr/>
        </p:nvSpPr>
        <p:spPr>
          <a:xfrm>
            <a:off x="4545205" y="1600137"/>
            <a:ext cx="4209688" cy="593961"/>
          </a:xfrm>
          <a:prstGeom prst="round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GB"/>
          </a:p>
        </p:txBody>
      </p:sp>
      <p:pic>
        <p:nvPicPr>
          <p:cNvPr id="2052" name="Picture 4">
            <a:extLst>
              <a:ext uri="{FF2B5EF4-FFF2-40B4-BE49-F238E27FC236}">
                <a16:creationId xmlns="" xmlns:a16="http://schemas.microsoft.com/office/drawing/2014/main" id="{771F41E8-A9F8-23CC-1523-6E1621DFC8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7" y="2342367"/>
            <a:ext cx="4164806" cy="1878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20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"Attribution - Non commercial 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="" xmlns:a16="http://schemas.microsoft.com/office/drawing/2014/main" id="{9394C041-C18A-46FD-9B3C-ADB3D7FFE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6" y="1586235"/>
            <a:ext cx="1523999" cy="670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="" xmlns:a16="http://schemas.microsoft.com/office/drawing/2014/main" id="{EEBFC921-7D9A-3E46-F3DC-0A403C48E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3109156"/>
            <a:ext cx="1544330" cy="1134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6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7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8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9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10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11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=""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=""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=""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=""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=""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=""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=""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</TotalTime>
  <Words>1956</Words>
  <Application>Microsoft Office PowerPoint</Application>
  <PresentationFormat>On-screen Show (16:9)</PresentationFormat>
  <Paragraphs>323</Paragraphs>
  <Slides>50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1" baseType="lpstr">
      <vt:lpstr>4_Office Theme</vt:lpstr>
      <vt:lpstr>Lecture 3 Introduction to  Design Flows and EDA Tools</vt:lpstr>
      <vt:lpstr>Table of Contents</vt:lpstr>
      <vt:lpstr>Design Flow</vt:lpstr>
      <vt:lpstr>Design Flow</vt:lpstr>
      <vt:lpstr>Design Specification</vt:lpstr>
      <vt:lpstr>Design Specification: Example</vt:lpstr>
      <vt:lpstr>Architecture Design</vt:lpstr>
      <vt:lpstr>Architecture Design: Example</vt:lpstr>
      <vt:lpstr>RTL Design</vt:lpstr>
      <vt:lpstr>RTL Design: Example</vt:lpstr>
      <vt:lpstr>RTL Verification</vt:lpstr>
      <vt:lpstr>RTL Verification: Example</vt:lpstr>
      <vt:lpstr>Synthesis</vt:lpstr>
      <vt:lpstr>Synthesis: Example</vt:lpstr>
      <vt:lpstr>Design for Testability (DfT)</vt:lpstr>
      <vt:lpstr>Design for Testability (DfT): Example</vt:lpstr>
      <vt:lpstr>Floorplanning</vt:lpstr>
      <vt:lpstr>Floorplanning: Example</vt:lpstr>
      <vt:lpstr>Placement</vt:lpstr>
      <vt:lpstr>Placement: Example</vt:lpstr>
      <vt:lpstr>Clock Tree Synthesis (CTS)</vt:lpstr>
      <vt:lpstr>Clock Tree Synthesis (CTS): Example</vt:lpstr>
      <vt:lpstr>Routing</vt:lpstr>
      <vt:lpstr>Routing: Example</vt:lpstr>
      <vt:lpstr>Sign-Off</vt:lpstr>
      <vt:lpstr>Tape-Out</vt:lpstr>
      <vt:lpstr>Fabrication</vt:lpstr>
      <vt:lpstr>Fabrication: Example</vt:lpstr>
      <vt:lpstr>Testing and Packaging</vt:lpstr>
      <vt:lpstr>Testing and Packaging: Example</vt:lpstr>
      <vt:lpstr>Qualification</vt:lpstr>
      <vt:lpstr>Electronic Design Automation Tools</vt:lpstr>
      <vt:lpstr>Types of EDA Tools</vt:lpstr>
      <vt:lpstr>How Does an EDA Tool Work? Design</vt:lpstr>
      <vt:lpstr>How Does an EDA Tool Work? Simulation</vt:lpstr>
      <vt:lpstr>How Does an EDA Tool Work? Verification</vt:lpstr>
      <vt:lpstr>Why are EDA tools important?</vt:lpstr>
      <vt:lpstr>Popular EDA Tools</vt:lpstr>
      <vt:lpstr>Table of Contents</vt:lpstr>
      <vt:lpstr>Front-End Design Flow</vt:lpstr>
      <vt:lpstr>Design Specification</vt:lpstr>
      <vt:lpstr>Architecture</vt:lpstr>
      <vt:lpstr>RTL Design</vt:lpstr>
      <vt:lpstr>RTL Design</vt:lpstr>
      <vt:lpstr>RTL Design</vt:lpstr>
      <vt:lpstr>RTL Design</vt:lpstr>
      <vt:lpstr>RTL Design</vt:lpstr>
      <vt:lpstr>RTL Verification</vt:lpstr>
      <vt:lpstr>RTL Verification</vt:lpstr>
      <vt:lpstr>Authorship &amp; License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utente</cp:lastModifiedBy>
  <cp:revision>49</cp:revision>
  <cp:lastPrinted>2025-11-05T22:01:35Z</cp:lastPrinted>
  <dcterms:created xsi:type="dcterms:W3CDTF">2006-08-16T00:00:00Z</dcterms:created>
  <dcterms:modified xsi:type="dcterms:W3CDTF">2025-11-11T00:43:45Z</dcterms:modified>
</cp:coreProperties>
</file>