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306" r:id="rId2"/>
    <p:sldId id="257" r:id="rId3"/>
    <p:sldId id="511" r:id="rId4"/>
    <p:sldId id="397" r:id="rId5"/>
    <p:sldId id="455" r:id="rId6"/>
    <p:sldId id="509" r:id="rId7"/>
    <p:sldId id="510" r:id="rId8"/>
    <p:sldId id="512" r:id="rId9"/>
    <p:sldId id="513" r:id="rId10"/>
    <p:sldId id="514" r:id="rId11"/>
    <p:sldId id="515" r:id="rId12"/>
    <p:sldId id="516" r:id="rId13"/>
    <p:sldId id="521" r:id="rId14"/>
    <p:sldId id="517" r:id="rId15"/>
    <p:sldId id="518" r:id="rId16"/>
    <p:sldId id="519" r:id="rId17"/>
    <p:sldId id="520" r:id="rId18"/>
    <p:sldId id="522" r:id="rId19"/>
    <p:sldId id="523" r:id="rId20"/>
    <p:sldId id="524" r:id="rId21"/>
    <p:sldId id="525" r:id="rId22"/>
    <p:sldId id="526" r:id="rId23"/>
    <p:sldId id="527" r:id="rId24"/>
    <p:sldId id="528" r:id="rId25"/>
    <p:sldId id="490" r:id="rId26"/>
    <p:sldId id="529" r:id="rId27"/>
    <p:sldId id="530" r:id="rId28"/>
    <p:sldId id="531" r:id="rId29"/>
    <p:sldId id="532" r:id="rId30"/>
    <p:sldId id="480" r:id="rId31"/>
    <p:sldId id="534" r:id="rId32"/>
    <p:sldId id="533" r:id="rId33"/>
    <p:sldId id="535" r:id="rId34"/>
    <p:sldId id="536" r:id="rId35"/>
    <p:sldId id="453" r:id="rId36"/>
    <p:sldId id="452" r:id="rId37"/>
    <p:sldId id="454" r:id="rId38"/>
    <p:sldId id="312" r:id="rId3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1074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30A964-1C71-D348-AE89-C6E5C4CC875E}" v="3" dt="2025-06-22T01:42:47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90" autoAdjust="0"/>
    <p:restoredTop sz="95788"/>
  </p:normalViewPr>
  <p:slideViewPr>
    <p:cSldViewPr snapToGrid="0">
      <p:cViewPr varScale="1">
        <p:scale>
          <a:sx n="142" d="100"/>
          <a:sy n="142" d="100"/>
        </p:scale>
        <p:origin x="1048" y="1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9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rizio Ferrandi" userId="f9df4cb0-0e27-47ec-bff9-7f5b2a5a0289" providerId="ADAL" clId="{A29C00D8-C076-4110-A109-150DDFCE5FDF}"/>
    <pc:docChg chg="modSld">
      <pc:chgData name="Fabrizio Ferrandi" userId="f9df4cb0-0e27-47ec-bff9-7f5b2a5a0289" providerId="ADAL" clId="{A29C00D8-C076-4110-A109-150DDFCE5FDF}" dt="2025-04-28T12:48:51.232" v="2" actId="208"/>
      <pc:docMkLst>
        <pc:docMk/>
      </pc:docMkLst>
      <pc:sldChg chg="addSp modSp mod">
        <pc:chgData name="Fabrizio Ferrandi" userId="f9df4cb0-0e27-47ec-bff9-7f5b2a5a0289" providerId="ADAL" clId="{A29C00D8-C076-4110-A109-150DDFCE5FDF}" dt="2025-04-28T12:48:51.232" v="2" actId="208"/>
        <pc:sldMkLst>
          <pc:docMk/>
          <pc:sldMk cId="27140877" sldId="534"/>
        </pc:sldMkLst>
      </pc:sldChg>
    </pc:docChg>
  </pc:docChgLst>
  <pc:docChgLst>
    <pc:chgData name="Cristiana Bolchini" userId="6b8273cd-38c1-41dc-ba93-995a19828489" providerId="ADAL" clId="{9530A964-1C71-D348-AE89-C6E5C4CC875E}"/>
    <pc:docChg chg="custSel modSld">
      <pc:chgData name="Cristiana Bolchini" userId="6b8273cd-38c1-41dc-ba93-995a19828489" providerId="ADAL" clId="{9530A964-1C71-D348-AE89-C6E5C4CC875E}" dt="2025-06-22T01:42:53.107" v="5" actId="5793"/>
      <pc:docMkLst>
        <pc:docMk/>
      </pc:docMkLst>
      <pc:sldChg chg="addSp delSp modSp mod">
        <pc:chgData name="Cristiana Bolchini" userId="6b8273cd-38c1-41dc-ba93-995a19828489" providerId="ADAL" clId="{9530A964-1C71-D348-AE89-C6E5C4CC875E}" dt="2025-06-22T01:42:53.107" v="5" actId="5793"/>
        <pc:sldMkLst>
          <pc:docMk/>
          <pc:sldMk cId="3414173897" sldId="312"/>
        </pc:sldMkLst>
        <pc:spChg chg="mod">
          <ac:chgData name="Cristiana Bolchini" userId="6b8273cd-38c1-41dc-ba93-995a19828489" providerId="ADAL" clId="{9530A964-1C71-D348-AE89-C6E5C4CC875E}" dt="2025-06-22T01:42:53.107" v="5" actId="5793"/>
          <ac:spMkLst>
            <pc:docMk/>
            <pc:sldMk cId="3414173897" sldId="312"/>
            <ac:spMk id="4" creationId="{2F9CE5AC-24E2-C18D-26DB-97EE38A99B9B}"/>
          </ac:spMkLst>
        </pc:spChg>
        <pc:picChg chg="add del mod">
          <ac:chgData name="Cristiana Bolchini" userId="6b8273cd-38c1-41dc-ba93-995a19828489" providerId="ADAL" clId="{9530A964-1C71-D348-AE89-C6E5C4CC875E}" dt="2025-06-22T01:42:29.516" v="2" actId="478"/>
          <ac:picMkLst>
            <pc:docMk/>
            <pc:sldMk cId="3414173897" sldId="312"/>
            <ac:picMk id="3" creationId="{A0E0747B-6DE1-F601-6A4A-B174D401DD55}"/>
          </ac:picMkLst>
        </pc:picChg>
        <pc:picChg chg="add mod">
          <ac:chgData name="Cristiana Bolchini" userId="6b8273cd-38c1-41dc-ba93-995a19828489" providerId="ADAL" clId="{9530A964-1C71-D348-AE89-C6E5C4CC875E}" dt="2025-06-22T01:42:47.756" v="3"/>
          <ac:picMkLst>
            <pc:docMk/>
            <pc:sldMk cId="3414173897" sldId="312"/>
            <ac:picMk id="5" creationId="{76F250AF-8678-E340-7E09-17414DC14BEC}"/>
          </ac:picMkLst>
        </pc:picChg>
        <pc:picChg chg="add mod">
          <ac:chgData name="Cristiana Bolchini" userId="6b8273cd-38c1-41dc-ba93-995a19828489" providerId="ADAL" clId="{9530A964-1C71-D348-AE89-C6E5C4CC875E}" dt="2025-06-22T01:42:47.756" v="3"/>
          <ac:picMkLst>
            <pc:docMk/>
            <pc:sldMk cId="3414173897" sldId="312"/>
            <ac:picMk id="6" creationId="{40EC28FA-08B2-A867-6743-9392DF0A6528}"/>
          </ac:picMkLst>
        </pc:picChg>
        <pc:picChg chg="del">
          <ac:chgData name="Cristiana Bolchini" userId="6b8273cd-38c1-41dc-ba93-995a19828489" providerId="ADAL" clId="{9530A964-1C71-D348-AE89-C6E5C4CC875E}" dt="2025-06-22T01:42:26.229" v="0" actId="478"/>
          <ac:picMkLst>
            <pc:docMk/>
            <pc:sldMk cId="3414173897" sldId="312"/>
            <ac:picMk id="1028" creationId="{9394C041-C18A-46FD-9B3C-ADB3D7FFE38E}"/>
          </ac:picMkLst>
        </pc:picChg>
        <pc:picChg chg="del">
          <ac:chgData name="Cristiana Bolchini" userId="6b8273cd-38c1-41dc-ba93-995a19828489" providerId="ADAL" clId="{9530A964-1C71-D348-AE89-C6E5C4CC875E}" dt="2025-06-22T01:42:26.229" v="0" actId="478"/>
          <ac:picMkLst>
            <pc:docMk/>
            <pc:sldMk cId="3414173897" sldId="312"/>
            <ac:picMk id="1030" creationId="{EEBFC921-7D9A-3E46-F3DC-0A403C48E830}"/>
          </ac:picMkLst>
        </pc:picChg>
      </pc:sldChg>
    </pc:docChg>
  </pc:docChgLst>
  <pc:docChgLst>
    <pc:chgData name="Fabrizio Ferrandi" userId="f9df4cb0-0e27-47ec-bff9-7f5b2a5a0289" providerId="ADAL" clId="{7CA24019-2AFF-4778-9F7E-3B2C1081330E}"/>
    <pc:docChg chg="undo custSel addSld modSld">
      <pc:chgData name="Fabrizio Ferrandi" userId="f9df4cb0-0e27-47ec-bff9-7f5b2a5a0289" providerId="ADAL" clId="{7CA24019-2AFF-4778-9F7E-3B2C1081330E}" dt="2025-06-20T14:44:22.942" v="121"/>
      <pc:docMkLst>
        <pc:docMk/>
      </pc:docMkLst>
      <pc:sldChg chg="modSp add mod">
        <pc:chgData name="Fabrizio Ferrandi" userId="f9df4cb0-0e27-47ec-bff9-7f5b2a5a0289" providerId="ADAL" clId="{7CA24019-2AFF-4778-9F7E-3B2C1081330E}" dt="2025-06-18T13:28:29.202" v="108" actId="20577"/>
        <pc:sldMkLst>
          <pc:docMk/>
          <pc:sldMk cId="3274237834" sldId="257"/>
        </pc:sldMkLst>
        <pc:spChg chg="mod">
          <ac:chgData name="Fabrizio Ferrandi" userId="f9df4cb0-0e27-47ec-bff9-7f5b2a5a0289" providerId="ADAL" clId="{7CA24019-2AFF-4778-9F7E-3B2C1081330E}" dt="2025-06-18T13:28:29.202" v="108" actId="20577"/>
          <ac:spMkLst>
            <pc:docMk/>
            <pc:sldMk cId="3274237834" sldId="257"/>
            <ac:spMk id="3" creationId="{00000000-0000-0000-0000-000000000000}"/>
          </ac:spMkLst>
        </pc:spChg>
      </pc:sldChg>
      <pc:sldChg chg="addSp modSp">
        <pc:chgData name="Fabrizio Ferrandi" userId="f9df4cb0-0e27-47ec-bff9-7f5b2a5a0289" providerId="ADAL" clId="{7CA24019-2AFF-4778-9F7E-3B2C1081330E}" dt="2025-06-20T14:44:22.942" v="121"/>
        <pc:sldMkLst>
          <pc:docMk/>
          <pc:sldMk cId="474371491" sldId="306"/>
        </pc:sldMkLst>
        <pc:spChg chg="add mod">
          <ac:chgData name="Fabrizio Ferrandi" userId="f9df4cb0-0e27-47ec-bff9-7f5b2a5a0289" providerId="ADAL" clId="{7CA24019-2AFF-4778-9F7E-3B2C1081330E}" dt="2025-06-20T14:44:22.942" v="121"/>
          <ac:spMkLst>
            <pc:docMk/>
            <pc:sldMk cId="474371491" sldId="306"/>
            <ac:spMk id="2" creationId="{207C37C1-D422-3777-3718-970E9E9281C8}"/>
          </ac:spMkLst>
        </pc:spChg>
      </pc:sldChg>
      <pc:sldChg chg="add">
        <pc:chgData name="Fabrizio Ferrandi" userId="f9df4cb0-0e27-47ec-bff9-7f5b2a5a0289" providerId="ADAL" clId="{7CA24019-2AFF-4778-9F7E-3B2C1081330E}" dt="2025-06-20T14:41:28.980" v="120"/>
        <pc:sldMkLst>
          <pc:docMk/>
          <pc:sldMk cId="3414173897" sldId="312"/>
        </pc:sldMkLst>
      </pc:sldChg>
      <pc:sldChg chg="modSp mod">
        <pc:chgData name="Fabrizio Ferrandi" userId="f9df4cb0-0e27-47ec-bff9-7f5b2a5a0289" providerId="ADAL" clId="{7CA24019-2AFF-4778-9F7E-3B2C1081330E}" dt="2025-06-13T13:41:32.825" v="52" actId="20577"/>
        <pc:sldMkLst>
          <pc:docMk/>
          <pc:sldMk cId="3574647091" sldId="509"/>
        </pc:sldMkLst>
        <pc:spChg chg="mod">
          <ac:chgData name="Fabrizio Ferrandi" userId="f9df4cb0-0e27-47ec-bff9-7f5b2a5a0289" providerId="ADAL" clId="{7CA24019-2AFF-4778-9F7E-3B2C1081330E}" dt="2025-06-13T13:41:32.825" v="52" actId="20577"/>
          <ac:spMkLst>
            <pc:docMk/>
            <pc:sldMk cId="3574647091" sldId="509"/>
            <ac:spMk id="15" creationId="{58F48385-AEA5-7893-4D20-DFB509D558DB}"/>
          </ac:spMkLst>
        </pc:spChg>
      </pc:sldChg>
      <pc:sldChg chg="addSp delSp modSp mod">
        <pc:chgData name="Fabrizio Ferrandi" userId="f9df4cb0-0e27-47ec-bff9-7f5b2a5a0289" providerId="ADAL" clId="{7CA24019-2AFF-4778-9F7E-3B2C1081330E}" dt="2025-06-18T13:48:18.576" v="115" actId="14100"/>
        <pc:sldMkLst>
          <pc:docMk/>
          <pc:sldMk cId="1930889613" sldId="516"/>
        </pc:sldMkLst>
        <pc:spChg chg="mod topLvl">
          <ac:chgData name="Fabrizio Ferrandi" userId="f9df4cb0-0e27-47ec-bff9-7f5b2a5a0289" providerId="ADAL" clId="{7CA24019-2AFF-4778-9F7E-3B2C1081330E}" dt="2025-06-18T13:48:18.576" v="115" actId="14100"/>
          <ac:spMkLst>
            <pc:docMk/>
            <pc:sldMk cId="1930889613" sldId="516"/>
            <ac:spMk id="3" creationId="{8EB1C60C-CEB8-6C52-DB95-0F5782A45BC0}"/>
          </ac:spMkLst>
        </pc:spChg>
        <pc:spChg chg="mod topLvl">
          <ac:chgData name="Fabrizio Ferrandi" userId="f9df4cb0-0e27-47ec-bff9-7f5b2a5a0289" providerId="ADAL" clId="{7CA24019-2AFF-4778-9F7E-3B2C1081330E}" dt="2025-06-18T13:47:59.504" v="111" actId="165"/>
          <ac:spMkLst>
            <pc:docMk/>
            <pc:sldMk cId="1930889613" sldId="516"/>
            <ac:spMk id="5" creationId="{0F8385C3-78A2-2AE3-FBCB-90B42FFD8A8F}"/>
          </ac:spMkLst>
        </pc:spChg>
        <pc:picChg chg="add mod ord">
          <ac:chgData name="Fabrizio Ferrandi" userId="f9df4cb0-0e27-47ec-bff9-7f5b2a5a0289" providerId="ADAL" clId="{7CA24019-2AFF-4778-9F7E-3B2C1081330E}" dt="2025-06-18T13:48:11.391" v="114" actId="167"/>
          <ac:picMkLst>
            <pc:docMk/>
            <pc:sldMk cId="1930889613" sldId="516"/>
            <ac:picMk id="4" creationId="{08EA9A4A-F117-ABE5-85E4-A32B3D58317D}"/>
          </ac:picMkLst>
        </pc:picChg>
      </pc:sldChg>
      <pc:sldChg chg="addSp delSp modSp mod">
        <pc:chgData name="Fabrizio Ferrandi" userId="f9df4cb0-0e27-47ec-bff9-7f5b2a5a0289" providerId="ADAL" clId="{7CA24019-2AFF-4778-9F7E-3B2C1081330E}" dt="2025-06-18T14:06:36.705" v="119" actId="14100"/>
        <pc:sldMkLst>
          <pc:docMk/>
          <pc:sldMk cId="27140877" sldId="534"/>
        </pc:sldMkLst>
        <pc:picChg chg="add mod">
          <ac:chgData name="Fabrizio Ferrandi" userId="f9df4cb0-0e27-47ec-bff9-7f5b2a5a0289" providerId="ADAL" clId="{7CA24019-2AFF-4778-9F7E-3B2C1081330E}" dt="2025-06-18T14:06:36.705" v="119" actId="14100"/>
          <ac:picMkLst>
            <pc:docMk/>
            <pc:sldMk cId="27140877" sldId="534"/>
            <ac:picMk id="3" creationId="{E66DC428-AC61-7D0E-4961-67E7358737AE}"/>
          </ac:picMkLst>
        </pc:picChg>
      </pc:sldChg>
    </pc:docChg>
  </pc:docChgLst>
  <pc:docChgLst>
    <pc:chgData name="Fabrizio Ferrandi" userId="f9df4cb0-0e27-47ec-bff9-7f5b2a5a0289" providerId="ADAL" clId="{94017918-0EFA-415C-831A-7A3B7B9EBB46}"/>
    <pc:docChg chg="undo redo custSel modSld modMainMaster">
      <pc:chgData name="Fabrizio Ferrandi" userId="f9df4cb0-0e27-47ec-bff9-7f5b2a5a0289" providerId="ADAL" clId="{94017918-0EFA-415C-831A-7A3B7B9EBB46}" dt="2025-01-28T20:46:44.373" v="189" actId="1037"/>
      <pc:docMkLst>
        <pc:docMk/>
      </pc:docMkLst>
      <pc:sldChg chg="addSp delSp modSp mod">
        <pc:chgData name="Fabrizio Ferrandi" userId="f9df4cb0-0e27-47ec-bff9-7f5b2a5a0289" providerId="ADAL" clId="{94017918-0EFA-415C-831A-7A3B7B9EBB46}" dt="2025-01-28T17:56:13.879" v="6" actId="1076"/>
        <pc:sldMkLst>
          <pc:docMk/>
          <pc:sldMk cId="474371491" sldId="306"/>
        </pc:sldMkLst>
      </pc:sldChg>
      <pc:sldChg chg="addSp delSp modSp mod">
        <pc:chgData name="Fabrizio Ferrandi" userId="f9df4cb0-0e27-47ec-bff9-7f5b2a5a0289" providerId="ADAL" clId="{94017918-0EFA-415C-831A-7A3B7B9EBB46}" dt="2025-01-28T18:00:43.776" v="21" actId="14100"/>
        <pc:sldMkLst>
          <pc:docMk/>
          <pc:sldMk cId="2723300275" sldId="455"/>
        </pc:sldMkLst>
      </pc:sldChg>
      <pc:sldChg chg="addSp delSp modSp mod">
        <pc:chgData name="Fabrizio Ferrandi" userId="f9df4cb0-0e27-47ec-bff9-7f5b2a5a0289" providerId="ADAL" clId="{94017918-0EFA-415C-831A-7A3B7B9EBB46}" dt="2025-01-28T17:58:52.883" v="13" actId="478"/>
        <pc:sldMkLst>
          <pc:docMk/>
          <pc:sldMk cId="3600713173" sldId="511"/>
        </pc:sldMkLst>
      </pc:sldChg>
      <pc:sldChg chg="addSp delSp modSp mod">
        <pc:chgData name="Fabrizio Ferrandi" userId="f9df4cb0-0e27-47ec-bff9-7f5b2a5a0289" providerId="ADAL" clId="{94017918-0EFA-415C-831A-7A3B7B9EBB46}" dt="2025-01-28T20:37:12.748" v="78" actId="1076"/>
        <pc:sldMkLst>
          <pc:docMk/>
          <pc:sldMk cId="2355237973" sldId="512"/>
        </pc:sldMkLst>
      </pc:sldChg>
      <pc:sldChg chg="addSp delSp modSp mod">
        <pc:chgData name="Fabrizio Ferrandi" userId="f9df4cb0-0e27-47ec-bff9-7f5b2a5a0289" providerId="ADAL" clId="{94017918-0EFA-415C-831A-7A3B7B9EBB46}" dt="2025-01-28T20:37:42.493" v="82" actId="478"/>
        <pc:sldMkLst>
          <pc:docMk/>
          <pc:sldMk cId="4263490476" sldId="513"/>
        </pc:sldMkLst>
      </pc:sldChg>
      <pc:sldChg chg="addSp delSp modSp mod">
        <pc:chgData name="Fabrizio Ferrandi" userId="f9df4cb0-0e27-47ec-bff9-7f5b2a5a0289" providerId="ADAL" clId="{94017918-0EFA-415C-831A-7A3B7B9EBB46}" dt="2025-01-28T20:42:40.524" v="106" actId="14100"/>
        <pc:sldMkLst>
          <pc:docMk/>
          <pc:sldMk cId="972675728" sldId="514"/>
        </pc:sldMkLst>
      </pc:sldChg>
      <pc:sldChg chg="addSp delSp modSp mod">
        <pc:chgData name="Fabrizio Ferrandi" userId="f9df4cb0-0e27-47ec-bff9-7f5b2a5a0289" providerId="ADAL" clId="{94017918-0EFA-415C-831A-7A3B7B9EBB46}" dt="2025-01-28T20:43:13.939" v="111" actId="14100"/>
        <pc:sldMkLst>
          <pc:docMk/>
          <pc:sldMk cId="458099042" sldId="515"/>
        </pc:sldMkLst>
      </pc:sldChg>
      <pc:sldMasterChg chg="modSldLayout">
        <pc:chgData name="Fabrizio Ferrandi" userId="f9df4cb0-0e27-47ec-bff9-7f5b2a5a0289" providerId="ADAL" clId="{94017918-0EFA-415C-831A-7A3B7B9EBB46}" dt="2025-01-28T20:46:44.373" v="189" actId="1037"/>
        <pc:sldMasterMkLst>
          <pc:docMk/>
          <pc:sldMasterMk cId="0" sldId="2147483648"/>
        </pc:sldMasterMkLst>
        <pc:sldLayoutChg chg="addSp modSp">
          <pc:chgData name="Fabrizio Ferrandi" userId="f9df4cb0-0e27-47ec-bff9-7f5b2a5a0289" providerId="ADAL" clId="{94017918-0EFA-415C-831A-7A3B7B9EBB46}" dt="2025-01-28T20:46:44.373" v="189" actId="1037"/>
          <pc:sldLayoutMkLst>
            <pc:docMk/>
            <pc:sldMasterMk cId="0" sldId="2147483648"/>
            <pc:sldLayoutMk cId="0" sldId="2147483649"/>
          </pc:sldLayoutMkLst>
        </pc:sldLayoutChg>
        <pc:sldLayoutChg chg="delSp">
          <pc:chgData name="Fabrizio Ferrandi" userId="f9df4cb0-0e27-47ec-bff9-7f5b2a5a0289" providerId="ADAL" clId="{94017918-0EFA-415C-831A-7A3B7B9EBB46}" dt="2025-01-28T17:58:10.698" v="10" actId="478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  <pc:docChgLst>
    <pc:chgData name="Fabrizio Ferrandi" userId="f9df4cb0-0e27-47ec-bff9-7f5b2a5a0289" providerId="ADAL" clId="{F85BD54A-A2B0-4628-8770-B9BDAB0EF8AE}"/>
    <pc:docChg chg="custSel modSld">
      <pc:chgData name="Fabrizio Ferrandi" userId="f9df4cb0-0e27-47ec-bff9-7f5b2a5a0289" providerId="ADAL" clId="{F85BD54A-A2B0-4628-8770-B9BDAB0EF8AE}" dt="2025-06-13T13:26:48.846" v="0" actId="478"/>
      <pc:docMkLst>
        <pc:docMk/>
      </pc:docMkLst>
      <pc:sldChg chg="delSp mod">
        <pc:chgData name="Fabrizio Ferrandi" userId="f9df4cb0-0e27-47ec-bff9-7f5b2a5a0289" providerId="ADAL" clId="{F85BD54A-A2B0-4628-8770-B9BDAB0EF8AE}" dt="2025-06-13T13:26:48.846" v="0" actId="478"/>
        <pc:sldMkLst>
          <pc:docMk/>
          <pc:sldMk cId="474371491" sldId="3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9D9E6-4C88-45BA-AC20-6A4E0DE66932}" type="datetimeFigureOut">
              <a:rPr lang="en-US" smtClean="0"/>
              <a:t>6/21/25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E5ADC-1E0F-46C3-9101-8CC723F0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3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1858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1264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A65E-3763-FE9E-A81C-65E2036D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D0826B-BCB8-C6FA-CC02-479364412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CA5E3A3-43A4-23E3-76AD-2F3DF777D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06334D-1E87-D637-2CFE-49B0CC326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1984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1796D-44A0-6509-E39E-F7ECD33B5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1265822-5B33-4FBA-1875-C63AFC49E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C82DA0A-2874-DDE7-A934-426DBCDBC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3B5130E-3050-5758-0017-FAA2AB538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304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4E748-B09D-A5C2-1B21-D8C26C6E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9DDDC0E-6F73-ACCE-5D04-B970C76A5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4308CE2-5B03-7F82-F8A8-F87B6779D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22763B-D49A-FA52-3375-FF2BEE470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5571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BC0E-8D09-FD02-5246-EB3EFE03C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9C3FD7D-B5F0-D83A-AF76-3F60B7A98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C5453A1-6F18-095F-0618-6B7B594E2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CB5F79-751E-79B1-1B38-7C12214C1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226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D6EC8-3FAA-0CCF-C325-D42537BB9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240BB27-67B7-9215-CB2D-92C32F0EC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27C07DE-F8AB-3B30-553B-B7DC16024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2DDB12E-49C4-0861-CB54-A998EF88D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3776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CA8AC-372D-7769-0DC8-86C2A0E5E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0F71C72-97C2-DD73-A1ED-8B5EFBB0E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FE7133E-EF4D-C327-2C8F-EC7162430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E8B6D24-7278-C039-F44C-0BBA49A38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642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8FA67-9BFF-D5E0-873F-2AABE6712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B677032-D0AE-D4AE-3270-BBC228007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2319A47-AB95-6C18-3566-974479C9E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682236-03E1-BDE3-9C30-176ADE482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7350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3B183-F2EC-1D9E-DC0F-B0A901F54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B47670E-64F7-A563-3612-3B28176F7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28A6AAE-7853-7D3B-2EA6-D00AA9697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6AEBC6-8DD4-7A52-13A2-D4C57F79D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2735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EB64D-C100-16EE-7C94-252CBF22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9ECAA8E-5A3B-4F90-E845-61005608B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A8E76FA-B54E-721F-14A5-DF4647107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A4EE451-E41B-867C-7C54-D8F0F3B17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4957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66A76-F881-1AEB-A6D2-A8DA26F0C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92F09C6-2D8E-F3CD-544E-2A59AE0D9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8549392-D306-6CE0-39AF-321470648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247F535-B011-27E3-0C09-EF0B408AE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36285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8A54F-4710-8159-88BD-265069E8A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F31C9B5-ADCD-92A0-9628-C5E336335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AEE3C97-FEA5-1236-097E-1D36F9F14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EBE9EF5-AF2D-591A-2BAD-C9F505DEE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4908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AB7DB-0434-09DE-A245-B39A6E50D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324F6FB-C5C7-D4B8-D0C4-837161D88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BA87B2C-7E35-9D17-DE02-FA6FAD399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A1BF96D-202D-A52D-F29E-A319746B2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8166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C6FE7-B29E-A34E-83E6-A61CB4A6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B4D563F-33FE-3A98-044D-560B71CCF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11B2AE7-DEC1-2328-8839-C1C9E5358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8C6ED6A-5790-B723-175F-46BDAC40B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47758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67E52-1CAA-92AB-448A-8DDF1DE3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82C1C2B-C880-50B8-DE50-CF262C292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95D6EB7-D1C9-4F5A-04FF-033F89FBC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88E8B3-97C7-8868-99B9-E1F119C92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0298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95CA7-DECC-72D3-711D-68908CE5A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6A9D9E0-96F7-0301-33E5-291BA46A6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B47AB9A-EF7A-FDF6-13AD-2EA2DD9B6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D9D1AB3-A5AC-18F1-CEC1-99E5ABDDA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53244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6191-BB19-83FB-A7FB-DA1B11C39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D3F9EA1-B4E8-A22B-85E2-F51C34A7E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61F1A67-4750-70FC-8F53-749C716B8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844078E-273F-4F31-5FC6-62203D089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78342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12456-1486-5A1B-6B8E-74FB665B4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21E2283-633A-06DB-511C-B8D9321A2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547CE86-F6C1-4098-4E03-BFC67B5A0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B14435-3AF2-D44A-6700-3F0818B36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69676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6B56C-2D50-0B02-6054-13BB4673E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E056134-AE12-2358-1F49-95F4EA444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9D5F2DA-A710-6498-ACA6-E949A3641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BDFD757-AE52-5D8E-925F-61D3CCC09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39691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0DBE9-E7DE-B164-6959-19414BCED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0C22532-CBE2-B07A-2562-78934DD8E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6490A98-32F9-B8CD-ABB6-BC36EEC85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F000FD-A430-DEF6-F84C-0ECA6749D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13802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E4182-A889-0FC6-C028-AC8E222BE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69F632C-4342-0933-877C-28C044B88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2046720-8427-423A-2B92-F7C47D7FA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E6667D-7414-67EA-AF00-066713D23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97046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B9E79-9E7B-ABE3-5781-0980DFE5D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1EB9AF5-0192-3F4D-1EBD-BC1AC19D7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DBA6877-704B-F58B-4E1C-3EEEDB2D4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4BE42FE-4E38-BF63-2716-8C50FDD88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71634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05536-E54B-05FC-88DA-70119F8A4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ACC3B98-0B3D-15A9-FB17-4B69247D7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32C12EF-528C-1ED0-9951-A108F8312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D96B542-C6A1-DFC9-EADB-F6A6195BA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97680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63AA-11E7-9F7B-A189-6B9442D5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E1C94DF-D9A1-B5F3-C319-95CC08CCE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880887E-56DF-53A6-B90E-25DBF78F4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A3DE2F-890B-24CB-3D12-7E5A8F02B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5476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A62B1-B8AC-AF8F-856E-6758287F2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E52C1B8-D6D7-EF16-E2B0-749DA875B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3159094-1E1C-316F-D372-1811CB32A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2DE47E8-3191-76A9-D590-638F58066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2702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F2323-74AF-6F71-4BE3-5CCB1F78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B2B65E4-8E3E-4673-F0FE-9DF790D2B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6F3C553-69E7-56D9-343E-899E3C3B0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6B9069E-1A17-945B-9619-6C22ACC47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17289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EBB34-6DC8-E34D-9899-0E58F76A1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D619F26-5110-4AC0-5073-658BF85A2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307BD27-1305-BE59-31CC-810AE2836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66992C3-9656-E7EE-152D-EFD2448BF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58727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78572-E33B-1030-8E84-27B2A2DFE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EC570D5-4526-C4A8-65CB-6EBBBFB14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A045220-F928-2056-0D7C-F56A670CC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237346F-57AB-4C2C-B39F-6C54D1170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55803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B4AEB-979F-5537-4D62-7138B9379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EACF963-C70E-9161-D231-ABF25C483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E0B2536-E33D-3CA6-B584-D658329BD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926E5B-01EF-BE4A-CC2D-1BE208C35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83496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131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71550"/>
            <a:ext cx="7772400" cy="1102519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939" y="2800350"/>
            <a:ext cx="1340634" cy="52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 descr="Home | IEEE Council on Electronic Design Automation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786" y="2859058"/>
            <a:ext cx="1947863" cy="404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828800" y="3562350"/>
            <a:ext cx="5466657" cy="68580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9ED20F5-0683-E54E-C35E-3543501EC2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258" y="2568699"/>
            <a:ext cx="2294352" cy="10014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5"/>
          <p:cNvSpPr>
            <a:spLocks noChangeArrowheads="1"/>
          </p:cNvSpPr>
          <p:nvPr userDrawn="1"/>
        </p:nvSpPr>
        <p:spPr bwMode="auto">
          <a:xfrm>
            <a:off x="0" y="0"/>
            <a:ext cx="9144000" cy="519113"/>
          </a:xfrm>
          <a:prstGeom prst="rect">
            <a:avLst/>
          </a:prstGeom>
          <a:gradFill rotWithShape="1">
            <a:gsLst>
              <a:gs pos="0">
                <a:srgbClr val="EAEAEA">
                  <a:alpha val="0"/>
                </a:srgbClr>
              </a:gs>
              <a:gs pos="100000">
                <a:srgbClr val="1F497D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defRPr/>
            </a:pPr>
            <a:endParaRPr lang="it-IT" altLang="it-IT" sz="1800" u="sng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Autofit/>
          </a:bodyPr>
          <a:lstStyle>
            <a:lvl1pPr algn="r">
              <a:defRPr sz="2400" b="1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/>
          </a:bodyPr>
          <a:lstStyle>
            <a:lvl1pPr marL="271463" indent="-271463">
              <a:defRPr sz="2000">
                <a:solidFill>
                  <a:srgbClr val="002060"/>
                </a:solidFill>
              </a:defRPr>
            </a:lvl1pPr>
            <a:lvl2pPr marL="542925" indent="-271463">
              <a:defRPr sz="1800">
                <a:solidFill>
                  <a:srgbClr val="002060"/>
                </a:solidFill>
              </a:defRPr>
            </a:lvl2pPr>
            <a:lvl3pPr marL="712788" indent="-169863">
              <a:defRPr sz="1600">
                <a:solidFill>
                  <a:srgbClr val="002060"/>
                </a:solidFill>
              </a:defRPr>
            </a:lvl3pPr>
            <a:lvl4pPr marL="984250" indent="-271463">
              <a:defRPr sz="1400">
                <a:solidFill>
                  <a:srgbClr val="002060"/>
                </a:solidFill>
              </a:defRPr>
            </a:lvl4pPr>
            <a:lvl5pPr marL="1165225" indent="-180975">
              <a:defRPr sz="1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32"/>
          <p:cNvSpPr>
            <a:spLocks noChangeShapeType="1"/>
          </p:cNvSpPr>
          <p:nvPr userDrawn="1"/>
        </p:nvSpPr>
        <p:spPr bwMode="auto">
          <a:xfrm flipH="1">
            <a:off x="0" y="519113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CasellaDiTesto 11"/>
          <p:cNvSpPr txBox="1"/>
          <p:nvPr userDrawn="1"/>
        </p:nvSpPr>
        <p:spPr>
          <a:xfrm>
            <a:off x="8507413" y="4809331"/>
            <a:ext cx="503237" cy="2460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fld id="{ACA776E3-4C8B-4FD3-B0C0-076B8DB06758}" type="slidenum">
              <a:rPr lang="it-IT" altLang="it-IT" sz="1000" smtClean="0">
                <a:solidFill>
                  <a:srgbClr val="2C456E"/>
                </a:solidFill>
                <a:latin typeface="Arial Narrow" pitchFamily="34" charset="0"/>
              </a:rPr>
              <a:pPr eaLnBrk="1" hangingPunct="1">
                <a:defRPr/>
              </a:pPr>
              <a:t>‹#›</a:t>
            </a:fld>
            <a:endParaRPr lang="it-IT" altLang="it-IT" sz="1000" dirty="0">
              <a:solidFill>
                <a:srgbClr val="2C456E"/>
              </a:solidFill>
              <a:latin typeface="Arial Narrow" pitchFamily="34" charset="0"/>
            </a:endParaRPr>
          </a:p>
        </p:txBody>
      </p:sp>
      <p:sp>
        <p:nvSpPr>
          <p:cNvPr id="14" name="Line 32"/>
          <p:cNvSpPr>
            <a:spLocks noChangeShapeType="1"/>
          </p:cNvSpPr>
          <p:nvPr userDrawn="1"/>
        </p:nvSpPr>
        <p:spPr bwMode="auto">
          <a:xfrm flipH="1">
            <a:off x="0" y="4705350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mailto:cristiana.bolchini@polimi.it" TargetMode="External"/><Relationship Id="rId13" Type="http://schemas.openxmlformats.org/officeDocument/2006/relationships/image" Target="../media/image44.png"/><Relationship Id="rId3" Type="http://schemas.openxmlformats.org/officeDocument/2006/relationships/hyperlink" Target="http://creativecommons.org/licenses/by-nc-sa/2.5/" TargetMode="External"/><Relationship Id="rId7" Type="http://schemas.openxmlformats.org/officeDocument/2006/relationships/hyperlink" Target="mailto:enrico.macii@polito.it" TargetMode="External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aniele.jahier@polito.it" TargetMode="External"/><Relationship Id="rId11" Type="http://schemas.openxmlformats.org/officeDocument/2006/relationships/image" Target="../media/image42.png"/><Relationship Id="rId5" Type="http://schemas.openxmlformats.org/officeDocument/2006/relationships/hyperlink" Target="mailto:gianvito.urgese@polito.it" TargetMode="External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hyperlink" Target="mailto:christian.conti@polito.it" TargetMode="External"/><Relationship Id="rId9" Type="http://schemas.openxmlformats.org/officeDocument/2006/relationships/hyperlink" Target="mailto:fabrizio.ferrandi@polimi.it" TargetMode="External"/><Relationship Id="rId1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Lab 01:</a:t>
            </a:r>
            <a:br>
              <a:rPr lang="en-US" dirty="0"/>
            </a:br>
            <a:r>
              <a:rPr lang="en-US" sz="4800" dirty="0"/>
              <a:t>Introduction to </a:t>
            </a:r>
            <a:r>
              <a:rPr lang="en-US" sz="4800" dirty="0" err="1"/>
              <a:t>Vivado</a:t>
            </a:r>
            <a:r>
              <a:rPr lang="en-US" sz="4800" dirty="0"/>
              <a:t> </a:t>
            </a:r>
            <a:br>
              <a:rPr lang="en-US" sz="4800" dirty="0"/>
            </a:br>
            <a:r>
              <a:rPr lang="en-US" sz="4800" dirty="0"/>
              <a:t>&amp; Logic Gates</a:t>
            </a:r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07C37C1-D422-3777-3718-970E9E9281C8}"/>
              </a:ext>
            </a:extLst>
          </p:cNvPr>
          <p:cNvSpPr>
            <a:spLocks noGrp="1"/>
          </p:cNvSpPr>
          <p:nvPr/>
        </p:nvSpPr>
        <p:spPr>
          <a:xfrm>
            <a:off x="1838671" y="3589114"/>
            <a:ext cx="5466657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47437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it-IT" dirty="0"/>
              <a:t>Chips, what?</a:t>
            </a:r>
            <a:br>
              <a:rPr lang="en-US" altLang="it-IT" dirty="0"/>
            </a:br>
            <a:r>
              <a:rPr lang="en-US" altLang="it-IT" sz="3600" dirty="0"/>
              <a:t>An IEEE CEDA Education Initiative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it-IT" dirty="0">
                <a:solidFill>
                  <a:srgbClr val="000066"/>
                </a:solidFill>
              </a:rPr>
              <a:t>Presenter name</a:t>
            </a:r>
            <a:endParaRPr lang="it-IT" altLang="it-IT" sz="1400" dirty="0">
              <a:solidFill>
                <a:srgbClr val="000066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237834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260B8-0482-AD7F-F18D-86F33A30D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9353-4F67-6FA5-C6A6-5131A0B36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Lab 0</a:t>
            </a:r>
            <a:r>
              <a:rPr lang="en-US" dirty="0"/>
              <a:t>1</a:t>
            </a:r>
            <a:r>
              <a:rPr lang="en-IT" dirty="0"/>
              <a:t> Part </a:t>
            </a:r>
            <a:r>
              <a:rPr lang="en-US" dirty="0"/>
              <a:t>0</a:t>
            </a:r>
            <a:r>
              <a:rPr lang="en-IT" dirty="0"/>
              <a:t>: </a:t>
            </a:r>
            <a:br>
              <a:rPr lang="en-US" dirty="0"/>
            </a:br>
            <a:r>
              <a:rPr lang="en-US" dirty="0" err="1"/>
              <a:t>Vivado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600713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 err="1"/>
              <a:t>Vivado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EAE127-F035-B729-193A-6BC85EB6CBCF}"/>
              </a:ext>
            </a:extLst>
          </p:cNvPr>
          <p:cNvGrpSpPr/>
          <p:nvPr/>
        </p:nvGrpSpPr>
        <p:grpSpPr>
          <a:xfrm>
            <a:off x="894882" y="1037349"/>
            <a:ext cx="7354235" cy="3068801"/>
            <a:chOff x="1586533" y="484841"/>
            <a:chExt cx="8834251" cy="3686387"/>
          </a:xfrm>
        </p:grpSpPr>
        <p:pic>
          <p:nvPicPr>
            <p:cNvPr id="4" name="Immagine 15" descr="Immagine che contiene nero, oscurità&#10;&#10;Descrizione generata automaticamente">
              <a:extLst>
                <a:ext uri="{FF2B5EF4-FFF2-40B4-BE49-F238E27FC236}">
                  <a16:creationId xmlns:a16="http://schemas.microsoft.com/office/drawing/2014/main" id="{415A7340-B4BD-0886-A5C0-D0FACB4C1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3984" y="1213610"/>
              <a:ext cx="4876800" cy="2228850"/>
            </a:xfrm>
            <a:prstGeom prst="rect">
              <a:avLst/>
            </a:prstGeom>
          </p:spPr>
        </p:pic>
        <p:pic>
          <p:nvPicPr>
            <p:cNvPr id="5" name="Immagine 23" descr="Immagine che contiene design, creatività&#10;&#10;Descrizione generata automaticamente con attendibilità media">
              <a:extLst>
                <a:ext uri="{FF2B5EF4-FFF2-40B4-BE49-F238E27FC236}">
                  <a16:creationId xmlns:a16="http://schemas.microsoft.com/office/drawing/2014/main" id="{7FCE70E9-905C-DD5C-F39B-3458615EB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6533" y="484841"/>
              <a:ext cx="3686387" cy="36863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104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5D41E-1484-D907-9E9E-41A2FE4D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B73187D-A291-8FC8-90A5-464CA60A3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 err="1"/>
              <a:t>Vivado</a:t>
            </a:r>
            <a:endParaRPr lang="en-IT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5995729-5075-9E0B-7FEC-1BFCCACA1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02654"/>
            <a:ext cx="4267200" cy="3550076"/>
          </a:xfrm>
          <a:ln>
            <a:noFill/>
          </a:ln>
        </p:spPr>
        <p:txBody>
          <a:bodyPr>
            <a:normAutofit fontScale="92500" lnSpcReduction="20000"/>
          </a:bodyPr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AMD XILINX </a:t>
            </a:r>
            <a:r>
              <a:rPr lang="en-US" sz="2800" dirty="0" err="1"/>
              <a:t>Vivado</a:t>
            </a:r>
            <a:r>
              <a:rPr lang="en-US" sz="2800" dirty="0"/>
              <a:t> 2024.2: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Synthesis &amp; analysis of HDLs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Block design integration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Included logic simulator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GUI-based commands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Each laboratory session is prepared as a stand-alone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E85B4F-51D8-0E00-C7C4-17EFF432F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371" y="705224"/>
            <a:ext cx="3849830" cy="385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30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DC537-DFD3-D5FD-48FF-FA98695F8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98790E4-E29B-248C-9A5D-7DC01A9A8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Start a Laboratory Session</a:t>
            </a:r>
            <a:endParaRPr lang="en-IT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8F48385-AEA5-7893-4D20-DFB509D55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83566"/>
            <a:ext cx="4191000" cy="3486833"/>
          </a:xfrm>
          <a:ln>
            <a:noFill/>
          </a:ln>
        </p:spPr>
        <p:txBody>
          <a:bodyPr>
            <a:normAutofit fontScale="625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/>
              <a:t>Start a new laboratory session with </a:t>
            </a:r>
            <a:r>
              <a:rPr lang="en-US" sz="2800" dirty="0" err="1"/>
              <a:t>Vivado</a:t>
            </a:r>
            <a:r>
              <a:rPr lang="en-US" sz="2800" dirty="0"/>
              <a:t>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To each laboratory session corresponds a </a:t>
            </a:r>
            <a:r>
              <a:rPr lang="en-US" sz="2800" dirty="0" err="1"/>
              <a:t>Vivado</a:t>
            </a:r>
            <a:r>
              <a:rPr lang="en-US" sz="2800" dirty="0"/>
              <a:t> project directory: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r>
              <a:rPr lang="en-US" sz="2600" dirty="0"/>
              <a:t>Lab01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r>
              <a:rPr lang="en-US" sz="2600" dirty="0"/>
              <a:t>Lab02{</a:t>
            </a:r>
            <a:r>
              <a:rPr lang="en-US" sz="2600" dirty="0" err="1"/>
              <a:t>a,b,c</a:t>
            </a:r>
            <a:r>
              <a:rPr lang="en-US" sz="2600" dirty="0"/>
              <a:t>}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r>
              <a:rPr lang="en-US" sz="2600" dirty="0"/>
              <a:t>Lab03{a,b,b_synth,c,c_</a:t>
            </a:r>
            <a:r>
              <a:rPr lang="en-US" sz="2600" dirty="0" err="1"/>
              <a:t>synh</a:t>
            </a:r>
            <a:r>
              <a:rPr lang="en-US" sz="2600" dirty="0"/>
              <a:t>,_soc}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r>
              <a:rPr lang="en-US" sz="2600" dirty="0"/>
              <a:t>Lab04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Inside each Lab directory, there is the project for the current laboratory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C889F4-4BA7-0C18-C452-C2C2D83F4D5B}"/>
              </a:ext>
            </a:extLst>
          </p:cNvPr>
          <p:cNvGrpSpPr/>
          <p:nvPr/>
        </p:nvGrpSpPr>
        <p:grpSpPr>
          <a:xfrm>
            <a:off x="5135394" y="1180456"/>
            <a:ext cx="3703806" cy="2782587"/>
            <a:chOff x="6250098" y="620571"/>
            <a:chExt cx="5370851" cy="4035001"/>
          </a:xfrm>
        </p:grpSpPr>
        <p:pic>
          <p:nvPicPr>
            <p:cNvPr id="6" name="Immagine 10">
              <a:extLst>
                <a:ext uri="{FF2B5EF4-FFF2-40B4-BE49-F238E27FC236}">
                  <a16:creationId xmlns:a16="http://schemas.microsoft.com/office/drawing/2014/main" id="{46E0F3C5-2371-4450-AC48-F8F30E0C2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0098" y="620571"/>
              <a:ext cx="4990650" cy="280724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" name="Immagine 13">
              <a:extLst>
                <a:ext uri="{FF2B5EF4-FFF2-40B4-BE49-F238E27FC236}">
                  <a16:creationId xmlns:a16="http://schemas.microsoft.com/office/drawing/2014/main" id="{AF86FB5D-3B23-81C0-2830-4F9726F4A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30299" y="1848331"/>
              <a:ext cx="4990650" cy="280724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8" name="Ovale 15">
              <a:extLst>
                <a:ext uri="{FF2B5EF4-FFF2-40B4-BE49-F238E27FC236}">
                  <a16:creationId xmlns:a16="http://schemas.microsoft.com/office/drawing/2014/main" id="{078C67F1-6A3F-C0CE-0AAB-D0BBCCF90588}"/>
                </a:ext>
              </a:extLst>
            </p:cNvPr>
            <p:cNvSpPr/>
            <p:nvPr/>
          </p:nvSpPr>
          <p:spPr>
            <a:xfrm>
              <a:off x="6747510" y="1010132"/>
              <a:ext cx="822960" cy="777240"/>
            </a:xfrm>
            <a:prstGeom prst="ellipse">
              <a:avLst/>
            </a:prstGeom>
            <a:noFill/>
            <a:ln>
              <a:solidFill>
                <a:schemeClr val="accent2"/>
              </a:solidFill>
              <a:extLst>
                <a:ext uri="{C807C97D-BFC1-408E-A445-0C87EB9F89A2}">
                  <ask:lineSketchStyleProps xmlns:ask="http://schemas.microsoft.com/office/drawing/2018/sketchyshapes" sd="879248734">
                    <a:custGeom>
                      <a:avLst/>
                      <a:gdLst>
                        <a:gd name="connsiteX0" fmla="*/ 0 w 822960"/>
                        <a:gd name="connsiteY0" fmla="*/ 388620 h 777240"/>
                        <a:gd name="connsiteX1" fmla="*/ 411480 w 822960"/>
                        <a:gd name="connsiteY1" fmla="*/ 0 h 777240"/>
                        <a:gd name="connsiteX2" fmla="*/ 822960 w 822960"/>
                        <a:gd name="connsiteY2" fmla="*/ 388620 h 777240"/>
                        <a:gd name="connsiteX3" fmla="*/ 411480 w 822960"/>
                        <a:gd name="connsiteY3" fmla="*/ 777240 h 777240"/>
                        <a:gd name="connsiteX4" fmla="*/ 0 w 822960"/>
                        <a:gd name="connsiteY4" fmla="*/ 388620 h 7772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22960" h="777240" extrusionOk="0">
                          <a:moveTo>
                            <a:pt x="0" y="388620"/>
                          </a:moveTo>
                          <a:cubicBezTo>
                            <a:pt x="-27689" y="141431"/>
                            <a:pt x="219514" y="-12812"/>
                            <a:pt x="411480" y="0"/>
                          </a:cubicBezTo>
                          <a:cubicBezTo>
                            <a:pt x="633845" y="2747"/>
                            <a:pt x="827511" y="172633"/>
                            <a:pt x="822960" y="388620"/>
                          </a:cubicBezTo>
                          <a:cubicBezTo>
                            <a:pt x="808663" y="574745"/>
                            <a:pt x="635354" y="787756"/>
                            <a:pt x="411480" y="777240"/>
                          </a:cubicBezTo>
                          <a:cubicBezTo>
                            <a:pt x="203512" y="750634"/>
                            <a:pt x="36152" y="600274"/>
                            <a:pt x="0" y="38862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Connettore diritto 17">
              <a:extLst>
                <a:ext uri="{FF2B5EF4-FFF2-40B4-BE49-F238E27FC236}">
                  <a16:creationId xmlns:a16="http://schemas.microsoft.com/office/drawing/2014/main" id="{785F1177-AA79-B991-0769-9F1DD078FE70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6630299" y="1398752"/>
              <a:ext cx="117211" cy="449579"/>
            </a:xfrm>
            <a:prstGeom prst="line">
              <a:avLst/>
            </a:prstGeom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diritto 18">
              <a:extLst>
                <a:ext uri="{FF2B5EF4-FFF2-40B4-BE49-F238E27FC236}">
                  <a16:creationId xmlns:a16="http://schemas.microsoft.com/office/drawing/2014/main" id="{D742FC08-6E57-F3C6-45EB-0051C929C0BF}"/>
                </a:ext>
              </a:extLst>
            </p:cNvPr>
            <p:cNvCxnSpPr>
              <a:cxnSpLocks/>
              <a:stCxn id="8" idx="7"/>
            </p:cNvCxnSpPr>
            <p:nvPr/>
          </p:nvCxnSpPr>
          <p:spPr>
            <a:xfrm>
              <a:off x="7449950" y="1123956"/>
              <a:ext cx="4170999" cy="724375"/>
            </a:xfrm>
            <a:prstGeom prst="line">
              <a:avLst/>
            </a:prstGeom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464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97A9A-2055-1BE6-6D0D-E2D5569CE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94B1884-82E7-E5F5-7733-EF3137095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Inside a Project Folder</a:t>
            </a:r>
            <a:endParaRPr lang="en-IT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16A3BC0-6EF0-D1EF-AD56-360BF7DF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65316"/>
            <a:ext cx="4191000" cy="3416495"/>
          </a:xfrm>
          <a:ln>
            <a:noFill/>
          </a:ln>
        </p:spPr>
        <p:txBody>
          <a:bodyPr>
            <a:normAutofit fontScale="625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/>
              <a:t>A project is made of different files carrying different information regarding the project: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srcs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(sources): </a:t>
            </a:r>
            <a:r>
              <a:rPr lang="en-US" sz="2800" dirty="0"/>
              <a:t>the descriptions of the components of the blocks of the projects.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sim (simulation): </a:t>
            </a:r>
            <a:r>
              <a:rPr lang="en-US" sz="2800" dirty="0"/>
              <a:t>the file useful to the EDA tool to simulate the project.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Other files: </a:t>
            </a:r>
            <a:r>
              <a:rPr lang="en-US" sz="2800" dirty="0"/>
              <a:t>generated by the tool to run the project and generate the implementation.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The Project File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47D770-62C8-B9E3-6667-EF20D0706EB1}"/>
              </a:ext>
            </a:extLst>
          </p:cNvPr>
          <p:cNvGrpSpPr/>
          <p:nvPr/>
        </p:nvGrpSpPr>
        <p:grpSpPr>
          <a:xfrm>
            <a:off x="5031154" y="1256627"/>
            <a:ext cx="3808046" cy="2545699"/>
            <a:chOff x="6359265" y="1115949"/>
            <a:chExt cx="4990650" cy="2878087"/>
          </a:xfrm>
        </p:grpSpPr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32E2FFEA-D984-476E-97CE-C08C6EE7E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9265" y="1115949"/>
              <a:ext cx="4990650" cy="280724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6" name="Immagine 6" descr="Immagine che contiene Elementi grafici, grafica, simbolo, Carattere&#10;&#10;Descrizione generata automaticamente">
              <a:extLst>
                <a:ext uri="{FF2B5EF4-FFF2-40B4-BE49-F238E27FC236}">
                  <a16:creationId xmlns:a16="http://schemas.microsoft.com/office/drawing/2014/main" id="{A45D4F97-DAA6-86F0-C4BC-9B7D8FAB1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59575" y="2717893"/>
              <a:ext cx="787765" cy="599265"/>
            </a:xfrm>
            <a:prstGeom prst="rect">
              <a:avLst/>
            </a:prstGeom>
          </p:spPr>
        </p:pic>
        <p:sp>
          <p:nvSpPr>
            <p:cNvPr id="17" name="CasellaDiTesto 12">
              <a:extLst>
                <a:ext uri="{FF2B5EF4-FFF2-40B4-BE49-F238E27FC236}">
                  <a16:creationId xmlns:a16="http://schemas.microsoft.com/office/drawing/2014/main" id="{4775A26D-D185-B8A7-084D-9B2BCDF5CE94}"/>
                </a:ext>
              </a:extLst>
            </p:cNvPr>
            <p:cNvSpPr txBox="1"/>
            <p:nvPr/>
          </p:nvSpPr>
          <p:spPr>
            <a:xfrm>
              <a:off x="7442351" y="3263315"/>
              <a:ext cx="3607971" cy="730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i="1" dirty="0">
                  <a:solidFill>
                    <a:srgbClr val="82B366"/>
                  </a:solidFill>
                </a:rPr>
                <a:t>To open a project, double-click on  the Project File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495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D0BBC-8955-CCD4-F8F7-D140ECF09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EEABEA2-54C5-D6E8-38AF-EBC3B22921F8}"/>
              </a:ext>
            </a:extLst>
          </p:cNvPr>
          <p:cNvGrpSpPr>
            <a:grpSpLocks noChangeAspect="1"/>
          </p:cNvGrpSpPr>
          <p:nvPr/>
        </p:nvGrpSpPr>
        <p:grpSpPr>
          <a:xfrm>
            <a:off x="1351464" y="799474"/>
            <a:ext cx="6328628" cy="3719832"/>
            <a:chOff x="1796815" y="253559"/>
            <a:chExt cx="8598370" cy="4933902"/>
          </a:xfrm>
        </p:grpSpPr>
        <p:cxnSp>
          <p:nvCxnSpPr>
            <p:cNvPr id="10" name="Connettore diritto 14">
              <a:extLst>
                <a:ext uri="{FF2B5EF4-FFF2-40B4-BE49-F238E27FC236}">
                  <a16:creationId xmlns:a16="http://schemas.microsoft.com/office/drawing/2014/main" id="{0EB0D2E5-3AB7-11A0-F95F-B8AF2B8F06F3}"/>
                </a:ext>
              </a:extLst>
            </p:cNvPr>
            <p:cNvCxnSpPr>
              <a:cxnSpLocks/>
            </p:cNvCxnSpPr>
            <p:nvPr/>
          </p:nvCxnSpPr>
          <p:spPr>
            <a:xfrm>
              <a:off x="1962148" y="5187461"/>
              <a:ext cx="8267700" cy="0"/>
            </a:xfrm>
            <a:prstGeom prst="line">
              <a:avLst/>
            </a:prstGeom>
            <a:ln cap="rnd">
              <a:gradFill flip="none" rotWithShape="1">
                <a:gsLst>
                  <a:gs pos="0">
                    <a:srgbClr val="004574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40F5B5FC-987E-EAD0-20B9-6EC0A3C22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6815" y="253559"/>
              <a:ext cx="8598370" cy="48365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1147A0BA-580F-BFE1-EA89-BCAF5599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 err="1"/>
              <a:t>Vivado</a:t>
            </a:r>
            <a:r>
              <a:rPr lang="en-US" dirty="0"/>
              <a:t> a First Glance</a:t>
            </a:r>
            <a:endParaRPr lang="en-IT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06A91FC-3818-4042-CF6E-90172C8D5D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464" y="799474"/>
            <a:ext cx="6319383" cy="371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23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3B316-26A7-10E1-1EE3-7FC7FE02D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65FDEBB6-F5EF-E522-5B8F-0B9A9C089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08" y="712527"/>
            <a:ext cx="6319383" cy="371844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D7DA025-EFE7-B5DE-1AF5-AF2AAE4A6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 err="1"/>
              <a:t>Vivado</a:t>
            </a:r>
            <a:r>
              <a:rPr lang="en-US" dirty="0"/>
              <a:t> a First Glance</a:t>
            </a:r>
            <a:endParaRPr lang="en-IT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0EFA42-E8C2-A615-0CC9-4AB38ECB6287}"/>
              </a:ext>
            </a:extLst>
          </p:cNvPr>
          <p:cNvGrpSpPr>
            <a:grpSpLocks noChangeAspect="1"/>
          </p:cNvGrpSpPr>
          <p:nvPr/>
        </p:nvGrpSpPr>
        <p:grpSpPr>
          <a:xfrm>
            <a:off x="1321308" y="858431"/>
            <a:ext cx="6379692" cy="3573235"/>
            <a:chOff x="1562100" y="448002"/>
            <a:chExt cx="8667748" cy="4739459"/>
          </a:xfrm>
        </p:grpSpPr>
        <p:cxnSp>
          <p:nvCxnSpPr>
            <p:cNvPr id="3" name="Connettore diritto 14">
              <a:extLst>
                <a:ext uri="{FF2B5EF4-FFF2-40B4-BE49-F238E27FC236}">
                  <a16:creationId xmlns:a16="http://schemas.microsoft.com/office/drawing/2014/main" id="{8E610304-AD1B-0812-9194-65A050037A02}"/>
                </a:ext>
              </a:extLst>
            </p:cNvPr>
            <p:cNvCxnSpPr>
              <a:cxnSpLocks/>
            </p:cNvCxnSpPr>
            <p:nvPr/>
          </p:nvCxnSpPr>
          <p:spPr>
            <a:xfrm>
              <a:off x="1962148" y="5187461"/>
              <a:ext cx="8267700" cy="0"/>
            </a:xfrm>
            <a:prstGeom prst="line">
              <a:avLst/>
            </a:prstGeom>
            <a:ln cap="rnd">
              <a:gradFill flip="none" rotWithShape="1">
                <a:gsLst>
                  <a:gs pos="0">
                    <a:srgbClr val="004574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ttangolo con angoli arrotondati 1">
              <a:extLst>
                <a:ext uri="{FF2B5EF4-FFF2-40B4-BE49-F238E27FC236}">
                  <a16:creationId xmlns:a16="http://schemas.microsoft.com/office/drawing/2014/main" id="{5BB901A7-B1F2-2D33-92DB-5ECB39CCE0F8}"/>
                </a:ext>
              </a:extLst>
            </p:cNvPr>
            <p:cNvSpPr/>
            <p:nvPr/>
          </p:nvSpPr>
          <p:spPr>
            <a:xfrm>
              <a:off x="1562100" y="448002"/>
              <a:ext cx="1440180" cy="4055418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CasellaDiTesto 3">
              <a:extLst>
                <a:ext uri="{FF2B5EF4-FFF2-40B4-BE49-F238E27FC236}">
                  <a16:creationId xmlns:a16="http://schemas.microsoft.com/office/drawing/2014/main" id="{5BDB718B-6082-6D19-BCEB-D6F4EF036307}"/>
                </a:ext>
              </a:extLst>
            </p:cNvPr>
            <p:cNvSpPr txBox="1"/>
            <p:nvPr/>
          </p:nvSpPr>
          <p:spPr>
            <a:xfrm>
              <a:off x="3144643" y="931595"/>
              <a:ext cx="3210409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highlight>
                    <a:srgbClr val="FFFF00"/>
                  </a:highlight>
                </a:rPr>
                <a:t>Flow Navigator, to navigate inside the project, it is possible to change the view, from simulation, through synthesis to 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349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4BD4-0825-A818-9D36-6B612774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15BBDA7B-0C47-65E2-6052-718A3B5A9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312" y="705755"/>
            <a:ext cx="6394357" cy="378875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0DC70F17-057C-61F2-EEE9-4E117CF34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 err="1"/>
              <a:t>Vivado</a:t>
            </a:r>
            <a:r>
              <a:rPr lang="en-US" dirty="0"/>
              <a:t> a First Glance</a:t>
            </a:r>
            <a:endParaRPr lang="en-IT" dirty="0"/>
          </a:p>
        </p:txBody>
      </p:sp>
      <p:sp>
        <p:nvSpPr>
          <p:cNvPr id="5" name="Rettangolo con angoli arrotondati 1">
            <a:extLst>
              <a:ext uri="{FF2B5EF4-FFF2-40B4-BE49-F238E27FC236}">
                <a16:creationId xmlns:a16="http://schemas.microsoft.com/office/drawing/2014/main" id="{117A9A98-4426-F25B-9791-92622A0B6708}"/>
              </a:ext>
            </a:extLst>
          </p:cNvPr>
          <p:cNvSpPr/>
          <p:nvPr/>
        </p:nvSpPr>
        <p:spPr>
          <a:xfrm>
            <a:off x="2031209" y="1197871"/>
            <a:ext cx="1700784" cy="1439940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asellaDiTesto 3">
            <a:extLst>
              <a:ext uri="{FF2B5EF4-FFF2-40B4-BE49-F238E27FC236}">
                <a16:creationId xmlns:a16="http://schemas.microsoft.com/office/drawing/2014/main" id="{D7A8606D-12CA-09D6-168D-189BF8CB4B95}"/>
              </a:ext>
            </a:extLst>
          </p:cNvPr>
          <p:cNvSpPr txBox="1"/>
          <p:nvPr/>
        </p:nvSpPr>
        <p:spPr>
          <a:xfrm>
            <a:off x="4091198" y="1197871"/>
            <a:ext cx="1965228" cy="1117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Sources, contain the handwritten description of the modules used during the current laboratory</a:t>
            </a:r>
          </a:p>
        </p:txBody>
      </p:sp>
    </p:spTree>
    <p:extLst>
      <p:ext uri="{BB962C8B-B14F-4D97-AF65-F5344CB8AC3E}">
        <p14:creationId xmlns:p14="http://schemas.microsoft.com/office/powerpoint/2010/main" val="97267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7A322-1AE0-5C8B-AAC6-C24A7011D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D6AB0FA-716F-BA9C-E75F-14D8E4051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312" y="705755"/>
            <a:ext cx="6394357" cy="378875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B94F003-1E37-9C10-5079-00BDB1738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 err="1"/>
              <a:t>Vivado</a:t>
            </a:r>
            <a:r>
              <a:rPr lang="en-US" dirty="0"/>
              <a:t> a First Glance</a:t>
            </a:r>
            <a:endParaRPr lang="en-IT" dirty="0"/>
          </a:p>
        </p:txBody>
      </p:sp>
      <p:cxnSp>
        <p:nvCxnSpPr>
          <p:cNvPr id="3" name="Connettore diritto 14">
            <a:extLst>
              <a:ext uri="{FF2B5EF4-FFF2-40B4-BE49-F238E27FC236}">
                <a16:creationId xmlns:a16="http://schemas.microsoft.com/office/drawing/2014/main" id="{00C0177E-F431-598F-5006-0C0C8A30DCCE}"/>
              </a:ext>
            </a:extLst>
          </p:cNvPr>
          <p:cNvCxnSpPr>
            <a:cxnSpLocks/>
          </p:cNvCxnSpPr>
          <p:nvPr/>
        </p:nvCxnSpPr>
        <p:spPr>
          <a:xfrm>
            <a:off x="1456891" y="4400550"/>
            <a:ext cx="6129011" cy="0"/>
          </a:xfrm>
          <a:prstGeom prst="line">
            <a:avLst/>
          </a:prstGeom>
          <a:ln cap="rnd">
            <a:gradFill flip="none" rotWithShape="1">
              <a:gsLst>
                <a:gs pos="0">
                  <a:srgbClr val="004574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ttangolo con angoli arrotondati 1">
            <a:extLst>
              <a:ext uri="{FF2B5EF4-FFF2-40B4-BE49-F238E27FC236}">
                <a16:creationId xmlns:a16="http://schemas.microsoft.com/office/drawing/2014/main" id="{A23BFA21-E021-4951-5388-30375D5BCCC0}"/>
              </a:ext>
            </a:extLst>
          </p:cNvPr>
          <p:cNvSpPr/>
          <p:nvPr/>
        </p:nvSpPr>
        <p:spPr>
          <a:xfrm>
            <a:off x="1985249" y="3284509"/>
            <a:ext cx="5692420" cy="1112344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sellaDiTesto 3">
            <a:extLst>
              <a:ext uri="{FF2B5EF4-FFF2-40B4-BE49-F238E27FC236}">
                <a16:creationId xmlns:a16="http://schemas.microsoft.com/office/drawing/2014/main" id="{8E7E7071-40F7-C770-8124-AC0B3D4469AE}"/>
              </a:ext>
            </a:extLst>
          </p:cNvPr>
          <p:cNvSpPr txBox="1"/>
          <p:nvPr/>
        </p:nvSpPr>
        <p:spPr>
          <a:xfrm>
            <a:off x="2171701" y="2535677"/>
            <a:ext cx="52454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The information panel, contains information regarding synthesis, implementation, errors, warnings and info</a:t>
            </a:r>
          </a:p>
        </p:txBody>
      </p:sp>
    </p:spTree>
    <p:extLst>
      <p:ext uri="{BB962C8B-B14F-4D97-AF65-F5344CB8AC3E}">
        <p14:creationId xmlns:p14="http://schemas.microsoft.com/office/powerpoint/2010/main" val="45809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457DD-343A-527C-388C-EA629DE38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8EA9A4A-F117-ABE5-85E4-A32B3D583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312" y="705755"/>
            <a:ext cx="6394357" cy="378875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4868CA5-476B-0C3C-836C-EBFE260A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 err="1"/>
              <a:t>Vivado</a:t>
            </a:r>
            <a:r>
              <a:rPr lang="en-US" dirty="0"/>
              <a:t> a First Glance</a:t>
            </a:r>
            <a:endParaRPr lang="en-IT" dirty="0"/>
          </a:p>
        </p:txBody>
      </p:sp>
      <p:sp>
        <p:nvSpPr>
          <p:cNvPr id="3" name="Rettangolo con angoli arrotondati 1">
            <a:extLst>
              <a:ext uri="{FF2B5EF4-FFF2-40B4-BE49-F238E27FC236}">
                <a16:creationId xmlns:a16="http://schemas.microsoft.com/office/drawing/2014/main" id="{8EB1C60C-CEB8-6C52-DB95-0F5782A45BC0}"/>
              </a:ext>
            </a:extLst>
          </p:cNvPr>
          <p:cNvSpPr/>
          <p:nvPr/>
        </p:nvSpPr>
        <p:spPr>
          <a:xfrm>
            <a:off x="3732066" y="1080436"/>
            <a:ext cx="3945603" cy="2425785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sellaDiTesto 3">
            <a:extLst>
              <a:ext uri="{FF2B5EF4-FFF2-40B4-BE49-F238E27FC236}">
                <a16:creationId xmlns:a16="http://schemas.microsoft.com/office/drawing/2014/main" id="{0F8385C3-78A2-2AE3-FBCB-90B42FFD8A8F}"/>
              </a:ext>
            </a:extLst>
          </p:cNvPr>
          <p:cNvSpPr txBox="1"/>
          <p:nvPr/>
        </p:nvSpPr>
        <p:spPr>
          <a:xfrm>
            <a:off x="1858578" y="1680713"/>
            <a:ext cx="1770246" cy="1326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The main window of the project, contains the project summary, the block diagram of the design and other useful windows</a:t>
            </a:r>
          </a:p>
        </p:txBody>
      </p:sp>
    </p:spTree>
    <p:extLst>
      <p:ext uri="{BB962C8B-B14F-4D97-AF65-F5344CB8AC3E}">
        <p14:creationId xmlns:p14="http://schemas.microsoft.com/office/powerpoint/2010/main" val="1930889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D7373-6E5B-8127-747C-1FA7B7EDA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E115-344D-A3A8-016D-3448CBAC0B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Lab 0</a:t>
            </a:r>
            <a:r>
              <a:rPr lang="en-US" dirty="0"/>
              <a:t>1</a:t>
            </a:r>
            <a:r>
              <a:rPr lang="en-IT" dirty="0"/>
              <a:t> Part </a:t>
            </a:r>
            <a:r>
              <a:rPr lang="en-US" dirty="0"/>
              <a:t>1</a:t>
            </a:r>
            <a:r>
              <a:rPr lang="en-IT" dirty="0"/>
              <a:t>: </a:t>
            </a:r>
            <a:br>
              <a:rPr lang="en-US" dirty="0"/>
            </a:br>
            <a:r>
              <a:rPr lang="en-US" dirty="0"/>
              <a:t>Create the First Gate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012381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3EBF8-389A-3A61-307C-7B9A4EAB5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3A02ADF-3C65-CEEB-C955-0ABF2D78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Create a Block Design</a:t>
            </a:r>
            <a:endParaRPr lang="en-IT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6931E7F-C85B-35F1-6E8A-7969C6A88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65316"/>
            <a:ext cx="4191000" cy="3416495"/>
          </a:xfrm>
          <a:ln>
            <a:noFill/>
          </a:ln>
        </p:spPr>
        <p:txBody>
          <a:bodyPr>
            <a:normAutofit fontScale="625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/>
              <a:t>A Block Design is a canvas to place structural components for our design:</a:t>
            </a: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Create a new block design:</a:t>
            </a:r>
          </a:p>
          <a:p>
            <a:pPr marL="785812" lvl="1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600" dirty="0"/>
              <a:t>PROJECT MANAGER → </a:t>
            </a:r>
          </a:p>
          <a:p>
            <a:pPr marL="785812" lvl="1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/>
              <a:t>IP INTEGRATOR → </a:t>
            </a:r>
            <a:r>
              <a:rPr lang="en-US" sz="3000" dirty="0"/>
              <a:t>Create Block Design</a:t>
            </a: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“Create Block Design”  window will appear:</a:t>
            </a: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/>
              <a:t>	“Design name”: </a:t>
            </a:r>
            <a:r>
              <a:rPr lang="en-US" sz="2800" dirty="0" err="1"/>
              <a:t>xor_bd</a:t>
            </a:r>
            <a:endParaRPr lang="en-US" sz="2800" dirty="0"/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 startAt="3"/>
            </a:pPr>
            <a:r>
              <a:rPr lang="en-US" sz="2800" dirty="0">
                <a:solidFill>
                  <a:srgbClr val="C00000"/>
                </a:solidFill>
              </a:rPr>
              <a:t>“OK”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BFFD87-44A5-419F-0915-4645EFB91256}"/>
              </a:ext>
            </a:extLst>
          </p:cNvPr>
          <p:cNvGrpSpPr/>
          <p:nvPr/>
        </p:nvGrpSpPr>
        <p:grpSpPr>
          <a:xfrm>
            <a:off x="4598758" y="1548985"/>
            <a:ext cx="4090815" cy="2045530"/>
            <a:chOff x="5603310" y="2326906"/>
            <a:chExt cx="6096164" cy="3048264"/>
          </a:xfrm>
        </p:grpSpPr>
        <p:pic>
          <p:nvPicPr>
            <p:cNvPr id="18" name="Immagine 19">
              <a:extLst>
                <a:ext uri="{FF2B5EF4-FFF2-40B4-BE49-F238E27FC236}">
                  <a16:creationId xmlns:a16="http://schemas.microsoft.com/office/drawing/2014/main" id="{0856395F-0A78-9A8E-5F00-77651E79E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98797" y="2742173"/>
              <a:ext cx="3200677" cy="233954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19" name="Gruppo 20">
              <a:extLst>
                <a:ext uri="{FF2B5EF4-FFF2-40B4-BE49-F238E27FC236}">
                  <a16:creationId xmlns:a16="http://schemas.microsoft.com/office/drawing/2014/main" id="{88AC5706-E0ED-1F84-CFC0-17147D1EE992}"/>
                </a:ext>
              </a:extLst>
            </p:cNvPr>
            <p:cNvGrpSpPr/>
            <p:nvPr/>
          </p:nvGrpSpPr>
          <p:grpSpPr>
            <a:xfrm>
              <a:off x="5603310" y="2326906"/>
              <a:ext cx="2701423" cy="3048264"/>
              <a:chOff x="6235101" y="1851268"/>
              <a:chExt cx="2701423" cy="3048264"/>
            </a:xfrm>
          </p:grpSpPr>
          <p:pic>
            <p:nvPicPr>
              <p:cNvPr id="24" name="Immagine 17">
                <a:extLst>
                  <a:ext uri="{FF2B5EF4-FFF2-40B4-BE49-F238E27FC236}">
                    <a16:creationId xmlns:a16="http://schemas.microsoft.com/office/drawing/2014/main" id="{7B7A9B20-15F4-A610-214A-90DD1EAC6A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57015" y="1851268"/>
                <a:ext cx="2179509" cy="3048264"/>
              </a:xfrm>
              <a:prstGeom prst="rect">
                <a:avLst/>
              </a:prstGeom>
              <a:ln w="28575"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25" name="Rettangolo con angoli arrotondati 9">
                <a:extLst>
                  <a:ext uri="{FF2B5EF4-FFF2-40B4-BE49-F238E27FC236}">
                    <a16:creationId xmlns:a16="http://schemas.microsoft.com/office/drawing/2014/main" id="{DE46A6C0-CC9F-FFDF-6147-2172127A9DBC}"/>
                  </a:ext>
                </a:extLst>
              </p:cNvPr>
              <p:cNvSpPr/>
              <p:nvPr/>
            </p:nvSpPr>
            <p:spPr>
              <a:xfrm>
                <a:off x="6757015" y="3629278"/>
                <a:ext cx="1616241" cy="738785"/>
              </a:xfrm>
              <a:prstGeom prst="round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CasellaDiTesto 12">
                <a:extLst>
                  <a:ext uri="{FF2B5EF4-FFF2-40B4-BE49-F238E27FC236}">
                    <a16:creationId xmlns:a16="http://schemas.microsoft.com/office/drawing/2014/main" id="{3E74BC70-CEA9-FCFE-7BCA-9EF6B906CEF5}"/>
                  </a:ext>
                </a:extLst>
              </p:cNvPr>
              <p:cNvSpPr txBox="1"/>
              <p:nvPr/>
            </p:nvSpPr>
            <p:spPr>
              <a:xfrm>
                <a:off x="6235101" y="3733327"/>
                <a:ext cx="561789" cy="5503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accent2">
                        <a:lumMod val="75000"/>
                      </a:schemeClr>
                    </a:solidFill>
                    <a:latin typeface="Baskerville Display PT" panose="02030602080406020203" pitchFamily="18" charset="0"/>
                    <a:ea typeface="Baskerville Display PT" panose="02030602080406020203" pitchFamily="18" charset="0"/>
                  </a:rPr>
                  <a:t>1.</a:t>
                </a:r>
              </a:p>
            </p:txBody>
          </p:sp>
        </p:grpSp>
        <p:sp>
          <p:nvSpPr>
            <p:cNvPr id="20" name="Rettangolo con angoli arrotondati 15">
              <a:extLst>
                <a:ext uri="{FF2B5EF4-FFF2-40B4-BE49-F238E27FC236}">
                  <a16:creationId xmlns:a16="http://schemas.microsoft.com/office/drawing/2014/main" id="{B03F3CEE-A3FC-566A-B5F3-0B2702235652}"/>
                </a:ext>
              </a:extLst>
            </p:cNvPr>
            <p:cNvSpPr/>
            <p:nvPr/>
          </p:nvSpPr>
          <p:spPr>
            <a:xfrm>
              <a:off x="8610600" y="3619670"/>
              <a:ext cx="3042083" cy="433158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CasellaDiTesto 16">
              <a:extLst>
                <a:ext uri="{FF2B5EF4-FFF2-40B4-BE49-F238E27FC236}">
                  <a16:creationId xmlns:a16="http://schemas.microsoft.com/office/drawing/2014/main" id="{051CCB96-4FC1-C6A0-B911-07AD6593096A}"/>
                </a:ext>
              </a:extLst>
            </p:cNvPr>
            <p:cNvSpPr txBox="1"/>
            <p:nvPr/>
          </p:nvSpPr>
          <p:spPr>
            <a:xfrm>
              <a:off x="8109538" y="3561059"/>
              <a:ext cx="584453" cy="550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sp>
          <p:nvSpPr>
            <p:cNvPr id="22" name="Rettangolo con angoli arrotondati 21">
              <a:extLst>
                <a:ext uri="{FF2B5EF4-FFF2-40B4-BE49-F238E27FC236}">
                  <a16:creationId xmlns:a16="http://schemas.microsoft.com/office/drawing/2014/main" id="{607F9928-E283-65ED-E829-89D4F0A92AC9}"/>
                </a:ext>
              </a:extLst>
            </p:cNvPr>
            <p:cNvSpPr/>
            <p:nvPr/>
          </p:nvSpPr>
          <p:spPr>
            <a:xfrm>
              <a:off x="10034099" y="4620932"/>
              <a:ext cx="462043" cy="234351"/>
            </a:xfrm>
            <a:prstGeom prst="round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CasellaDiTesto 6">
              <a:extLst>
                <a:ext uri="{FF2B5EF4-FFF2-40B4-BE49-F238E27FC236}">
                  <a16:creationId xmlns:a16="http://schemas.microsoft.com/office/drawing/2014/main" id="{2D51DEBE-8854-A027-8F54-D11A7766556A}"/>
                </a:ext>
              </a:extLst>
            </p:cNvPr>
            <p:cNvSpPr txBox="1"/>
            <p:nvPr/>
          </p:nvSpPr>
          <p:spPr>
            <a:xfrm>
              <a:off x="9491687" y="4484156"/>
              <a:ext cx="568522" cy="550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14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767ED-8E68-D2B2-F494-F31014AE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2578EFE-5199-6B41-8F8D-D0FE8C0E8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Modules in a Block Design</a:t>
            </a:r>
            <a:endParaRPr lang="en-IT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8CFD38B-EE33-8049-F0EE-5092A699F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65316"/>
            <a:ext cx="4191000" cy="3416495"/>
          </a:xfrm>
          <a:ln>
            <a:noFill/>
          </a:ln>
        </p:spPr>
        <p:txBody>
          <a:bodyPr>
            <a:normAutofit fontScale="850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Modules are “ready to place” components in the design. They can be simple logic gates or complex digital circuits:</a:t>
            </a: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Right-click on the main window</a:t>
            </a: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Select Add Modules…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A new window with the available modules will pop up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F813F5-EE75-430B-15B2-C404179692C0}"/>
              </a:ext>
            </a:extLst>
          </p:cNvPr>
          <p:cNvGrpSpPr/>
          <p:nvPr/>
        </p:nvGrpSpPr>
        <p:grpSpPr>
          <a:xfrm>
            <a:off x="4799912" y="1335956"/>
            <a:ext cx="3963088" cy="2471588"/>
            <a:chOff x="5532134" y="2286149"/>
            <a:chExt cx="5943600" cy="3706738"/>
          </a:xfrm>
        </p:grpSpPr>
        <p:pic>
          <p:nvPicPr>
            <p:cNvPr id="3" name="Immagine 10" descr="Immagine che contiene testo, schermata, software, Icona del computer&#10;&#10;Descrizione generata automaticamente">
              <a:extLst>
                <a:ext uri="{FF2B5EF4-FFF2-40B4-BE49-F238E27FC236}">
                  <a16:creationId xmlns:a16="http://schemas.microsoft.com/office/drawing/2014/main" id="{C758BAF6-59F8-3AEE-2134-B02A145DC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2134" y="2286149"/>
              <a:ext cx="5943600" cy="33432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4" name="Immagine 22" descr="Immagine che contiene simbolo, clipart, logo, Elementi grafici&#10;&#10;Descrizione generata automaticamente">
              <a:extLst>
                <a:ext uri="{FF2B5EF4-FFF2-40B4-BE49-F238E27FC236}">
                  <a16:creationId xmlns:a16="http://schemas.microsoft.com/office/drawing/2014/main" id="{D6293EFC-B066-F538-E683-1E3AEF07E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6038" y="3103321"/>
              <a:ext cx="264720" cy="264720"/>
            </a:xfrm>
            <a:prstGeom prst="rect">
              <a:avLst/>
            </a:prstGeom>
          </p:spPr>
        </p:pic>
        <p:sp>
          <p:nvSpPr>
            <p:cNvPr id="5" name="Rettangolo con angoli arrotondati 23">
              <a:extLst>
                <a:ext uri="{FF2B5EF4-FFF2-40B4-BE49-F238E27FC236}">
                  <a16:creationId xmlns:a16="http://schemas.microsoft.com/office/drawing/2014/main" id="{AB4F828D-DFAD-4726-F8E9-260DD711A5E4}"/>
                </a:ext>
              </a:extLst>
            </p:cNvPr>
            <p:cNvSpPr/>
            <p:nvPr/>
          </p:nvSpPr>
          <p:spPr>
            <a:xfrm>
              <a:off x="7756489" y="3746799"/>
              <a:ext cx="953172" cy="176625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CasellaDiTesto 24">
              <a:extLst>
                <a:ext uri="{FF2B5EF4-FFF2-40B4-BE49-F238E27FC236}">
                  <a16:creationId xmlns:a16="http://schemas.microsoft.com/office/drawing/2014/main" id="{ED7AE265-3911-DE63-B92E-99A3A7EA8EE1}"/>
                </a:ext>
              </a:extLst>
            </p:cNvPr>
            <p:cNvSpPr txBox="1"/>
            <p:nvPr/>
          </p:nvSpPr>
          <p:spPr>
            <a:xfrm>
              <a:off x="7284401" y="3585616"/>
              <a:ext cx="646358" cy="553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pic>
          <p:nvPicPr>
            <p:cNvPr id="7" name="Immagine 26">
              <a:extLst>
                <a:ext uri="{FF2B5EF4-FFF2-40B4-BE49-F238E27FC236}">
                  <a16:creationId xmlns:a16="http://schemas.microsoft.com/office/drawing/2014/main" id="{1CB017EC-2544-DC3E-9D9D-BC8D6B53B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16262" y="3539406"/>
              <a:ext cx="2060447" cy="245348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59824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7D6C7-D34D-4D76-8D7F-238FB5C0A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176A5CF-1DA2-D20A-D7BA-593DADA07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Modules in a Block Design</a:t>
            </a:r>
            <a:endParaRPr lang="en-IT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DC003F2-F176-03EE-308E-D666C30970B9}"/>
              </a:ext>
            </a:extLst>
          </p:cNvPr>
          <p:cNvGrpSpPr>
            <a:grpSpLocks noChangeAspect="1"/>
          </p:cNvGrpSpPr>
          <p:nvPr/>
        </p:nvGrpSpPr>
        <p:grpSpPr>
          <a:xfrm>
            <a:off x="1320800" y="742950"/>
            <a:ext cx="6502400" cy="3657600"/>
            <a:chOff x="1858705" y="88254"/>
            <a:chExt cx="8474589" cy="4766956"/>
          </a:xfrm>
        </p:grpSpPr>
        <p:pic>
          <p:nvPicPr>
            <p:cNvPr id="18" name="Immagine 18">
              <a:extLst>
                <a:ext uri="{FF2B5EF4-FFF2-40B4-BE49-F238E27FC236}">
                  <a16:creationId xmlns:a16="http://schemas.microsoft.com/office/drawing/2014/main" id="{2D7A7F1B-4F25-8FFC-9240-73930BBA4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8705" y="88254"/>
              <a:ext cx="8474589" cy="476695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37644315-EF69-71EC-04E3-FD730BF41B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alphaModFix amt="50000"/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68645" y="1595157"/>
              <a:ext cx="1162050" cy="781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CasellaDiTesto 21">
              <a:extLst>
                <a:ext uri="{FF2B5EF4-FFF2-40B4-BE49-F238E27FC236}">
                  <a16:creationId xmlns:a16="http://schemas.microsoft.com/office/drawing/2014/main" id="{20123F23-17D6-1FD4-F1B0-585118E0E23B}"/>
                </a:ext>
              </a:extLst>
            </p:cNvPr>
            <p:cNvSpPr txBox="1"/>
            <p:nvPr/>
          </p:nvSpPr>
          <p:spPr>
            <a:xfrm>
              <a:off x="6334175" y="2778486"/>
              <a:ext cx="2230989" cy="4813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</a:rPr>
                <a:t>Module version</a:t>
              </a:r>
            </a:p>
          </p:txBody>
        </p:sp>
        <p:sp>
          <p:nvSpPr>
            <p:cNvPr id="21" name="CasellaDiTesto 22">
              <a:extLst>
                <a:ext uri="{FF2B5EF4-FFF2-40B4-BE49-F238E27FC236}">
                  <a16:creationId xmlns:a16="http://schemas.microsoft.com/office/drawing/2014/main" id="{D6917A68-D03B-90BB-456F-DD00EBA97D4D}"/>
                </a:ext>
              </a:extLst>
            </p:cNvPr>
            <p:cNvSpPr txBox="1"/>
            <p:nvPr/>
          </p:nvSpPr>
          <p:spPr>
            <a:xfrm>
              <a:off x="6460937" y="697650"/>
              <a:ext cx="1977464" cy="4813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</a:rPr>
                <a:t>Module 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147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B306E-0B17-9B0C-4142-FD327A836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D9BD314-BC84-38B6-1062-4513CA40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Instantiate a Module</a:t>
            </a:r>
            <a:endParaRPr lang="en-IT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EA9D433-6384-1983-1D01-F10AA59DD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65316"/>
            <a:ext cx="4191000" cy="3416495"/>
          </a:xfrm>
          <a:ln>
            <a:noFill/>
          </a:ln>
        </p:spPr>
        <p:txBody>
          <a:bodyPr>
            <a:normAutofit fontScale="850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Modules are “ready to place” components in the design. They can be simple logic gates or complex digital circuits:</a:t>
            </a: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Right-click on the main window</a:t>
            </a: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Select Add Modules…</a:t>
            </a: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/>
              <a:t>A new window with the available modules will pop up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4B9B00E-7409-B779-D95A-058A5EA55200}"/>
              </a:ext>
            </a:extLst>
          </p:cNvPr>
          <p:cNvGrpSpPr/>
          <p:nvPr/>
        </p:nvGrpSpPr>
        <p:grpSpPr>
          <a:xfrm>
            <a:off x="4799912" y="1335956"/>
            <a:ext cx="3963088" cy="2471588"/>
            <a:chOff x="5532134" y="2286149"/>
            <a:chExt cx="5943600" cy="3706738"/>
          </a:xfrm>
        </p:grpSpPr>
        <p:pic>
          <p:nvPicPr>
            <p:cNvPr id="3" name="Immagine 10" descr="Immagine che contiene testo, schermata, software, Icona del computer&#10;&#10;Descrizione generata automaticamente">
              <a:extLst>
                <a:ext uri="{FF2B5EF4-FFF2-40B4-BE49-F238E27FC236}">
                  <a16:creationId xmlns:a16="http://schemas.microsoft.com/office/drawing/2014/main" id="{6927A320-AAF6-217A-45AD-A355E8D39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2134" y="2286149"/>
              <a:ext cx="5943600" cy="33432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4" name="Immagine 22" descr="Immagine che contiene simbolo, clipart, logo, Elementi grafici&#10;&#10;Descrizione generata automaticamente">
              <a:extLst>
                <a:ext uri="{FF2B5EF4-FFF2-40B4-BE49-F238E27FC236}">
                  <a16:creationId xmlns:a16="http://schemas.microsoft.com/office/drawing/2014/main" id="{DAA44536-AFAE-68FA-08AB-497F305AD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6038" y="3103321"/>
              <a:ext cx="264720" cy="264720"/>
            </a:xfrm>
            <a:prstGeom prst="rect">
              <a:avLst/>
            </a:prstGeom>
          </p:spPr>
        </p:pic>
        <p:sp>
          <p:nvSpPr>
            <p:cNvPr id="5" name="Rettangolo con angoli arrotondati 23">
              <a:extLst>
                <a:ext uri="{FF2B5EF4-FFF2-40B4-BE49-F238E27FC236}">
                  <a16:creationId xmlns:a16="http://schemas.microsoft.com/office/drawing/2014/main" id="{8A4E63AD-2A4B-FC29-D87C-AA9005F41626}"/>
                </a:ext>
              </a:extLst>
            </p:cNvPr>
            <p:cNvSpPr/>
            <p:nvPr/>
          </p:nvSpPr>
          <p:spPr>
            <a:xfrm>
              <a:off x="7756489" y="3746799"/>
              <a:ext cx="953172" cy="176625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CasellaDiTesto 24">
              <a:extLst>
                <a:ext uri="{FF2B5EF4-FFF2-40B4-BE49-F238E27FC236}">
                  <a16:creationId xmlns:a16="http://schemas.microsoft.com/office/drawing/2014/main" id="{AB610E66-43D6-954C-A097-02F5992ED67F}"/>
                </a:ext>
              </a:extLst>
            </p:cNvPr>
            <p:cNvSpPr txBox="1"/>
            <p:nvPr/>
          </p:nvSpPr>
          <p:spPr>
            <a:xfrm>
              <a:off x="7284401" y="3585616"/>
              <a:ext cx="646358" cy="553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pic>
          <p:nvPicPr>
            <p:cNvPr id="7" name="Immagine 26">
              <a:extLst>
                <a:ext uri="{FF2B5EF4-FFF2-40B4-BE49-F238E27FC236}">
                  <a16:creationId xmlns:a16="http://schemas.microsoft.com/office/drawing/2014/main" id="{C1B64DFD-BE32-1A00-C849-0971345C1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16262" y="3539406"/>
              <a:ext cx="2060447" cy="245348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403441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BF671-FC83-0EA1-E52C-E1F8C751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9A6641-89B0-0DD6-C2A5-179B9E091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Input &amp; Output Ports</a:t>
            </a:r>
            <a:endParaRPr lang="en-IT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5473B1B-F10C-2C74-2D95-2BF413B6F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65316"/>
            <a:ext cx="4191000" cy="3416495"/>
          </a:xfrm>
          <a:ln>
            <a:noFill/>
          </a:ln>
        </p:spPr>
        <p:txBody>
          <a:bodyPr>
            <a:normAutofit fontScale="775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Ports are the connections of our circuit with the external world, they provide the input and show the output: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Right-click on the main window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Select Create Port…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A new window with the ports settings will pop up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C20F91A-2E74-3696-8B4F-0D658C84BE80}"/>
              </a:ext>
            </a:extLst>
          </p:cNvPr>
          <p:cNvGrpSpPr/>
          <p:nvPr/>
        </p:nvGrpSpPr>
        <p:grpSpPr>
          <a:xfrm>
            <a:off x="4957010" y="1412274"/>
            <a:ext cx="3715351" cy="2318952"/>
            <a:chOff x="5264176" y="2286149"/>
            <a:chExt cx="6155390" cy="3985829"/>
          </a:xfrm>
        </p:grpSpPr>
        <p:pic>
          <p:nvPicPr>
            <p:cNvPr id="10" name="Immagine 3">
              <a:extLst>
                <a:ext uri="{FF2B5EF4-FFF2-40B4-BE49-F238E27FC236}">
                  <a16:creationId xmlns:a16="http://schemas.microsoft.com/office/drawing/2014/main" id="{D8045D22-91D6-42C0-C6CF-19937CE27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5974" y="2286149"/>
              <a:ext cx="5943592" cy="334327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1" name="Immagine 22" descr="Immagine che contiene simbolo, clipart, logo, Elementi grafici&#10;&#10;Descrizione generata automaticamente">
              <a:extLst>
                <a:ext uri="{FF2B5EF4-FFF2-40B4-BE49-F238E27FC236}">
                  <a16:creationId xmlns:a16="http://schemas.microsoft.com/office/drawing/2014/main" id="{909A3AB1-4E5A-D979-403B-77521F682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2378" y="3351177"/>
              <a:ext cx="264720" cy="264720"/>
            </a:xfrm>
            <a:prstGeom prst="rect">
              <a:avLst/>
            </a:prstGeom>
          </p:spPr>
        </p:pic>
        <p:sp>
          <p:nvSpPr>
            <p:cNvPr id="12" name="Rettangolo con angoli arrotondati 23">
              <a:extLst>
                <a:ext uri="{FF2B5EF4-FFF2-40B4-BE49-F238E27FC236}">
                  <a16:creationId xmlns:a16="http://schemas.microsoft.com/office/drawing/2014/main" id="{8164E13B-EE33-A45D-0CD3-DF7B64E2F178}"/>
                </a:ext>
              </a:extLst>
            </p:cNvPr>
            <p:cNvSpPr/>
            <p:nvPr/>
          </p:nvSpPr>
          <p:spPr>
            <a:xfrm>
              <a:off x="8350849" y="4630712"/>
              <a:ext cx="953172" cy="176625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CasellaDiTesto 24">
              <a:extLst>
                <a:ext uri="{FF2B5EF4-FFF2-40B4-BE49-F238E27FC236}">
                  <a16:creationId xmlns:a16="http://schemas.microsoft.com/office/drawing/2014/main" id="{DBD494AE-5F52-4B06-ED51-A6E696C1D2FA}"/>
                </a:ext>
              </a:extLst>
            </p:cNvPr>
            <p:cNvSpPr txBox="1"/>
            <p:nvPr/>
          </p:nvSpPr>
          <p:spPr>
            <a:xfrm>
              <a:off x="8020833" y="4534358"/>
              <a:ext cx="4482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pic>
          <p:nvPicPr>
            <p:cNvPr id="14" name="Immagine 28">
              <a:extLst>
                <a:ext uri="{FF2B5EF4-FFF2-40B4-BE49-F238E27FC236}">
                  <a16:creationId xmlns:a16="http://schemas.microsoft.com/office/drawing/2014/main" id="{030C075A-287A-E909-AA9F-964328F2F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64176" y="4021696"/>
              <a:ext cx="2652275" cy="225028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8256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EEC50-CF03-1D61-57DA-EEA01F3EF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A4288CC-8190-21AB-23D1-0496AA04C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Input &amp; Output Ports</a:t>
            </a:r>
            <a:endParaRPr lang="en-IT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A1AA436-B51F-337F-09D0-A1536D7F4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65316"/>
            <a:ext cx="3420979" cy="3471930"/>
          </a:xfrm>
          <a:ln>
            <a:noFill/>
          </a:ln>
        </p:spPr>
        <p:txBody>
          <a:bodyPr>
            <a:normAutofit fontScale="625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It is important to name appropriately the ports (_</a:t>
            </a:r>
            <a:r>
              <a:rPr lang="en-US" sz="2800" dirty="0" err="1"/>
              <a:t>i</a:t>
            </a:r>
            <a:r>
              <a:rPr lang="en-US" sz="2800" dirty="0"/>
              <a:t> for inputs and _o for outputs), so the EDA tool can understand how to map them to the die: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 dirty="0">
                <a:solidFill>
                  <a:srgbClr val="C00000"/>
                </a:solidFill>
              </a:rPr>
              <a:t>Input </a:t>
            </a:r>
            <a:r>
              <a:rPr lang="en-US" sz="2800" i="1" dirty="0">
                <a:solidFill>
                  <a:srgbClr val="C00000"/>
                </a:solidFill>
              </a:rPr>
              <a:t>(Direction:  Input, Type: Other)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i="1" dirty="0" err="1"/>
              <a:t>A_i</a:t>
            </a:r>
            <a:r>
              <a:rPr lang="en-US" sz="2800" i="1" dirty="0"/>
              <a:t>, </a:t>
            </a:r>
            <a:r>
              <a:rPr lang="en-US" sz="2800" i="1" dirty="0" err="1"/>
              <a:t>B_i</a:t>
            </a:r>
            <a:r>
              <a:rPr lang="en-US" sz="2800" i="1" dirty="0"/>
              <a:t>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 dirty="0">
                <a:solidFill>
                  <a:srgbClr val="C00000"/>
                </a:solidFill>
              </a:rPr>
              <a:t>Output </a:t>
            </a:r>
            <a:r>
              <a:rPr lang="en-US" sz="2800" i="1" dirty="0">
                <a:solidFill>
                  <a:srgbClr val="C00000"/>
                </a:solidFill>
              </a:rPr>
              <a:t>(Direction:  Output, Type: Other):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i="1" dirty="0" err="1"/>
              <a:t>Y_o</a:t>
            </a:r>
            <a:endParaRPr lang="en-US" sz="2800" i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9A0F25-40B0-FC64-5C0E-FA70235922F0}"/>
              </a:ext>
            </a:extLst>
          </p:cNvPr>
          <p:cNvGrpSpPr/>
          <p:nvPr/>
        </p:nvGrpSpPr>
        <p:grpSpPr>
          <a:xfrm>
            <a:off x="4105462" y="1522052"/>
            <a:ext cx="4657538" cy="2358457"/>
            <a:chOff x="5044727" y="1209039"/>
            <a:chExt cx="6805123" cy="3445938"/>
          </a:xfrm>
        </p:grpSpPr>
        <p:sp>
          <p:nvSpPr>
            <p:cNvPr id="3" name="CasellaDiTesto 21">
              <a:extLst>
                <a:ext uri="{FF2B5EF4-FFF2-40B4-BE49-F238E27FC236}">
                  <a16:creationId xmlns:a16="http://schemas.microsoft.com/office/drawing/2014/main" id="{C1C2004A-C51D-FFB8-2C53-DF429B6AD4DF}"/>
                </a:ext>
              </a:extLst>
            </p:cNvPr>
            <p:cNvSpPr txBox="1"/>
            <p:nvPr/>
          </p:nvSpPr>
          <p:spPr>
            <a:xfrm>
              <a:off x="5723340" y="4106834"/>
              <a:ext cx="1869439" cy="5396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ea typeface="Baskerville Display PT" panose="02030602080406020203" pitchFamily="18" charset="0"/>
                </a:rPr>
                <a:t>Input</a:t>
              </a:r>
              <a:endParaRPr lang="en-GB" dirty="0"/>
            </a:p>
          </p:txBody>
        </p:sp>
        <p:sp>
          <p:nvSpPr>
            <p:cNvPr id="4" name="CasellaDiTesto 22">
              <a:extLst>
                <a:ext uri="{FF2B5EF4-FFF2-40B4-BE49-F238E27FC236}">
                  <a16:creationId xmlns:a16="http://schemas.microsoft.com/office/drawing/2014/main" id="{FEBCC51E-15C1-6CC5-6171-46D20F2E3FB9}"/>
                </a:ext>
              </a:extLst>
            </p:cNvPr>
            <p:cNvSpPr txBox="1"/>
            <p:nvPr/>
          </p:nvSpPr>
          <p:spPr>
            <a:xfrm>
              <a:off x="9295131" y="4115347"/>
              <a:ext cx="1869439" cy="5396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ea typeface="Baskerville Display PT" panose="02030602080406020203" pitchFamily="18" charset="0"/>
                </a:rPr>
                <a:t>Output</a:t>
              </a:r>
              <a:endParaRPr lang="en-GB" dirty="0"/>
            </a:p>
          </p:txBody>
        </p:sp>
        <p:pic>
          <p:nvPicPr>
            <p:cNvPr id="5" name="Immagine 9">
              <a:extLst>
                <a:ext uri="{FF2B5EF4-FFF2-40B4-BE49-F238E27FC236}">
                  <a16:creationId xmlns:a16="http://schemas.microsoft.com/office/drawing/2014/main" id="{9887941C-0501-F706-467C-78AB4C0EF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4727" y="1209039"/>
              <a:ext cx="3226666" cy="2736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6" name="Immagine 12">
              <a:extLst>
                <a:ext uri="{FF2B5EF4-FFF2-40B4-BE49-F238E27FC236}">
                  <a16:creationId xmlns:a16="http://schemas.microsoft.com/office/drawing/2014/main" id="{4E40D3FD-DAA1-154E-5E74-599BC6C7AB28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09850" y="1209039"/>
              <a:ext cx="3240000" cy="2736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51894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8EBDD-A8AC-C990-754D-C6095474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24491A2-1225-7573-DACA-53944C16E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Input &amp; Output Ports</a:t>
            </a:r>
            <a:endParaRPr lang="en-IT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CA7FFF9-5557-EB79-8228-A2F40A540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65316"/>
            <a:ext cx="3420979" cy="3471930"/>
          </a:xfrm>
          <a:ln>
            <a:noFill/>
          </a:ln>
        </p:spPr>
        <p:txBody>
          <a:bodyPr>
            <a:normAutofit fontScale="625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It is important to name appropriately the ports (_</a:t>
            </a:r>
            <a:r>
              <a:rPr lang="en-US" sz="2800" dirty="0" err="1"/>
              <a:t>i</a:t>
            </a:r>
            <a:r>
              <a:rPr lang="en-US" sz="2800" dirty="0"/>
              <a:t> for inputs and _o for outputs), so the EDA tool can understand how to map them to the die: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 dirty="0">
                <a:solidFill>
                  <a:srgbClr val="C00000"/>
                </a:solidFill>
              </a:rPr>
              <a:t>Input </a:t>
            </a:r>
            <a:r>
              <a:rPr lang="en-US" sz="2800" i="1" dirty="0">
                <a:solidFill>
                  <a:srgbClr val="C00000"/>
                </a:solidFill>
              </a:rPr>
              <a:t>(Direction:  Input, Type: Other)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i="1" dirty="0" err="1"/>
              <a:t>A_i</a:t>
            </a:r>
            <a:r>
              <a:rPr lang="en-US" sz="2800" i="1" dirty="0"/>
              <a:t>, </a:t>
            </a:r>
            <a:r>
              <a:rPr lang="en-US" sz="2800" i="1" dirty="0" err="1"/>
              <a:t>B_i</a:t>
            </a:r>
            <a:r>
              <a:rPr lang="en-US" sz="2800" i="1" dirty="0"/>
              <a:t>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 dirty="0">
                <a:solidFill>
                  <a:srgbClr val="C00000"/>
                </a:solidFill>
              </a:rPr>
              <a:t>Output </a:t>
            </a:r>
            <a:r>
              <a:rPr lang="en-US" sz="2800" i="1" dirty="0">
                <a:solidFill>
                  <a:srgbClr val="C00000"/>
                </a:solidFill>
              </a:rPr>
              <a:t>(Direction:  Output, Type: Other):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i="1" dirty="0" err="1"/>
              <a:t>Y_o</a:t>
            </a:r>
            <a:endParaRPr lang="en-US" sz="2800" i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DDD6C8-A239-B5E6-8554-35D66C5A773A}"/>
              </a:ext>
            </a:extLst>
          </p:cNvPr>
          <p:cNvGrpSpPr/>
          <p:nvPr/>
        </p:nvGrpSpPr>
        <p:grpSpPr>
          <a:xfrm>
            <a:off x="4105462" y="1522052"/>
            <a:ext cx="4657538" cy="2358457"/>
            <a:chOff x="5044727" y="1209039"/>
            <a:chExt cx="6805123" cy="3445938"/>
          </a:xfrm>
        </p:grpSpPr>
        <p:sp>
          <p:nvSpPr>
            <p:cNvPr id="3" name="CasellaDiTesto 21">
              <a:extLst>
                <a:ext uri="{FF2B5EF4-FFF2-40B4-BE49-F238E27FC236}">
                  <a16:creationId xmlns:a16="http://schemas.microsoft.com/office/drawing/2014/main" id="{77D32DEB-7913-FAAC-5280-B7FE283018EB}"/>
                </a:ext>
              </a:extLst>
            </p:cNvPr>
            <p:cNvSpPr txBox="1"/>
            <p:nvPr/>
          </p:nvSpPr>
          <p:spPr>
            <a:xfrm>
              <a:off x="5723340" y="4106834"/>
              <a:ext cx="1869439" cy="5396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ea typeface="Baskerville Display PT" panose="02030602080406020203" pitchFamily="18" charset="0"/>
                </a:rPr>
                <a:t>Input</a:t>
              </a:r>
              <a:endParaRPr lang="en-GB" dirty="0"/>
            </a:p>
          </p:txBody>
        </p:sp>
        <p:sp>
          <p:nvSpPr>
            <p:cNvPr id="4" name="CasellaDiTesto 22">
              <a:extLst>
                <a:ext uri="{FF2B5EF4-FFF2-40B4-BE49-F238E27FC236}">
                  <a16:creationId xmlns:a16="http://schemas.microsoft.com/office/drawing/2014/main" id="{C023B1D9-4C2B-16CE-6B4B-A7CE69DD841B}"/>
                </a:ext>
              </a:extLst>
            </p:cNvPr>
            <p:cNvSpPr txBox="1"/>
            <p:nvPr/>
          </p:nvSpPr>
          <p:spPr>
            <a:xfrm>
              <a:off x="9295131" y="4115347"/>
              <a:ext cx="1869439" cy="5396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ea typeface="Baskerville Display PT" panose="02030602080406020203" pitchFamily="18" charset="0"/>
                </a:rPr>
                <a:t>Output</a:t>
              </a:r>
              <a:endParaRPr lang="en-GB" dirty="0"/>
            </a:p>
          </p:txBody>
        </p:sp>
        <p:pic>
          <p:nvPicPr>
            <p:cNvPr id="5" name="Immagine 9">
              <a:extLst>
                <a:ext uri="{FF2B5EF4-FFF2-40B4-BE49-F238E27FC236}">
                  <a16:creationId xmlns:a16="http://schemas.microsoft.com/office/drawing/2014/main" id="{20879698-3543-A353-2F6F-DA929FCC1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4727" y="1209039"/>
              <a:ext cx="3226666" cy="2736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6" name="Immagine 12">
              <a:extLst>
                <a:ext uri="{FF2B5EF4-FFF2-40B4-BE49-F238E27FC236}">
                  <a16:creationId xmlns:a16="http://schemas.microsoft.com/office/drawing/2014/main" id="{0ADD3D09-E4FF-188A-6955-8D8E7A99437E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09850" y="1209039"/>
              <a:ext cx="3240000" cy="2736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8036573-E97E-CD30-7232-16BA7347792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magine 13">
            <a:extLst>
              <a:ext uri="{FF2B5EF4-FFF2-40B4-BE49-F238E27FC236}">
                <a16:creationId xmlns:a16="http://schemas.microsoft.com/office/drawing/2014/main" id="{B18747A6-4B32-6EA9-58AE-823DAD633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" y="246459"/>
            <a:ext cx="8267700" cy="46505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299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5B4F7-E516-F58C-78B6-31993FCA0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31FC2A6-E5C3-C3B8-CB7C-ABD9CA347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Interconnections</a:t>
            </a:r>
            <a:endParaRPr lang="en-IT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C2B8F9E-7BF3-8BE7-87DE-FBFCAEF1B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80369"/>
            <a:ext cx="3420979" cy="3182762"/>
          </a:xfrm>
          <a:ln>
            <a:noFill/>
          </a:ln>
        </p:spPr>
        <p:txBody>
          <a:bodyPr>
            <a:normAutofit fontScale="77500" lnSpcReduction="20000"/>
          </a:bodyPr>
          <a:lstStyle/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Connect the different logic gates to create the circuit:</a:t>
            </a:r>
          </a:p>
          <a:p>
            <a:pPr lvl="1" algn="just">
              <a:spcBef>
                <a:spcPts val="0"/>
              </a:spcBef>
              <a:spcAft>
                <a:spcPts val="1800"/>
              </a:spcAft>
            </a:pPr>
            <a:r>
              <a:rPr lang="en-US" sz="2600" dirty="0"/>
              <a:t>With the mouse over on an input, click and drag to another connection point </a:t>
            </a:r>
          </a:p>
          <a:p>
            <a:pPr lvl="1" algn="just">
              <a:spcBef>
                <a:spcPts val="0"/>
              </a:spcBef>
              <a:spcAft>
                <a:spcPts val="1800"/>
              </a:spcAft>
            </a:pPr>
            <a:r>
              <a:rPr lang="en-US" sz="2600" dirty="0"/>
              <a:t>Connect all the logic gates and the ports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en-US" sz="2800" dirty="0">
                <a:solidFill>
                  <a:srgbClr val="C00000"/>
                </a:solidFill>
              </a:rPr>
              <a:t>Validate the design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3FE58A-16FC-E473-B4DC-AFC4D5D0C980}"/>
              </a:ext>
            </a:extLst>
          </p:cNvPr>
          <p:cNvGrpSpPr/>
          <p:nvPr/>
        </p:nvGrpSpPr>
        <p:grpSpPr>
          <a:xfrm>
            <a:off x="3974494" y="1191877"/>
            <a:ext cx="4981814" cy="2759745"/>
            <a:chOff x="5158401" y="2258003"/>
            <a:chExt cx="6479077" cy="3589175"/>
          </a:xfrm>
        </p:grpSpPr>
        <p:pic>
          <p:nvPicPr>
            <p:cNvPr id="8" name="Immagine 10">
              <a:extLst>
                <a:ext uri="{FF2B5EF4-FFF2-40B4-BE49-F238E27FC236}">
                  <a16:creationId xmlns:a16="http://schemas.microsoft.com/office/drawing/2014/main" id="{B9C85E74-FA30-CE48-62A4-D63285D5D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58401" y="2258003"/>
              <a:ext cx="6380753" cy="35891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CasellaDiTesto 16">
              <a:extLst>
                <a:ext uri="{FF2B5EF4-FFF2-40B4-BE49-F238E27FC236}">
                  <a16:creationId xmlns:a16="http://schemas.microsoft.com/office/drawing/2014/main" id="{01CEE635-9B22-2A0F-1B7E-E94BE35122A6}"/>
                </a:ext>
              </a:extLst>
            </p:cNvPr>
            <p:cNvSpPr txBox="1"/>
            <p:nvPr/>
          </p:nvSpPr>
          <p:spPr>
            <a:xfrm>
              <a:off x="11145580" y="3729424"/>
              <a:ext cx="2951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 </a:t>
              </a:r>
            </a:p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↓ </a:t>
              </a:r>
            </a:p>
          </p:txBody>
        </p:sp>
        <p:sp>
          <p:nvSpPr>
            <p:cNvPr id="11" name="Rettangolo con angoli arrotondati 26">
              <a:extLst>
                <a:ext uri="{FF2B5EF4-FFF2-40B4-BE49-F238E27FC236}">
                  <a16:creationId xmlns:a16="http://schemas.microsoft.com/office/drawing/2014/main" id="{5875EE36-503B-B941-0DD1-217467ADF66E}"/>
                </a:ext>
              </a:extLst>
            </p:cNvPr>
            <p:cNvSpPr/>
            <p:nvPr/>
          </p:nvSpPr>
          <p:spPr>
            <a:xfrm>
              <a:off x="9465155" y="2860683"/>
              <a:ext cx="172008" cy="187295"/>
            </a:xfrm>
            <a:prstGeom prst="round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ttangolo con angoli arrotondati 13">
              <a:extLst>
                <a:ext uri="{FF2B5EF4-FFF2-40B4-BE49-F238E27FC236}">
                  <a16:creationId xmlns:a16="http://schemas.microsoft.com/office/drawing/2014/main" id="{F48711D2-DF86-16B0-B8CA-07D1272CF636}"/>
                </a:ext>
              </a:extLst>
            </p:cNvPr>
            <p:cNvSpPr/>
            <p:nvPr/>
          </p:nvSpPr>
          <p:spPr>
            <a:xfrm>
              <a:off x="7777316" y="2598132"/>
              <a:ext cx="3860162" cy="192201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CasellaDiTesto 14">
              <a:extLst>
                <a:ext uri="{FF2B5EF4-FFF2-40B4-BE49-F238E27FC236}">
                  <a16:creationId xmlns:a16="http://schemas.microsoft.com/office/drawing/2014/main" id="{407A2A02-FCD4-4EF1-7BFE-0EABD3BECA30}"/>
                </a:ext>
              </a:extLst>
            </p:cNvPr>
            <p:cNvSpPr txBox="1"/>
            <p:nvPr/>
          </p:nvSpPr>
          <p:spPr>
            <a:xfrm>
              <a:off x="8822985" y="2701965"/>
              <a:ext cx="7426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 </a:t>
              </a:r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→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242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3FE25-E493-5B35-45F5-CFF05765A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8295343-CDFE-9D97-076C-31C695EB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Generate the Design</a:t>
            </a:r>
            <a:endParaRPr lang="en-IT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988DFA2-F4F2-2ADE-A809-322AF29A6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571" y="893844"/>
            <a:ext cx="3420979" cy="3355812"/>
          </a:xfrm>
          <a:ln>
            <a:noFill/>
          </a:ln>
        </p:spPr>
        <p:txBody>
          <a:bodyPr>
            <a:normAutofit fontScale="625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The EDA tool generates the code of our design taking into consideration the input and output ports of the chip: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Right-click on block design “</a:t>
            </a:r>
            <a:r>
              <a:rPr lang="en-US" sz="2800" dirty="0" err="1">
                <a:solidFill>
                  <a:srgbClr val="C00000"/>
                </a:solidFill>
              </a:rPr>
              <a:t>xor_bd</a:t>
            </a:r>
            <a:r>
              <a:rPr lang="en-US" sz="2800" dirty="0">
                <a:solidFill>
                  <a:srgbClr val="C00000"/>
                </a:solidFill>
              </a:rPr>
              <a:t>” in Design Sources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Select Create HDL Wrapper…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A new window with the available modules will pop up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 startAt="3"/>
            </a:pPr>
            <a:r>
              <a:rPr lang="en-US" sz="2800" dirty="0">
                <a:solidFill>
                  <a:srgbClr val="C00000"/>
                </a:solidFill>
              </a:rPr>
              <a:t>Ok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54161B0-CE98-0CFA-2787-805680C6209C}"/>
              </a:ext>
            </a:extLst>
          </p:cNvPr>
          <p:cNvGrpSpPr/>
          <p:nvPr/>
        </p:nvGrpSpPr>
        <p:grpSpPr>
          <a:xfrm>
            <a:off x="345906" y="1343825"/>
            <a:ext cx="4365955" cy="2455850"/>
            <a:chOff x="740542" y="2334576"/>
            <a:chExt cx="5747735" cy="3233101"/>
          </a:xfrm>
        </p:grpSpPr>
        <p:pic>
          <p:nvPicPr>
            <p:cNvPr id="3" name="Immagine 14">
              <a:extLst>
                <a:ext uri="{FF2B5EF4-FFF2-40B4-BE49-F238E27FC236}">
                  <a16:creationId xmlns:a16="http://schemas.microsoft.com/office/drawing/2014/main" id="{6A27239F-8A31-E5C5-18FA-852542803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0542" y="2334576"/>
              <a:ext cx="5747735" cy="323310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4" name="Immagine 16" descr="Immagine che contiene simbolo, clipart, logo, Elementi grafici&#10;&#10;Descrizione generata automaticamente">
              <a:extLst>
                <a:ext uri="{FF2B5EF4-FFF2-40B4-BE49-F238E27FC236}">
                  <a16:creationId xmlns:a16="http://schemas.microsoft.com/office/drawing/2014/main" id="{B8D51CBB-3648-8405-22A2-13EF69159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7140" y="3008671"/>
              <a:ext cx="368710" cy="368710"/>
            </a:xfrm>
            <a:prstGeom prst="rect">
              <a:avLst/>
            </a:prstGeom>
          </p:spPr>
        </p:pic>
        <p:sp>
          <p:nvSpPr>
            <p:cNvPr id="5" name="CasellaDiTesto 17">
              <a:extLst>
                <a:ext uri="{FF2B5EF4-FFF2-40B4-BE49-F238E27FC236}">
                  <a16:creationId xmlns:a16="http://schemas.microsoft.com/office/drawing/2014/main" id="{45BCD12C-FF17-5983-D4A2-718ECD5B4767}"/>
                </a:ext>
              </a:extLst>
            </p:cNvPr>
            <p:cNvSpPr txBox="1"/>
            <p:nvPr/>
          </p:nvSpPr>
          <p:spPr>
            <a:xfrm>
              <a:off x="1081425" y="3059668"/>
              <a:ext cx="520071" cy="486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1.</a:t>
              </a:r>
            </a:p>
          </p:txBody>
        </p:sp>
        <p:sp>
          <p:nvSpPr>
            <p:cNvPr id="6" name="CasellaDiTesto 18">
              <a:extLst>
                <a:ext uri="{FF2B5EF4-FFF2-40B4-BE49-F238E27FC236}">
                  <a16:creationId xmlns:a16="http://schemas.microsoft.com/office/drawing/2014/main" id="{DC442522-C6CF-F8C6-8E19-E27C2735007C}"/>
                </a:ext>
              </a:extLst>
            </p:cNvPr>
            <p:cNvSpPr txBox="1"/>
            <p:nvPr/>
          </p:nvSpPr>
          <p:spPr>
            <a:xfrm>
              <a:off x="1896746" y="3060706"/>
              <a:ext cx="464756" cy="486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sp>
          <p:nvSpPr>
            <p:cNvPr id="14" name="Rettangolo con angoli arrotondati 19">
              <a:extLst>
                <a:ext uri="{FF2B5EF4-FFF2-40B4-BE49-F238E27FC236}">
                  <a16:creationId xmlns:a16="http://schemas.microsoft.com/office/drawing/2014/main" id="{508F7599-5DA6-CEA9-D904-4071D2456776}"/>
                </a:ext>
              </a:extLst>
            </p:cNvPr>
            <p:cNvSpPr/>
            <p:nvPr/>
          </p:nvSpPr>
          <p:spPr>
            <a:xfrm>
              <a:off x="2326853" y="3230252"/>
              <a:ext cx="1202928" cy="147129"/>
            </a:xfrm>
            <a:prstGeom prst="round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1157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554C7-92D0-9985-6C8C-CC0275DF6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7EA5A36-8A1B-7575-1670-70644F0F2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An In Deep Look to the Generated Design</a:t>
            </a:r>
            <a:endParaRPr lang="en-IT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C97C85-0378-F340-BBBE-E6253BC4CBD9}"/>
              </a:ext>
            </a:extLst>
          </p:cNvPr>
          <p:cNvGrpSpPr/>
          <p:nvPr/>
        </p:nvGrpSpPr>
        <p:grpSpPr>
          <a:xfrm>
            <a:off x="729771" y="586591"/>
            <a:ext cx="7684458" cy="3970318"/>
            <a:chOff x="666750" y="586591"/>
            <a:chExt cx="7684458" cy="3970318"/>
          </a:xfrm>
        </p:grpSpPr>
        <p:sp>
          <p:nvSpPr>
            <p:cNvPr id="10" name="CasellaDiTesto 10">
              <a:extLst>
                <a:ext uri="{FF2B5EF4-FFF2-40B4-BE49-F238E27FC236}">
                  <a16:creationId xmlns:a16="http://schemas.microsoft.com/office/drawing/2014/main" id="{53C4FD16-DFE6-AE74-1ED4-7E9DA88607C9}"/>
                </a:ext>
              </a:extLst>
            </p:cNvPr>
            <p:cNvSpPr txBox="1"/>
            <p:nvPr/>
          </p:nvSpPr>
          <p:spPr>
            <a:xfrm>
              <a:off x="666750" y="586591"/>
              <a:ext cx="3905250" cy="3970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`timescale 1 </a:t>
              </a:r>
              <a:r>
                <a:rPr lang="en-GB" sz="18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ps</a:t>
              </a:r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/ 1 </a:t>
              </a:r>
              <a:r>
                <a:rPr lang="en-GB" sz="18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ps</a:t>
              </a:r>
              <a:endParaRPr lang="en-GB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en-GB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GB" sz="1800" dirty="0">
                  <a:solidFill>
                    <a:schemeClr val="accent2">
                      <a:lumMod val="75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</a:t>
              </a:r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18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xor_gate</a:t>
              </a:r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(</a:t>
              </a:r>
            </a:p>
            <a:p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GB" sz="18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A_i</a:t>
              </a:r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,</a:t>
              </a:r>
            </a:p>
            <a:p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GB" sz="18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B_i</a:t>
              </a:r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,</a:t>
              </a:r>
            </a:p>
            <a:p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GB" sz="18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Y_o</a:t>
              </a:r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);</a:t>
              </a:r>
            </a:p>
            <a:p>
              <a:endParaRPr lang="en-GB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GB" sz="1800" dirty="0">
                  <a:solidFill>
                    <a:schemeClr val="accent5">
                      <a:lumMod val="75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</a:t>
              </a:r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18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A_i</a:t>
              </a:r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</a:t>
              </a:r>
            </a:p>
            <a:p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GB" sz="1800" dirty="0">
                  <a:solidFill>
                    <a:schemeClr val="accent5">
                      <a:lumMod val="75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</a:t>
              </a:r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18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B_i</a:t>
              </a:r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</a:t>
              </a:r>
            </a:p>
            <a:p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GB" sz="1800" dirty="0">
                  <a:solidFill>
                    <a:schemeClr val="accent5">
                      <a:lumMod val="75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output</a:t>
              </a:r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18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Y_o</a:t>
              </a:r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</a:t>
              </a:r>
            </a:p>
            <a:p>
              <a:endParaRPr lang="en-GB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GB" sz="18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assign y = a ^ b; </a:t>
              </a:r>
            </a:p>
            <a:p>
              <a:endParaRPr lang="en-GB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GB" sz="1800" dirty="0" err="1">
                  <a:solidFill>
                    <a:schemeClr val="accent2">
                      <a:lumMod val="75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endmodule</a:t>
              </a:r>
              <a:endParaRPr lang="en-GB" sz="1800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pic>
          <p:nvPicPr>
            <p:cNvPr id="11" name="Immagine 21">
              <a:extLst>
                <a:ext uri="{FF2B5EF4-FFF2-40B4-BE49-F238E27FC236}">
                  <a16:creationId xmlns:a16="http://schemas.microsoft.com/office/drawing/2014/main" id="{91416CEC-F97F-9790-CF06-0EC6064B0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092112" y="1081410"/>
              <a:ext cx="3259096" cy="298068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cxnSp>
          <p:nvCxnSpPr>
            <p:cNvPr id="12" name="Connettore curvo 24">
              <a:extLst>
                <a:ext uri="{FF2B5EF4-FFF2-40B4-BE49-F238E27FC236}">
                  <a16:creationId xmlns:a16="http://schemas.microsoft.com/office/drawing/2014/main" id="{C830AE8A-37ED-D7E9-CDB3-46C38FD941E4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3219450" y="1381125"/>
              <a:ext cx="1872662" cy="1190626"/>
            </a:xfrm>
            <a:prstGeom prst="curvedConnector3">
              <a:avLst>
                <a:gd name="adj1" fmla="val 50000"/>
              </a:avLst>
            </a:prstGeom>
            <a:ln w="76200">
              <a:solidFill>
                <a:schemeClr val="accent2">
                  <a:lumMod val="75000"/>
                  <a:alpha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id="{E3ED545B-C13C-E72D-924A-CD8C6357A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720" y="1801447"/>
            <a:ext cx="2699228" cy="151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501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A147B-DA22-FAF0-4AD1-2885850FA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965376F-7081-11C4-5A6C-9BCAB30DD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Verify the Design</a:t>
            </a:r>
            <a:endParaRPr lang="en-IT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9A5289B-C461-9F40-3339-1DDE50AB3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064" y="950012"/>
            <a:ext cx="3800975" cy="3243476"/>
          </a:xfrm>
          <a:ln>
            <a:noFill/>
          </a:ln>
        </p:spPr>
        <p:txBody>
          <a:bodyPr>
            <a:normAutofit fontScale="700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After the Block Design is complete, it is important to check the functionalities of our design with a simulation: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Left-click on Run Simulation in the Flow Navigator window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Run Behavioral Simulation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A new panel with the behavior of our design will appear, from there we can check its functionalities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AB2C10-8840-59BE-EA66-96CC6071FD54}"/>
              </a:ext>
            </a:extLst>
          </p:cNvPr>
          <p:cNvGrpSpPr/>
          <p:nvPr/>
        </p:nvGrpSpPr>
        <p:grpSpPr>
          <a:xfrm>
            <a:off x="304456" y="1189477"/>
            <a:ext cx="4267544" cy="2764547"/>
            <a:chOff x="5279579" y="717755"/>
            <a:chExt cx="6519130" cy="4223141"/>
          </a:xfrm>
        </p:grpSpPr>
        <p:pic>
          <p:nvPicPr>
            <p:cNvPr id="7" name="Immagine 5">
              <a:extLst>
                <a:ext uri="{FF2B5EF4-FFF2-40B4-BE49-F238E27FC236}">
                  <a16:creationId xmlns:a16="http://schemas.microsoft.com/office/drawing/2014/main" id="{03A1536F-9C1E-7037-DCDD-047D74CB8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9579" y="717755"/>
              <a:ext cx="6519130" cy="366701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8" name="Rettangolo con angoli arrotondati 6">
              <a:extLst>
                <a:ext uri="{FF2B5EF4-FFF2-40B4-BE49-F238E27FC236}">
                  <a16:creationId xmlns:a16="http://schemas.microsoft.com/office/drawing/2014/main" id="{0175667D-EE32-1DA3-0D66-2EC21963BD82}"/>
                </a:ext>
              </a:extLst>
            </p:cNvPr>
            <p:cNvSpPr/>
            <p:nvPr/>
          </p:nvSpPr>
          <p:spPr>
            <a:xfrm>
              <a:off x="8748930" y="2239611"/>
              <a:ext cx="2644198" cy="2647018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95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82E719FA-66E4-E8DD-1904-FD1096099E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35227" y="2190449"/>
              <a:ext cx="2312876" cy="2750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1030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B585-77E5-F190-B4E9-BBEC17AEAE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Lab 0</a:t>
            </a:r>
            <a:r>
              <a:rPr lang="en-US" dirty="0"/>
              <a:t>1</a:t>
            </a:r>
            <a:r>
              <a:rPr lang="en-IT" dirty="0"/>
              <a:t> Part </a:t>
            </a:r>
            <a:r>
              <a:rPr lang="en-US" dirty="0"/>
              <a:t>2</a:t>
            </a:r>
            <a:r>
              <a:rPr lang="en-IT" dirty="0"/>
              <a:t>: </a:t>
            </a:r>
            <a:br>
              <a:rPr lang="en-US" dirty="0"/>
            </a:br>
            <a:r>
              <a:rPr lang="en-US" dirty="0"/>
              <a:t>Logic Gates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831357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C072-1054-B768-AA4F-3D302B810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05D250-3B00-1C70-09CA-F266E50855C2}"/>
              </a:ext>
            </a:extLst>
          </p:cNvPr>
          <p:cNvSpPr/>
          <p:nvPr/>
        </p:nvSpPr>
        <p:spPr>
          <a:xfrm>
            <a:off x="349045" y="2560788"/>
            <a:ext cx="4186238" cy="175613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C839BA3-8700-61D7-AEC9-636E918F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Evaluate the Logic Gates</a:t>
            </a:r>
            <a:endParaRPr lang="en-IT" dirty="0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40DC072F-F623-082B-A09A-78C56021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4064" y="792695"/>
            <a:ext cx="4050891" cy="1837433"/>
          </a:xfrm>
          <a:ln>
            <a:noFill/>
          </a:ln>
        </p:spPr>
        <p:txBody>
          <a:bodyPr>
            <a:normAutofit fontScale="700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We have seen how to create a project and how to implement a XOR logic gate.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Now try to implement others Boolean Functions and evaluates their outputs.</a:t>
            </a:r>
          </a:p>
        </p:txBody>
      </p:sp>
      <p:pic>
        <p:nvPicPr>
          <p:cNvPr id="3" name="Picture 4" descr="Your Turn - A GMTK Game Jam 2019 entry by Jowent, ChumasGames">
            <a:extLst>
              <a:ext uri="{FF2B5EF4-FFF2-40B4-BE49-F238E27FC236}">
                <a16:creationId xmlns:a16="http://schemas.microsoft.com/office/drawing/2014/main" id="{28669E8A-F0B2-F0B1-E679-6E831CA20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086" y="2630128"/>
            <a:ext cx="2828794" cy="16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0D93874-A638-F043-E0C6-E89736C31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33" y="2742206"/>
            <a:ext cx="4076263" cy="139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52D066-CA60-A677-9D7B-59DBB1D60BA6}"/>
              </a:ext>
            </a:extLst>
          </p:cNvPr>
          <p:cNvSpPr txBox="1"/>
          <p:nvPr/>
        </p:nvSpPr>
        <p:spPr>
          <a:xfrm>
            <a:off x="556433" y="2235710"/>
            <a:ext cx="132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2060"/>
                </a:solidFill>
              </a:rPr>
              <a:t>and_bd</a:t>
            </a:r>
            <a:endParaRPr lang="en-US" i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AC446F-A142-AA07-63A5-5538847CA464}"/>
              </a:ext>
            </a:extLst>
          </p:cNvPr>
          <p:cNvSpPr txBox="1"/>
          <p:nvPr/>
        </p:nvSpPr>
        <p:spPr>
          <a:xfrm>
            <a:off x="480233" y="792695"/>
            <a:ext cx="39238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002060"/>
                </a:solidFill>
              </a:rPr>
              <a:t>Evaluate the AND Gate</a:t>
            </a:r>
          </a:p>
        </p:txBody>
      </p:sp>
    </p:spTree>
    <p:extLst>
      <p:ext uri="{BB962C8B-B14F-4D97-AF65-F5344CB8AC3E}">
        <p14:creationId xmlns:p14="http://schemas.microsoft.com/office/powerpoint/2010/main" val="112811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3EE05-9919-BE56-4784-42467F6AF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CF8854-A72E-9113-A381-BA06F07773CF}"/>
              </a:ext>
            </a:extLst>
          </p:cNvPr>
          <p:cNvSpPr/>
          <p:nvPr/>
        </p:nvSpPr>
        <p:spPr>
          <a:xfrm>
            <a:off x="349045" y="2560788"/>
            <a:ext cx="4186238" cy="175613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9025484-E14D-D35C-6478-9C63D7DD0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Evaluate the Logic Gates</a:t>
            </a:r>
            <a:endParaRPr lang="en-IT" dirty="0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749E5A53-DE7C-34CE-9873-36E1489EA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4064" y="792695"/>
            <a:ext cx="4050891" cy="1837433"/>
          </a:xfrm>
          <a:ln>
            <a:noFill/>
          </a:ln>
        </p:spPr>
        <p:txBody>
          <a:bodyPr>
            <a:normAutofit fontScale="700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We have seen how to create a project and how to implement a XOR and </a:t>
            </a:r>
            <a:r>
              <a:rPr lang="en-US" sz="2800" dirty="0" err="1"/>
              <a:t>AND</a:t>
            </a:r>
            <a:r>
              <a:rPr lang="en-US" sz="2800" dirty="0"/>
              <a:t> logic gates.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Now try to implement others Boolean Functions and evaluates their outputs.</a:t>
            </a:r>
          </a:p>
        </p:txBody>
      </p:sp>
      <p:pic>
        <p:nvPicPr>
          <p:cNvPr id="3" name="Picture 4" descr="Your Turn - A GMTK Game Jam 2019 entry by Jowent, ChumasGames">
            <a:extLst>
              <a:ext uri="{FF2B5EF4-FFF2-40B4-BE49-F238E27FC236}">
                <a16:creationId xmlns:a16="http://schemas.microsoft.com/office/drawing/2014/main" id="{E425E1F3-11BD-2A29-12E6-C9175FABA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086" y="2630128"/>
            <a:ext cx="2828794" cy="16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5C7BFE-5499-85DD-4644-CCFDC5E123F7}"/>
              </a:ext>
            </a:extLst>
          </p:cNvPr>
          <p:cNvSpPr txBox="1"/>
          <p:nvPr/>
        </p:nvSpPr>
        <p:spPr>
          <a:xfrm>
            <a:off x="556433" y="2235710"/>
            <a:ext cx="132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2060"/>
                </a:solidFill>
              </a:rPr>
              <a:t>not_bd</a:t>
            </a:r>
            <a:endParaRPr lang="en-US" i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352335-1F4E-3194-DE9A-781D39F2148C}"/>
              </a:ext>
            </a:extLst>
          </p:cNvPr>
          <p:cNvSpPr txBox="1"/>
          <p:nvPr/>
        </p:nvSpPr>
        <p:spPr>
          <a:xfrm>
            <a:off x="480233" y="792695"/>
            <a:ext cx="39238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002060"/>
                </a:solidFill>
              </a:rPr>
              <a:t>Evaluate the NOT Gate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9C7C406-A536-ED8D-DA74-6149796EF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05" y="3008545"/>
            <a:ext cx="4110718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512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22EE1-E9D5-E44E-DD59-1CF2291A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F3BD41-9310-8C20-713D-92B338145378}"/>
              </a:ext>
            </a:extLst>
          </p:cNvPr>
          <p:cNvSpPr/>
          <p:nvPr/>
        </p:nvSpPr>
        <p:spPr>
          <a:xfrm>
            <a:off x="349045" y="2560788"/>
            <a:ext cx="4186238" cy="175613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B6488CC-3EA1-EA3B-424D-894FEC73C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Evaluate the Logic Gates</a:t>
            </a:r>
            <a:endParaRPr lang="en-IT" dirty="0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5CFF0A46-439C-E9C1-5F82-2688210D9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4064" y="792695"/>
            <a:ext cx="4050891" cy="1837433"/>
          </a:xfrm>
          <a:ln>
            <a:noFill/>
          </a:ln>
        </p:spPr>
        <p:txBody>
          <a:bodyPr>
            <a:normAutofit fontScale="700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We have seen how to create a project and how to implement a XOR, AND, and NOT  logic gate.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Now try to implement others Boolean Functions and evaluates their outputs.</a:t>
            </a:r>
          </a:p>
        </p:txBody>
      </p:sp>
      <p:pic>
        <p:nvPicPr>
          <p:cNvPr id="3" name="Picture 4" descr="Your Turn - A GMTK Game Jam 2019 entry by Jowent, ChumasGames">
            <a:extLst>
              <a:ext uri="{FF2B5EF4-FFF2-40B4-BE49-F238E27FC236}">
                <a16:creationId xmlns:a16="http://schemas.microsoft.com/office/drawing/2014/main" id="{540BF08E-897E-F3BB-DE13-C40A58B41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086" y="2630128"/>
            <a:ext cx="2828794" cy="16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8F821D-DD6F-28F3-6A96-8D667868E63F}"/>
              </a:ext>
            </a:extLst>
          </p:cNvPr>
          <p:cNvSpPr txBox="1"/>
          <p:nvPr/>
        </p:nvSpPr>
        <p:spPr>
          <a:xfrm>
            <a:off x="556433" y="2235710"/>
            <a:ext cx="132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2060"/>
                </a:solidFill>
              </a:rPr>
              <a:t>or_bd</a:t>
            </a:r>
            <a:endParaRPr lang="en-US" i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749EA-F743-E90B-EC4F-86CE70AFFD89}"/>
              </a:ext>
            </a:extLst>
          </p:cNvPr>
          <p:cNvSpPr txBox="1"/>
          <p:nvPr/>
        </p:nvSpPr>
        <p:spPr>
          <a:xfrm>
            <a:off x="480233" y="792695"/>
            <a:ext cx="39238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002060"/>
                </a:solidFill>
              </a:rPr>
              <a:t>Evaluate the </a:t>
            </a:r>
          </a:p>
          <a:p>
            <a:pPr algn="ctr"/>
            <a:r>
              <a:rPr lang="en-US" sz="4400" dirty="0">
                <a:solidFill>
                  <a:srgbClr val="002060"/>
                </a:solidFill>
              </a:rPr>
              <a:t>OR Gate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8F5F73-4B5F-B95F-92A3-0E9D05EBC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3200"/>
            <a:ext cx="4035165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45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BB380-93F6-5B1D-9C26-CAD28A28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0A958-8FE3-C6F5-84C5-1BA7C8E03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Lab 0</a:t>
            </a:r>
            <a:r>
              <a:rPr lang="en-US" dirty="0"/>
              <a:t>1</a:t>
            </a:r>
            <a:r>
              <a:rPr lang="en-IT" dirty="0"/>
              <a:t> Part </a:t>
            </a:r>
            <a:r>
              <a:rPr lang="en-US" dirty="0"/>
              <a:t>3</a:t>
            </a:r>
            <a:r>
              <a:rPr lang="en-IT" dirty="0"/>
              <a:t>: </a:t>
            </a:r>
            <a:br>
              <a:rPr lang="en-US" dirty="0"/>
            </a:br>
            <a:r>
              <a:rPr lang="en-US" dirty="0"/>
              <a:t>The Multiplexer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944795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651A-F7D2-E732-C102-22936FB5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277AE5B-4597-7075-19E1-7FD80FF05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Combining Logic Gates</a:t>
            </a:r>
            <a:endParaRPr lang="en-IT" dirty="0"/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7067186A-EBEF-B394-CFE4-4BA49E5E5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07162"/>
            <a:ext cx="4938713" cy="3126688"/>
          </a:xfrm>
          <a:ln>
            <a:noFill/>
          </a:ln>
        </p:spPr>
        <p:txBody>
          <a:bodyPr>
            <a:normAutofit lnSpcReduction="10000"/>
          </a:bodyPr>
          <a:lstStyle/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 dirty="0"/>
              <a:t>To create complex logic functions designers combine basic logic gates together.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 dirty="0"/>
              <a:t>The multiplexer is a digital circuit that choose an input among different with a control signal.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32BCE40-1AD5-5842-15CB-A9793A761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688" y="713131"/>
            <a:ext cx="2410001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99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1ABFD-EBC0-491A-DC31-8FF686A39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4C40F24-71EE-5159-7A14-015E2241C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Combining Digital Blocks</a:t>
            </a:r>
            <a:endParaRPr lang="en-IT" dirty="0"/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AEF0BF0F-7CF6-1F7D-4166-2C227F31D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13243"/>
            <a:ext cx="4027864" cy="1917013"/>
          </a:xfrm>
          <a:ln>
            <a:noFill/>
          </a:ln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As logic gates digital blocks can also be combined to form more complex structures</a:t>
            </a:r>
          </a:p>
        </p:txBody>
      </p:sp>
      <p:pic>
        <p:nvPicPr>
          <p:cNvPr id="3" name="Immagine 1" descr="Immagine che contiene schermata, diagramma, cerchio&#10;&#10;Il contenuto generato dall&amp;#39;IA potrebbe non essere corretto.">
            <a:extLst>
              <a:ext uri="{FF2B5EF4-FFF2-40B4-BE49-F238E27FC236}">
                <a16:creationId xmlns:a16="http://schemas.microsoft.com/office/drawing/2014/main" id="{E66DC428-AC61-7D0E-4961-67E735873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224" y="1207634"/>
            <a:ext cx="4269976" cy="276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9DAA5-601F-5A61-521F-7BB3C81D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81D7-F61E-E0C4-B710-8983B3EE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Practice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DBD32-AD7B-44D2-8A61-93FD58470370}"/>
              </a:ext>
            </a:extLst>
          </p:cNvPr>
          <p:cNvSpPr txBox="1"/>
          <p:nvPr/>
        </p:nvSpPr>
        <p:spPr>
          <a:xfrm>
            <a:off x="3888188" y="3799085"/>
            <a:ext cx="1089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400" b="1" dirty="0">
                <a:solidFill>
                  <a:schemeClr val="tx2"/>
                </a:solidFill>
              </a:rPr>
              <a:t>…again</a:t>
            </a:r>
          </a:p>
        </p:txBody>
      </p:sp>
      <p:pic>
        <p:nvPicPr>
          <p:cNvPr id="1028" name="Picture 4" descr="YOUR TURN">
            <a:extLst>
              <a:ext uri="{FF2B5EF4-FFF2-40B4-BE49-F238E27FC236}">
                <a16:creationId xmlns:a16="http://schemas.microsoft.com/office/drawing/2014/main" id="{67EBF935-4239-6F4A-03CF-6F6F00316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600" y="882750"/>
            <a:ext cx="2844800" cy="284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039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26A3C-7CE0-358B-74E3-108626908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2CF3516-FE9E-98CC-C4E9-9AE3B5BED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US" dirty="0"/>
              <a:t>Test All the Logic Gates</a:t>
            </a:r>
            <a:endParaRPr lang="en-IT" dirty="0"/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056CB2E3-6AC3-E185-312E-BED4844F4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49" y="1220959"/>
            <a:ext cx="4429125" cy="2701582"/>
          </a:xfrm>
          <a:ln>
            <a:noFill/>
          </a:ln>
        </p:spPr>
        <p:txBody>
          <a:bodyPr>
            <a:normAutofit lnSpcReduction="10000"/>
          </a:bodyPr>
          <a:lstStyle/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 dirty="0"/>
              <a:t>The modules available for the laboratory also include other common logic gates.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 dirty="0"/>
              <a:t>Connect all the logic gates to a multiplexer and test them directly on the board.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BD28E7E-CDF7-86E9-7BBF-D12C7C4DDA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27"/>
          <a:stretch/>
        </p:blipFill>
        <p:spPr bwMode="auto">
          <a:xfrm>
            <a:off x="4829174" y="736711"/>
            <a:ext cx="3951859" cy="367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18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C3431-ADA6-9C3A-26BA-88714E058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56841-121A-A6CE-C358-EFDF848561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Lab 0</a:t>
            </a:r>
            <a:r>
              <a:rPr lang="en-US" dirty="0"/>
              <a:t>1</a:t>
            </a:r>
            <a:r>
              <a:rPr lang="en-IT" dirty="0"/>
              <a:t> Part </a:t>
            </a:r>
            <a:r>
              <a:rPr lang="en-US" dirty="0"/>
              <a:t>4</a:t>
            </a:r>
            <a:r>
              <a:rPr lang="en-IT" dirty="0"/>
              <a:t>: </a:t>
            </a:r>
            <a:br>
              <a:rPr lang="en-US" dirty="0"/>
            </a:br>
            <a:r>
              <a:rPr lang="en-US" dirty="0"/>
              <a:t>Implementation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4529342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9142A-8600-8822-7892-956784FE2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41A513AA-AEF3-851C-00D7-440D35F67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Implement the Circuit  on the Board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6F8BED-03A1-85C7-23DF-D14FA0AD5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Click on “Generate Bitstream” and the EDA Tool will provide the files to upload the design on the board</a:t>
            </a:r>
          </a:p>
          <a:p>
            <a:endParaRPr lang="en-GB" dirty="0"/>
          </a:p>
          <a:p>
            <a:r>
              <a:rPr lang="en-GB" dirty="0"/>
              <a:t>Open the “Hardware </a:t>
            </a:r>
            <a:br>
              <a:rPr lang="en-GB" dirty="0"/>
            </a:br>
            <a:r>
              <a:rPr lang="en-GB" dirty="0"/>
              <a:t>manager”</a:t>
            </a:r>
          </a:p>
          <a:p>
            <a:endParaRPr lang="en-GB" dirty="0"/>
          </a:p>
          <a:p>
            <a:endParaRPr lang="en-IT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9031C1D-4475-BA69-BA24-26BDDE16A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650" y="1369743"/>
            <a:ext cx="5576007" cy="31365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3" name="Connettore curvo 2">
            <a:extLst>
              <a:ext uri="{FF2B5EF4-FFF2-40B4-BE49-F238E27FC236}">
                <a16:creationId xmlns:a16="http://schemas.microsoft.com/office/drawing/2014/main" id="{B98FF79E-E97F-1E4B-6DF6-44127D79FA93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1946737" y="2395438"/>
            <a:ext cx="1457294" cy="1378532"/>
          </a:xfrm>
          <a:prstGeom prst="curvedConnector2">
            <a:avLst/>
          </a:prstGeom>
          <a:ln w="76200">
            <a:solidFill>
              <a:schemeClr val="accent2">
                <a:lumMod val="7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8F4C20CA-F530-8B0B-9688-D8A21FFCF3FB}"/>
              </a:ext>
            </a:extLst>
          </p:cNvPr>
          <p:cNvSpPr/>
          <p:nvPr/>
        </p:nvSpPr>
        <p:spPr>
          <a:xfrm>
            <a:off x="3364650" y="3676650"/>
            <a:ext cx="632738" cy="273401"/>
          </a:xfrm>
          <a:prstGeom prst="round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27994134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A8F78-381F-BFEA-A1CF-43C3E390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AE06D2B5-EF9D-865E-E7C2-8B1AA54B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The Hardware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EF027-9A65-0FF6-56F7-C62E6A625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4199" y="1273643"/>
            <a:ext cx="2995797" cy="2596214"/>
          </a:xfrm>
        </p:spPr>
        <p:txBody>
          <a:bodyPr/>
          <a:lstStyle/>
          <a:p>
            <a:pPr algn="just"/>
            <a:r>
              <a:rPr lang="en-GB" dirty="0"/>
              <a:t>The Hardware Manager handles the connections with the board.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To connect:</a:t>
            </a:r>
          </a:p>
          <a:p>
            <a:pPr lvl="1" algn="just"/>
            <a:r>
              <a:rPr lang="en-GB" dirty="0">
                <a:solidFill>
                  <a:schemeClr val="accent2"/>
                </a:solidFill>
              </a:rPr>
              <a:t>Open target</a:t>
            </a:r>
          </a:p>
          <a:p>
            <a:pPr lvl="1" algn="just"/>
            <a:r>
              <a:rPr lang="en-GB" dirty="0">
                <a:solidFill>
                  <a:schemeClr val="accent2"/>
                </a:solidFill>
              </a:rPr>
              <a:t>Auto Connect</a:t>
            </a:r>
            <a:endParaRPr lang="en-IT" dirty="0">
              <a:solidFill>
                <a:schemeClr val="accent2"/>
              </a:solidFill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7D7F25F9-C994-1079-84FB-8ED085097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2993"/>
            <a:ext cx="5257800" cy="2957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35828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937C0-F279-13F1-BFA9-F16E89904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1F26278A-B188-F1C9-4A55-7D0E532C4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The Hardware manager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436C2-2180-E6B9-9ADE-4FDC71FDA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To program the device, click on </a:t>
            </a:r>
            <a:r>
              <a:rPr lang="en-GB" b="1" dirty="0"/>
              <a:t>Program device</a:t>
            </a:r>
            <a:r>
              <a:rPr lang="en-GB" dirty="0"/>
              <a:t>, then </a:t>
            </a:r>
            <a:r>
              <a:rPr lang="en-GB" b="1" dirty="0"/>
              <a:t>Program</a:t>
            </a:r>
          </a:p>
          <a:p>
            <a:endParaRPr lang="en-GB" dirty="0"/>
          </a:p>
          <a:p>
            <a:pPr marL="0" indent="0">
              <a:buNone/>
            </a:pPr>
            <a:endParaRPr lang="en-IT" dirty="0"/>
          </a:p>
        </p:txBody>
      </p:sp>
      <p:sp>
        <p:nvSpPr>
          <p:cNvPr id="34" name="Segnaposto numero diapositiva 3">
            <a:extLst>
              <a:ext uri="{FF2B5EF4-FFF2-40B4-BE49-F238E27FC236}">
                <a16:creationId xmlns:a16="http://schemas.microsoft.com/office/drawing/2014/main" id="{8BD841E1-70A1-807B-5B52-85642775E4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37</a:t>
            </a:fld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13CD0DE-F161-D38B-3162-E227B7FA8B5F}"/>
              </a:ext>
            </a:extLst>
          </p:cNvPr>
          <p:cNvSpPr txBox="1"/>
          <p:nvPr/>
        </p:nvSpPr>
        <p:spPr>
          <a:xfrm>
            <a:off x="6290109" y="2030521"/>
            <a:ext cx="2425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sz="2400" b="1" dirty="0">
                <a:solidFill>
                  <a:srgbClr val="82B366"/>
                </a:solidFill>
                <a:ea typeface="Baskerville Display PT" panose="02030602080406020203" pitchFamily="18" charset="0"/>
              </a:rPr>
              <a:t>Now your design is working on the board!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B0FB5DF-843C-D365-9316-9403D079E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6" y="1278165"/>
            <a:ext cx="5259878" cy="29562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70323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Authorship &amp; License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9CE5AC-24E2-C18D-26DB-97EE38A99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123950"/>
            <a:ext cx="4648200" cy="35814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These slides are distributed under the Creative Commons license "</a:t>
            </a:r>
            <a:r>
              <a:rPr lang="en-GB"/>
              <a:t>Attribution – Non-commercial </a:t>
            </a:r>
            <a:r>
              <a:rPr lang="en-GB" dirty="0"/>
              <a:t>- Share alike 2.5 Italy (CC BY-NC-SA 2.5)"</a:t>
            </a:r>
          </a:p>
          <a:p>
            <a:pPr algn="just"/>
            <a:r>
              <a:rPr lang="en-GB" dirty="0"/>
              <a:t>You are free to:</a:t>
            </a:r>
          </a:p>
          <a:p>
            <a:pPr lvl="1" algn="just"/>
            <a:r>
              <a:rPr lang="en-GB" dirty="0"/>
              <a:t>to reproduce, distribute, communicate to the public, exhibit in public, represent, perform and recite this work</a:t>
            </a:r>
          </a:p>
          <a:p>
            <a:pPr lvl="1" algn="just"/>
            <a:r>
              <a:rPr lang="en-GB" dirty="0"/>
              <a:t>to modify this work</a:t>
            </a:r>
          </a:p>
          <a:p>
            <a:pPr algn="just"/>
            <a:r>
              <a:rPr lang="en-GB" dirty="0"/>
              <a:t>Under the following conditions:</a:t>
            </a:r>
          </a:p>
          <a:p>
            <a:pPr lvl="1" algn="just"/>
            <a:r>
              <a:rPr lang="en-GB" b="1" dirty="0"/>
              <a:t>Attribution</a:t>
            </a:r>
            <a:r>
              <a:rPr lang="en-GB" dirty="0"/>
              <a:t> - You must attribute authorship of the work to the original authors and in a way that does not suggest that they endorse you or the way you use the work.</a:t>
            </a:r>
          </a:p>
          <a:p>
            <a:pPr lvl="1" algn="just"/>
            <a:r>
              <a:rPr lang="en-GB" b="1" dirty="0"/>
              <a:t>Non-commercial</a:t>
            </a:r>
            <a:r>
              <a:rPr lang="en-GB" dirty="0"/>
              <a:t> - You may not use this work for commercial purposes.</a:t>
            </a:r>
          </a:p>
          <a:p>
            <a:pPr lvl="1" algn="just"/>
            <a:r>
              <a:rPr lang="en-GB" b="1" dirty="0"/>
              <a:t>Share Alike </a:t>
            </a:r>
            <a:r>
              <a:rPr lang="en-GB" dirty="0"/>
              <a:t>- If you alter or transform this work, or if you use it to create another, you may distribute the resulting work only under an identical or equivalent license to this one.</a:t>
            </a:r>
          </a:p>
          <a:p>
            <a:pPr algn="just"/>
            <a:r>
              <a:rPr lang="en-GB" dirty="0">
                <a:hlinkClick r:id="rId3"/>
              </a:rPr>
              <a:t>http://creativecommons.org/licenses/by-nc-sa/2.5/</a:t>
            </a:r>
            <a:r>
              <a:rPr lang="en-GB" dirty="0"/>
              <a:t>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B93A402-8447-5447-D2C5-F6E98D21CD1A}"/>
              </a:ext>
            </a:extLst>
          </p:cNvPr>
          <p:cNvSpPr txBox="1">
            <a:spLocks/>
          </p:cNvSpPr>
          <p:nvPr/>
        </p:nvSpPr>
        <p:spPr>
          <a:xfrm>
            <a:off x="1905000" y="1123950"/>
            <a:ext cx="20574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Christian Conti </a:t>
            </a:r>
            <a:r>
              <a:rPr lang="en-GB" sz="1100" dirty="0">
                <a:hlinkClick r:id="rId4"/>
              </a:rPr>
              <a:t>christian.conti@polito.it</a:t>
            </a:r>
            <a:endParaRPr lang="en-GB" sz="1100" dirty="0"/>
          </a:p>
          <a:p>
            <a:r>
              <a:rPr lang="en-GB" sz="1200" dirty="0"/>
              <a:t>Gianvito Urgese </a:t>
            </a:r>
            <a:r>
              <a:rPr lang="en-GB" sz="1100" dirty="0">
                <a:hlinkClick r:id="rId5"/>
              </a:rPr>
              <a:t>gianvito.urgese@polito.it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Daniele Jahier Pagliari </a:t>
            </a:r>
            <a:r>
              <a:rPr lang="en-GB" sz="1100" dirty="0">
                <a:hlinkClick r:id="rId6"/>
              </a:rPr>
              <a:t>daniele.jahier@polito.it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Enrico Macii </a:t>
            </a:r>
            <a:r>
              <a:rPr lang="en-GB" sz="1100" dirty="0">
                <a:hlinkClick r:id="rId7"/>
              </a:rPr>
              <a:t>enrico.macii@polito.it</a:t>
            </a:r>
            <a:endParaRPr lang="en-GB" sz="1100" dirty="0"/>
          </a:p>
          <a:p>
            <a:endParaRPr lang="en-GB" sz="1100" dirty="0"/>
          </a:p>
          <a:p>
            <a:endParaRPr lang="en-GB" sz="1100" dirty="0"/>
          </a:p>
          <a:p>
            <a:pPr marL="0" indent="0">
              <a:buNone/>
            </a:pPr>
            <a:endParaRPr lang="en-GB" sz="1100" dirty="0"/>
          </a:p>
          <a:p>
            <a:r>
              <a:rPr lang="en-GB" sz="1200" dirty="0"/>
              <a:t>Cristiana </a:t>
            </a:r>
            <a:r>
              <a:rPr lang="en-GB" sz="1200" dirty="0" err="1"/>
              <a:t>Bolchini</a:t>
            </a:r>
            <a:r>
              <a:rPr lang="en-GB" sz="1200" dirty="0"/>
              <a:t> </a:t>
            </a:r>
            <a:r>
              <a:rPr lang="en-GB" sz="1100" dirty="0">
                <a:hlinkClick r:id="rId8"/>
              </a:rPr>
              <a:t>cristiana.bolchini@polimi.it</a:t>
            </a:r>
            <a:endParaRPr lang="en-GB" sz="1100" dirty="0"/>
          </a:p>
          <a:p>
            <a:r>
              <a:rPr lang="en-GB" sz="1200" dirty="0"/>
              <a:t>Fabrizio </a:t>
            </a:r>
            <a:r>
              <a:rPr lang="en-GB" sz="1200" dirty="0" err="1"/>
              <a:t>Ferrandi</a:t>
            </a:r>
            <a:r>
              <a:rPr lang="en-GB" sz="1100" dirty="0"/>
              <a:t> </a:t>
            </a:r>
            <a:r>
              <a:rPr lang="en-GB" sz="1100" dirty="0">
                <a:hlinkClick r:id="rId9"/>
              </a:rPr>
              <a:t>fabrizio.ferrandi@polimi.it</a:t>
            </a:r>
            <a:r>
              <a:rPr lang="en-GB" sz="1100" dirty="0"/>
              <a:t> </a:t>
            </a:r>
          </a:p>
          <a:p>
            <a:pPr marL="0" indent="0">
              <a:buNone/>
            </a:pPr>
            <a:r>
              <a:rPr lang="en-GB" sz="1100" dirty="0"/>
              <a:t>  </a:t>
            </a:r>
          </a:p>
        </p:txBody>
      </p:sp>
      <p:pic>
        <p:nvPicPr>
          <p:cNvPr id="8" name="Immagine 7" descr="88x31.png">
            <a:extLst>
              <a:ext uri="{FF2B5EF4-FFF2-40B4-BE49-F238E27FC236}">
                <a16:creationId xmlns:a16="http://schemas.microsoft.com/office/drawing/2014/main" id="{2290BE98-B9D9-198A-0DE7-AA874CD79552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314264" y="590550"/>
            <a:ext cx="736460" cy="259435"/>
          </a:xfrm>
          <a:prstGeom prst="rect">
            <a:avLst/>
          </a:prstGeom>
        </p:spPr>
      </p:pic>
      <p:pic>
        <p:nvPicPr>
          <p:cNvPr id="9" name="Immagine 8" descr="share.png">
            <a:extLst>
              <a:ext uri="{FF2B5EF4-FFF2-40B4-BE49-F238E27FC236}">
                <a16:creationId xmlns:a16="http://schemas.microsoft.com/office/drawing/2014/main" id="{A44441E1-1636-9F33-5314-78CE0FABC666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8762999" y="1921594"/>
            <a:ext cx="253803" cy="253803"/>
          </a:xfrm>
          <a:prstGeom prst="rect">
            <a:avLst/>
          </a:prstGeom>
        </p:spPr>
      </p:pic>
      <p:pic>
        <p:nvPicPr>
          <p:cNvPr id="10" name="Immagine 9" descr="remix.png">
            <a:extLst>
              <a:ext uri="{FF2B5EF4-FFF2-40B4-BE49-F238E27FC236}">
                <a16:creationId xmlns:a16="http://schemas.microsoft.com/office/drawing/2014/main" id="{6D18870E-D3B6-A9BA-BD9E-AD4EDD12DC0B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762999" y="2217684"/>
            <a:ext cx="253803" cy="253803"/>
          </a:xfrm>
          <a:prstGeom prst="rect">
            <a:avLst/>
          </a:prstGeom>
        </p:spPr>
      </p:pic>
      <p:pic>
        <p:nvPicPr>
          <p:cNvPr id="11" name="Immagine 10" descr="by.png">
            <a:extLst>
              <a:ext uri="{FF2B5EF4-FFF2-40B4-BE49-F238E27FC236}">
                <a16:creationId xmlns:a16="http://schemas.microsoft.com/office/drawing/2014/main" id="{C3C8E60B-7123-B301-BD00-3132EF57AB4C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763000" y="2753780"/>
            <a:ext cx="253803" cy="253803"/>
          </a:xfrm>
          <a:prstGeom prst="rect">
            <a:avLst/>
          </a:prstGeom>
        </p:spPr>
      </p:pic>
      <p:pic>
        <p:nvPicPr>
          <p:cNvPr id="12" name="Immagine 11" descr="nc-eu.png">
            <a:extLst>
              <a:ext uri="{FF2B5EF4-FFF2-40B4-BE49-F238E27FC236}">
                <a16:creationId xmlns:a16="http://schemas.microsoft.com/office/drawing/2014/main" id="{B37741D3-AF00-AB81-811C-FC527CF4C0AA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763000" y="3222114"/>
            <a:ext cx="253803" cy="253803"/>
          </a:xfrm>
          <a:prstGeom prst="rect">
            <a:avLst/>
          </a:prstGeom>
        </p:spPr>
      </p:pic>
      <p:pic>
        <p:nvPicPr>
          <p:cNvPr id="13" name="Immagine 12" descr="sa.png">
            <a:extLst>
              <a:ext uri="{FF2B5EF4-FFF2-40B4-BE49-F238E27FC236}">
                <a16:creationId xmlns:a16="http://schemas.microsoft.com/office/drawing/2014/main" id="{3234CC5F-634F-0966-6E10-DF6A9FCCF644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762999" y="3676651"/>
            <a:ext cx="253803" cy="25380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FB4F64-B664-F8A8-580F-206259864A14}"/>
              </a:ext>
            </a:extLst>
          </p:cNvPr>
          <p:cNvSpPr txBox="1">
            <a:spLocks/>
          </p:cNvSpPr>
          <p:nvPr/>
        </p:nvSpPr>
        <p:spPr>
          <a:xfrm>
            <a:off x="5715000" y="682168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License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55906F7-4250-FE50-6009-14AFC19548BA}"/>
              </a:ext>
            </a:extLst>
          </p:cNvPr>
          <p:cNvSpPr txBox="1">
            <a:spLocks/>
          </p:cNvSpPr>
          <p:nvPr/>
        </p:nvSpPr>
        <p:spPr>
          <a:xfrm>
            <a:off x="1143000" y="692645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Authors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3E21F270-88C2-AFC4-21F2-8F4F6DDB888C}"/>
              </a:ext>
            </a:extLst>
          </p:cNvPr>
          <p:cNvCxnSpPr/>
          <p:nvPr/>
        </p:nvCxnSpPr>
        <p:spPr>
          <a:xfrm>
            <a:off x="4038600" y="742950"/>
            <a:ext cx="0" cy="36576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6F250AF-8678-E340-7E09-17414DC14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98" y="1673123"/>
            <a:ext cx="1339414" cy="58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40EC28FA-08B2-A867-6743-9392DF0A652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1" y="3349015"/>
            <a:ext cx="1808212" cy="58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4471</TotalTime>
  <Words>1438</Words>
  <Application>Microsoft Macintosh PowerPoint</Application>
  <PresentationFormat>On-screen Show (16:9)</PresentationFormat>
  <Paragraphs>218</Paragraphs>
  <Slides>38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Cascadia Code</vt:lpstr>
      <vt:lpstr>Inter</vt:lpstr>
      <vt:lpstr>Arial</vt:lpstr>
      <vt:lpstr>Arial Narrow</vt:lpstr>
      <vt:lpstr>Baskerville Display PT</vt:lpstr>
      <vt:lpstr>Calibri</vt:lpstr>
      <vt:lpstr>Office Theme</vt:lpstr>
      <vt:lpstr>Lab 01: Introduction to Vivado  &amp; Logic Gates</vt:lpstr>
      <vt:lpstr>Chips, what? An IEEE CEDA Education Initiative</vt:lpstr>
      <vt:lpstr>Lab 01 Part 0:  Vivado</vt:lpstr>
      <vt:lpstr>Vivado</vt:lpstr>
      <vt:lpstr>Vivado</vt:lpstr>
      <vt:lpstr>Start a Laboratory Session</vt:lpstr>
      <vt:lpstr>Inside a Project Folder</vt:lpstr>
      <vt:lpstr>Vivado a First Glance</vt:lpstr>
      <vt:lpstr>Vivado a First Glance</vt:lpstr>
      <vt:lpstr>Vivado a First Glance</vt:lpstr>
      <vt:lpstr>Vivado a First Glance</vt:lpstr>
      <vt:lpstr>Vivado a First Glance</vt:lpstr>
      <vt:lpstr>Lab 01 Part 1:  Create the First Gate</vt:lpstr>
      <vt:lpstr>Create a Block Design</vt:lpstr>
      <vt:lpstr>Modules in a Block Design</vt:lpstr>
      <vt:lpstr>Modules in a Block Design</vt:lpstr>
      <vt:lpstr>Instantiate a Module</vt:lpstr>
      <vt:lpstr>Input &amp; Output Ports</vt:lpstr>
      <vt:lpstr>Input &amp; Output Ports</vt:lpstr>
      <vt:lpstr>Input &amp; Output Ports</vt:lpstr>
      <vt:lpstr>Interconnections</vt:lpstr>
      <vt:lpstr>Generate the Design</vt:lpstr>
      <vt:lpstr>An In Deep Look to the Generated Design</vt:lpstr>
      <vt:lpstr>Verify the Design</vt:lpstr>
      <vt:lpstr>Lab 01 Part 2:  Logic Gates</vt:lpstr>
      <vt:lpstr>Evaluate the Logic Gates</vt:lpstr>
      <vt:lpstr>Evaluate the Logic Gates</vt:lpstr>
      <vt:lpstr>Evaluate the Logic Gates</vt:lpstr>
      <vt:lpstr>Lab 01 Part 3:  The Multiplexer</vt:lpstr>
      <vt:lpstr>Combining Logic Gates</vt:lpstr>
      <vt:lpstr>Combining Digital Blocks</vt:lpstr>
      <vt:lpstr>Practice Time</vt:lpstr>
      <vt:lpstr>Test All the Logic Gates</vt:lpstr>
      <vt:lpstr>Lab 01 Part 4:  Implementation</vt:lpstr>
      <vt:lpstr>Implement the Circuit  on the Board</vt:lpstr>
      <vt:lpstr>The Hardware manager</vt:lpstr>
      <vt:lpstr>The Hardware manager</vt:lpstr>
      <vt:lpstr>Authorship &amp; License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Design for Youngsters An IEEE CEDA Education Initiative</dc:title>
  <dc:creator>Enrico Macii</dc:creator>
  <cp:lastModifiedBy>Cristiana Bolchini</cp:lastModifiedBy>
  <cp:revision>208</cp:revision>
  <dcterms:created xsi:type="dcterms:W3CDTF">2006-08-16T00:00:00Z</dcterms:created>
  <dcterms:modified xsi:type="dcterms:W3CDTF">2025-06-22T01:42:53Z</dcterms:modified>
</cp:coreProperties>
</file>