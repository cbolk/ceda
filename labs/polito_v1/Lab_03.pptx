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45"/>
  </p:notesMasterIdLst>
  <p:sldIdLst>
    <p:sldId id="306" r:id="rId2"/>
    <p:sldId id="397" r:id="rId3"/>
    <p:sldId id="521" r:id="rId4"/>
    <p:sldId id="531" r:id="rId5"/>
    <p:sldId id="549" r:id="rId6"/>
    <p:sldId id="532" r:id="rId7"/>
    <p:sldId id="542" r:id="rId8"/>
    <p:sldId id="533" r:id="rId9"/>
    <p:sldId id="539" r:id="rId10"/>
    <p:sldId id="536" r:id="rId11"/>
    <p:sldId id="547" r:id="rId12"/>
    <p:sldId id="551" r:id="rId13"/>
    <p:sldId id="552" r:id="rId14"/>
    <p:sldId id="554" r:id="rId15"/>
    <p:sldId id="555" r:id="rId16"/>
    <p:sldId id="557" r:id="rId17"/>
    <p:sldId id="558" r:id="rId18"/>
    <p:sldId id="559" r:id="rId19"/>
    <p:sldId id="560" r:id="rId20"/>
    <p:sldId id="561" r:id="rId21"/>
    <p:sldId id="550" r:id="rId22"/>
    <p:sldId id="528" r:id="rId23"/>
    <p:sldId id="562" r:id="rId24"/>
    <p:sldId id="540" r:id="rId25"/>
    <p:sldId id="530" r:id="rId26"/>
    <p:sldId id="455" r:id="rId27"/>
    <p:sldId id="541" r:id="rId28"/>
    <p:sldId id="543" r:id="rId29"/>
    <p:sldId id="544" r:id="rId30"/>
    <p:sldId id="480" r:id="rId31"/>
    <p:sldId id="509" r:id="rId32"/>
    <p:sldId id="510" r:id="rId33"/>
    <p:sldId id="511" r:id="rId34"/>
    <p:sldId id="512" r:id="rId35"/>
    <p:sldId id="513" r:id="rId36"/>
    <p:sldId id="514" r:id="rId37"/>
    <p:sldId id="515" r:id="rId38"/>
    <p:sldId id="516" r:id="rId39"/>
    <p:sldId id="517" r:id="rId40"/>
    <p:sldId id="518" r:id="rId41"/>
    <p:sldId id="519" r:id="rId42"/>
    <p:sldId id="520" r:id="rId43"/>
    <p:sldId id="312" r:id="rId4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91F923-564F-3F43-B34A-832C98ED3AAC}">
          <p14:sldIdLst>
            <p14:sldId id="306"/>
            <p14:sldId id="397"/>
            <p14:sldId id="521"/>
            <p14:sldId id="531"/>
            <p14:sldId id="549"/>
            <p14:sldId id="532"/>
            <p14:sldId id="542"/>
            <p14:sldId id="533"/>
            <p14:sldId id="539"/>
            <p14:sldId id="536"/>
            <p14:sldId id="547"/>
            <p14:sldId id="551"/>
            <p14:sldId id="552"/>
            <p14:sldId id="554"/>
            <p14:sldId id="555"/>
            <p14:sldId id="557"/>
            <p14:sldId id="558"/>
            <p14:sldId id="559"/>
            <p14:sldId id="560"/>
            <p14:sldId id="561"/>
            <p14:sldId id="550"/>
            <p14:sldId id="528"/>
            <p14:sldId id="562"/>
            <p14:sldId id="540"/>
            <p14:sldId id="530"/>
            <p14:sldId id="455"/>
            <p14:sldId id="541"/>
            <p14:sldId id="543"/>
            <p14:sldId id="544"/>
            <p14:sldId id="480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5D"/>
    <a:srgbClr val="5484A7"/>
    <a:srgbClr val="B1DEF0"/>
    <a:srgbClr val="92D050"/>
    <a:srgbClr val="107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16D85-5BAD-2849-B80D-AD58BB7DBCF2}" v="2" dt="2025-06-22T01:25:41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6"/>
  </p:normalViewPr>
  <p:slideViewPr>
    <p:cSldViewPr snapToGrid="0">
      <p:cViewPr varScale="1">
        <p:scale>
          <a:sx n="134" d="100"/>
          <a:sy n="134" d="100"/>
        </p:scale>
        <p:origin x="90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 Conti" userId="S::christian.conti@polito.it::d9d3ad1e-8619-44cb-b5df-56d9ee9af6dd" providerId="AD" clId="Web-{4FC21520-D8CF-98E4-5641-BF492E6C1050}"/>
    <pc:docChg chg="modSld">
      <pc:chgData name="Christian  Conti" userId="S::christian.conti@polito.it::d9d3ad1e-8619-44cb-b5df-56d9ee9af6dd" providerId="AD" clId="Web-{4FC21520-D8CF-98E4-5641-BF492E6C1050}" dt="2025-01-27T14:43:49.505" v="6" actId="20577"/>
      <pc:docMkLst>
        <pc:docMk/>
      </pc:docMkLst>
      <pc:sldChg chg="modSp">
        <pc:chgData name="Christian  Conti" userId="S::christian.conti@polito.it::d9d3ad1e-8619-44cb-b5df-56d9ee9af6dd" providerId="AD" clId="Web-{4FC21520-D8CF-98E4-5641-BF492E6C1050}" dt="2025-01-27T14:09:35.018" v="4" actId="1076"/>
        <pc:sldMkLst>
          <pc:docMk/>
          <pc:sldMk cId="646198751" sldId="517"/>
        </pc:sldMkLst>
      </pc:sldChg>
      <pc:sldChg chg="modSp">
        <pc:chgData name="Christian  Conti" userId="S::christian.conti@polito.it::d9d3ad1e-8619-44cb-b5df-56d9ee9af6dd" providerId="AD" clId="Web-{4FC21520-D8CF-98E4-5641-BF492E6C1050}" dt="2025-01-27T14:43:49.505" v="6" actId="20577"/>
        <pc:sldMkLst>
          <pc:docMk/>
          <pc:sldMk cId="1829869190" sldId="518"/>
        </pc:sldMkLst>
      </pc:sldChg>
    </pc:docChg>
  </pc:docChgLst>
  <pc:docChgLst>
    <pc:chgData name="Cristiana Bolchini" userId="6b8273cd-38c1-41dc-ba93-995a19828489" providerId="ADAL" clId="{65916D85-5BAD-2849-B80D-AD58BB7DBCF2}"/>
    <pc:docChg chg="custSel modSld">
      <pc:chgData name="Cristiana Bolchini" userId="6b8273cd-38c1-41dc-ba93-995a19828489" providerId="ADAL" clId="{65916D85-5BAD-2849-B80D-AD58BB7DBCF2}" dt="2025-06-22T01:25:44.638" v="3" actId="5793"/>
      <pc:docMkLst>
        <pc:docMk/>
      </pc:docMkLst>
      <pc:sldChg chg="addSp delSp modSp mod">
        <pc:chgData name="Cristiana Bolchini" userId="6b8273cd-38c1-41dc-ba93-995a19828489" providerId="ADAL" clId="{65916D85-5BAD-2849-B80D-AD58BB7DBCF2}" dt="2025-06-22T01:25:44.638" v="3" actId="5793"/>
        <pc:sldMkLst>
          <pc:docMk/>
          <pc:sldMk cId="3414173897" sldId="312"/>
        </pc:sldMkLst>
        <pc:spChg chg="mod">
          <ac:chgData name="Cristiana Bolchini" userId="6b8273cd-38c1-41dc-ba93-995a19828489" providerId="ADAL" clId="{65916D85-5BAD-2849-B80D-AD58BB7DBCF2}" dt="2025-06-22T01:25:44.638" v="3" actId="5793"/>
          <ac:spMkLst>
            <pc:docMk/>
            <pc:sldMk cId="3414173897" sldId="312"/>
            <ac:spMk id="4" creationId="{2F9CE5AC-24E2-C18D-26DB-97EE38A99B9B}"/>
          </ac:spMkLst>
        </pc:spChg>
        <pc:picChg chg="add mod">
          <ac:chgData name="Cristiana Bolchini" userId="6b8273cd-38c1-41dc-ba93-995a19828489" providerId="ADAL" clId="{65916D85-5BAD-2849-B80D-AD58BB7DBCF2}" dt="2025-06-22T01:25:41.515" v="1"/>
          <ac:picMkLst>
            <pc:docMk/>
            <pc:sldMk cId="3414173897" sldId="312"/>
            <ac:picMk id="3" creationId="{165B5C50-8219-3C97-DE74-56098DC9F385}"/>
          </ac:picMkLst>
        </pc:picChg>
        <pc:picChg chg="add mod">
          <ac:chgData name="Cristiana Bolchini" userId="6b8273cd-38c1-41dc-ba93-995a19828489" providerId="ADAL" clId="{65916D85-5BAD-2849-B80D-AD58BB7DBCF2}" dt="2025-06-22T01:25:41.515" v="1"/>
          <ac:picMkLst>
            <pc:docMk/>
            <pc:sldMk cId="3414173897" sldId="312"/>
            <ac:picMk id="5" creationId="{E4D6C955-BB84-2EB6-1CAE-24CCD7C5F376}"/>
          </ac:picMkLst>
        </pc:picChg>
        <pc:picChg chg="del">
          <ac:chgData name="Cristiana Bolchini" userId="6b8273cd-38c1-41dc-ba93-995a19828489" providerId="ADAL" clId="{65916D85-5BAD-2849-B80D-AD58BB7DBCF2}" dt="2025-06-22T01:25:41.129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65916D85-5BAD-2849-B80D-AD58BB7DBCF2}" dt="2025-06-22T01:25:41.129" v="0" actId="478"/>
          <ac:picMkLst>
            <pc:docMk/>
            <pc:sldMk cId="3414173897" sldId="312"/>
            <ac:picMk id="1030" creationId="{EEBFC921-7D9A-3E46-F3DC-0A403C48E8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D9E6-4C88-45BA-AC20-6A4E0DE66932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18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A27E4-5882-6FF8-56CA-A1A0E3BD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81125C9-5E9E-9F45-0717-E8FA1FAE1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78FC03-0B63-F110-4202-1EA4DB2A3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B289BA-D71D-856C-7119-8645CE032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3008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87BEC-D0AE-489F-5476-D539FBF1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A0FBFE-4BEF-5CE2-42C2-831DBA2A5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7AEA41C-BC10-C481-2D15-983304844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367F25-70C3-0512-5784-16099B05A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0850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94A2-E34C-903F-2D46-507BD762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719C633-1BCB-2A6B-A600-3D08A857A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BBFA4AE-3B8B-A5C6-07BE-8F01A720A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51FA3D-F6EF-51C5-7948-D0AC0E597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642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E4A67-EC00-8CB4-D685-75B75DA2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578240F-CC47-364A-4DBB-05BEEB7ED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2EFBC8B-D405-92D6-F177-27F3DE79B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9429CA7-115A-2A0B-141D-3442CC6C5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651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107F-33F9-FEDA-D1D3-E29BD62D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F5C3E41-6890-6E57-F284-912D0D0BF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94426EE-3A2D-A202-B0BA-7AEC1B534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7D48738-1F6D-E846-ABE3-0D3229265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6518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6D51B-6F7B-6EC0-FC25-867D7A4A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AF79C0-BCFF-7E6D-7430-5B4B8513C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4585B1D-0E2D-56F1-5DB8-80C57E242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D6D2A3-756A-2DBF-B1B9-C6CB3967A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8966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52E5-2E82-80C3-8AE1-A676AB81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252733-B742-401A-1128-E62896F4C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60BA99B-DC49-6E63-0567-8467D30BA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B9A4C4-8A1A-F3A9-2CB9-D9EEC741E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9000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0D88-B500-6124-1D2A-4F232D412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94EB8D6-8054-015E-BD0C-AC590C054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2754BF-AC64-F81E-3C90-A6DEBAAB6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16D111-8551-B5FA-471B-36DA9AF9F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6849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C69B-1DCE-9FFD-2385-81ADC9E5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A59C512-0A42-821E-4B3E-D0925E13D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58E6A1-8143-9380-ACAF-402C959B1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BCAA87-254B-07FC-DDCE-781507BDC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170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FCC7-A00B-7D78-19EB-F28DBBA7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AFC8EE1-6864-BD9A-59BC-41AE8E8D7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8028F2-5AFB-AD0F-9509-CD525637F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3E0729-E6E3-4AFE-F1B0-3B90FC0A5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5099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41AE-3796-3713-8120-79A69E2A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BBA1701-68F5-35B2-F9CE-C2516A39D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F9872C-A8EC-E963-E007-69D0BD3DB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2C95DF-9BEC-A0D8-6647-F6B1C815B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6282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FB84-9AD5-BDA4-FD83-49E8487B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FF2904-4E27-6B74-5FEE-505876BCD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A6BE0A2-933A-B5CF-1CB1-E5FA533CD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E44821-A22E-41D2-B832-235F6A1B7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0823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22966-5706-FCF0-71FB-5C94BEA2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B715800-3338-53E5-7FD4-AAA298668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66C324B-B65A-6DA5-F7A9-37E37D47F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949080-8294-38D0-F03D-62ABB88BA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0745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F145B-2678-6E51-5DB9-97F65FEF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524296F-B27A-C8DD-EB12-95E030D96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272D269-AFA5-49F9-7844-7BD4A07C3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F55631-4A16-46C3-2560-0925FA763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8691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65E-3763-FE9E-A81C-65E2036D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0826B-BCB8-C6FA-CC02-47936441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A5E3A3-43A4-23E3-76AD-2F3DF777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06334D-1E87-D637-2CFE-49B0CC326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984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91D5-1383-9D5A-E9EC-CE32E04D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5ECAC30-D8D5-6F8E-22FD-4D6F1C46C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763E5F2-D66A-6C19-8C74-239BA5499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2CCA23-452F-89EB-1342-9B6DB2910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3322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D3C7-DB70-E0D6-063B-FE156431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2ED7FC6-BB5D-FD44-325A-F4FD48953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2EA1B65-144C-2170-83D8-EDA09F352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A1197A-FD35-FDDE-7906-500C39A90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0358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ECE80-D697-AB95-D2C7-B47A4FF48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DD03358-A4E8-E6C4-05B9-EF2840CEF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9419631-D05D-0094-914D-F4160B771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EA0FD5-88C3-698C-853E-BEFCCC029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2201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3AA-11E7-9F7B-A189-6B9442D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1C94DF-D9A1-B5F3-C319-95CC08CC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80887E-56DF-53A6-B90E-25DBF78F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A3DE2F-890B-24CB-3D12-7E5A8F02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47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5AC9-1E41-EB06-8BA4-449C4977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2B1275-EA0A-25B5-4E19-E18B4F0F4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F589923-BC1B-9A75-AB81-E63197C99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854ED8-4A5D-A2ED-78C2-F4B6CBD3F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145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0589-E5E1-3F8E-58EF-1D2B47A9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6B3786-947F-A207-2AEF-885032ED8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23DC86F-3058-507E-7F5F-F96D07C55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319B1A-6928-5A3D-ECA6-6005EB7EF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7105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44150-9F73-BF3E-31C2-E77F7DFE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0197847-E6A4-EDFC-3CC7-364440A1B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EAE2C67-C682-F3D6-52B2-5721A53FA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9B2A915-8840-02A5-20DC-42D7FB682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54929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2DE5-058E-D317-D9F1-34DEB0CE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1FD9215-A8B0-0E0B-4174-273256937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7AE89D7-64B9-1A23-E302-F5316C0E6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99286A-5AB8-3B53-94FA-DA2F8C0BB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36560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148C-6F88-F3BE-2050-3775867B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1DEAD80-01D5-E0AB-0536-C61868B48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3AD691-F942-FD73-FA1D-B460D0AFD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633BEB-06F9-AE7E-840F-EE3FA96DA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8900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7A04-43AB-656B-D16B-5009E151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E0FEFB8-4C79-6823-6FD0-59B6F1820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1BE3A3-170B-B46C-AD00-1B8723CB1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D26E42-37AB-508C-18C9-6C4622856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06246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145D-80C0-E87F-E1E3-4CDDE55F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71AE5C2-A93E-E7D2-FB02-D65BAC9A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8B97F7C-5E58-8343-3A46-BF193B37D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0B705C-5A46-DFC3-AEA6-EE328B5CD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09393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14C3-860D-0216-485A-6BEC8230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CF3D66-8CFF-1969-3246-4CC0924A2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F1C3C06-B873-5843-6D2A-B28BAE941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2280D6-2F99-F2AE-CB62-EFFDED264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4674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66298-3F72-14B7-57FF-839289AB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479A592-F848-CA03-A2E7-99158981F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C3686F1-AC29-BE62-A556-097C1FF2B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08F7FF-4294-876E-2B64-C87E0C552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0936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F515-D59D-D89D-CD05-9E5011A6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A5F2D6-8F63-BEB9-03E5-D39539148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F79C079-6ADF-E6F0-A246-51213CDD1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5346C6-2909-47FF-9D11-6748A7EF4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51597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4215-FBD4-D610-588E-43483147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2181AE-F6D1-75BB-4EC3-54999D701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41E371-6E9E-5E77-C7F8-D30EF024C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83B2BEB-3BF4-C008-8F3A-F827393FD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99231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74D1C-9201-8613-1623-98080CA9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E8EDD6D-7813-BC6A-9FE0-001898975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652CA6-125B-A6F8-D160-CC895DEFE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2216C7-6F52-F70C-2C78-AAEF85379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50653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:a16="http://schemas.microsoft.com/office/drawing/2014/main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2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2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9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44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42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Lab 03:</a:t>
            </a:r>
            <a:br>
              <a:rPr lang="en-US"/>
            </a:br>
            <a:r>
              <a:rPr lang="en-US" sz="4800"/>
              <a:t>From Architectures to SoCs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CE58F5C-6204-1A81-76D8-C072B2EDA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7437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31A4F78-B416-83CB-402C-B98D486A64B7}"/>
              </a:ext>
            </a:extLst>
          </p:cNvPr>
          <p:cNvGrpSpPr/>
          <p:nvPr/>
        </p:nvGrpSpPr>
        <p:grpSpPr>
          <a:xfrm>
            <a:off x="7378217" y="1566729"/>
            <a:ext cx="1600292" cy="1525811"/>
            <a:chOff x="7378217" y="1566729"/>
            <a:chExt cx="1600292" cy="1525811"/>
          </a:xfrm>
        </p:grpSpPr>
        <p:sp>
          <p:nvSpPr>
            <p:cNvPr id="43" name="Rectangular Callout 42">
              <a:extLst>
                <a:ext uri="{FF2B5EF4-FFF2-40B4-BE49-F238E27FC236}">
                  <a16:creationId xmlns:a16="http://schemas.microsoft.com/office/drawing/2014/main" id="{ED8C5740-6ABC-02FE-6467-E9419E0A65A5}"/>
                </a:ext>
              </a:extLst>
            </p:cNvPr>
            <p:cNvSpPr/>
            <p:nvPr/>
          </p:nvSpPr>
          <p:spPr>
            <a:xfrm>
              <a:off x="7378217" y="1566729"/>
              <a:ext cx="1600292" cy="1525811"/>
            </a:xfrm>
            <a:prstGeom prst="wedgeRectCallout">
              <a:avLst>
                <a:gd name="adj1" fmla="val 20613"/>
                <a:gd name="adj2" fmla="val -1438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38" name="Immagine 1" descr="Immagine che contiene testo, schermata, Software multimediale, software&#10;&#10;Descrizione generata automaticamente">
              <a:extLst>
                <a:ext uri="{FF2B5EF4-FFF2-40B4-BE49-F238E27FC236}">
                  <a16:creationId xmlns:a16="http://schemas.microsoft.com/office/drawing/2014/main" id="{E3D7004F-C79A-13BB-61E4-CACDF82F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7527" y="1652468"/>
              <a:ext cx="1321673" cy="13048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Hierarchical Design: From Gates to Architectures to SoCs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72C336-D593-DE82-2F58-874A8E59A6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</a:t>
            </a:fld>
            <a:endParaRPr lang="it-IT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FE95B8-D5A9-942D-AD98-A6054BFA3913}"/>
              </a:ext>
            </a:extLst>
          </p:cNvPr>
          <p:cNvGrpSpPr/>
          <p:nvPr/>
        </p:nvGrpSpPr>
        <p:grpSpPr>
          <a:xfrm>
            <a:off x="5490114" y="1579511"/>
            <a:ext cx="1600292" cy="1525811"/>
            <a:chOff x="5918561" y="1588649"/>
            <a:chExt cx="1773798" cy="1691242"/>
          </a:xfrm>
        </p:grpSpPr>
        <p:sp>
          <p:nvSpPr>
            <p:cNvPr id="36" name="Rectangular Callout 35">
              <a:extLst>
                <a:ext uri="{FF2B5EF4-FFF2-40B4-BE49-F238E27FC236}">
                  <a16:creationId xmlns:a16="http://schemas.microsoft.com/office/drawing/2014/main" id="{92E42EDB-7D47-3D27-F958-818FC21D091E}"/>
                </a:ext>
              </a:extLst>
            </p:cNvPr>
            <p:cNvSpPr/>
            <p:nvPr/>
          </p:nvSpPr>
          <p:spPr>
            <a:xfrm>
              <a:off x="5918561" y="1588649"/>
              <a:ext cx="1773798" cy="1691242"/>
            </a:xfrm>
            <a:prstGeom prst="wedgeRectCallout">
              <a:avLst>
                <a:gd name="adj1" fmla="val 123383"/>
                <a:gd name="adj2" fmla="val -1276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1032" name="Picture 8" descr="Central Processing Unit (CPU) | What Is a Microprocessor ?">
              <a:extLst>
                <a:ext uri="{FF2B5EF4-FFF2-40B4-BE49-F238E27FC236}">
                  <a16:creationId xmlns:a16="http://schemas.microsoft.com/office/drawing/2014/main" id="{2E2E326E-FBEE-1B0F-AE3B-6548080867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67" t="25407" r="20771" b="18149"/>
            <a:stretch/>
          </p:blipFill>
          <p:spPr bwMode="auto">
            <a:xfrm>
              <a:off x="6146417" y="1683994"/>
              <a:ext cx="1278785" cy="1527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0A9B76-33D5-3F3F-AA1E-899DD76FEC26}"/>
              </a:ext>
            </a:extLst>
          </p:cNvPr>
          <p:cNvGrpSpPr/>
          <p:nvPr/>
        </p:nvGrpSpPr>
        <p:grpSpPr>
          <a:xfrm>
            <a:off x="3682721" y="1579511"/>
            <a:ext cx="1600292" cy="1525811"/>
            <a:chOff x="4654125" y="1636775"/>
            <a:chExt cx="1773798" cy="1691242"/>
          </a:xfrm>
        </p:grpSpPr>
        <p:sp>
          <p:nvSpPr>
            <p:cNvPr id="31" name="Rectangular Callout 30">
              <a:extLst>
                <a:ext uri="{FF2B5EF4-FFF2-40B4-BE49-F238E27FC236}">
                  <a16:creationId xmlns:a16="http://schemas.microsoft.com/office/drawing/2014/main" id="{BCA4BFF7-88FC-36E2-70EE-E65584916AB6}"/>
                </a:ext>
              </a:extLst>
            </p:cNvPr>
            <p:cNvSpPr/>
            <p:nvPr/>
          </p:nvSpPr>
          <p:spPr>
            <a:xfrm>
              <a:off x="4654125" y="1636775"/>
              <a:ext cx="1773798" cy="1691242"/>
            </a:xfrm>
            <a:prstGeom prst="wedgeRectCallout">
              <a:avLst>
                <a:gd name="adj1" fmla="val 90819"/>
                <a:gd name="adj2" fmla="val -2421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3BD26C-344F-6FCF-BD09-A6CA3129A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3094" y="1939759"/>
              <a:ext cx="1639461" cy="115865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D81D07-7F19-8135-8E51-95EF16A67F16}"/>
              </a:ext>
            </a:extLst>
          </p:cNvPr>
          <p:cNvGrpSpPr/>
          <p:nvPr/>
        </p:nvGrpSpPr>
        <p:grpSpPr>
          <a:xfrm>
            <a:off x="1875328" y="1588649"/>
            <a:ext cx="1600292" cy="1525811"/>
            <a:chOff x="2728947" y="1636775"/>
            <a:chExt cx="1773798" cy="1691242"/>
          </a:xfrm>
        </p:grpSpPr>
        <p:sp>
          <p:nvSpPr>
            <p:cNvPr id="25" name="Rectangular Callout 24">
              <a:extLst>
                <a:ext uri="{FF2B5EF4-FFF2-40B4-BE49-F238E27FC236}">
                  <a16:creationId xmlns:a16="http://schemas.microsoft.com/office/drawing/2014/main" id="{56993C2C-DED9-6FEE-29F4-550A49691D7D}"/>
                </a:ext>
              </a:extLst>
            </p:cNvPr>
            <p:cNvSpPr/>
            <p:nvPr/>
          </p:nvSpPr>
          <p:spPr>
            <a:xfrm>
              <a:off x="2728947" y="1636775"/>
              <a:ext cx="1773798" cy="1691242"/>
            </a:xfrm>
            <a:prstGeom prst="wedgeRectCallout">
              <a:avLst>
                <a:gd name="adj1" fmla="val 94172"/>
                <a:gd name="adj2" fmla="val -492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54C54E-8EFC-8EF0-138E-74E4C88D4EDF}"/>
                </a:ext>
              </a:extLst>
            </p:cNvPr>
            <p:cNvGrpSpPr/>
            <p:nvPr/>
          </p:nvGrpSpPr>
          <p:grpSpPr>
            <a:xfrm>
              <a:off x="2775551" y="1677600"/>
              <a:ext cx="1560364" cy="1630161"/>
              <a:chOff x="2775551" y="1677600"/>
              <a:chExt cx="1560364" cy="1630161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49731B7-F7F2-C36E-40A7-E617DEF2C0CE}"/>
                  </a:ext>
                </a:extLst>
              </p:cNvPr>
              <p:cNvSpPr/>
              <p:nvPr/>
            </p:nvSpPr>
            <p:spPr>
              <a:xfrm>
                <a:off x="2837145" y="2128537"/>
                <a:ext cx="1434230" cy="70772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81F60A-D938-6876-3EAC-549FD65E9AA0}"/>
                  </a:ext>
                </a:extLst>
              </p:cNvPr>
              <p:cNvSpPr txBox="1"/>
              <p:nvPr/>
            </p:nvSpPr>
            <p:spPr>
              <a:xfrm>
                <a:off x="2793304" y="2999984"/>
                <a:ext cx="720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/>
                  <a:t>A[15:0]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D6550C-16E7-6CB5-B1BA-C5295A2F2877}"/>
                  </a:ext>
                </a:extLst>
              </p:cNvPr>
              <p:cNvSpPr txBox="1"/>
              <p:nvPr/>
            </p:nvSpPr>
            <p:spPr>
              <a:xfrm>
                <a:off x="3615846" y="2999984"/>
                <a:ext cx="720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/>
                  <a:t>B[15:0]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2AB8F4-40A4-76E2-83C8-C021199EC8EB}"/>
                  </a:ext>
                </a:extLst>
              </p:cNvPr>
              <p:cNvSpPr txBox="1"/>
              <p:nvPr/>
            </p:nvSpPr>
            <p:spPr>
              <a:xfrm>
                <a:off x="2775551" y="1677600"/>
                <a:ext cx="9348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/>
                  <a:t>Sum[15:0]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8BD38F-E7B2-3175-AAC6-B0370E7D1F25}"/>
                  </a:ext>
                </a:extLst>
              </p:cNvPr>
              <p:cNvSpPr txBox="1"/>
              <p:nvPr/>
            </p:nvSpPr>
            <p:spPr>
              <a:xfrm>
                <a:off x="3710422" y="1677600"/>
                <a:ext cx="530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/>
                  <a:t>Cout</a:t>
                </a:r>
              </a:p>
            </p:txBody>
          </p:sp>
          <p:sp>
            <p:nvSpPr>
              <p:cNvPr id="16" name="Up Arrow 15">
                <a:extLst>
                  <a:ext uri="{FF2B5EF4-FFF2-40B4-BE49-F238E27FC236}">
                    <a16:creationId xmlns:a16="http://schemas.microsoft.com/office/drawing/2014/main" id="{0E344ED1-72E0-19E3-0D4B-030285C3B635}"/>
                  </a:ext>
                </a:extLst>
              </p:cNvPr>
              <p:cNvSpPr/>
              <p:nvPr/>
            </p:nvSpPr>
            <p:spPr>
              <a:xfrm>
                <a:off x="3140812" y="2861310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18" name="Up Arrow 17">
                <a:extLst>
                  <a:ext uri="{FF2B5EF4-FFF2-40B4-BE49-F238E27FC236}">
                    <a16:creationId xmlns:a16="http://schemas.microsoft.com/office/drawing/2014/main" id="{17A6CB13-25F0-1A8D-E3F3-25E818B7157F}"/>
                  </a:ext>
                </a:extLst>
              </p:cNvPr>
              <p:cNvSpPr/>
              <p:nvPr/>
            </p:nvSpPr>
            <p:spPr>
              <a:xfrm>
                <a:off x="3884288" y="2861310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19" name="Up Arrow 18">
                <a:extLst>
                  <a:ext uri="{FF2B5EF4-FFF2-40B4-BE49-F238E27FC236}">
                    <a16:creationId xmlns:a16="http://schemas.microsoft.com/office/drawing/2014/main" id="{CE1DFC37-20BC-F299-0076-489282D81606}"/>
                  </a:ext>
                </a:extLst>
              </p:cNvPr>
              <p:cNvSpPr/>
              <p:nvPr/>
            </p:nvSpPr>
            <p:spPr>
              <a:xfrm>
                <a:off x="3200666" y="1939759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4E73BAE-D578-BBEB-AF0A-9EAD306CE4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5879" y="1905053"/>
                <a:ext cx="0" cy="1984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066A761-78B3-E898-20A1-809C8820139A}"/>
              </a:ext>
            </a:extLst>
          </p:cNvPr>
          <p:cNvGrpSpPr/>
          <p:nvPr/>
        </p:nvGrpSpPr>
        <p:grpSpPr>
          <a:xfrm>
            <a:off x="67936" y="1588649"/>
            <a:ext cx="1600291" cy="1507536"/>
            <a:chOff x="672953" y="1636775"/>
            <a:chExt cx="1773798" cy="1670986"/>
          </a:xfrm>
        </p:grpSpPr>
        <p:sp>
          <p:nvSpPr>
            <p:cNvPr id="24" name="Rectangular Callout 23">
              <a:extLst>
                <a:ext uri="{FF2B5EF4-FFF2-40B4-BE49-F238E27FC236}">
                  <a16:creationId xmlns:a16="http://schemas.microsoft.com/office/drawing/2014/main" id="{F5B4A6F7-CBF2-4E94-1B35-5CDDE148C464}"/>
                </a:ext>
              </a:extLst>
            </p:cNvPr>
            <p:cNvSpPr/>
            <p:nvPr/>
          </p:nvSpPr>
          <p:spPr>
            <a:xfrm>
              <a:off x="672953" y="1636775"/>
              <a:ext cx="1773798" cy="1670986"/>
            </a:xfrm>
            <a:prstGeom prst="wedgeRectCallout">
              <a:avLst>
                <a:gd name="adj1" fmla="val 86532"/>
                <a:gd name="adj2" fmla="val -4493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41D4B3E3-AE57-B768-43C6-F586D30248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38" y="1964813"/>
              <a:ext cx="1500417" cy="1035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7211C4E-9B43-53F2-891F-45B2DEF7514B}"/>
              </a:ext>
            </a:extLst>
          </p:cNvPr>
          <p:cNvSpPr txBox="1"/>
          <p:nvPr/>
        </p:nvSpPr>
        <p:spPr>
          <a:xfrm>
            <a:off x="468397" y="1237595"/>
            <a:ext cx="718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/>
              <a:t>Gates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6E9275-AEFE-9D16-DE0E-E4DD65C21146}"/>
              </a:ext>
            </a:extLst>
          </p:cNvPr>
          <p:cNvSpPr txBox="1"/>
          <p:nvPr/>
        </p:nvSpPr>
        <p:spPr>
          <a:xfrm>
            <a:off x="1781584" y="1237595"/>
            <a:ext cx="1787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/>
              <a:t>Multi-bit adder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AE9DAC-AAFA-E3AF-ADD6-BEE7CA999709}"/>
              </a:ext>
            </a:extLst>
          </p:cNvPr>
          <p:cNvSpPr txBox="1"/>
          <p:nvPr/>
        </p:nvSpPr>
        <p:spPr>
          <a:xfrm>
            <a:off x="4113252" y="1237595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/>
              <a:t>ALU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CB44AC-9E0C-E862-A557-CB3A6831F677}"/>
              </a:ext>
            </a:extLst>
          </p:cNvPr>
          <p:cNvSpPr txBox="1"/>
          <p:nvPr/>
        </p:nvSpPr>
        <p:spPr>
          <a:xfrm>
            <a:off x="5882279" y="1256149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/>
              <a:t>CPU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BAEB4B-EFB4-F8EE-3D0B-5B30CAE3328B}"/>
              </a:ext>
            </a:extLst>
          </p:cNvPr>
          <p:cNvSpPr txBox="1"/>
          <p:nvPr/>
        </p:nvSpPr>
        <p:spPr>
          <a:xfrm>
            <a:off x="7788111" y="1256149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/>
              <a:t>SoC</a:t>
            </a:r>
          </a:p>
        </p:txBody>
      </p:sp>
      <p:sp>
        <p:nvSpPr>
          <p:cNvPr id="51" name="Right Brace 50">
            <a:extLst>
              <a:ext uri="{FF2B5EF4-FFF2-40B4-BE49-F238E27FC236}">
                <a16:creationId xmlns:a16="http://schemas.microsoft.com/office/drawing/2014/main" id="{13EA9BBD-0D04-3818-CFB2-902A6E7D93F6}"/>
              </a:ext>
            </a:extLst>
          </p:cNvPr>
          <p:cNvSpPr/>
          <p:nvPr/>
        </p:nvSpPr>
        <p:spPr>
          <a:xfrm rot="5400000">
            <a:off x="1581084" y="1739605"/>
            <a:ext cx="394570" cy="3394502"/>
          </a:xfrm>
          <a:prstGeom prst="rightBrace">
            <a:avLst>
              <a:gd name="adj1" fmla="val 1428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BD0D6F-BFD7-4706-A895-5CBA0D25CE54}"/>
              </a:ext>
            </a:extLst>
          </p:cNvPr>
          <p:cNvSpPr txBox="1"/>
          <p:nvPr/>
        </p:nvSpPr>
        <p:spPr>
          <a:xfrm>
            <a:off x="1106550" y="3634141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Seen in lab02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B7F54B-E820-4517-40F2-6C63827787DC}"/>
              </a:ext>
            </a:extLst>
          </p:cNvPr>
          <p:cNvSpPr txBox="1"/>
          <p:nvPr/>
        </p:nvSpPr>
        <p:spPr>
          <a:xfrm>
            <a:off x="5235991" y="3653700"/>
            <a:ext cx="2215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 (at high-level)</a:t>
            </a: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0FFA1D9C-1078-EE30-3689-C7516CF00828}"/>
              </a:ext>
            </a:extLst>
          </p:cNvPr>
          <p:cNvSpPr/>
          <p:nvPr/>
        </p:nvSpPr>
        <p:spPr>
          <a:xfrm rot="5400000">
            <a:off x="6133330" y="893101"/>
            <a:ext cx="394570" cy="5295788"/>
          </a:xfrm>
          <a:prstGeom prst="rightBrace">
            <a:avLst>
              <a:gd name="adj1" fmla="val 14287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110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B402-B0F5-66BF-CD47-BA9017F9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C31F-971D-68F8-5699-C7B03960D8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03 Part </a:t>
            </a:r>
            <a:r>
              <a:rPr lang="it-IT"/>
              <a:t>1</a:t>
            </a:r>
            <a:r>
              <a:rPr lang="en-IT"/>
              <a:t>: Implementation of an </a:t>
            </a:r>
            <a:r>
              <a:rPr lang="it-IT"/>
              <a:t>ALU</a:t>
            </a:r>
            <a:endParaRPr lang="en-IT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4D26BAE-F586-D743-4DB1-A7105A5864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83987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F3B9-42B6-B538-2A34-8FE0BF901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86B8950-D957-AD24-0CE2-FF15D0D0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ALU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FC61122-B5CC-D901-95AE-40796846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51" y="1569455"/>
            <a:ext cx="3920355" cy="2132596"/>
          </a:xfrm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ALU Arithmetic Logic Unit is a component used inside a processor to perform basic logical and arithmetical operations.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4C94E2B-9764-79A2-3101-A7B67C4578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</a:t>
            </a:fld>
            <a:endParaRPr lang="it-IT"/>
          </a:p>
        </p:txBody>
      </p:sp>
      <p:pic>
        <p:nvPicPr>
          <p:cNvPr id="5" name="Immagine 4" descr="Immagine che contiene diagramma, linea, testo, Carattere&#10;&#10;Descrizione generata automaticamente">
            <a:extLst>
              <a:ext uri="{FF2B5EF4-FFF2-40B4-BE49-F238E27FC236}">
                <a16:creationId xmlns:a16="http://schemas.microsoft.com/office/drawing/2014/main" id="{C4EBAE8A-842E-1E47-ACEA-135E926E1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993" y="1165447"/>
            <a:ext cx="4027207" cy="293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8304-89C6-A2FB-9F04-2FE55D78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46EA0A-9D7B-2E85-0408-5B63242C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RTL Design: Input &amp; Output Ports</a:t>
            </a:r>
            <a:endParaRPr lang="it-IT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2D5879-4982-A501-ACAA-CD56187CE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Vectors: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sets of bits with a single name</a:t>
            </a:r>
          </a:p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vector can be interpreted (for example) as an unsigned number. </a:t>
            </a:r>
          </a:p>
          <a:p>
            <a:pPr lvl="2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example above corresponds to A = 83.</a:t>
            </a:r>
          </a:p>
          <a:p>
            <a:pPr algn="just"/>
            <a:endParaRPr lang="en-GB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22BA2EA0-C13C-39F5-E275-F89978D920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5</a:t>
            </a:fld>
            <a:endParaRPr lang="it-IT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887AE3-B299-1682-3657-F942CED764A4}"/>
              </a:ext>
            </a:extLst>
          </p:cNvPr>
          <p:cNvGraphicFramePr>
            <a:graphicFrameLocks noGrp="1"/>
          </p:cNvGraphicFramePr>
          <p:nvPr/>
        </p:nvGraphicFramePr>
        <p:xfrm>
          <a:off x="1483264" y="1429611"/>
          <a:ext cx="6095997" cy="738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572">
                  <a:extLst>
                    <a:ext uri="{9D8B030D-6E8A-4147-A177-3AD203B41FA5}">
                      <a16:colId xmlns:a16="http://schemas.microsoft.com/office/drawing/2014/main" val="1721417574"/>
                    </a:ext>
                  </a:extLst>
                </a:gridCol>
                <a:gridCol w="483094">
                  <a:extLst>
                    <a:ext uri="{9D8B030D-6E8A-4147-A177-3AD203B41FA5}">
                      <a16:colId xmlns:a16="http://schemas.microsoft.com/office/drawing/2014/main" val="34936993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1130676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8600595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633105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926756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59105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159417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308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T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743371"/>
                  </a:ext>
                </a:extLst>
              </a:tr>
              <a:tr h="367633">
                <a:tc>
                  <a:txBody>
                    <a:bodyPr/>
                    <a:lstStyle/>
                    <a:p>
                      <a:r>
                        <a:rPr lang="en-IT"/>
                        <a:t>Bit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1436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CEB779-EFCF-B6A8-1D0C-4B103750983D}"/>
              </a:ext>
            </a:extLst>
          </p:cNvPr>
          <p:cNvSpPr txBox="1"/>
          <p:nvPr/>
        </p:nvSpPr>
        <p:spPr>
          <a:xfrm>
            <a:off x="4346532" y="12964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1336837-6323-3621-7739-D061A05EE108}"/>
              </a:ext>
            </a:extLst>
          </p:cNvPr>
          <p:cNvSpPr/>
          <p:nvPr/>
        </p:nvSpPr>
        <p:spPr>
          <a:xfrm rot="5400000">
            <a:off x="4787623" y="-95819"/>
            <a:ext cx="394570" cy="5188709"/>
          </a:xfrm>
          <a:prstGeom prst="rightBrace">
            <a:avLst>
              <a:gd name="adj1" fmla="val 1428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0DB1C-4CE3-FD0E-6058-D5D7781954F5}"/>
              </a:ext>
            </a:extLst>
          </p:cNvPr>
          <p:cNvSpPr txBox="1"/>
          <p:nvPr/>
        </p:nvSpPr>
        <p:spPr>
          <a:xfrm>
            <a:off x="4822844" y="267961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5D80DF-DD46-78EA-FCD8-B049C0FB1FF4}"/>
              </a:ext>
            </a:extLst>
          </p:cNvPr>
          <p:cNvSpPr txBox="1"/>
          <p:nvPr/>
        </p:nvSpPr>
        <p:spPr>
          <a:xfrm>
            <a:off x="7047279" y="2746279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accent3"/>
                </a:solidFill>
              </a:rPr>
              <a:t>A[0] =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A2C7D-BC6A-243F-1BB6-87F0CCE4DDB9}"/>
              </a:ext>
            </a:extLst>
          </p:cNvPr>
          <p:cNvSpPr txBox="1"/>
          <p:nvPr/>
        </p:nvSpPr>
        <p:spPr>
          <a:xfrm>
            <a:off x="5948099" y="2746279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accent3"/>
                </a:solidFill>
              </a:rPr>
              <a:t>A[1] =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DFFDDB-779A-5FBD-2440-12DC70E793A6}"/>
              </a:ext>
            </a:extLst>
          </p:cNvPr>
          <p:cNvSpPr txBox="1"/>
          <p:nvPr/>
        </p:nvSpPr>
        <p:spPr>
          <a:xfrm>
            <a:off x="3484053" y="2695821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accent3"/>
                </a:solidFill>
              </a:rPr>
              <a:t>A[5] = 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96BE23-AE79-2297-E231-09D2ECD3E4FC}"/>
              </a:ext>
            </a:extLst>
          </p:cNvPr>
          <p:cNvCxnSpPr>
            <a:stCxn id="13" idx="0"/>
          </p:cNvCxnSpPr>
          <p:nvPr/>
        </p:nvCxnSpPr>
        <p:spPr>
          <a:xfrm flipH="1" flipV="1">
            <a:off x="3870542" y="2050001"/>
            <a:ext cx="78543" cy="64582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B80601-FDFE-AB46-EE88-E414F1D68755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6413131" y="2091584"/>
            <a:ext cx="50029" cy="65469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2C94C2-8FAF-EB37-B765-A4B6DFC107A6}"/>
              </a:ext>
            </a:extLst>
          </p:cNvPr>
          <p:cNvCxnSpPr>
            <a:cxnSpLocks/>
          </p:cNvCxnSpPr>
          <p:nvPr/>
        </p:nvCxnSpPr>
        <p:spPr>
          <a:xfrm flipH="1" flipV="1">
            <a:off x="7229785" y="2110593"/>
            <a:ext cx="96854" cy="63568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63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5168-75F2-CA50-757E-2514770D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DD66E9D-E142-D11E-0EF1-C8D121448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066" y="858270"/>
            <a:ext cx="4099183" cy="355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29B30B2-7542-62B1-0424-6C5A27E7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ALU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E98FB44-226D-98FB-80C8-92FE4274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0" y="1794818"/>
            <a:ext cx="2925099" cy="1206408"/>
          </a:xfrm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your own ALU and test it with a testbench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6C5191-F3F0-94E0-6F0F-A28FB64325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6</a:t>
            </a:fld>
            <a:endParaRPr lang="it-I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E1B02-072A-37AA-3AF5-940C882554C3}"/>
              </a:ext>
            </a:extLst>
          </p:cNvPr>
          <p:cNvSpPr txBox="1"/>
          <p:nvPr/>
        </p:nvSpPr>
        <p:spPr>
          <a:xfrm>
            <a:off x="7219190" y="2006720"/>
            <a:ext cx="156046" cy="161583"/>
          </a:xfrm>
          <a:prstGeom prst="rect">
            <a:avLst/>
          </a:prstGeom>
          <a:solidFill>
            <a:srgbClr val="B1DE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T" sz="1050">
                <a:solidFill>
                  <a:srgbClr val="00295D"/>
                </a:solidFill>
              </a:rPr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A38AA-20C9-2B40-887B-7CD2E2E37C73}"/>
              </a:ext>
            </a:extLst>
          </p:cNvPr>
          <p:cNvSpPr txBox="1"/>
          <p:nvPr/>
        </p:nvSpPr>
        <p:spPr>
          <a:xfrm>
            <a:off x="7219190" y="2326637"/>
            <a:ext cx="156046" cy="161583"/>
          </a:xfrm>
          <a:prstGeom prst="rect">
            <a:avLst/>
          </a:prstGeom>
          <a:solidFill>
            <a:srgbClr val="B1DE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T" sz="1050">
                <a:solidFill>
                  <a:srgbClr val="00295D"/>
                </a:solidFill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68B88-94ED-5CDB-42C9-1DC1DBE9E13E}"/>
              </a:ext>
            </a:extLst>
          </p:cNvPr>
          <p:cNvSpPr txBox="1"/>
          <p:nvPr/>
        </p:nvSpPr>
        <p:spPr>
          <a:xfrm>
            <a:off x="7219190" y="2775863"/>
            <a:ext cx="156046" cy="161583"/>
          </a:xfrm>
          <a:prstGeom prst="rect">
            <a:avLst/>
          </a:prstGeom>
          <a:solidFill>
            <a:srgbClr val="B1DE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T" sz="1050">
                <a:solidFill>
                  <a:srgbClr val="00295D"/>
                </a:solidFill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E6121-20C4-0BD3-DD68-EA9B1C7A3203}"/>
              </a:ext>
            </a:extLst>
          </p:cNvPr>
          <p:cNvSpPr txBox="1"/>
          <p:nvPr/>
        </p:nvSpPr>
        <p:spPr>
          <a:xfrm>
            <a:off x="7219190" y="3086544"/>
            <a:ext cx="156046" cy="161583"/>
          </a:xfrm>
          <a:prstGeom prst="rect">
            <a:avLst/>
          </a:prstGeom>
          <a:solidFill>
            <a:srgbClr val="B1DE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T" sz="1050">
                <a:solidFill>
                  <a:srgbClr val="00295D"/>
                </a:solidFill>
              </a:rPr>
              <a:t>11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D90B63-FD35-56DD-2F7B-03E0299ABFF4}"/>
              </a:ext>
            </a:extLst>
          </p:cNvPr>
          <p:cNvGrpSpPr/>
          <p:nvPr/>
        </p:nvGrpSpPr>
        <p:grpSpPr>
          <a:xfrm>
            <a:off x="4042735" y="743751"/>
            <a:ext cx="5421102" cy="3784004"/>
            <a:chOff x="4042735" y="743751"/>
            <a:chExt cx="5421102" cy="378400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06D1B6B-6DCF-8774-80D5-310E8A836965}"/>
                </a:ext>
              </a:extLst>
            </p:cNvPr>
            <p:cNvSpPr/>
            <p:nvPr/>
          </p:nvSpPr>
          <p:spPr>
            <a:xfrm>
              <a:off x="6943251" y="4048269"/>
              <a:ext cx="707923" cy="47948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A2B242-0F3D-1814-8FDF-9E93F7AFA049}"/>
                </a:ext>
              </a:extLst>
            </p:cNvPr>
            <p:cNvSpPr txBox="1"/>
            <p:nvPr/>
          </p:nvSpPr>
          <p:spPr>
            <a:xfrm>
              <a:off x="7751955" y="4103346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2-bit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C5A4B1-88B9-D877-EBEB-D7930FC504EB}"/>
                </a:ext>
              </a:extLst>
            </p:cNvPr>
            <p:cNvSpPr/>
            <p:nvPr/>
          </p:nvSpPr>
          <p:spPr>
            <a:xfrm>
              <a:off x="4042735" y="989801"/>
              <a:ext cx="707923" cy="47948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B8A5EB-41BE-47BC-55DA-354A803EFDE1}"/>
                </a:ext>
              </a:extLst>
            </p:cNvPr>
            <p:cNvSpPr txBox="1"/>
            <p:nvPr/>
          </p:nvSpPr>
          <p:spPr>
            <a:xfrm>
              <a:off x="4557072" y="743751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16-bit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0F7087-F997-66D3-699E-C1F972D48A5A}"/>
                </a:ext>
              </a:extLst>
            </p:cNvPr>
            <p:cNvSpPr/>
            <p:nvPr/>
          </p:nvSpPr>
          <p:spPr>
            <a:xfrm>
              <a:off x="4042735" y="1928560"/>
              <a:ext cx="707923" cy="47948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4EB960-A1FD-9E48-488F-DAE2E48A1AC1}"/>
                </a:ext>
              </a:extLst>
            </p:cNvPr>
            <p:cNvSpPr txBox="1"/>
            <p:nvPr/>
          </p:nvSpPr>
          <p:spPr>
            <a:xfrm>
              <a:off x="4557072" y="1662614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16-bit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E94E34-27C5-2183-E760-12B1A517D1F2}"/>
                </a:ext>
              </a:extLst>
            </p:cNvPr>
            <p:cNvSpPr/>
            <p:nvPr/>
          </p:nvSpPr>
          <p:spPr>
            <a:xfrm>
              <a:off x="7859815" y="2398022"/>
              <a:ext cx="707923" cy="47948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FAEE409-5608-AFF6-AB3B-09111AD66541}"/>
                </a:ext>
              </a:extLst>
            </p:cNvPr>
            <p:cNvSpPr txBox="1"/>
            <p:nvPr/>
          </p:nvSpPr>
          <p:spPr>
            <a:xfrm>
              <a:off x="8374152" y="2132076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16-bit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C010CA2-6F53-FA95-A66D-8D206AB1ADC0}"/>
                </a:ext>
              </a:extLst>
            </p:cNvPr>
            <p:cNvSpPr/>
            <p:nvPr/>
          </p:nvSpPr>
          <p:spPr>
            <a:xfrm>
              <a:off x="7735326" y="1076504"/>
              <a:ext cx="707923" cy="29884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AEE5CB-8BA3-8AC2-220C-33F7AB2DC25A}"/>
                </a:ext>
              </a:extLst>
            </p:cNvPr>
            <p:cNvSpPr txBox="1"/>
            <p:nvPr/>
          </p:nvSpPr>
          <p:spPr>
            <a:xfrm>
              <a:off x="8280438" y="786485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1-bit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B86060F-D0AA-492F-44D7-8BC8383E66C8}"/>
                </a:ext>
              </a:extLst>
            </p:cNvPr>
            <p:cNvSpPr/>
            <p:nvPr/>
          </p:nvSpPr>
          <p:spPr>
            <a:xfrm>
              <a:off x="7786945" y="1397742"/>
              <a:ext cx="707923" cy="29884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37D979-0DEA-A0B8-5715-C289B78454F2}"/>
                </a:ext>
              </a:extLst>
            </p:cNvPr>
            <p:cNvSpPr txBox="1"/>
            <p:nvPr/>
          </p:nvSpPr>
          <p:spPr>
            <a:xfrm>
              <a:off x="8376592" y="1203767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1-bit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230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28FB-2C89-3226-2AAD-93BF50C3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D1A2E159-5E6C-5350-0475-FF6734CC3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92" y="2115413"/>
            <a:ext cx="2400508" cy="1754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6B3266E2-D7CD-54E7-645A-60F96525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RTL Design of an Adder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380759-D65D-4502-D565-4204ACF5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for the 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Lab03b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create a new block design: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INTEGRATOR → Create Block Design, on the left Flow Navigator bar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“Create Block Design”  window 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appear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name”: alu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“OK”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94CDFE5B-2993-E880-7BD0-BFFF5E95C3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7</a:t>
            </a:fld>
            <a:endParaRPr lang="it-IT"/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FC8944EC-8F8C-1DA5-2571-9786AD5296CF}"/>
              </a:ext>
            </a:extLst>
          </p:cNvPr>
          <p:cNvGrpSpPr/>
          <p:nvPr/>
        </p:nvGrpSpPr>
        <p:grpSpPr>
          <a:xfrm>
            <a:off x="4417651" y="1803963"/>
            <a:ext cx="1875494" cy="2286198"/>
            <a:chOff x="6435866" y="1851268"/>
            <a:chExt cx="2500658" cy="3048264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F55419A5-AFED-9958-17C0-6B358AEC2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015" y="1851268"/>
              <a:ext cx="2179509" cy="30482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0DC71BD0-227D-CEBC-4547-7F0C5D540B90}"/>
                </a:ext>
              </a:extLst>
            </p:cNvPr>
            <p:cNvSpPr/>
            <p:nvPr/>
          </p:nvSpPr>
          <p:spPr>
            <a:xfrm>
              <a:off x="6757015" y="3629278"/>
              <a:ext cx="1616241" cy="738785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95CE7476-E090-63F4-2CED-2321073FEAC6}"/>
                </a:ext>
              </a:extLst>
            </p:cNvPr>
            <p:cNvSpPr txBox="1"/>
            <p:nvPr/>
          </p:nvSpPr>
          <p:spPr>
            <a:xfrm>
              <a:off x="6435866" y="3814004"/>
              <a:ext cx="44823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</p:grp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9C75C5EF-F111-328E-BF81-80987960373C}"/>
              </a:ext>
            </a:extLst>
          </p:cNvPr>
          <p:cNvSpPr/>
          <p:nvPr/>
        </p:nvSpPr>
        <p:spPr>
          <a:xfrm>
            <a:off x="6522546" y="2773535"/>
            <a:ext cx="2281562" cy="32486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725280-C798-BAEB-47AA-763A5B5E397A}"/>
              </a:ext>
            </a:extLst>
          </p:cNvPr>
          <p:cNvSpPr txBox="1"/>
          <p:nvPr/>
        </p:nvSpPr>
        <p:spPr>
          <a:xfrm>
            <a:off x="6242249" y="2808562"/>
            <a:ext cx="3361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9A1545F3-09BB-341E-BEA2-BC5183994BF1}"/>
              </a:ext>
            </a:extLst>
          </p:cNvPr>
          <p:cNvSpPr/>
          <p:nvPr/>
        </p:nvSpPr>
        <p:spPr>
          <a:xfrm>
            <a:off x="7590170" y="3524483"/>
            <a:ext cx="346532" cy="175763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02AB8C7-7391-A3CF-F032-13C72AD88463}"/>
              </a:ext>
            </a:extLst>
          </p:cNvPr>
          <p:cNvSpPr txBox="1"/>
          <p:nvPr/>
        </p:nvSpPr>
        <p:spPr>
          <a:xfrm>
            <a:off x="7281735" y="3477431"/>
            <a:ext cx="3306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412819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558A-A09B-37F1-5ADB-5A2725766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BC0F22-8F9C-CE21-14D4-F2EF798F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RTL Design of an Adder</a:t>
            </a:r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B0938E-737A-55AC-16DF-56143ABB8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305800" cy="3927873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has been created, and now we can implement the architecture of the adder:</a:t>
            </a:r>
            <a:endParaRPr lang="en-GB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8662" lvl="1" indent="-457200">
              <a:buFont typeface="+mj-lt"/>
              <a:buAutoNum type="arabicPeriod"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ports:</a:t>
            </a:r>
          </a:p>
          <a:p>
            <a:pPr lvl="3"/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two arrays of 16 bits [15:0]</a:t>
            </a:r>
          </a:p>
          <a:p>
            <a:pPr lvl="3"/>
            <a:r>
              <a:rPr lang="en-GB" sz="16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 array of 2 bits [1:0]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ports:</a:t>
            </a:r>
          </a:p>
          <a:p>
            <a:pPr lvl="3"/>
            <a:r>
              <a:rPr lang="en-GB" sz="16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data_out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 array of 16 bits [15:0]</a:t>
            </a:r>
          </a:p>
          <a:p>
            <a:pPr lvl="3"/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borrow</a:t>
            </a: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two single wires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the “ALU” block and test it</a:t>
            </a:r>
          </a:p>
          <a:p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at the examples seen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LAB</a:t>
            </a:r>
            <a:r>
              <a:rPr lang="en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try to do the same steps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endParaRPr lang="en-GB" sz="2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D57ECD97-7400-2E1D-D441-37D79B0055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8</a:t>
            </a:fld>
            <a:endParaRPr lang="it-IT"/>
          </a:p>
        </p:txBody>
      </p:sp>
      <p:pic>
        <p:nvPicPr>
          <p:cNvPr id="14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6BE2C0DA-2562-D84E-3CA6-9EB6F1863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26" y="2719234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167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3018-3A8F-DA2B-4B72-0787BBA9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4C661B-BD6C-F940-CC9A-B5A1D427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RTL Design of an Adder</a:t>
            </a:r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22FFFB-EC50-E9CC-E5A8-F6B54F761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305800" cy="3927873"/>
          </a:xfrm>
        </p:spPr>
        <p:txBody>
          <a:bodyPr>
            <a:normAutofit/>
          </a:bodyPr>
          <a:lstStyle/>
          <a:p>
            <a:r>
              <a:rPr lang="en-GB" b="1"/>
              <a:t>Our project has been created, and now we can implement the architecture of the adder: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Input ports:</a:t>
            </a:r>
          </a:p>
          <a:p>
            <a:pPr lvl="3"/>
            <a:r>
              <a:rPr lang="en-GB" sz="1600">
                <a:solidFill>
                  <a:schemeClr val="accent2"/>
                </a:solidFill>
              </a:rPr>
              <a:t>A &amp; B, two arrays of 16 bits [15:0]</a:t>
            </a:r>
          </a:p>
          <a:p>
            <a:pPr lvl="3"/>
            <a:r>
              <a:rPr lang="en-GB" sz="1600" err="1">
                <a:solidFill>
                  <a:schemeClr val="accent2"/>
                </a:solidFill>
              </a:rPr>
              <a:t>sel</a:t>
            </a:r>
            <a:r>
              <a:rPr lang="en-GB" sz="1600">
                <a:solidFill>
                  <a:schemeClr val="accent2"/>
                </a:solidFill>
              </a:rPr>
              <a:t>, an array of 2 bits [1:0]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Output ports:</a:t>
            </a:r>
          </a:p>
          <a:p>
            <a:pPr lvl="3"/>
            <a:r>
              <a:rPr lang="en-GB" sz="1600" err="1">
                <a:solidFill>
                  <a:schemeClr val="accent2"/>
                </a:solidFill>
              </a:rPr>
              <a:t>data_out</a:t>
            </a:r>
            <a:r>
              <a:rPr lang="en-GB" sz="1600">
                <a:solidFill>
                  <a:schemeClr val="accent2"/>
                </a:solidFill>
              </a:rPr>
              <a:t>, an array of 16 bits [15:0]</a:t>
            </a:r>
          </a:p>
          <a:p>
            <a:pPr lvl="3"/>
            <a:r>
              <a:rPr lang="en-GB" sz="1600" b="1" err="1">
                <a:solidFill>
                  <a:schemeClr val="accent2"/>
                </a:solidFill>
              </a:rPr>
              <a:t>Cout</a:t>
            </a:r>
            <a:r>
              <a:rPr lang="en-GB" sz="1600">
                <a:solidFill>
                  <a:schemeClr val="accent2"/>
                </a:solidFill>
              </a:rPr>
              <a:t> and </a:t>
            </a:r>
            <a:r>
              <a:rPr lang="en-GB" sz="1600" b="1">
                <a:solidFill>
                  <a:schemeClr val="accent2"/>
                </a:solidFill>
              </a:rPr>
              <a:t>borrow</a:t>
            </a:r>
            <a:r>
              <a:rPr lang="en-GB" sz="1600">
                <a:solidFill>
                  <a:schemeClr val="accent2"/>
                </a:solidFill>
              </a:rPr>
              <a:t>, two single wires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Create the “ALU” block and test it</a:t>
            </a:r>
          </a:p>
          <a:p>
            <a:r>
              <a:rPr lang="en-IT" sz="2400" b="1"/>
              <a:t>Look at the examples seen in </a:t>
            </a:r>
            <a:r>
              <a:rPr lang="en-US" sz="2400" b="1"/>
              <a:t>the previous </a:t>
            </a:r>
          </a:p>
          <a:p>
            <a:pPr marL="0" indent="0">
              <a:buNone/>
            </a:pPr>
            <a:r>
              <a:rPr lang="en-US" sz="2400" b="1"/>
              <a:t>	LAB</a:t>
            </a:r>
            <a:r>
              <a:rPr lang="en-IT" sz="2400" b="1"/>
              <a:t>, and try to do the same steps</a:t>
            </a:r>
            <a:r>
              <a:rPr lang="en-US" sz="2400" b="1"/>
              <a:t>… </a:t>
            </a:r>
            <a:endParaRPr lang="en-GB" sz="2200" b="1">
              <a:solidFill>
                <a:schemeClr val="accent2"/>
              </a:solidFill>
            </a:endParaRPr>
          </a:p>
          <a:p>
            <a:endParaRPr lang="en-IT"/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17ECB4B1-7832-1C50-20D3-A02A0DCA54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9</a:t>
            </a:fld>
            <a:endParaRPr lang="it-IT"/>
          </a:p>
        </p:txBody>
      </p:sp>
      <p:pic>
        <p:nvPicPr>
          <p:cNvPr id="14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56590946-78F6-5F46-B82D-B708DEF2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26" y="2719234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magine 6" descr="Immagine che contiene testo, schermata, diagramma, numero&#10;&#10;Descrizione generata automaticamente">
            <a:extLst>
              <a:ext uri="{FF2B5EF4-FFF2-40B4-BE49-F238E27FC236}">
                <a16:creationId xmlns:a16="http://schemas.microsoft.com/office/drawing/2014/main" id="{3AA4A7C2-E3A6-38EA-189C-CB63981F4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566248"/>
            <a:ext cx="7645400" cy="4232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999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0633-38E2-14D1-2C9A-74199F0B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12E5330-A4C8-58FD-7442-7FE3C825C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Verify the Design (Simulation)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72CFC45-86BD-5783-4F99-922825565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the design and verify its correctness</a:t>
            </a:r>
          </a:p>
          <a:p>
            <a:pPr lvl="1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Left-click on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Simulation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Flow Navigator</a:t>
            </a:r>
          </a:p>
          <a:p>
            <a:pPr lvl="1"/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GB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Simulation</a:t>
            </a:r>
          </a:p>
          <a:p>
            <a:pPr lvl="1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waveforms…</a:t>
            </a:r>
          </a:p>
          <a:p>
            <a:pPr lvl="1"/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FA659725-5E5C-2F29-5224-3D6C53FD3C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10</a:t>
            </a:fld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9F526C1-1B6B-3C29-1383-BCD2D5E9A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767" y="1577627"/>
            <a:ext cx="5069433" cy="2799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3245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CE78-E2AF-EEC2-C868-516A87A8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95A2397-0F6A-5B9D-BFE9-D06E2E6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Verify the Design (Simulation)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06CA275-A118-ACF9-3E84-AB3CCCACC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provided testbench finds the value of the expression: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(7+2)*3-5 </a:t>
            </a:r>
          </a:p>
          <a:p>
            <a:endParaRPr 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it in the following way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A=7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B=2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Sel=00 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 </a:t>
            </a:r>
            <a:r>
              <a:rPr lang="en-GB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data_out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= </a:t>
            </a:r>
            <a:r>
              <a:rPr lang="en-GB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7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+ 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2</a:t>
            </a:r>
            <a:endParaRPr lang="en-GB" b="1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A=&lt;</a:t>
            </a:r>
            <a:r>
              <a:rPr lang="en-GB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previous_result</a:t>
            </a:r>
            <a:r>
              <a:rPr lang="en-GB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B=3, </a:t>
            </a:r>
            <a:r>
              <a:rPr lang="en-GB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Sel=10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 </a:t>
            </a:r>
            <a:r>
              <a:rPr lang="en-GB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data_out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= </a:t>
            </a:r>
            <a:r>
              <a:rPr lang="en-GB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(7+2) </a:t>
            </a:r>
            <a:r>
              <a:rPr lang="en-GB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*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A=&lt;</a:t>
            </a:r>
            <a:r>
              <a:rPr lang="en-GB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previous_result</a:t>
            </a:r>
            <a:r>
              <a:rPr lang="en-GB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B=5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Sel=01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 </a:t>
            </a:r>
            <a:r>
              <a:rPr lang="en-GB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data_out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= </a:t>
            </a:r>
            <a:r>
              <a:rPr lang="en-GB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(7+2)*3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GB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-</a:t>
            </a:r>
            <a:r>
              <a:rPr lang="en-GB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GB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5</a:t>
            </a:r>
          </a:p>
          <a:p>
            <a:endParaRPr lang="en-GB" b="1" dirty="0">
              <a:solidFill>
                <a:schemeClr val="tx2"/>
              </a:solidFill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it also tests the Logic AND operation…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how the sequence of Sel values determines the sequence of operations performed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This is a (super-simplified) form of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computer program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!!!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“complete” computer, values of A, B, data_out and Sel would be stored in some type of memory</a:t>
            </a: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8A9CF14E-83E7-C2ED-E422-4FA2CAE15D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9552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470D-D8AB-007B-9D5E-72BB05B95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C2F4-9803-7948-8A46-965EAF76EB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03 Part </a:t>
            </a:r>
            <a:r>
              <a:rPr lang="it-IT"/>
              <a:t>2</a:t>
            </a:r>
            <a:r>
              <a:rPr lang="en-IT"/>
              <a:t>: </a:t>
            </a:r>
            <a:r>
              <a:rPr lang="it-IT" err="1"/>
              <a:t>Implementation</a:t>
            </a:r>
            <a:r>
              <a:rPr lang="it-IT"/>
              <a:t> Trade-</a:t>
            </a:r>
            <a:r>
              <a:rPr lang="it-IT" err="1"/>
              <a:t>offs</a:t>
            </a:r>
            <a:r>
              <a:rPr lang="it-IT"/>
              <a:t> (ALU </a:t>
            </a:r>
            <a:r>
              <a:rPr lang="it-IT" err="1"/>
              <a:t>Example</a:t>
            </a:r>
            <a:r>
              <a:rPr lang="it-IT"/>
              <a:t>)</a:t>
            </a:r>
            <a:endParaRPr lang="en-IT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605894B3-9EE4-706C-DDFC-FE6FAF29E4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160183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41C9F-56FA-13EE-2772-47616974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3101A9D-E5DE-A3F6-CB6B-54F378285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The Impact of Design </a:t>
            </a:r>
            <a:r>
              <a:rPr lang="it-IT" err="1"/>
              <a:t>Choices</a:t>
            </a:r>
            <a:endParaRPr lang="en-IT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83A89F8-A430-5E5D-4302-CBEC3B31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176" y="1284918"/>
            <a:ext cx="3901440" cy="284715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implementations can lead to the same functionality but, with various performance, area, cost, and power consumption.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sz="4400" dirty="0">
                <a:solidFill>
                  <a:schemeClr val="accent6">
                    <a:lumMod val="75000"/>
                  </a:schemeClr>
                </a:solidFill>
              </a:rPr>
              <a:t>Design Space Exploration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74E881D-AFA0-08BC-CD7A-84D309CAB2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13</a:t>
            </a:fld>
            <a:endParaRPr lang="it-IT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606F5B78-C5B6-3382-EDAB-CDDBB2224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616" y="675474"/>
            <a:ext cx="875270" cy="872354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42FEAB8-EBF8-BE08-CD6B-3BC655A3D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55" y="1284918"/>
            <a:ext cx="3456121" cy="277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01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5E78-2858-07F2-2CD7-2BE973C5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08D554-B0E1-53FD-E9AB-4383AF17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Example</a:t>
            </a:r>
            <a:r>
              <a:rPr lang="it-IT"/>
              <a:t>: </a:t>
            </a:r>
            <a:r>
              <a:rPr lang="it-IT" err="1"/>
              <a:t>Adder</a:t>
            </a:r>
            <a:r>
              <a:rPr lang="it-IT"/>
              <a:t> </a:t>
            </a:r>
            <a:r>
              <a:rPr lang="it-IT" err="1"/>
              <a:t>Architectures</a:t>
            </a:r>
            <a:endParaRPr lang="en-IT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8B9112D2-48FD-4B7C-7D9F-111A8FC5A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778" y="946602"/>
            <a:ext cx="3615442" cy="9023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Ripple Carry Adder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(seen in lab2) is </a:t>
            </a:r>
            <a:r>
              <a:rPr lang="en-GB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1E8C41-51A8-1C1D-9726-14C5691289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14</a:t>
            </a:fld>
            <a:endParaRPr lang="it-IT"/>
          </a:p>
        </p:txBody>
      </p:sp>
      <p:pic>
        <p:nvPicPr>
          <p:cNvPr id="11" name="Immagine 10" descr="Immagine che contiene testo, diagramma, Piano, Disegno tecnico&#10;&#10;Descrizione generata automaticamente">
            <a:extLst>
              <a:ext uri="{FF2B5EF4-FFF2-40B4-BE49-F238E27FC236}">
                <a16:creationId xmlns:a16="http://schemas.microsoft.com/office/drawing/2014/main" id="{C832169D-19A8-6AC3-2AE7-749EB6D596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22518"/>
          <a:stretch/>
        </p:blipFill>
        <p:spPr>
          <a:xfrm>
            <a:off x="444478" y="2117491"/>
            <a:ext cx="3716043" cy="1585829"/>
          </a:xfrm>
          <a:prstGeom prst="rect">
            <a:avLst/>
          </a:prstGeom>
        </p:spPr>
      </p:pic>
      <p:pic>
        <p:nvPicPr>
          <p:cNvPr id="13" name="Immagine 12" descr="Immagine che contiene diagramma, Piano, Disegno tecnico, schematico&#10;&#10;Descrizione generata automaticamente">
            <a:extLst>
              <a:ext uri="{FF2B5EF4-FFF2-40B4-BE49-F238E27FC236}">
                <a16:creationId xmlns:a16="http://schemas.microsoft.com/office/drawing/2014/main" id="{4F843B2D-880B-640F-A910-2BD8E9E73E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481" y="1968701"/>
            <a:ext cx="3591422" cy="2228197"/>
          </a:xfrm>
          <a:prstGeom prst="rect">
            <a:avLst/>
          </a:prstGeom>
        </p:spPr>
      </p:pic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DDFA8E3-6EAF-64A1-C9CB-580C5F57358D}"/>
              </a:ext>
            </a:extLst>
          </p:cNvPr>
          <p:cNvSpPr txBox="1">
            <a:spLocks/>
          </p:cNvSpPr>
          <p:nvPr/>
        </p:nvSpPr>
        <p:spPr>
          <a:xfrm>
            <a:off x="4841310" y="946602"/>
            <a:ext cx="3875764" cy="902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 Look-Ahead Adder: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</a:p>
        </p:txBody>
      </p:sp>
    </p:spTree>
    <p:extLst>
      <p:ext uri="{BB962C8B-B14F-4D97-AF65-F5344CB8AC3E}">
        <p14:creationId xmlns:p14="http://schemas.microsoft.com/office/powerpoint/2010/main" val="290305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ADAB-5EF3-28C3-91B4-BDCE3950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The Clock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8B97F-3805-5C93-6C82-0EE8DD343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block of combinational logic, like an adder, the EDA tool will try to make sure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changes in the input bits propagate to the output before the end of the clock period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shorter clock period requires a faster circuit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Which means possibly larger and consuming more power.</a:t>
            </a:r>
            <a:endParaRPr lang="en-IT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545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F6DE-F882-06E0-644B-F8D7C878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5E3B-62AE-9631-6AB1-A88AC4F9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Adding Memory Elements to our 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1D394-E610-85A1-51FC-AD08AF0D1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explore implementation tradeoffs by </a:t>
            </a: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some registers at the input and output of our ALU</a:t>
            </a:r>
          </a:p>
          <a:p>
            <a:pPr algn="just"/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your Block Design:</a:t>
            </a:r>
          </a:p>
          <a:p>
            <a:pPr marL="457200" indent="-457200" algn="just">
              <a:buFont typeface="+mj-lt"/>
              <a:buAutoNum type="arabicPeriod"/>
            </a:pP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two </a:t>
            </a: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type “register” </a:t>
            </a: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ports A and B,  and the inputs of the adder/subtractor/multiplier/AND blocks.</a:t>
            </a:r>
          </a:p>
          <a:p>
            <a:pPr marL="457200" indent="-457200">
              <a:buFont typeface="+mj-lt"/>
              <a:buAutoNum type="arabicPeriod"/>
            </a:pPr>
            <a:endParaRPr lang="en-IT" dirty="0"/>
          </a:p>
          <a:p>
            <a:pPr marL="0" indent="0">
              <a:buNone/>
            </a:pPr>
            <a:endParaRPr lang="en-IT" dirty="0"/>
          </a:p>
          <a:p>
            <a:pPr marL="457200" indent="-457200">
              <a:buFont typeface="+mj-lt"/>
              <a:buAutoNum type="arabicPeriod"/>
            </a:pPr>
            <a:endParaRPr lang="en-IT" dirty="0"/>
          </a:p>
          <a:p>
            <a:pPr marL="457200" indent="-457200">
              <a:buFont typeface="+mj-lt"/>
              <a:buAutoNum type="arabicPeriod"/>
            </a:pPr>
            <a:endParaRPr lang="en-IT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BB682C-86B0-C41D-14C7-CB7E78F1B46E}"/>
              </a:ext>
            </a:extLst>
          </p:cNvPr>
          <p:cNvGrpSpPr/>
          <p:nvPr/>
        </p:nvGrpSpPr>
        <p:grpSpPr>
          <a:xfrm>
            <a:off x="1301419" y="3331502"/>
            <a:ext cx="6541163" cy="1145248"/>
            <a:chOff x="1926809" y="3331502"/>
            <a:chExt cx="6541163" cy="11452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244F1BA-4D1F-7BE4-C9D2-3947A6087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5785" y="3331502"/>
              <a:ext cx="2629397" cy="114524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CD208F-1ECA-3558-3FC6-2822CBB4D60E}"/>
                </a:ext>
              </a:extLst>
            </p:cNvPr>
            <p:cNvSpPr txBox="1"/>
            <p:nvPr/>
          </p:nvSpPr>
          <p:spPr>
            <a:xfrm>
              <a:off x="1926809" y="3776626"/>
              <a:ext cx="1222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b="1" dirty="0">
                  <a:solidFill>
                    <a:srgbClr val="C00000"/>
                  </a:solidFill>
                </a:rPr>
                <a:t>Port A or 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56179E-10CE-9D29-94D4-B4E1028C3CE6}"/>
                </a:ext>
              </a:extLst>
            </p:cNvPr>
            <p:cNvSpPr txBox="1"/>
            <p:nvPr/>
          </p:nvSpPr>
          <p:spPr>
            <a:xfrm>
              <a:off x="5660472" y="3591960"/>
              <a:ext cx="2807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b="1">
                  <a:solidFill>
                    <a:srgbClr val="C00000"/>
                  </a:solidFill>
                </a:rPr>
                <a:t>Inputs to add/sub/mul/and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4348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396D-D029-D4EC-468A-D74C3F358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3482-3530-695A-8682-E2607353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Adding Memory Elements to our 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63E79-09B9-E0AB-1FBE-C3833E677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another “register” between the output of the MUX and the data_out port.</a:t>
            </a:r>
          </a:p>
          <a:p>
            <a:pPr marL="457200" indent="-457200">
              <a:buFont typeface="+mj-lt"/>
              <a:buAutoNum type="arabicPeriod" startAt="3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two new single-bit Input Ports and call them </a:t>
            </a: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 </a:t>
            </a: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rst</a:t>
            </a: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T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IT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be our clock signal</a:t>
            </a:r>
          </a:p>
          <a:p>
            <a:pPr lvl="1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T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T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reset signal (we will not use it…)</a:t>
            </a:r>
          </a:p>
          <a:p>
            <a:pPr lvl="1"/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clk and rst </a:t>
            </a: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corresponding ports of all three registers.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7D4056-ED75-F8FF-2E01-1DEDA200E245}"/>
              </a:ext>
            </a:extLst>
          </p:cNvPr>
          <p:cNvGrpSpPr/>
          <p:nvPr/>
        </p:nvGrpSpPr>
        <p:grpSpPr>
          <a:xfrm>
            <a:off x="1715832" y="1311870"/>
            <a:ext cx="5712337" cy="1145248"/>
            <a:chOff x="622349" y="1311870"/>
            <a:chExt cx="5712337" cy="11452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C580B27-0C02-0ECA-FFD3-0184684AC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1586" y="1311870"/>
              <a:ext cx="2629397" cy="114524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5F3EF0-A99C-E504-2593-F055DFEBA373}"/>
                </a:ext>
              </a:extLst>
            </p:cNvPr>
            <p:cNvSpPr txBox="1"/>
            <p:nvPr/>
          </p:nvSpPr>
          <p:spPr>
            <a:xfrm>
              <a:off x="5280743" y="1580279"/>
              <a:ext cx="1053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>
                  <a:solidFill>
                    <a:srgbClr val="C00000"/>
                  </a:solidFill>
                </a:rPr>
                <a:t>d</a:t>
              </a:r>
              <a:r>
                <a:rPr lang="en-IT" b="1">
                  <a:solidFill>
                    <a:srgbClr val="C00000"/>
                  </a:solidFill>
                </a:rPr>
                <a:t>ata_out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FA7F3E-2205-8F95-C408-6E8298155235}"/>
                </a:ext>
              </a:extLst>
            </p:cNvPr>
            <p:cNvSpPr txBox="1"/>
            <p:nvPr/>
          </p:nvSpPr>
          <p:spPr>
            <a:xfrm>
              <a:off x="622349" y="1764945"/>
              <a:ext cx="22658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b="1" dirty="0">
                  <a:solidFill>
                    <a:srgbClr val="C00000"/>
                  </a:solidFill>
                </a:rPr>
                <a:t>Output of multiplexer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090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DE44-5BC7-B83C-A540-3EB14C8C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984B-B38A-3DE7-16ED-E20F15B1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Adding Memory Elements to our 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29F4-E104-AA35-070A-F707175A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block design:</a:t>
            </a:r>
            <a:endParaRPr lang="en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1224D-CCEB-4A75-C66B-762C9120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7841"/>
            <a:ext cx="7772400" cy="344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69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A6F73-186C-2E56-6C65-A5607F29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FF8B-C436-C0D1-B94F-7FDF2D71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Setting Clock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2C78-B9A5-89BB-050B-A9C43AEE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we need to tell the EDA tool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fast we want our clock period to be.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Sources/Constraints, open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clk_constr.xdc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13789-DAF6-50B9-6E40-2F793D408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576" y="1694656"/>
            <a:ext cx="3597247" cy="24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6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73C8-D8D7-7A58-7D7D-8C99AC16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2898-8A14-3ECE-256D-087EABF1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Setting Clock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5DECD-8385-1B5E-7976-D796E44F0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line of text contained in the file as follows: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create_clock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–name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–period 10 [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get_ports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we are asking the tool to make sure all logic changes propagate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 10 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310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3CF5-2928-0083-A37E-93201CCD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F10B13B8-95D6-EB33-E086-D8E83549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Implement the Circuit 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320094-DA41-B5B8-DDAD-9435DA47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968" y="1143001"/>
            <a:ext cx="2819400" cy="2061210"/>
          </a:xfrm>
        </p:spPr>
        <p:txBody>
          <a:bodyPr/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“Run Implementation” and the EDA Tool will generate the final circuit that can run on the board</a:t>
            </a: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CF1BE6A3-E22B-BDF6-9DB2-1C3A7CEF4A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21</a:t>
            </a:fld>
            <a:endParaRPr lang="it-IT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F55FFBF-A704-A677-33C5-AAD27624D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025" y="889683"/>
            <a:ext cx="5576007" cy="3136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24672BF-B8E6-25EA-4D5F-ACB1B13F1319}"/>
              </a:ext>
            </a:extLst>
          </p:cNvPr>
          <p:cNvSpPr/>
          <p:nvPr/>
        </p:nvSpPr>
        <p:spPr>
          <a:xfrm>
            <a:off x="3317025" y="2990205"/>
            <a:ext cx="632738" cy="83048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3" name="Connettore curvo 2">
            <a:extLst>
              <a:ext uri="{FF2B5EF4-FFF2-40B4-BE49-F238E27FC236}">
                <a16:creationId xmlns:a16="http://schemas.microsoft.com/office/drawing/2014/main" id="{CB7019E4-341C-A43D-F6A6-B59C0FFDD481}"/>
              </a:ext>
            </a:extLst>
          </p:cNvPr>
          <p:cNvCxnSpPr>
            <a:cxnSpLocks/>
          </p:cNvCxnSpPr>
          <p:nvPr/>
        </p:nvCxnSpPr>
        <p:spPr>
          <a:xfrm>
            <a:off x="1819275" y="2876550"/>
            <a:ext cx="1371600" cy="155179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2">
                <a:lumMod val="7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68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6DE3-8C7D-38AF-306F-52D94A4FE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E87AD217-8DE0-4BB7-09A2-10A9589E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842"/>
            <a:ext cx="8382000" cy="460771"/>
          </a:xfrm>
        </p:spPr>
        <p:txBody>
          <a:bodyPr/>
          <a:lstStyle/>
          <a:p>
            <a:r>
              <a:rPr lang="en-GB"/>
              <a:t>Timing &amp; Area Reports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ADBB7C-9763-581C-1949-438F242B0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227" y="1192752"/>
            <a:ext cx="3301857" cy="273689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EDA Tool produces the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“reports”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contain useful information on the </a:t>
            </a:r>
            <a:r>
              <a:rPr lang="en-GB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(i.e. circuit size) and </a:t>
            </a:r>
            <a:r>
              <a:rPr lang="en-GB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(i.e. circuit speed) of our design</a:t>
            </a:r>
          </a:p>
          <a:p>
            <a:pPr algn="just"/>
            <a:endParaRPr lang="en-GB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implementation:</a:t>
            </a:r>
          </a:p>
          <a:p>
            <a:pPr marL="784225" lvl="2" indent="-342900" algn="just">
              <a:buFont typeface="+mj-lt"/>
              <a:buAutoNum type="alphaLcParenR"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Timing Summary</a:t>
            </a:r>
          </a:p>
          <a:p>
            <a:pPr marL="784225" lvl="2" indent="-342900" algn="just">
              <a:buFont typeface="+mj-lt"/>
              <a:buAutoNum type="alphaLcParenR"/>
            </a:pP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Utilization</a:t>
            </a: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16B79018-D0D4-9468-89A0-B65104A9AB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22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A4752CE-4A16-75DA-8133-FDF47B4F0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084" y="2837785"/>
            <a:ext cx="5111116" cy="1226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E38286B-6BFA-0595-4AFE-ACFCABF0D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310" y="1290724"/>
            <a:ext cx="4645024" cy="1114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32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D163-C38F-A616-5A58-8DA4A5C1D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B7743D6C-C785-E3EF-B232-BD0654F8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Timing &amp; Area Reports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C4A83C8-C17F-967A-655B-0409597D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should you look at?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report:</a:t>
            </a:r>
          </a:p>
          <a:p>
            <a:pPr lvl="1"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reported as “WNS” (Worst Negative Slack) is related to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“remaining time available”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clock period, when all transitions have finished propagating.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positive number indicates that the tool </a:t>
            </a:r>
            <a:r>
              <a:rPr lang="en-GB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respected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imposed constraint.</a:t>
            </a:r>
          </a:p>
          <a:p>
            <a:pPr lvl="1"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Report:</a:t>
            </a:r>
          </a:p>
          <a:p>
            <a:pPr lvl="1"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reported under “LUTS” (Look-up Tables) is related to the </a:t>
            </a:r>
            <a:r>
              <a:rPr lang="en-GB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logic gates</a:t>
            </a:r>
            <a:r>
              <a:rPr lang="en-GB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in the final version of your circuit implemented by the tool</a:t>
            </a: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A8FB1E4F-9BF4-EBF9-4533-C9282B4309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5172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0AC8C-B035-E668-61C4-8D7076C1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CACC4CA-748B-9C2D-63A0-466F9FCB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Verify the Design (Simulation)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D0BDB85-2C0A-72F0-632D-189FAF6A3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change the constraint to:</a:t>
            </a:r>
          </a:p>
          <a:p>
            <a:pPr marL="0" indent="0" algn="ctr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create_clock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–name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–period 1 [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get_ports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271462" lvl="1" indent="0">
              <a:buNone/>
            </a:pPr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try to make your circuit run </a:t>
            </a:r>
            <a:r>
              <a:rPr lang="en-IT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times faster</a:t>
            </a: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</a:p>
          <a:p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 and Implement the design again!</a:t>
            </a:r>
          </a:p>
          <a:p>
            <a:pPr lvl="1"/>
            <a:r>
              <a:rPr lang="en-GB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area (number of LUTs) change?</a:t>
            </a:r>
          </a:p>
          <a:p>
            <a:pPr lvl="1"/>
            <a:r>
              <a:rPr lang="en-GB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you see some negative value (in red) under WNS? What does it mean?</a:t>
            </a:r>
          </a:p>
          <a:p>
            <a:pPr lvl="1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9E2F9888-3EA4-7DAC-8DEE-BBA2622371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3067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C054D-E0BF-F863-1517-0F01A4959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FC42-F17D-3CD9-C689-CF4F7622C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/>
              <a:t>Lab 03 Part </a:t>
            </a:r>
            <a:r>
              <a:rPr lang="it-IT"/>
              <a:t>3</a:t>
            </a:r>
            <a:r>
              <a:rPr lang="en-IT"/>
              <a:t>: A simple </a:t>
            </a:r>
            <a:r>
              <a:rPr lang="it-IT" err="1"/>
              <a:t>SoC</a:t>
            </a:r>
            <a:endParaRPr lang="en-IT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974D6E9A-7C7B-E84A-261F-5AAAECB283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1130509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41E-1484-D907-9E9E-41A2FE4D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73187D-A291-8FC8-90A5-464CA60A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Laboratory</a:t>
            </a:r>
            <a:r>
              <a:rPr lang="it-IT"/>
              <a:t>: An </a:t>
            </a:r>
            <a:r>
              <a:rPr lang="it-IT" err="1"/>
              <a:t>SoC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995729-5075-9E0B-7FEC-1BFCCACA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902704"/>
            <a:ext cx="4671785" cy="3338091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aim to design a small SoC capable of driving the LEDs on the board.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laboratory, our SoC will include: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processing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peripheral 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peripherals</a:t>
            </a:r>
          </a:p>
          <a:p>
            <a:pPr lvl="1"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the data needed by the core, and the </a:t>
            </a:r>
            <a:r>
              <a:rPr lang="en-GB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of the program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it will execute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1D9755-683E-66AD-911F-880F0CEFA1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26</a:t>
            </a:fld>
            <a:endParaRPr lang="it-IT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F732A14-7E7B-233F-965C-680EDC27F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AFAF6"/>
              </a:clrFrom>
              <a:clrTo>
                <a:srgbClr val="FAFA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134498"/>
            <a:ext cx="4397587" cy="287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3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DDBD-3756-6261-B8C5-186C5679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DFA8EE1-A6D5-991D-434A-B2DC2709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GPIO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C3F7096-D3C3-4EA0-A442-7E2F004D4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774290"/>
            <a:ext cx="8684342" cy="346650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IOs (GPIOs)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simple peripherals that allow a SoC to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binary values (0 or 1) from/to external pins.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case, we use GPIOs only as inputs, to read the pressed/unpressed status of some push buttons.</a:t>
            </a:r>
          </a:p>
          <a:p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view: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0D19E0-018C-BE23-2B63-64992625E4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27</a:t>
            </a:fld>
            <a:endParaRPr lang="it-IT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DDBB44D-ADD7-E6AE-4FDB-A4DF79B6DF5E}"/>
              </a:ext>
            </a:extLst>
          </p:cNvPr>
          <p:cNvGrpSpPr/>
          <p:nvPr/>
        </p:nvGrpSpPr>
        <p:grpSpPr>
          <a:xfrm>
            <a:off x="4352081" y="1899856"/>
            <a:ext cx="4700968" cy="2748494"/>
            <a:chOff x="3735676" y="1539433"/>
            <a:chExt cx="5317373" cy="3108885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254C58F-03C6-FB03-80BC-8DD114646637}"/>
                </a:ext>
              </a:extLst>
            </p:cNvPr>
            <p:cNvGrpSpPr/>
            <p:nvPr/>
          </p:nvGrpSpPr>
          <p:grpSpPr>
            <a:xfrm>
              <a:off x="3735676" y="1539433"/>
              <a:ext cx="5317373" cy="3108885"/>
              <a:chOff x="3735676" y="1891343"/>
              <a:chExt cx="5317373" cy="2757006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66E610A-0F26-B934-158E-B7F647894EA7}"/>
                  </a:ext>
                </a:extLst>
              </p:cNvPr>
              <p:cNvSpPr/>
              <p:nvPr/>
            </p:nvSpPr>
            <p:spPr>
              <a:xfrm>
                <a:off x="4645741" y="1946787"/>
                <a:ext cx="4166419" cy="27015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sz="160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7CBE58-528F-00C8-6AD8-3C813195D459}"/>
                  </a:ext>
                </a:extLst>
              </p:cNvPr>
              <p:cNvSpPr/>
              <p:nvPr/>
            </p:nvSpPr>
            <p:spPr>
              <a:xfrm>
                <a:off x="5093080" y="2249129"/>
                <a:ext cx="2848926" cy="16886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sz="160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5102A2-4DD4-D086-8292-DF89C022EB91}"/>
                  </a:ext>
                </a:extLst>
              </p:cNvPr>
              <p:cNvSpPr/>
              <p:nvPr/>
            </p:nvSpPr>
            <p:spPr>
              <a:xfrm>
                <a:off x="5244462" y="2507543"/>
                <a:ext cx="581151" cy="20355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sz="16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10469B5-59DC-4B9C-79FB-E172E6E1248C}"/>
                  </a:ext>
                </a:extLst>
              </p:cNvPr>
              <p:cNvSpPr/>
              <p:nvPr/>
            </p:nvSpPr>
            <p:spPr>
              <a:xfrm>
                <a:off x="5359990" y="2667793"/>
                <a:ext cx="355009" cy="3908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DD02E3F-F0F8-1F3A-0D09-CB1F42E82B42}"/>
                  </a:ext>
                </a:extLst>
              </p:cNvPr>
              <p:cNvSpPr/>
              <p:nvPr/>
            </p:nvSpPr>
            <p:spPr>
              <a:xfrm>
                <a:off x="5359989" y="3169239"/>
                <a:ext cx="355009" cy="3908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DA1500C-13A6-892B-6F55-9A27C926413B}"/>
                  </a:ext>
                </a:extLst>
              </p:cNvPr>
              <p:cNvSpPr/>
              <p:nvPr/>
            </p:nvSpPr>
            <p:spPr>
              <a:xfrm>
                <a:off x="7840207" y="2507543"/>
                <a:ext cx="737389" cy="20355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CPU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33B609-F4F1-B433-F1CD-B8D52A9A888D}"/>
                  </a:ext>
                </a:extLst>
              </p:cNvPr>
              <p:cNvSpPr txBox="1"/>
              <p:nvPr/>
            </p:nvSpPr>
            <p:spPr>
              <a:xfrm>
                <a:off x="4848071" y="1891343"/>
                <a:ext cx="1306894" cy="586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T" sz="1600" dirty="0">
                    <a:solidFill>
                      <a:schemeClr val="tx1"/>
                    </a:solidFill>
                  </a:rPr>
                  <a:t>GPIO Peripheral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6ACFED2-C2DA-B4BB-FA2A-6987EDB10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9566" y="2175387"/>
                <a:ext cx="685509" cy="68782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AF0246-912F-72E7-5E1B-AB56EF43563F}"/>
                  </a:ext>
                </a:extLst>
              </p:cNvPr>
              <p:cNvSpPr txBox="1"/>
              <p:nvPr/>
            </p:nvSpPr>
            <p:spPr>
              <a:xfrm>
                <a:off x="6164579" y="4125374"/>
                <a:ext cx="1302308" cy="463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200" dirty="0">
                    <a:solidFill>
                      <a:srgbClr val="C00000"/>
                    </a:solidFill>
                  </a:rPr>
                  <a:t>Memory “cells”</a:t>
                </a:r>
              </a:p>
              <a:p>
                <a:r>
                  <a:rPr lang="en-IT" sz="1200" dirty="0">
                    <a:solidFill>
                      <a:srgbClr val="C00000"/>
                    </a:solidFill>
                  </a:rPr>
                  <a:t>(one per pin)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CEC4C7-6ADD-B526-51CA-FACC7FF900C6}"/>
                  </a:ext>
                </a:extLst>
              </p:cNvPr>
              <p:cNvSpPr txBox="1"/>
              <p:nvPr/>
            </p:nvSpPr>
            <p:spPr>
              <a:xfrm>
                <a:off x="6479766" y="3833841"/>
                <a:ext cx="629541" cy="277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>
                    <a:solidFill>
                      <a:schemeClr val="tx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Etc.</a:t>
                </a:r>
                <a:endPara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D633F4E-E980-4A72-0683-F27345B57A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8459" y="2863209"/>
                <a:ext cx="211174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965CCF-A02E-973A-9158-D9C976A9B233}"/>
                  </a:ext>
                </a:extLst>
              </p:cNvPr>
              <p:cNvSpPr txBox="1"/>
              <p:nvPr/>
            </p:nvSpPr>
            <p:spPr>
              <a:xfrm>
                <a:off x="8097373" y="1957225"/>
                <a:ext cx="656739" cy="401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2000" b="1"/>
                  <a:t>SoC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A854079-2A2A-2ABA-9674-998BDE0EE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9599" y="2175387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5359A5F-643C-3507-114C-F935823E53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9599" y="2933699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015BCEC-E476-51B1-7805-F0847C4F04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9599" y="3692011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0E9A9B4-9123-0BCA-0574-5B0FFCE14B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9599" y="4450323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24E94D6-9A7A-7773-2E6B-A29A15AC94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6907" y="2175387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5A949E7-2C39-BDC4-7B7A-647F50E06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6907" y="2933699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DFED4D3-11DB-1211-9A07-9CD49C313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6907" y="3692011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BCF3C34-9EC2-72F5-4B3F-9121ABF8B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6907" y="4450323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54" name="Picture 4">
                <a:extLst>
                  <a:ext uri="{FF2B5EF4-FFF2-40B4-BE49-F238E27FC236}">
                    <a16:creationId xmlns:a16="http://schemas.microsoft.com/office/drawing/2014/main" id="{A3064920-2E90-A4EA-DCAE-3700A9B411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AFAF6"/>
                  </a:clrFrom>
                  <a:clrTo>
                    <a:srgbClr val="FAFAF6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4" t="35445" r="72893" b="50370"/>
              <a:stretch/>
            </p:blipFill>
            <p:spPr bwMode="auto">
              <a:xfrm>
                <a:off x="3735676" y="2015948"/>
                <a:ext cx="622812" cy="407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4">
                <a:extLst>
                  <a:ext uri="{FF2B5EF4-FFF2-40B4-BE49-F238E27FC236}">
                    <a16:creationId xmlns:a16="http://schemas.microsoft.com/office/drawing/2014/main" id="{48F6F19F-86CB-BB3E-7A44-F753525279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AFAF6"/>
                  </a:clrFrom>
                  <a:clrTo>
                    <a:srgbClr val="FAFAF6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4" t="35445" r="72893" b="50370"/>
              <a:stretch/>
            </p:blipFill>
            <p:spPr bwMode="auto">
              <a:xfrm>
                <a:off x="3759501" y="2750401"/>
                <a:ext cx="622812" cy="407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F88AD59E-29F5-24AB-91AC-44827ABF4C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4998" y="3337262"/>
                <a:ext cx="211174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808AAB0-735C-A5B9-0855-D93B819964CD}"/>
                  </a:ext>
                </a:extLst>
              </p:cNvPr>
              <p:cNvSpPr/>
              <p:nvPr/>
            </p:nvSpPr>
            <p:spPr>
              <a:xfrm>
                <a:off x="5357532" y="3629765"/>
                <a:ext cx="355009" cy="3908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0/1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1090FED-704D-6870-13A1-BC98C8E2A128}"/>
                  </a:ext>
                </a:extLst>
              </p:cNvPr>
              <p:cNvSpPr/>
              <p:nvPr/>
            </p:nvSpPr>
            <p:spPr>
              <a:xfrm>
                <a:off x="5355075" y="4090291"/>
                <a:ext cx="355009" cy="3908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0/1</a:t>
                </a: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5F782C9A-EA33-FF74-8F52-D233E1CAE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0826" y="2933699"/>
                <a:ext cx="704416" cy="485191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50CC5BDB-E9DB-4BFC-B292-D803213D894B}"/>
                  </a:ext>
                </a:extLst>
              </p:cNvPr>
              <p:cNvCxnSpPr>
                <a:cxnSpLocks/>
                <a:stCxn id="61" idx="1"/>
              </p:cNvCxnSpPr>
              <p:nvPr/>
            </p:nvCxnSpPr>
            <p:spPr>
              <a:xfrm flipH="1" flipV="1">
                <a:off x="4648200" y="3710171"/>
                <a:ext cx="709332" cy="115011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arrow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09B7BE8-D52D-28D9-9F5B-500FB7645EF3}"/>
                  </a:ext>
                </a:extLst>
              </p:cNvPr>
              <p:cNvCxnSpPr>
                <a:cxnSpLocks/>
                <a:endCxn id="62" idx="1"/>
              </p:cNvCxnSpPr>
              <p:nvPr/>
            </p:nvCxnSpPr>
            <p:spPr>
              <a:xfrm flipV="1">
                <a:off x="4669566" y="4285708"/>
                <a:ext cx="685509" cy="162893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72" name="Right Brace 71">
                <a:extLst>
                  <a:ext uri="{FF2B5EF4-FFF2-40B4-BE49-F238E27FC236}">
                    <a16:creationId xmlns:a16="http://schemas.microsoft.com/office/drawing/2014/main" id="{541B0301-12B8-0BDD-A3FE-376576459F52}"/>
                  </a:ext>
                </a:extLst>
              </p:cNvPr>
              <p:cNvSpPr/>
              <p:nvPr/>
            </p:nvSpPr>
            <p:spPr>
              <a:xfrm>
                <a:off x="5769377" y="2702725"/>
                <a:ext cx="365277" cy="1755240"/>
              </a:xfrm>
              <a:prstGeom prst="rightBrace">
                <a:avLst>
                  <a:gd name="adj1" fmla="val 8333"/>
                  <a:gd name="adj2" fmla="val 87002"/>
                </a:avLst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 sz="1600"/>
              </a:p>
            </p:txBody>
          </p:sp>
          <p:pic>
            <p:nvPicPr>
              <p:cNvPr id="96" name="Picture 4">
                <a:extLst>
                  <a:ext uri="{FF2B5EF4-FFF2-40B4-BE49-F238E27FC236}">
                    <a16:creationId xmlns:a16="http://schemas.microsoft.com/office/drawing/2014/main" id="{55751CE3-1B20-12F6-86E0-69D545A903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AFAF6"/>
                  </a:clrFrom>
                  <a:clrTo>
                    <a:srgbClr val="FAFAF6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4" t="35445" r="72893" b="50370"/>
              <a:stretch/>
            </p:blipFill>
            <p:spPr bwMode="auto">
              <a:xfrm>
                <a:off x="3775587" y="3479410"/>
                <a:ext cx="622812" cy="407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7" name="Picture 4">
                <a:extLst>
                  <a:ext uri="{FF2B5EF4-FFF2-40B4-BE49-F238E27FC236}">
                    <a16:creationId xmlns:a16="http://schemas.microsoft.com/office/drawing/2014/main" id="{92D8D5BC-59E3-BAC7-A3AE-3E5F8CE266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AFAF6"/>
                  </a:clrFrom>
                  <a:clrTo>
                    <a:srgbClr val="FAFAF6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4" t="35445" r="72893" b="50370"/>
              <a:stretch/>
            </p:blipFill>
            <p:spPr bwMode="auto">
              <a:xfrm>
                <a:off x="3791673" y="4208419"/>
                <a:ext cx="622812" cy="407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3FDD4D44-D629-A377-9C94-33C3CBA0ED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8459" y="3860184"/>
                <a:ext cx="211174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80424F-CCFF-1E1D-90AE-034CAF71E073}"/>
                </a:ext>
              </a:extLst>
            </p:cNvPr>
            <p:cNvSpPr txBox="1"/>
            <p:nvPr/>
          </p:nvSpPr>
          <p:spPr>
            <a:xfrm>
              <a:off x="6051677" y="2077800"/>
              <a:ext cx="1786358" cy="5222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</a:t>
              </a:r>
              <a:r>
                <a: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0</a:t>
              </a:r>
              <a:r>
                <a: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itchFamily="2" charset="2"/>
                </a:rPr>
                <a:t> (1st</a:t>
              </a:r>
              <a:br>
                <a: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itchFamily="2" charset="2"/>
                </a:rPr>
              </a:br>
              <a:r>
                <a: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itchFamily="2" charset="2"/>
                </a:rPr>
                <a:t>button pressed)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E10438-6076-257C-0B6E-FE6AB6839C1E}"/>
                </a:ext>
              </a:extLst>
            </p:cNvPr>
            <p:cNvSpPr txBox="1"/>
            <p:nvPr/>
          </p:nvSpPr>
          <p:spPr>
            <a:xfrm>
              <a:off x="6055043" y="2660163"/>
              <a:ext cx="1996689" cy="5222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</a:t>
              </a:r>
              <a:r>
                <a: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1</a:t>
              </a:r>
              <a:r>
                <a: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itchFamily="2" charset="2"/>
                </a:rPr>
                <a:t> (2nd</a:t>
              </a:r>
              <a:br>
                <a: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itchFamily="2" charset="2"/>
                </a:rPr>
              </a:br>
              <a:r>
                <a:rPr lang="en-IT" sz="1200" b="1" dirty="0">
                  <a:solidFill>
                    <a:schemeClr val="tx2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Wingdings" pitchFamily="2" charset="2"/>
                </a:rPr>
                <a:t>button unpressed)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32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9392-EB34-2E9C-BBEE-DEAEE3D0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87EA17-C28F-6C4F-1C5A-720E7B275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Timers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95ABB9B-C690-68BD-9C46-F2EA5A61E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774290"/>
            <a:ext cx="8684342" cy="346650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peripherals that, as the name says, allow a processor to keep track of the passing of time. </a:t>
            </a:r>
          </a:p>
          <a:p>
            <a:pPr lvl="1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do a certain operation 1 time every second, etc..</a:t>
            </a:r>
          </a:p>
          <a:p>
            <a:pPr lvl="1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example, we use a timer to generate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variable-width periodic pulses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B80563-CE97-DDD4-1928-6509146BF1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28</a:t>
            </a:fld>
            <a:endParaRPr lang="it-IT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B8F64C-AF68-A90D-6853-4BE32081B12B}"/>
              </a:ext>
            </a:extLst>
          </p:cNvPr>
          <p:cNvGrpSpPr/>
          <p:nvPr/>
        </p:nvGrpSpPr>
        <p:grpSpPr>
          <a:xfrm>
            <a:off x="363673" y="2763065"/>
            <a:ext cx="3398100" cy="824673"/>
            <a:chOff x="363672" y="2763065"/>
            <a:chExt cx="4634413" cy="824673"/>
          </a:xfrm>
        </p:grpSpPr>
        <p:pic>
          <p:nvPicPr>
            <p:cNvPr id="3074" name="Picture 2" descr="Trasformare l'uscita PWM in una tensione analogica: i filtri RC e i timers  – it | McMajan">
              <a:extLst>
                <a:ext uri="{FF2B5EF4-FFF2-40B4-BE49-F238E27FC236}">
                  <a16:creationId xmlns:a16="http://schemas.microsoft.com/office/drawing/2014/main" id="{E02C6160-5404-6469-CF93-C4DD1F6E48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13" t="29263" b="57413"/>
            <a:stretch/>
          </p:blipFill>
          <p:spPr bwMode="auto">
            <a:xfrm>
              <a:off x="674649" y="2821259"/>
              <a:ext cx="4323436" cy="666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54CE557-9E81-C664-2E9F-8077F86902F1}"/>
                </a:ext>
              </a:extLst>
            </p:cNvPr>
            <p:cNvSpPr txBox="1"/>
            <p:nvPr/>
          </p:nvSpPr>
          <p:spPr>
            <a:xfrm>
              <a:off x="372963" y="32184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9FFFC3C-AEDA-17AD-574F-3B71986E4B8F}"/>
                </a:ext>
              </a:extLst>
            </p:cNvPr>
            <p:cNvSpPr txBox="1"/>
            <p:nvPr/>
          </p:nvSpPr>
          <p:spPr>
            <a:xfrm>
              <a:off x="363672" y="27630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073299-4831-53A3-B526-F61D5C6E717F}"/>
              </a:ext>
            </a:extLst>
          </p:cNvPr>
          <p:cNvGrpSpPr/>
          <p:nvPr/>
        </p:nvGrpSpPr>
        <p:grpSpPr>
          <a:xfrm>
            <a:off x="5327091" y="2742364"/>
            <a:ext cx="3398100" cy="824673"/>
            <a:chOff x="363672" y="2763065"/>
            <a:chExt cx="4634413" cy="824673"/>
          </a:xfrm>
        </p:grpSpPr>
        <p:pic>
          <p:nvPicPr>
            <p:cNvPr id="14" name="Picture 2" descr="Trasformare l'uscita PWM in una tensione analogica: i filtri RC e i timers  – it | McMajan">
              <a:extLst>
                <a:ext uri="{FF2B5EF4-FFF2-40B4-BE49-F238E27FC236}">
                  <a16:creationId xmlns:a16="http://schemas.microsoft.com/office/drawing/2014/main" id="{DBC8C396-FCE4-6A42-7D5B-85B64710E2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18" t="67078" r="695" b="19598"/>
            <a:stretch/>
          </p:blipFill>
          <p:spPr bwMode="auto">
            <a:xfrm>
              <a:off x="674649" y="2821259"/>
              <a:ext cx="4323436" cy="666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A745F8-5CCC-6498-590B-4FDA75B69004}"/>
                </a:ext>
              </a:extLst>
            </p:cNvPr>
            <p:cNvSpPr txBox="1"/>
            <p:nvPr/>
          </p:nvSpPr>
          <p:spPr>
            <a:xfrm>
              <a:off x="372963" y="32184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CB1F8C-66D0-986F-016D-9CF31F66D308}"/>
                </a:ext>
              </a:extLst>
            </p:cNvPr>
            <p:cNvSpPr txBox="1"/>
            <p:nvPr/>
          </p:nvSpPr>
          <p:spPr>
            <a:xfrm>
              <a:off x="363672" y="27630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1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59E389DC-14D5-5F1C-538A-CD5365226346}"/>
              </a:ext>
            </a:extLst>
          </p:cNvPr>
          <p:cNvSpPr/>
          <p:nvPr/>
        </p:nvSpPr>
        <p:spPr>
          <a:xfrm>
            <a:off x="4143737" y="2927030"/>
            <a:ext cx="868101" cy="455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93E725-D7A0-843B-212C-815AB2337B86}"/>
              </a:ext>
            </a:extLst>
          </p:cNvPr>
          <p:cNvSpPr/>
          <p:nvPr/>
        </p:nvSpPr>
        <p:spPr>
          <a:xfrm>
            <a:off x="2523281" y="3912243"/>
            <a:ext cx="4236334" cy="474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/>
              <a:t>Yes but …why do we want to do that???</a:t>
            </a:r>
          </a:p>
        </p:txBody>
      </p:sp>
    </p:spTree>
    <p:extLst>
      <p:ext uri="{BB962C8B-B14F-4D97-AF65-F5344CB8AC3E}">
        <p14:creationId xmlns:p14="http://schemas.microsoft.com/office/powerpoint/2010/main" val="384289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5C9B2-3C24-5AFF-3DFB-101FA25B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3B1DDC4-F1C6-BF91-66BF-BB2F3A00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Timers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C4A7C49-2B69-0F20-0470-6B07A49F7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753918"/>
            <a:ext cx="8684342" cy="3832406"/>
          </a:xfrm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on-and-off a LED with such a periodic pulse (with a very fast period)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LED blinks so fast that </a:t>
            </a:r>
            <a:r>
              <a:rPr lang="en-GB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eyes cannot keep trac</a:t>
            </a: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k…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perceive is that the LED is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on, but with a lower brightness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(i.e. a “dimmed” light)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Increasing/decreasing the pulse width increases/decreases brightness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known as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Width Modulation (PWM)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2471FC-6255-62C6-A1FE-DD1234886F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29</a:t>
            </a:fld>
            <a:endParaRPr lang="it-IT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E9697C-F51A-F40D-58C3-7F95766ED0D1}"/>
              </a:ext>
            </a:extLst>
          </p:cNvPr>
          <p:cNvGrpSpPr/>
          <p:nvPr/>
        </p:nvGrpSpPr>
        <p:grpSpPr>
          <a:xfrm>
            <a:off x="1845234" y="1478273"/>
            <a:ext cx="3398100" cy="824673"/>
            <a:chOff x="363672" y="2763065"/>
            <a:chExt cx="4634413" cy="824673"/>
          </a:xfrm>
        </p:grpSpPr>
        <p:pic>
          <p:nvPicPr>
            <p:cNvPr id="7" name="Picture 2" descr="Trasformare l'uscita PWM in una tensione analogica: i filtri RC e i timers  – it | McMajan">
              <a:extLst>
                <a:ext uri="{FF2B5EF4-FFF2-40B4-BE49-F238E27FC236}">
                  <a16:creationId xmlns:a16="http://schemas.microsoft.com/office/drawing/2014/main" id="{DDA4C40D-9A75-AE90-58D7-F96BDF772B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13" t="29263" b="57413"/>
            <a:stretch/>
          </p:blipFill>
          <p:spPr bwMode="auto">
            <a:xfrm>
              <a:off x="674649" y="2821259"/>
              <a:ext cx="4323436" cy="666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90C751-6ECB-CACB-E7ED-D5BFA7B8FF63}"/>
                </a:ext>
              </a:extLst>
            </p:cNvPr>
            <p:cNvSpPr txBox="1"/>
            <p:nvPr/>
          </p:nvSpPr>
          <p:spPr>
            <a:xfrm>
              <a:off x="372963" y="32184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F8825F-A43D-8790-2A9D-D777C95EC229}"/>
                </a:ext>
              </a:extLst>
            </p:cNvPr>
            <p:cNvSpPr txBox="1"/>
            <p:nvPr/>
          </p:nvSpPr>
          <p:spPr>
            <a:xfrm>
              <a:off x="363672" y="27630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1</a:t>
              </a:r>
            </a:p>
          </p:txBody>
        </p:sp>
      </p:grpSp>
      <p:pic>
        <p:nvPicPr>
          <p:cNvPr id="11" name="Picture 4">
            <a:extLst>
              <a:ext uri="{FF2B5EF4-FFF2-40B4-BE49-F238E27FC236}">
                <a16:creationId xmlns:a16="http://schemas.microsoft.com/office/drawing/2014/main" id="{8DA27431-433E-3F1B-D3AF-AABC80D8BB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AFAF6"/>
              </a:clrFrom>
              <a:clrTo>
                <a:srgbClr val="FAFA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5" t="73279" r="65937"/>
          <a:stretch/>
        </p:blipFill>
        <p:spPr bwMode="auto">
          <a:xfrm>
            <a:off x="6189841" y="1477912"/>
            <a:ext cx="787079" cy="76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FB77F9C3-F7B3-0116-2790-63E50CFE9590}"/>
              </a:ext>
            </a:extLst>
          </p:cNvPr>
          <p:cNvSpPr/>
          <p:nvPr/>
        </p:nvSpPr>
        <p:spPr>
          <a:xfrm>
            <a:off x="5364416" y="1642237"/>
            <a:ext cx="712294" cy="455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2952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651A-F7D2-E732-C102-22936FB5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7AE5B-4597-7075-19E1-7FD80FF0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 of an </a:t>
            </a:r>
            <a:r>
              <a:rPr lang="it-IT" err="1"/>
              <a:t>SoC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09DD6555-9CB2-5D38-64C6-260486C83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51" y="902704"/>
            <a:ext cx="4203250" cy="3338091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for the Lab03c and create a new block design:</a:t>
            </a:r>
          </a:p>
          <a:p>
            <a:pPr lvl="1"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INTEGRATOR → Create Block Design, on the left Flow Navigator bar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“Create Block Design”  window will appear:</a:t>
            </a:r>
          </a:p>
          <a:p>
            <a:pPr lvl="1"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name”: soc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“OK”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4439C7-6C91-460E-C237-B12AEAFC4C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30</a:t>
            </a:fld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9FFE127-3011-289E-145D-DC8B9378C30F}"/>
              </a:ext>
            </a:extLst>
          </p:cNvPr>
          <p:cNvGrpSpPr/>
          <p:nvPr/>
        </p:nvGrpSpPr>
        <p:grpSpPr>
          <a:xfrm>
            <a:off x="4780023" y="1354770"/>
            <a:ext cx="4082326" cy="2080580"/>
            <a:chOff x="3162972" y="986711"/>
            <a:chExt cx="5981028" cy="3048264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929C265D-882A-3539-2C6C-BF6DAFAF1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323" y="1401978"/>
              <a:ext cx="3200677" cy="233954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F1F7FD4F-4228-4D49-8195-A0AA614A30EC}"/>
                </a:ext>
              </a:extLst>
            </p:cNvPr>
            <p:cNvGrpSpPr/>
            <p:nvPr/>
          </p:nvGrpSpPr>
          <p:grpSpPr>
            <a:xfrm>
              <a:off x="3162972" y="986711"/>
              <a:ext cx="2586288" cy="3048264"/>
              <a:chOff x="6350236" y="1851268"/>
              <a:chExt cx="2586288" cy="3048264"/>
            </a:xfrm>
          </p:grpSpPr>
          <p:pic>
            <p:nvPicPr>
              <p:cNvPr id="6" name="Immagine 5">
                <a:extLst>
                  <a:ext uri="{FF2B5EF4-FFF2-40B4-BE49-F238E27FC236}">
                    <a16:creationId xmlns:a16="http://schemas.microsoft.com/office/drawing/2014/main" id="{4B702784-7EA1-6681-B4C4-9F0916F12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7015" y="1851268"/>
                <a:ext cx="2179509" cy="304826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55411FEC-5B9C-ADF7-0056-AED7DC184398}"/>
                  </a:ext>
                </a:extLst>
              </p:cNvPr>
              <p:cNvSpPr/>
              <p:nvPr/>
            </p:nvSpPr>
            <p:spPr>
              <a:xfrm>
                <a:off x="6757015" y="3629278"/>
                <a:ext cx="1616241" cy="738785"/>
              </a:xfrm>
              <a:prstGeom prst="round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9D540A3-F154-288F-831A-1039BC48E486}"/>
                  </a:ext>
                </a:extLst>
              </p:cNvPr>
              <p:cNvSpPr txBox="1"/>
              <p:nvPr/>
            </p:nvSpPr>
            <p:spPr>
              <a:xfrm>
                <a:off x="6350236" y="3893137"/>
                <a:ext cx="616262" cy="541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>
                    <a:solidFill>
                      <a:schemeClr val="accent2">
                        <a:lumMod val="75000"/>
                      </a:schemeClr>
                    </a:solidFill>
                    <a:latin typeface="Baskerville Display PT" panose="02030602080406020203" pitchFamily="18" charset="0"/>
                    <a:ea typeface="Baskerville Display PT" panose="02030602080406020203" pitchFamily="18" charset="0"/>
                  </a:rPr>
                  <a:t>1.</a:t>
                </a:r>
              </a:p>
            </p:txBody>
          </p:sp>
        </p:grp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3CB3CCA3-D57C-F725-28B3-4B45163A0579}"/>
                </a:ext>
              </a:extLst>
            </p:cNvPr>
            <p:cNvSpPr/>
            <p:nvPr/>
          </p:nvSpPr>
          <p:spPr>
            <a:xfrm>
              <a:off x="6055127" y="2279475"/>
              <a:ext cx="3042083" cy="433158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06C716AB-9AA0-E2A2-5BA7-0B2CFC021009}"/>
                </a:ext>
              </a:extLst>
            </p:cNvPr>
            <p:cNvSpPr txBox="1"/>
            <p:nvPr/>
          </p:nvSpPr>
          <p:spPr>
            <a:xfrm>
              <a:off x="5578514" y="2354087"/>
              <a:ext cx="565099" cy="541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A258E753-C07E-50A9-34AD-EC6C12547EDD}"/>
                </a:ext>
              </a:extLst>
            </p:cNvPr>
            <p:cNvSpPr/>
            <p:nvPr/>
          </p:nvSpPr>
          <p:spPr>
            <a:xfrm>
              <a:off x="7478626" y="3280737"/>
              <a:ext cx="462043" cy="234351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5CCD3473-641F-4F29-2E39-8F57B975D023}"/>
                </a:ext>
              </a:extLst>
            </p:cNvPr>
            <p:cNvSpPr txBox="1"/>
            <p:nvPr/>
          </p:nvSpPr>
          <p:spPr>
            <a:xfrm>
              <a:off x="6843777" y="3218001"/>
              <a:ext cx="664509" cy="541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19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AC8A-6311-417B-3931-82CCE33F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02EB253-637A-3E67-0226-462D096CD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</a:t>
            </a:r>
            <a:r>
              <a:rPr lang="it-IT" err="1"/>
              <a:t>Main</a:t>
            </a:r>
            <a:r>
              <a:rPr lang="it-IT"/>
              <a:t> Core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37D246AC-2FC7-1A33-81B2-B01A3E0B2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51" y="902704"/>
            <a:ext cx="4035706" cy="3338091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 the “+”, or “right-click”,  in the block design window, then “Add IP”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“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zynq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 in the window menu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“ZYNQ7 Processing System”</a:t>
            </a:r>
          </a:p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operations tell the EDA tool to consider in our design the core already present on the board.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7E8836-9C9A-35CD-D9A5-90ECC2756C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31</a:t>
            </a:fld>
            <a:endParaRPr lang="it-IT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7E1C554A-89BE-6BC6-D2C4-675FCD1C6235}"/>
              </a:ext>
            </a:extLst>
          </p:cNvPr>
          <p:cNvGrpSpPr/>
          <p:nvPr/>
        </p:nvGrpSpPr>
        <p:grpSpPr>
          <a:xfrm>
            <a:off x="4464934" y="1224944"/>
            <a:ext cx="4374266" cy="2460525"/>
            <a:chOff x="4754336" y="646209"/>
            <a:chExt cx="6599464" cy="3712199"/>
          </a:xfrm>
        </p:grpSpPr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FB3F74BF-ED39-0D3D-E868-A1FCCDDAA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336" y="646209"/>
              <a:ext cx="6599464" cy="37121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ettangolo con angoli arrotondati 16">
              <a:extLst>
                <a:ext uri="{FF2B5EF4-FFF2-40B4-BE49-F238E27FC236}">
                  <a16:creationId xmlns:a16="http://schemas.microsoft.com/office/drawing/2014/main" id="{787997C4-E4B6-B730-316F-A95943DED611}"/>
                </a:ext>
              </a:extLst>
            </p:cNvPr>
            <p:cNvSpPr/>
            <p:nvPr/>
          </p:nvSpPr>
          <p:spPr>
            <a:xfrm>
              <a:off x="7954024" y="2690216"/>
              <a:ext cx="1313801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AB191060-30B5-7DB9-4150-E6C6EA7DF1BA}"/>
                </a:ext>
              </a:extLst>
            </p:cNvPr>
            <p:cNvSpPr txBox="1"/>
            <p:nvPr/>
          </p:nvSpPr>
          <p:spPr>
            <a:xfrm>
              <a:off x="7430686" y="2626101"/>
              <a:ext cx="551437" cy="557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011AD8CF-4CA3-5E1D-40FC-ADF16439D5E5}"/>
                </a:ext>
              </a:extLst>
            </p:cNvPr>
            <p:cNvSpPr txBox="1"/>
            <p:nvPr/>
          </p:nvSpPr>
          <p:spPr>
            <a:xfrm>
              <a:off x="5631513" y="1506914"/>
              <a:ext cx="559909" cy="557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233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C4923-54D7-952F-54EE-F91BB114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A8FC013-9C22-5925-D0BC-A7B60D53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</a:t>
            </a:r>
            <a:r>
              <a:rPr lang="it-IT" err="1"/>
              <a:t>Main</a:t>
            </a:r>
            <a:r>
              <a:rPr lang="it-IT"/>
              <a:t> Core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6041DAAF-06F7-18D8-0FFC-A4AF82480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51" y="902705"/>
            <a:ext cx="3746339" cy="1879356"/>
          </a:xfrm>
          <a:ln>
            <a:noFill/>
          </a:ln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complete the instantiation, click on “Run Block Automation”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DB637F-7ACD-9824-724D-3B3369AB0E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32</a:t>
            </a:fld>
            <a:endParaRPr lang="it-IT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E9F8F9DC-45EF-1EE4-F8BB-FC73711F6012}"/>
              </a:ext>
            </a:extLst>
          </p:cNvPr>
          <p:cNvGrpSpPr/>
          <p:nvPr/>
        </p:nvGrpSpPr>
        <p:grpSpPr>
          <a:xfrm>
            <a:off x="2875442" y="1556843"/>
            <a:ext cx="5735159" cy="2764980"/>
            <a:chOff x="2674876" y="631363"/>
            <a:chExt cx="8678925" cy="4184200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C224A475-6BED-F903-6D68-6DB8AA72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336" y="631363"/>
              <a:ext cx="6599465" cy="37121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5BA203A7-1316-7E20-723F-978B6BA406BB}"/>
                </a:ext>
              </a:extLst>
            </p:cNvPr>
            <p:cNvSpPr/>
            <p:nvPr/>
          </p:nvSpPr>
          <p:spPr>
            <a:xfrm>
              <a:off x="5972824" y="1379576"/>
              <a:ext cx="1313801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9A3A8FDB-6704-EF8B-ECF1-D52011202120}"/>
                </a:ext>
              </a:extLst>
            </p:cNvPr>
            <p:cNvSpPr txBox="1"/>
            <p:nvPr/>
          </p:nvSpPr>
          <p:spPr>
            <a:xfrm>
              <a:off x="5636562" y="1315462"/>
              <a:ext cx="364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4.</a:t>
              </a:r>
            </a:p>
          </p:txBody>
        </p:sp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D113D957-37C4-368C-8A25-DBC278AB6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74876" y="2284410"/>
              <a:ext cx="3619261" cy="247311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9DAA1ABC-2932-86A9-4677-44EDF052F820}"/>
                </a:ext>
              </a:extLst>
            </p:cNvPr>
            <p:cNvSpPr/>
            <p:nvPr/>
          </p:nvSpPr>
          <p:spPr>
            <a:xfrm>
              <a:off x="5568536" y="4540540"/>
              <a:ext cx="350747" cy="180714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639B7C5D-F0CC-9B8C-446F-F079023DA22D}"/>
                </a:ext>
              </a:extLst>
            </p:cNvPr>
            <p:cNvSpPr txBox="1"/>
            <p:nvPr/>
          </p:nvSpPr>
          <p:spPr>
            <a:xfrm>
              <a:off x="5195658" y="4446231"/>
              <a:ext cx="440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5.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988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287C1-9731-1178-25F9-DA33D9D59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50ECDC-C603-3577-5166-F05B6667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</a:t>
            </a:r>
            <a:r>
              <a:rPr lang="it-IT" err="1"/>
              <a:t>Main</a:t>
            </a:r>
            <a:r>
              <a:rPr lang="it-IT"/>
              <a:t> Core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EA0951A4-B4B8-2736-D3DA-C520DD465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51" y="902705"/>
            <a:ext cx="3746339" cy="1879356"/>
          </a:xfrm>
          <a:ln>
            <a:noFill/>
          </a:ln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complete the instantiation, click on “Run Block Automation”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A2596A-0590-009A-8747-5F2B823EC4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33</a:t>
            </a:fld>
            <a:endParaRPr lang="it-IT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49C6119B-EC56-6F4A-35D1-7B588C017E20}"/>
              </a:ext>
            </a:extLst>
          </p:cNvPr>
          <p:cNvGrpSpPr/>
          <p:nvPr/>
        </p:nvGrpSpPr>
        <p:grpSpPr>
          <a:xfrm>
            <a:off x="2875442" y="1556843"/>
            <a:ext cx="5735159" cy="2764980"/>
            <a:chOff x="2674876" y="631363"/>
            <a:chExt cx="8678925" cy="4184200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090BE3BF-CA9F-903D-E606-98FAF00EF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>
              <a:off x="4754336" y="631363"/>
              <a:ext cx="6599465" cy="37121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213C7BFB-80C3-F8AA-F45C-A56911FA79C6}"/>
                </a:ext>
              </a:extLst>
            </p:cNvPr>
            <p:cNvSpPr/>
            <p:nvPr/>
          </p:nvSpPr>
          <p:spPr>
            <a:xfrm>
              <a:off x="5972824" y="1379576"/>
              <a:ext cx="1313801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C02F0BEC-226D-D9F3-F6DC-7E79BA45CD30}"/>
                </a:ext>
              </a:extLst>
            </p:cNvPr>
            <p:cNvSpPr txBox="1"/>
            <p:nvPr/>
          </p:nvSpPr>
          <p:spPr>
            <a:xfrm>
              <a:off x="5636562" y="1315462"/>
              <a:ext cx="364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4.</a:t>
              </a:r>
            </a:p>
          </p:txBody>
        </p:sp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96D14DE1-4252-3BE8-E28A-29A9DBBE3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tretch>
              <a:fillRect/>
            </a:stretch>
          </p:blipFill>
          <p:spPr>
            <a:xfrm>
              <a:off x="2674876" y="2284410"/>
              <a:ext cx="3619261" cy="247311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505D2C92-7959-8D65-5AD8-C93AEF5A6FA1}"/>
                </a:ext>
              </a:extLst>
            </p:cNvPr>
            <p:cNvSpPr/>
            <p:nvPr/>
          </p:nvSpPr>
          <p:spPr>
            <a:xfrm>
              <a:off x="5568536" y="4540540"/>
              <a:ext cx="350747" cy="180714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E5C10A54-A5D3-3DC9-1C25-D0B874105675}"/>
                </a:ext>
              </a:extLst>
            </p:cNvPr>
            <p:cNvSpPr txBox="1"/>
            <p:nvPr/>
          </p:nvSpPr>
          <p:spPr>
            <a:xfrm>
              <a:off x="5195658" y="4446231"/>
              <a:ext cx="440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5.</a:t>
              </a:r>
            </a:p>
          </p:txBody>
        </p:sp>
      </p:grpSp>
      <p:pic>
        <p:nvPicPr>
          <p:cNvPr id="12" name="Immagine 11">
            <a:extLst>
              <a:ext uri="{FF2B5EF4-FFF2-40B4-BE49-F238E27FC236}">
                <a16:creationId xmlns:a16="http://schemas.microsoft.com/office/drawing/2014/main" id="{644FAC96-096A-F38D-B5E5-F4D0AE813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342" y="910584"/>
            <a:ext cx="5881737" cy="33084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655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A852-CF6B-74E3-00FE-52889E8AD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18196C4-D652-1EF8-9BD4-15E27E9A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</a:t>
            </a:r>
            <a:r>
              <a:rPr lang="it-IT" err="1"/>
              <a:t>Add</a:t>
            </a:r>
            <a:r>
              <a:rPr lang="it-IT"/>
              <a:t> </a:t>
            </a:r>
            <a:r>
              <a:rPr lang="it-IT" err="1"/>
              <a:t>Peripherals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AC6953D5-31C4-DBCD-A2FD-9B37CD617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95885"/>
            <a:ext cx="3793959" cy="3551729"/>
          </a:xfrm>
          <a:ln>
            <a:noFill/>
          </a:ln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 in the block design window, then “Add IP”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“GPIO”  in the window menu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“AXI GPIO”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689CD0-105E-336B-AA56-DC87DBFBEF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34</a:t>
            </a:fld>
            <a:endParaRPr lang="it-IT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B67758A1-BA27-6717-053F-9E33C6511428}"/>
              </a:ext>
            </a:extLst>
          </p:cNvPr>
          <p:cNvGrpSpPr/>
          <p:nvPr/>
        </p:nvGrpSpPr>
        <p:grpSpPr>
          <a:xfrm>
            <a:off x="4392097" y="1321002"/>
            <a:ext cx="4447103" cy="2501495"/>
            <a:chOff x="647700" y="2208514"/>
            <a:chExt cx="6451600" cy="3629025"/>
          </a:xfrm>
        </p:grpSpPr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72869D00-A0AB-621B-906C-D7EDC57F1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700" y="2208514"/>
              <a:ext cx="6451600" cy="36290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D2C7AB88-27B9-C598-5C51-47537AEAFA86}"/>
                </a:ext>
              </a:extLst>
            </p:cNvPr>
            <p:cNvSpPr txBox="1"/>
            <p:nvPr/>
          </p:nvSpPr>
          <p:spPr>
            <a:xfrm>
              <a:off x="4741895" y="3526215"/>
              <a:ext cx="549415" cy="535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279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7014-CAFB-1EEA-A8E8-B7E75D19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3E108E-FA55-5A37-EFA3-77C52C57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Customize</a:t>
            </a:r>
            <a:r>
              <a:rPr lang="it-IT"/>
              <a:t> GPIO </a:t>
            </a:r>
            <a:r>
              <a:rPr lang="it-IT" err="1"/>
              <a:t>Peripheral</a:t>
            </a:r>
            <a:r>
              <a:rPr lang="it-IT"/>
              <a:t>: INPUT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AE48C48F-2FC3-9B14-AC1D-942298C9F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44" y="870450"/>
            <a:ext cx="3793959" cy="3551729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receive user inputs from the push buttons, we need a GPIO configured as INPUT:</a:t>
            </a:r>
          </a:p>
          <a:p>
            <a:pPr marL="0" indent="0" algn="just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Double-click on the AXI-GPIO peripheral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IP Configuration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“All Inputs”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“GPIO Width” to 4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460253-E79F-8B64-CC32-854A1479D7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35</a:t>
            </a:fld>
            <a:endParaRPr lang="it-IT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5F0E9BBB-6D1C-5611-46DD-A49854B32FB3}"/>
              </a:ext>
            </a:extLst>
          </p:cNvPr>
          <p:cNvGrpSpPr/>
          <p:nvPr/>
        </p:nvGrpSpPr>
        <p:grpSpPr>
          <a:xfrm>
            <a:off x="4213547" y="795885"/>
            <a:ext cx="4589445" cy="3551729"/>
            <a:chOff x="6003715" y="2016643"/>
            <a:chExt cx="5022392" cy="3886783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DB11978C-80A3-4A78-44AB-BB8D15A07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3715" y="2016643"/>
              <a:ext cx="5022392" cy="38867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ettangolo con angoli arrotondati 4">
              <a:extLst>
                <a:ext uri="{FF2B5EF4-FFF2-40B4-BE49-F238E27FC236}">
                  <a16:creationId xmlns:a16="http://schemas.microsoft.com/office/drawing/2014/main" id="{C39C242D-0DE9-22B7-708A-B365B529C245}"/>
                </a:ext>
              </a:extLst>
            </p:cNvPr>
            <p:cNvSpPr/>
            <p:nvPr/>
          </p:nvSpPr>
          <p:spPr>
            <a:xfrm>
              <a:off x="7844486" y="2998433"/>
              <a:ext cx="766114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236336A2-81F6-E3D2-EBCF-102189C4F5AD}"/>
                </a:ext>
              </a:extLst>
            </p:cNvPr>
            <p:cNvSpPr txBox="1"/>
            <p:nvPr/>
          </p:nvSpPr>
          <p:spPr>
            <a:xfrm>
              <a:off x="7519988" y="2934319"/>
              <a:ext cx="362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7" name="Rettangolo con angoli arrotondati 6">
              <a:extLst>
                <a:ext uri="{FF2B5EF4-FFF2-40B4-BE49-F238E27FC236}">
                  <a16:creationId xmlns:a16="http://schemas.microsoft.com/office/drawing/2014/main" id="{04F77451-7EA1-F51A-AFA2-F5A53BDBE0DC}"/>
                </a:ext>
              </a:extLst>
            </p:cNvPr>
            <p:cNvSpPr/>
            <p:nvPr/>
          </p:nvSpPr>
          <p:spPr>
            <a:xfrm>
              <a:off x="7736536" y="3390056"/>
              <a:ext cx="547039" cy="200859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A71BEEFC-B080-533E-9C58-D66047031340}"/>
                </a:ext>
              </a:extLst>
            </p:cNvPr>
            <p:cNvSpPr txBox="1"/>
            <p:nvPr/>
          </p:nvSpPr>
          <p:spPr>
            <a:xfrm>
              <a:off x="7373907" y="3305819"/>
              <a:ext cx="362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81CBBB25-D005-6B87-F4A2-B8C534543AA3}"/>
                </a:ext>
              </a:extLst>
            </p:cNvPr>
            <p:cNvSpPr/>
            <p:nvPr/>
          </p:nvSpPr>
          <p:spPr>
            <a:xfrm>
              <a:off x="8439799" y="3716182"/>
              <a:ext cx="1470964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89055855-5A87-E99C-F32C-93EC5926A494}"/>
                </a:ext>
              </a:extLst>
            </p:cNvPr>
            <p:cNvSpPr txBox="1"/>
            <p:nvPr/>
          </p:nvSpPr>
          <p:spPr>
            <a:xfrm>
              <a:off x="9925699" y="3672303"/>
              <a:ext cx="362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4.</a:t>
              </a:r>
            </a:p>
          </p:txBody>
        </p:sp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FF9CA0A9-521C-57A8-C4A9-C78AEB3BF010}"/>
                </a:ext>
              </a:extLst>
            </p:cNvPr>
            <p:cNvSpPr/>
            <p:nvPr/>
          </p:nvSpPr>
          <p:spPr>
            <a:xfrm>
              <a:off x="9930461" y="5590960"/>
              <a:ext cx="489889" cy="234351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3F8278E6-8193-4FEC-9A4B-F8ADBCFE42D6}"/>
                </a:ext>
              </a:extLst>
            </p:cNvPr>
            <p:cNvSpPr txBox="1"/>
            <p:nvPr/>
          </p:nvSpPr>
          <p:spPr>
            <a:xfrm>
              <a:off x="9541296" y="5527617"/>
              <a:ext cx="440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5.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491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C43AE-40C7-0F69-96CF-4BB507EE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9B43B8-7C17-27F6-35A1-AB95CD11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</a:t>
            </a:r>
            <a:r>
              <a:rPr lang="it-IT" err="1"/>
              <a:t>Add</a:t>
            </a:r>
            <a:r>
              <a:rPr lang="it-IT"/>
              <a:t> Custom </a:t>
            </a:r>
            <a:r>
              <a:rPr lang="it-IT" err="1"/>
              <a:t>Modules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0FDD5281-7AB2-3949-1408-D7BAF7C9E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555" y="795885"/>
            <a:ext cx="4567646" cy="3551729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processing core and the GPIO peripheral are components in the standard library.</a:t>
            </a: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pre-defined modules inside the EDA tool to speed up the design.</a:t>
            </a: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Sometimes, custom modules are required. These modules are complex combinations of logic gates.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Right-click inside the block design → Add Module…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“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pwm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22529F-E38D-1B39-997A-ED1460A9E7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36</a:t>
            </a:fld>
            <a:endParaRPr lang="it-IT"/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B3BF8B74-B81D-AE71-A183-5FE5117E9B74}"/>
              </a:ext>
            </a:extLst>
          </p:cNvPr>
          <p:cNvGrpSpPr/>
          <p:nvPr/>
        </p:nvGrpSpPr>
        <p:grpSpPr>
          <a:xfrm>
            <a:off x="728258" y="863477"/>
            <a:ext cx="2877091" cy="3416546"/>
            <a:chOff x="806635" y="617050"/>
            <a:chExt cx="3292125" cy="3909399"/>
          </a:xfrm>
        </p:grpSpPr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3284ABFA-C593-8AF6-3F80-2A0F616D7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6635" y="617050"/>
              <a:ext cx="3292125" cy="39093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5AFF6825-8F19-D01B-8275-31227E3E67CE}"/>
                </a:ext>
              </a:extLst>
            </p:cNvPr>
            <p:cNvSpPr/>
            <p:nvPr/>
          </p:nvSpPr>
          <p:spPr>
            <a:xfrm>
              <a:off x="987931" y="2227676"/>
              <a:ext cx="1470964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7DDAB5A7-7DD9-4E8D-1384-6E1FCDCCDCD1}"/>
                </a:ext>
              </a:extLst>
            </p:cNvPr>
            <p:cNvSpPr txBox="1"/>
            <p:nvPr/>
          </p:nvSpPr>
          <p:spPr>
            <a:xfrm>
              <a:off x="2473831" y="2183797"/>
              <a:ext cx="362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84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E09F-4FAB-4688-66B1-1C5C51651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E336068-0E7A-9945-F409-EEEFFA84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Input &amp; Output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FD81574F-C6C1-49DD-97C0-1C34CA2AA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883" y="795885"/>
            <a:ext cx="4098318" cy="3436481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input and output ports: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2" lvl="1" indent="0" algn="just"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→ Create Port…</a:t>
            </a:r>
          </a:p>
          <a:p>
            <a:pPr marL="271462" lvl="1" indent="0" algn="just">
              <a:buNone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8525" lvl="2" indent="-457200" algn="just">
              <a:buFont typeface="+mj-lt"/>
              <a:buAutoNum type="alphaLcParenR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(Direction:  Input):</a:t>
            </a:r>
          </a:p>
          <a:p>
            <a:pPr marL="441325" lvl="2" indent="0" algn="just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Name: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btn_i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lvl="2" indent="0" algn="just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Create vector from 3 to 0</a:t>
            </a:r>
          </a:p>
          <a:p>
            <a:pPr marL="898525" lvl="2" indent="-457200" algn="just">
              <a:buFont typeface="+mj-lt"/>
              <a:buAutoNum type="alphaLcParenR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(Direction:  Output):</a:t>
            </a:r>
          </a:p>
          <a:p>
            <a:pPr marL="441325" lvl="2" indent="0" algn="just"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Name: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led_o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69B4E-6551-3486-28F5-DE37325140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37</a:t>
            </a:fld>
            <a:endParaRPr lang="it-IT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9BB25C49-0D22-00F0-266E-6FDD8ED23C1E}"/>
              </a:ext>
            </a:extLst>
          </p:cNvPr>
          <p:cNvGrpSpPr/>
          <p:nvPr/>
        </p:nvGrpSpPr>
        <p:grpSpPr>
          <a:xfrm>
            <a:off x="304799" y="1760433"/>
            <a:ext cx="4098320" cy="1962267"/>
            <a:chOff x="5045680" y="1209041"/>
            <a:chExt cx="6841384" cy="3275640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2255CBCD-1C54-FF22-335A-7E1694A35D0D}"/>
                </a:ext>
              </a:extLst>
            </p:cNvPr>
            <p:cNvSpPr txBox="1"/>
            <p:nvPr/>
          </p:nvSpPr>
          <p:spPr>
            <a:xfrm>
              <a:off x="5723340" y="4106833"/>
              <a:ext cx="1869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Input</a:t>
              </a:r>
              <a:endParaRPr lang="en-GB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9563937C-C176-AA66-2CF8-ED500B032DFB}"/>
                </a:ext>
              </a:extLst>
            </p:cNvPr>
            <p:cNvSpPr txBox="1"/>
            <p:nvPr/>
          </p:nvSpPr>
          <p:spPr>
            <a:xfrm>
              <a:off x="9295130" y="4115349"/>
              <a:ext cx="1869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Output</a:t>
              </a:r>
              <a:endParaRPr lang="en-GB"/>
            </a:p>
          </p:txBody>
        </p:sp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053A1389-C29B-63A6-653B-5C70D17ED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5680" y="1209041"/>
              <a:ext cx="3224759" cy="27359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FD68F41A-3DD3-0803-62AB-1804FDB8E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62306" y="1209042"/>
              <a:ext cx="3224758" cy="273599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1439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9425-43A7-6183-F647-F3BB87CD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CCEE445-EC95-FD28-EBD2-8EE3FB67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Input &amp; Output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D5C517CF-614C-A43C-97EE-BF2DDA3D9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883" y="795885"/>
            <a:ext cx="4098318" cy="3436481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/>
              <a:t>Add the input and output ports: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400"/>
          </a:p>
          <a:p>
            <a:pPr marL="271462" lvl="1" indent="0" algn="just">
              <a:buNone/>
            </a:pPr>
            <a:r>
              <a:rPr lang="en-GB" sz="2200"/>
              <a:t>Right-Click → Create Port…</a:t>
            </a:r>
          </a:p>
          <a:p>
            <a:pPr marL="271462" lvl="1" indent="0" algn="just">
              <a:buNone/>
            </a:pPr>
            <a:endParaRPr lang="en-GB" sz="2200"/>
          </a:p>
          <a:p>
            <a:pPr marL="898525" lvl="2" indent="-457200" algn="just">
              <a:buFont typeface="+mj-lt"/>
              <a:buAutoNum type="alphaLcParenR"/>
            </a:pPr>
            <a:r>
              <a:rPr lang="en-GB" sz="2000"/>
              <a:t>Input (Direction:  Input):</a:t>
            </a:r>
          </a:p>
          <a:p>
            <a:pPr marL="898525" lvl="2" indent="-457200" algn="just">
              <a:buFont typeface="+mj-lt"/>
              <a:buAutoNum type="alphaLcParenR"/>
            </a:pPr>
            <a:r>
              <a:rPr lang="en-GB" sz="2000" err="1"/>
              <a:t>btn_i</a:t>
            </a:r>
            <a:r>
              <a:rPr lang="en-GB" sz="2000"/>
              <a:t>, Create vector from 3 to 0</a:t>
            </a:r>
          </a:p>
          <a:p>
            <a:pPr marL="898525" lvl="2" indent="-457200" algn="just">
              <a:buFont typeface="+mj-lt"/>
              <a:buAutoNum type="alphaLcParenR"/>
            </a:pPr>
            <a:r>
              <a:rPr lang="en-GB" sz="2000"/>
              <a:t>Output (Direction:  Output):</a:t>
            </a:r>
          </a:p>
          <a:p>
            <a:pPr marL="898525" lvl="2" indent="-457200" algn="just">
              <a:buFont typeface="+mj-lt"/>
              <a:buAutoNum type="alphaLcParenR"/>
            </a:pPr>
            <a:r>
              <a:rPr lang="en-GB" sz="2000" err="1"/>
              <a:t>led_o</a:t>
            </a:r>
            <a:endParaRPr lang="en-GB" sz="200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4C6A5B-E485-7CB9-DE74-F17402A93F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38</a:t>
            </a:fld>
            <a:endParaRPr lang="it-IT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FE994261-443A-78F4-4828-EBD7074BC40A}"/>
              </a:ext>
            </a:extLst>
          </p:cNvPr>
          <p:cNvGrpSpPr/>
          <p:nvPr/>
        </p:nvGrpSpPr>
        <p:grpSpPr>
          <a:xfrm>
            <a:off x="304799" y="1760433"/>
            <a:ext cx="4098320" cy="1962267"/>
            <a:chOff x="5045680" y="1209041"/>
            <a:chExt cx="6841384" cy="3275640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DFCBF7FB-FEFA-B49D-9A9F-FE27401E4987}"/>
                </a:ext>
              </a:extLst>
            </p:cNvPr>
            <p:cNvSpPr txBox="1"/>
            <p:nvPr/>
          </p:nvSpPr>
          <p:spPr>
            <a:xfrm>
              <a:off x="5723340" y="4106833"/>
              <a:ext cx="1869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Input</a:t>
              </a:r>
              <a:endParaRPr lang="en-GB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ABFC3C12-A557-1D7A-5ADC-9BA972F1284C}"/>
                </a:ext>
              </a:extLst>
            </p:cNvPr>
            <p:cNvSpPr txBox="1"/>
            <p:nvPr/>
          </p:nvSpPr>
          <p:spPr>
            <a:xfrm>
              <a:off x="9295130" y="4115349"/>
              <a:ext cx="1869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Output</a:t>
              </a:r>
              <a:endParaRPr lang="en-GB"/>
            </a:p>
          </p:txBody>
        </p:sp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1BE56CD2-8E9A-8BEF-C233-EB5B9850A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>
              <a:off x="5045680" y="1209041"/>
              <a:ext cx="3224759" cy="27359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322C9327-58E8-C7EF-6270-84DB043DA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tretch>
              <a:fillRect/>
            </a:stretch>
          </p:blipFill>
          <p:spPr>
            <a:xfrm>
              <a:off x="8662306" y="1209042"/>
              <a:ext cx="3224758" cy="273599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D53593D-7193-402E-F139-A6450F6BE709}"/>
              </a:ext>
            </a:extLst>
          </p:cNvPr>
          <p:cNvSpPr txBox="1"/>
          <p:nvPr/>
        </p:nvSpPr>
        <p:spPr>
          <a:xfrm>
            <a:off x="4338958" y="4041519"/>
            <a:ext cx="1869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chemeClr val="accent2">
                    <a:lumMod val="75000"/>
                    <a:alpha val="50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Input</a:t>
            </a:r>
            <a:endParaRPr lang="en-GB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470A825B-3851-08A4-F385-2AB9D1F928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661298" y="1143727"/>
            <a:ext cx="3224759" cy="273599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EBEFF2A-93B3-1207-C2FC-5D7C0C198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90" y="207713"/>
            <a:ext cx="8038492" cy="4448881"/>
          </a:xfrm>
          <a:prstGeom prst="rect">
            <a:avLst/>
          </a:prstGeom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5159526-B0D0-5D04-BD16-80A1698C1466}"/>
              </a:ext>
            </a:extLst>
          </p:cNvPr>
          <p:cNvSpPr/>
          <p:nvPr/>
        </p:nvSpPr>
        <p:spPr>
          <a:xfrm>
            <a:off x="1272022" y="1077133"/>
            <a:ext cx="796309" cy="241104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A22CF45-7A7D-6A5A-C771-C31BD40817B6}"/>
              </a:ext>
            </a:extLst>
          </p:cNvPr>
          <p:cNvSpPr/>
          <p:nvPr/>
        </p:nvSpPr>
        <p:spPr>
          <a:xfrm>
            <a:off x="7069683" y="1077133"/>
            <a:ext cx="796309" cy="241104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33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B04B-1FDD-FE50-16B4-77DD5CA6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442688E-5EE3-D700-B0A1-03E0B672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</a:t>
            </a:r>
            <a:r>
              <a:rPr lang="it-IT" err="1"/>
              <a:t>Interconnections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363BB396-E0D6-28C4-1C3C-1424A5824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63" y="853509"/>
            <a:ext cx="6395438" cy="3436481"/>
          </a:xfrm>
          <a:ln>
            <a:noFill/>
          </a:ln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ports to peripherals: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8662" lvl="1" indent="-457200" algn="just">
              <a:buFont typeface="+mj-lt"/>
              <a:buAutoNum type="alphaLcParenR"/>
            </a:pP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btn_i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gpio_io_i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8662" lvl="1" indent="-457200" algn="just">
              <a:buFont typeface="+mj-lt"/>
              <a:buAutoNum type="alphaLcParenR"/>
            </a:pP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pwm_o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led_o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550FC2-12C8-1573-6FA6-1E9AECA817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39</a:t>
            </a:fld>
            <a:endParaRPr lang="it-IT"/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C0D30692-722F-F0C4-5268-5928EFE23CCF}"/>
              </a:ext>
            </a:extLst>
          </p:cNvPr>
          <p:cNvGrpSpPr/>
          <p:nvPr/>
        </p:nvGrpSpPr>
        <p:grpSpPr>
          <a:xfrm>
            <a:off x="3641006" y="1069210"/>
            <a:ext cx="5332079" cy="3297546"/>
            <a:chOff x="5269887" y="1763166"/>
            <a:chExt cx="6349485" cy="3926745"/>
          </a:xfrm>
        </p:grpSpPr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314B4B45-C0B5-A3EC-0911-91E16CAC1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9887" y="2178972"/>
              <a:ext cx="6349485" cy="35109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Rettangolo con angoli arrotondati 12">
              <a:extLst>
                <a:ext uri="{FF2B5EF4-FFF2-40B4-BE49-F238E27FC236}">
                  <a16:creationId xmlns:a16="http://schemas.microsoft.com/office/drawing/2014/main" id="{E17567BC-8B6D-2C7B-87AC-8E352E5183D2}"/>
                </a:ext>
              </a:extLst>
            </p:cNvPr>
            <p:cNvSpPr/>
            <p:nvPr/>
          </p:nvSpPr>
          <p:spPr>
            <a:xfrm>
              <a:off x="5628212" y="2632363"/>
              <a:ext cx="5633452" cy="3018188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4B6A3015-43D3-4177-75E1-EA57EF9FCBAD}"/>
                </a:ext>
              </a:extLst>
            </p:cNvPr>
            <p:cNvSpPr txBox="1"/>
            <p:nvPr/>
          </p:nvSpPr>
          <p:spPr>
            <a:xfrm>
              <a:off x="10351391" y="1763166"/>
              <a:ext cx="295159" cy="76965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/>
                  <a:ea typeface="Baskerville Display PT" panose="02030602080406020203" pitchFamily="18" charset="0"/>
                </a:rPr>
                <a:t>1</a:t>
              </a:r>
            </a:p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↓ </a:t>
              </a:r>
            </a:p>
          </p:txBody>
        </p:sp>
        <p:cxnSp>
          <p:nvCxnSpPr>
            <p:cNvPr id="15" name="Connettore diritto 14">
              <a:extLst>
                <a:ext uri="{FF2B5EF4-FFF2-40B4-BE49-F238E27FC236}">
                  <a16:creationId xmlns:a16="http://schemas.microsoft.com/office/drawing/2014/main" id="{118D0BD6-65FF-C749-C155-4EDFF6B637E7}"/>
                </a:ext>
              </a:extLst>
            </p:cNvPr>
            <p:cNvCxnSpPr/>
            <p:nvPr/>
          </p:nvCxnSpPr>
          <p:spPr>
            <a:xfrm flipH="1">
              <a:off x="6464300" y="3714750"/>
              <a:ext cx="415925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938CFD1B-128B-52DA-A4CC-576553955C3E}"/>
                </a:ext>
              </a:extLst>
            </p:cNvPr>
            <p:cNvCxnSpPr>
              <a:cxnSpLocks/>
            </p:cNvCxnSpPr>
            <p:nvPr/>
          </p:nvCxnSpPr>
          <p:spPr>
            <a:xfrm>
              <a:off x="6464300" y="3714750"/>
              <a:ext cx="0" cy="86360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Connettore diritto 16">
              <a:extLst>
                <a:ext uri="{FF2B5EF4-FFF2-40B4-BE49-F238E27FC236}">
                  <a16:creationId xmlns:a16="http://schemas.microsoft.com/office/drawing/2014/main" id="{AFF97368-F003-EFB2-86B2-6F2FC078B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4300" y="4575175"/>
              <a:ext cx="1917700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5C272554-11D0-28F1-93C7-B539F39A00D5}"/>
                </a:ext>
              </a:extLst>
            </p:cNvPr>
            <p:cNvCxnSpPr>
              <a:cxnSpLocks/>
            </p:cNvCxnSpPr>
            <p:nvPr/>
          </p:nvCxnSpPr>
          <p:spPr>
            <a:xfrm>
              <a:off x="8378825" y="4568825"/>
              <a:ext cx="0" cy="72360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Connettore diritto 18">
              <a:extLst>
                <a:ext uri="{FF2B5EF4-FFF2-40B4-BE49-F238E27FC236}">
                  <a16:creationId xmlns:a16="http://schemas.microsoft.com/office/drawing/2014/main" id="{DA7AEA47-D7CA-A8A1-8639-ADEF0A15B47D}"/>
                </a:ext>
              </a:extLst>
            </p:cNvPr>
            <p:cNvCxnSpPr>
              <a:cxnSpLocks/>
            </p:cNvCxnSpPr>
            <p:nvPr/>
          </p:nvCxnSpPr>
          <p:spPr>
            <a:xfrm>
              <a:off x="8270875" y="5279728"/>
              <a:ext cx="111125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619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9196-D04C-D5B9-8CC7-1D34B327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1874CDD-1FC1-DC6C-1209-89DDB3C1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</a:t>
            </a:r>
            <a:r>
              <a:rPr lang="it-IT" err="1"/>
              <a:t>Interconnections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0827B227-12CC-F73E-980C-7FE1A41EE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64" y="853509"/>
            <a:ext cx="3527906" cy="3436481"/>
          </a:xfrm>
          <a:ln>
            <a:noFill/>
          </a:ln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tools automate the connection of the various blocks of the design</a:t>
            </a:r>
          </a:p>
          <a:p>
            <a:pPr marL="0" indent="0" algn="just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“Run Connection Automation"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“All Automation”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5DBDE4-1C3D-CD1A-7E0D-8644EF258B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40</a:t>
            </a:fld>
            <a:endParaRPr lang="it-IT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D1306A40-31F1-60D6-66F1-D3A5AB3C8122}"/>
              </a:ext>
            </a:extLst>
          </p:cNvPr>
          <p:cNvGrpSpPr/>
          <p:nvPr/>
        </p:nvGrpSpPr>
        <p:grpSpPr>
          <a:xfrm>
            <a:off x="4236044" y="1312232"/>
            <a:ext cx="4556193" cy="2519035"/>
            <a:chOff x="5173102" y="2131342"/>
            <a:chExt cx="6439945" cy="3560527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04824F44-8074-9B4E-EFDC-1EDCA65A2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3102" y="2131342"/>
              <a:ext cx="6439945" cy="356052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16A46504-5FBC-EE04-6093-BB133F7063C5}"/>
                </a:ext>
              </a:extLst>
            </p:cNvPr>
            <p:cNvSpPr/>
            <p:nvPr/>
          </p:nvSpPr>
          <p:spPr>
            <a:xfrm>
              <a:off x="6096000" y="2422697"/>
              <a:ext cx="942109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6975BD49-5AD1-5203-6959-CC96A10FFE93}"/>
                </a:ext>
              </a:extLst>
            </p:cNvPr>
            <p:cNvSpPr txBox="1"/>
            <p:nvPr/>
          </p:nvSpPr>
          <p:spPr>
            <a:xfrm>
              <a:off x="5676680" y="2294471"/>
              <a:ext cx="558951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986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7FB9F-0964-D482-CA55-FE8964F5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1B58E4E-90FD-F277-C9F2-062D908D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RTL Design: </a:t>
            </a:r>
            <a:r>
              <a:rPr lang="it-IT" err="1"/>
              <a:t>Interconnections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A41B7548-11F1-A5DE-3111-4614F503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64" y="853509"/>
            <a:ext cx="3527906" cy="3436481"/>
          </a:xfrm>
          <a:ln>
            <a:noFill/>
          </a:ln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tools automate the connection of the various blocks of the design</a:t>
            </a:r>
          </a:p>
          <a:p>
            <a:pPr marL="0" indent="0" algn="just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Click on “Run Connection Automation"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“All Automation”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7E796-EF4B-2290-DE3C-E3F5784C0A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41</a:t>
            </a:fld>
            <a:endParaRPr lang="it-IT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473C2E3D-7AA6-3AFF-F1A1-946BEEBE0AFC}"/>
              </a:ext>
            </a:extLst>
          </p:cNvPr>
          <p:cNvGrpSpPr/>
          <p:nvPr/>
        </p:nvGrpSpPr>
        <p:grpSpPr>
          <a:xfrm>
            <a:off x="4236044" y="1312232"/>
            <a:ext cx="4556193" cy="2519035"/>
            <a:chOff x="5173102" y="2131342"/>
            <a:chExt cx="6439945" cy="3560527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8DA901EA-FA49-22B7-EAB2-229215A37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>
              <a:off x="5173102" y="2131342"/>
              <a:ext cx="6439945" cy="356052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C91C391A-C060-FECF-9965-83486D6A81F6}"/>
                </a:ext>
              </a:extLst>
            </p:cNvPr>
            <p:cNvSpPr/>
            <p:nvPr/>
          </p:nvSpPr>
          <p:spPr>
            <a:xfrm>
              <a:off x="6096000" y="2422697"/>
              <a:ext cx="942109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FD2C80B3-16A7-200D-E851-D49A8E14B2E8}"/>
                </a:ext>
              </a:extLst>
            </p:cNvPr>
            <p:cNvSpPr txBox="1"/>
            <p:nvPr/>
          </p:nvSpPr>
          <p:spPr>
            <a:xfrm>
              <a:off x="5781225" y="2358583"/>
              <a:ext cx="558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9EF5AC32-FDDA-FF95-7E21-33A2C3245C25}"/>
              </a:ext>
            </a:extLst>
          </p:cNvPr>
          <p:cNvGrpSpPr/>
          <p:nvPr/>
        </p:nvGrpSpPr>
        <p:grpSpPr>
          <a:xfrm>
            <a:off x="1561868" y="557477"/>
            <a:ext cx="6020264" cy="4028543"/>
            <a:chOff x="2983715" y="1897333"/>
            <a:chExt cx="6020264" cy="4028543"/>
          </a:xfrm>
        </p:grpSpPr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0140888B-6AA6-25AA-0EC5-A56C827C4DE1}"/>
                </a:ext>
              </a:extLst>
            </p:cNvPr>
            <p:cNvSpPr/>
            <p:nvPr/>
          </p:nvSpPr>
          <p:spPr>
            <a:xfrm>
              <a:off x="6096000" y="2422697"/>
              <a:ext cx="942109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lt1">
                    <a:alpha val="50000"/>
                  </a:schemeClr>
                </a:solidFill>
              </a:endParaRP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01F64BCE-DC22-1169-CAEC-32A86004EB93}"/>
                </a:ext>
              </a:extLst>
            </p:cNvPr>
            <p:cNvSpPr txBox="1"/>
            <p:nvPr/>
          </p:nvSpPr>
          <p:spPr>
            <a:xfrm>
              <a:off x="5781225" y="2358583"/>
              <a:ext cx="558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  <a:alpha val="50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4F06618E-0F3B-3B3E-320F-B84240D05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8434" y="1897333"/>
              <a:ext cx="5895545" cy="402854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Rettangolo con angoli arrotondati 12">
              <a:extLst>
                <a:ext uri="{FF2B5EF4-FFF2-40B4-BE49-F238E27FC236}">
                  <a16:creationId xmlns:a16="http://schemas.microsoft.com/office/drawing/2014/main" id="{4E19D978-5410-840F-6ECE-0309883CAD6E}"/>
                </a:ext>
              </a:extLst>
            </p:cNvPr>
            <p:cNvSpPr/>
            <p:nvPr/>
          </p:nvSpPr>
          <p:spPr>
            <a:xfrm>
              <a:off x="3298490" y="2663801"/>
              <a:ext cx="1421292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829C0ED9-51FC-D316-6E0F-FE10AAB32C0A}"/>
                </a:ext>
              </a:extLst>
            </p:cNvPr>
            <p:cNvSpPr txBox="1"/>
            <p:nvPr/>
          </p:nvSpPr>
          <p:spPr>
            <a:xfrm>
              <a:off x="2983715" y="2599687"/>
              <a:ext cx="843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15" name="Rettangolo con angoli arrotondati 14">
              <a:extLst>
                <a:ext uri="{FF2B5EF4-FFF2-40B4-BE49-F238E27FC236}">
                  <a16:creationId xmlns:a16="http://schemas.microsoft.com/office/drawing/2014/main" id="{2F0510B1-4173-1636-B00C-A177E26CE236}"/>
                </a:ext>
              </a:extLst>
            </p:cNvPr>
            <p:cNvSpPr/>
            <p:nvPr/>
          </p:nvSpPr>
          <p:spPr>
            <a:xfrm>
              <a:off x="7837054" y="5608261"/>
              <a:ext cx="558951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38863F8C-D065-4F95-3ADD-60DD07F2F9B9}"/>
                </a:ext>
              </a:extLst>
            </p:cNvPr>
            <p:cNvSpPr txBox="1"/>
            <p:nvPr/>
          </p:nvSpPr>
          <p:spPr>
            <a:xfrm>
              <a:off x="7522279" y="5544147"/>
              <a:ext cx="558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355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E2BC-3C3E-B8C0-046B-B604FEBC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E8FB54-66AA-22A5-BDB3-FDED0D5B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Implementing</a:t>
            </a:r>
            <a:r>
              <a:rPr lang="it-IT"/>
              <a:t> the Circuit on the Board</a:t>
            </a:r>
            <a:endParaRPr lang="en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2D0851AD-6D99-5F5C-467F-17FD439A2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63" y="853509"/>
            <a:ext cx="3663645" cy="3436481"/>
          </a:xfrm>
          <a:ln>
            <a:noFill/>
          </a:ln>
        </p:spPr>
        <p:txBody>
          <a:bodyPr>
            <a:norm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Click on </a:t>
            </a:r>
            <a:r>
              <a:rPr lang="en-GB" sz="2000" i="1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“Generate Bitstream” </a:t>
            </a:r>
            <a:r>
              <a:rPr lang="en-GB" sz="2000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and the EDA Tool will provide the files to upload the design on the board</a:t>
            </a:r>
          </a:p>
          <a:p>
            <a:pPr marL="342900" indent="-342900" algn="just">
              <a:spcAft>
                <a:spcPts val="18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 this case, we also have some </a:t>
            </a:r>
            <a:r>
              <a:rPr lang="en-GB" sz="2000" b="1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program</a:t>
            </a:r>
            <a:r>
              <a:rPr lang="en-GB" sz="2000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running on the core</a:t>
            </a:r>
          </a:p>
          <a:p>
            <a:pPr lvl="1" algn="just">
              <a:spcAft>
                <a:spcPts val="1800"/>
              </a:spcAft>
              <a:buClr>
                <a:srgbClr val="003153"/>
              </a:buClr>
            </a:pPr>
            <a:r>
              <a:rPr lang="en-GB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We must upload the </a:t>
            </a:r>
            <a:r>
              <a:rPr lang="en-GB" b="1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code</a:t>
            </a:r>
            <a:r>
              <a:rPr lang="en-GB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to the memory of our SoC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13F470-3B33-7C86-B46B-865B1B555C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42</a:t>
            </a:fld>
            <a:endParaRPr lang="it-IT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A4C59C4-8067-06C6-33D0-05287CB2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72920"/>
            <a:ext cx="3983192" cy="2240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5960BC80-3C42-50A1-1382-B5AF798F7B77}"/>
              </a:ext>
            </a:extLst>
          </p:cNvPr>
          <p:cNvSpPr/>
          <p:nvPr/>
        </p:nvSpPr>
        <p:spPr>
          <a:xfrm>
            <a:off x="4572000" y="2838910"/>
            <a:ext cx="451993" cy="169085"/>
          </a:xfrm>
          <a:prstGeom prst="roundRect">
            <a:avLst/>
          </a:prstGeom>
          <a:noFill/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curvo 18">
            <a:extLst>
              <a:ext uri="{FF2B5EF4-FFF2-40B4-BE49-F238E27FC236}">
                <a16:creationId xmlns:a16="http://schemas.microsoft.com/office/drawing/2014/main" id="{0DA0E615-D5F5-84D0-AF69-8AE61ED2FEE7}"/>
              </a:ext>
            </a:extLst>
          </p:cNvPr>
          <p:cNvCxnSpPr>
            <a:cxnSpLocks/>
          </p:cNvCxnSpPr>
          <p:nvPr/>
        </p:nvCxnSpPr>
        <p:spPr>
          <a:xfrm>
            <a:off x="3824577" y="2377115"/>
            <a:ext cx="823623" cy="546337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2">
                <a:lumMod val="7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56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</a:t>
            </a:r>
            <a:r>
              <a:rPr lang="en-GB"/>
              <a:t>Attribution – Non-commercial </a:t>
            </a:r>
            <a:r>
              <a:rPr lang="en-GB" dirty="0"/>
              <a:t>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165B5C50-8219-3C97-DE74-56098DC9F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4D6C955-BB84-2EB6-1CAE-24CCD7C5F37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2386</Words>
  <Application>Microsoft Macintosh PowerPoint</Application>
  <PresentationFormat>On-screen Show (16:9)</PresentationFormat>
  <Paragraphs>426</Paragraphs>
  <Slides>43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Arial Narrow</vt:lpstr>
      <vt:lpstr>Baskerville Display PT</vt:lpstr>
      <vt:lpstr>Calibri</vt:lpstr>
      <vt:lpstr>Courier New</vt:lpstr>
      <vt:lpstr>Times New Roman</vt:lpstr>
      <vt:lpstr>3_Office Theme</vt:lpstr>
      <vt:lpstr>Lab 03: From Architectures to SoCs</vt:lpstr>
      <vt:lpstr>Hierarchical Design: From Gates to Architectures to SoCs</vt:lpstr>
      <vt:lpstr>Lab 03 Part 1: Implementation of an ALU</vt:lpstr>
      <vt:lpstr>ALU</vt:lpstr>
      <vt:lpstr>RTL Design: Input &amp; Output Ports</vt:lpstr>
      <vt:lpstr>ALU</vt:lpstr>
      <vt:lpstr>RTL Design of an Adder</vt:lpstr>
      <vt:lpstr>RTL Design of an Adder</vt:lpstr>
      <vt:lpstr>RTL Design of an Adder</vt:lpstr>
      <vt:lpstr>Verify the Design (Simulation)</vt:lpstr>
      <vt:lpstr>Verify the Design (Simulation)</vt:lpstr>
      <vt:lpstr>Lab 03 Part 2: Implementation Trade-offs (ALU Example)</vt:lpstr>
      <vt:lpstr>The Impact of Design Choices</vt:lpstr>
      <vt:lpstr>Example: Adder Architectures</vt:lpstr>
      <vt:lpstr>The Clock</vt:lpstr>
      <vt:lpstr>Adding Memory Elements to our ALU</vt:lpstr>
      <vt:lpstr>Adding Memory Elements to our ALU</vt:lpstr>
      <vt:lpstr>Adding Memory Elements to our ALU</vt:lpstr>
      <vt:lpstr>Setting Clock Constraints</vt:lpstr>
      <vt:lpstr>Setting Clock Constraints</vt:lpstr>
      <vt:lpstr>Implement the Circuit  </vt:lpstr>
      <vt:lpstr>Timing &amp; Area Reports</vt:lpstr>
      <vt:lpstr>Timing &amp; Area Reports</vt:lpstr>
      <vt:lpstr>Verify the Design (Simulation)</vt:lpstr>
      <vt:lpstr>Lab 03 Part 3: A simple SoC</vt:lpstr>
      <vt:lpstr>Laboratory: An SoC</vt:lpstr>
      <vt:lpstr>GPIO</vt:lpstr>
      <vt:lpstr>Timers</vt:lpstr>
      <vt:lpstr>Timers</vt:lpstr>
      <vt:lpstr>RTL Design of an SoC</vt:lpstr>
      <vt:lpstr>RTL Design: Main Core</vt:lpstr>
      <vt:lpstr>RTL Design: Main Core</vt:lpstr>
      <vt:lpstr>RTL Design: Main Core</vt:lpstr>
      <vt:lpstr>RTL Design: Add Peripherals</vt:lpstr>
      <vt:lpstr>Customize GPIO Peripheral: INPUT</vt:lpstr>
      <vt:lpstr>RTL Design: Add Custom Modules</vt:lpstr>
      <vt:lpstr>RTL Design: Input &amp; Output</vt:lpstr>
      <vt:lpstr>RTL Design: Input &amp; Output</vt:lpstr>
      <vt:lpstr>RTL Design: Interconnections</vt:lpstr>
      <vt:lpstr>RTL Design: Interconnections</vt:lpstr>
      <vt:lpstr>RTL Design: Interconnections</vt:lpstr>
      <vt:lpstr>Implementing the Circuit on the Board</vt:lpstr>
      <vt:lpstr>Authorship &amp; License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Cristiana Bolchini</cp:lastModifiedBy>
  <cp:revision>8</cp:revision>
  <dcterms:created xsi:type="dcterms:W3CDTF">2006-08-16T00:00:00Z</dcterms:created>
  <dcterms:modified xsi:type="dcterms:W3CDTF">2025-06-22T01:25:45Z</dcterms:modified>
</cp:coreProperties>
</file>