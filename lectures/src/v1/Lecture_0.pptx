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7" r:id="rId10"/>
    <p:sldId id="266" r:id="rId11"/>
    <p:sldId id="312" r:id="rId12"/>
  </p:sldIdLst>
  <p:sldSz cx="9144000" cy="5143500" type="screen16x9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A29BAF-EC28-4D4B-9014-0491DD129297}" v="2" dt="2025-06-22T01:18:41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028" autoAdjust="0"/>
    <p:restoredTop sz="95788"/>
  </p:normalViewPr>
  <p:slideViewPr>
    <p:cSldViewPr>
      <p:cViewPr varScale="1">
        <p:scale>
          <a:sx n="93" d="100"/>
          <a:sy n="93" d="100"/>
        </p:scale>
        <p:origin x="-1278" y="-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istiana Bolchini" userId="6b8273cd-38c1-41dc-ba93-995a19828489" providerId="ADAL" clId="{79A29BAF-EC28-4D4B-9014-0491DD129297}"/>
    <pc:docChg chg="modSld">
      <pc:chgData name="Cristiana Bolchini" userId="6b8273cd-38c1-41dc-ba93-995a19828489" providerId="ADAL" clId="{79A29BAF-EC28-4D4B-9014-0491DD129297}" dt="2025-06-22T01:18:41.252" v="1"/>
      <pc:docMkLst>
        <pc:docMk/>
      </pc:docMkLst>
      <pc:sldChg chg="addSp delSp modSp">
        <pc:chgData name="Cristiana Bolchini" userId="6b8273cd-38c1-41dc-ba93-995a19828489" providerId="ADAL" clId="{79A29BAF-EC28-4D4B-9014-0491DD129297}" dt="2025-06-22T01:18:41.252" v="1"/>
        <pc:sldMkLst>
          <pc:docMk/>
          <pc:sldMk cId="3414173897" sldId="312"/>
        </pc:sldMkLst>
        <pc:picChg chg="add mod">
          <ac:chgData name="Cristiana Bolchini" userId="6b8273cd-38c1-41dc-ba93-995a19828489" providerId="ADAL" clId="{79A29BAF-EC28-4D4B-9014-0491DD129297}" dt="2025-06-22T01:18:41.252" v="1"/>
          <ac:picMkLst>
            <pc:docMk/>
            <pc:sldMk cId="3414173897" sldId="312"/>
            <ac:picMk id="3" creationId="{3CA52C83-3B8D-0FA8-8BEF-3050DC5930ED}"/>
          </ac:picMkLst>
        </pc:picChg>
        <pc:picChg chg="add mod">
          <ac:chgData name="Cristiana Bolchini" userId="6b8273cd-38c1-41dc-ba93-995a19828489" providerId="ADAL" clId="{79A29BAF-EC28-4D4B-9014-0491DD129297}" dt="2025-06-22T01:18:41.252" v="1"/>
          <ac:picMkLst>
            <pc:docMk/>
            <pc:sldMk cId="3414173897" sldId="312"/>
            <ac:picMk id="5" creationId="{6D515B48-A5D6-BE44-D21F-D1D8FD53F25B}"/>
          </ac:picMkLst>
        </pc:picChg>
        <pc:picChg chg="del">
          <ac:chgData name="Cristiana Bolchini" userId="6b8273cd-38c1-41dc-ba93-995a19828489" providerId="ADAL" clId="{79A29BAF-EC28-4D4B-9014-0491DD129297}" dt="2025-06-22T01:18:39.922" v="0" actId="478"/>
          <ac:picMkLst>
            <pc:docMk/>
            <pc:sldMk cId="3414173897" sldId="312"/>
            <ac:picMk id="1028" creationId="{9394C041-C18A-46FD-9B3C-ADB3D7FFE38E}"/>
          </ac:picMkLst>
        </pc:picChg>
        <pc:picChg chg="del">
          <ac:chgData name="Cristiana Bolchini" userId="6b8273cd-38c1-41dc-ba93-995a19828489" providerId="ADAL" clId="{79A29BAF-EC28-4D4B-9014-0491DD129297}" dt="2025-06-22T01:18:39.922" v="0" actId="478"/>
          <ac:picMkLst>
            <pc:docMk/>
            <pc:sldMk cId="3414173897" sldId="312"/>
            <ac:picMk id="1030" creationId="{EEBFC921-7D9A-3E46-F3DC-0A403C48E83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830D52-2450-43A0-AB58-69F604DFD254}" type="datetime1">
              <a:rPr lang="it-IT" smtClean="0"/>
              <a:t>02/12/2025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9C8F6-2C7F-41E8-AF20-581BF10916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44409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BC3798E-5246-42B7-87DF-314C5FF7A1B0}" type="datetime1">
              <a:rPr lang="it-IT" smtClean="0"/>
              <a:t>02/12/2025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C1D7705-DC9E-44A1-A41B-B088B54FD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8257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D7705-DC9E-44A1-A41B-B088B54FD748}" type="slidenum">
              <a:rPr lang="en-US" smtClean="0"/>
              <a:t>1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9364BCA9-79E4-41C9-A3F9-296D6B99A311}" type="datetime1">
              <a:rPr lang="it-IT" smtClean="0"/>
              <a:t>02/12/2025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67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CAC6DE-0E8B-4089-98A4-3D00D90370EC}" type="slidenum">
              <a:rPr lang="it-IT" smtClean="0"/>
              <a:t>11</a:t>
            </a:fld>
            <a:endParaRPr lang="it-IT"/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16B4CC1-EC60-40D5-B1AE-D2730F82F598}" type="datetime1">
              <a:rPr lang="it-IT" smtClean="0"/>
              <a:t>02/12/2025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317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895350"/>
            <a:ext cx="7772400" cy="1102519"/>
          </a:xfrm>
        </p:spPr>
        <p:txBody>
          <a:bodyPr>
            <a:normAutofit/>
          </a:bodyPr>
          <a:lstStyle>
            <a:lvl1pPr>
              <a:defRPr sz="48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713" y="2719271"/>
            <a:ext cx="1190486" cy="522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838670" y="3638550"/>
            <a:ext cx="5466657" cy="685800"/>
          </a:xfrm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rgbClr val="00206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Presented By: (Name)</a:t>
            </a:r>
          </a:p>
        </p:txBody>
      </p:sp>
      <p:pic>
        <p:nvPicPr>
          <p:cNvPr id="4" name="Picture 3" descr="A logo with text and a group of people&#10;&#10;AI-generated content may be incorrect.">
            <a:extLst>
              <a:ext uri="{FF2B5EF4-FFF2-40B4-BE49-F238E27FC236}">
                <a16:creationId xmlns="" xmlns:a16="http://schemas.microsoft.com/office/drawing/2014/main" id="{BB158421-96FB-D0D7-B787-F5045D4930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653" y="2571750"/>
            <a:ext cx="1112033" cy="817277"/>
          </a:xfrm>
          <a:prstGeom prst="rect">
            <a:avLst/>
          </a:prstGeom>
        </p:spPr>
      </p:pic>
      <p:pic>
        <p:nvPicPr>
          <p:cNvPr id="6" name="Picture 5" descr="A blue and black logo&#10;&#10;AI-generated content may be incorrect.">
            <a:extLst>
              <a:ext uri="{FF2B5EF4-FFF2-40B4-BE49-F238E27FC236}">
                <a16:creationId xmlns="" xmlns:a16="http://schemas.microsoft.com/office/drawing/2014/main" id="{D99B0BAF-5291-41A3-E05B-2CADD76D9B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2352" y="2692914"/>
            <a:ext cx="2199292" cy="57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90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5"/>
          <p:cNvSpPr>
            <a:spLocks noChangeArrowheads="1"/>
          </p:cNvSpPr>
          <p:nvPr userDrawn="1"/>
        </p:nvSpPr>
        <p:spPr bwMode="auto">
          <a:xfrm>
            <a:off x="0" y="0"/>
            <a:ext cx="9144000" cy="519113"/>
          </a:xfrm>
          <a:prstGeom prst="rect">
            <a:avLst/>
          </a:prstGeom>
          <a:gradFill rotWithShape="1">
            <a:gsLst>
              <a:gs pos="0">
                <a:srgbClr val="EAEAEA">
                  <a:alpha val="0"/>
                </a:srgbClr>
              </a:gs>
              <a:gs pos="100000">
                <a:srgbClr val="1F497D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 eaLnBrk="1" hangingPunct="1">
              <a:defRPr/>
            </a:pPr>
            <a:endParaRPr lang="it-IT" altLang="it-IT" sz="1800" u="sng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170"/>
            <a:ext cx="8382000" cy="460771"/>
          </a:xfrm>
        </p:spPr>
        <p:txBody>
          <a:bodyPr>
            <a:noAutofit/>
          </a:bodyPr>
          <a:lstStyle>
            <a:lvl1pPr algn="r">
              <a:defRPr sz="2400" b="1" i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66750"/>
            <a:ext cx="8534400" cy="3927873"/>
          </a:xfrm>
        </p:spPr>
        <p:txBody>
          <a:bodyPr>
            <a:normAutofit/>
          </a:bodyPr>
          <a:lstStyle>
            <a:lvl1pPr marL="271463" indent="-271463">
              <a:defRPr sz="2000">
                <a:solidFill>
                  <a:srgbClr val="002060"/>
                </a:solidFill>
              </a:defRPr>
            </a:lvl1pPr>
            <a:lvl2pPr marL="542925" indent="-271463">
              <a:defRPr sz="1800">
                <a:solidFill>
                  <a:srgbClr val="002060"/>
                </a:solidFill>
              </a:defRPr>
            </a:lvl2pPr>
            <a:lvl3pPr marL="712788" indent="-169863">
              <a:defRPr sz="1600">
                <a:solidFill>
                  <a:srgbClr val="002060"/>
                </a:solidFill>
              </a:defRPr>
            </a:lvl3pPr>
            <a:lvl4pPr marL="984250" indent="-271463">
              <a:defRPr sz="1400">
                <a:solidFill>
                  <a:srgbClr val="002060"/>
                </a:solidFill>
              </a:defRPr>
            </a:lvl4pPr>
            <a:lvl5pPr marL="1165225" indent="-180975">
              <a:defRPr sz="1400"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32"/>
          <p:cNvSpPr>
            <a:spLocks noChangeShapeType="1"/>
          </p:cNvSpPr>
          <p:nvPr userDrawn="1"/>
        </p:nvSpPr>
        <p:spPr bwMode="auto">
          <a:xfrm flipH="1">
            <a:off x="0" y="519113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CasellaDiTesto 11"/>
          <p:cNvSpPr txBox="1"/>
          <p:nvPr userDrawn="1"/>
        </p:nvSpPr>
        <p:spPr>
          <a:xfrm>
            <a:off x="8507413" y="4809331"/>
            <a:ext cx="503237" cy="246063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eaLnBrk="0" hangingPunct="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1" hangingPunct="1">
              <a:defRPr/>
            </a:pPr>
            <a:fld id="{ACA776E3-4C8B-4FD3-B0C0-076B8DB06758}" type="slidenum">
              <a:rPr lang="it-IT" altLang="it-IT" sz="1000" smtClean="0">
                <a:solidFill>
                  <a:srgbClr val="2C456E"/>
                </a:solidFill>
                <a:latin typeface="Arial Narrow" pitchFamily="34" charset="0"/>
              </a:rPr>
              <a:pPr eaLnBrk="1" hangingPunct="1">
                <a:defRPr/>
              </a:pPr>
              <a:t>‹#›</a:t>
            </a:fld>
            <a:endParaRPr lang="it-IT" altLang="it-IT" sz="1000" dirty="0">
              <a:solidFill>
                <a:srgbClr val="2C456E"/>
              </a:solidFill>
              <a:latin typeface="Arial Narrow" pitchFamily="34" charset="0"/>
            </a:endParaRPr>
          </a:p>
        </p:txBody>
      </p:sp>
      <p:sp>
        <p:nvSpPr>
          <p:cNvPr id="14" name="Line 32"/>
          <p:cNvSpPr>
            <a:spLocks noChangeShapeType="1"/>
          </p:cNvSpPr>
          <p:nvPr userDrawn="1"/>
        </p:nvSpPr>
        <p:spPr bwMode="auto">
          <a:xfrm flipH="1">
            <a:off x="0" y="4705350"/>
            <a:ext cx="9144000" cy="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5" name="Picture 4" descr="A blue and black logo&#10;&#10;AI-generated content may be incorrect.">
            <a:extLst>
              <a:ext uri="{FF2B5EF4-FFF2-40B4-BE49-F238E27FC236}">
                <a16:creationId xmlns="" xmlns:a16="http://schemas.microsoft.com/office/drawing/2014/main" id="{3D9BC375-3E57-9DF0-CD93-2D1355C944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3868" y="4742259"/>
            <a:ext cx="1456264" cy="38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79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B9F99F-307B-4945-B017-40E72C895BFA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mailto:cristiana.bolchini@polimi.it" TargetMode="External"/><Relationship Id="rId13" Type="http://schemas.openxmlformats.org/officeDocument/2006/relationships/image" Target="../media/image10.png"/><Relationship Id="rId3" Type="http://schemas.openxmlformats.org/officeDocument/2006/relationships/hyperlink" Target="http://creativecommons.org/licenses/by-nc-sa/2.5/" TargetMode="External"/><Relationship Id="rId7" Type="http://schemas.openxmlformats.org/officeDocument/2006/relationships/hyperlink" Target="mailto:enrico.macii@polito.it" TargetMode="External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aniele.jahier@polito.it" TargetMode="External"/><Relationship Id="rId11" Type="http://schemas.openxmlformats.org/officeDocument/2006/relationships/image" Target="../media/image8.png"/><Relationship Id="rId5" Type="http://schemas.openxmlformats.org/officeDocument/2006/relationships/hyperlink" Target="mailto:gianvito.urgese@polito.it" TargetMode="External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4" Type="http://schemas.openxmlformats.org/officeDocument/2006/relationships/hyperlink" Target="mailto:christian.conti@polito.it" TargetMode="External"/><Relationship Id="rId9" Type="http://schemas.openxmlformats.org/officeDocument/2006/relationships/hyperlink" Target="mailto:fabrizio.ferrandi@polimi.it" TargetMode="External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it-IT" dirty="0"/>
              <a:t>Chips, what?</a:t>
            </a:r>
            <a:br>
              <a:rPr lang="en-US" altLang="it-IT" dirty="0"/>
            </a:br>
            <a:r>
              <a:rPr lang="en-US" altLang="it-IT" sz="3600" dirty="0"/>
              <a:t>An IEEE CEDA Education Initiative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237834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bg1"/>
                </a:solidFill>
              </a:rPr>
              <a:t>Worldwide chips shortage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066800" y="857250"/>
            <a:ext cx="7010400" cy="34290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Matter of fact, impacting negatively most business sectors.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E.g., Automotive, computing, consumer.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causes: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pandemic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China-Taiwan tension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Ukraine war</a:t>
            </a:r>
          </a:p>
          <a:p>
            <a:pPr lvl="1" algn="just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China-EU-US tension</a:t>
            </a:r>
          </a:p>
          <a:p>
            <a:pPr lvl="1" algn="just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countries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 realized how important chips manufacturing is and how strategic it is to keep partial control on the overall chain.</a:t>
            </a:r>
          </a:p>
        </p:txBody>
      </p:sp>
    </p:spTree>
    <p:extLst>
      <p:ext uri="{BB962C8B-B14F-4D97-AF65-F5344CB8AC3E}">
        <p14:creationId xmlns:p14="http://schemas.microsoft.com/office/powerpoint/2010/main" val="509503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CHIPS ACTs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1181100" y="903982"/>
            <a:ext cx="6781800" cy="3335536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 CHIPS Act: USD 52B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 CHIPS Act: EUR 43B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 CHIPS Act: 20% tax breaking for large companies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 CHIPS Act: tax incentives if R&amp;D exp. &gt; USD 200M 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Primarily,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provide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to industry for enhancing domestic semiconductor manufacturing capabilities.</a:t>
            </a:r>
          </a:p>
          <a:p>
            <a:pPr algn="just"/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include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funds for education, training, retraining, research.</a:t>
            </a:r>
          </a:p>
        </p:txBody>
      </p:sp>
    </p:spTree>
    <p:extLst>
      <p:ext uri="{BB962C8B-B14F-4D97-AF65-F5344CB8AC3E}">
        <p14:creationId xmlns:p14="http://schemas.microsoft.com/office/powerpoint/2010/main" val="2362485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Design skills shortage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304800" y="1543050"/>
            <a:ext cx="3962400" cy="2057400"/>
          </a:xfrm>
        </p:spPr>
        <p:txBody>
          <a:bodyPr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Semiconductor industry needs hundred of thousands of new employees. 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Circuits and systems designers are the most critical human resources to be found.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343400" y="819150"/>
            <a:ext cx="4405313" cy="3460750"/>
            <a:chOff x="4343400" y="819150"/>
            <a:chExt cx="4405313" cy="3460750"/>
          </a:xfrm>
        </p:grpSpPr>
        <p:pic>
          <p:nvPicPr>
            <p:cNvPr id="614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3400" y="863600"/>
              <a:ext cx="4405313" cy="34163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4572000" y="819150"/>
              <a:ext cx="3429000" cy="73866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which EE technical area are you having difficulties in finding qualified candidates </a:t>
              </a:r>
              <a:b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for hiring?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5383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EE vocational crisis</a:t>
            </a: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304800" y="666751"/>
            <a:ext cx="8534400" cy="1524000"/>
          </a:xfrm>
        </p:spPr>
        <p:txBody>
          <a:bodyPr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world is facing an electronics “vocational” crisis. 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ICT domain, “electronics” is not as appealing as other subjects 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AI, Data Science, Cloud, IoT).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Interest in EE curricula is steadily declining.</a:t>
            </a:r>
          </a:p>
        </p:txBody>
      </p:sp>
      <p:pic>
        <p:nvPicPr>
          <p:cNvPr id="7172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781" y="2216150"/>
            <a:ext cx="5278438" cy="226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083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Several initiatives to face the issue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304800" y="933450"/>
            <a:ext cx="8534400" cy="3276600"/>
          </a:xfrm>
        </p:spPr>
        <p:txBody>
          <a:bodyPr/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 programs to attract youngsters to the discipline of IC design are undertaken worldwide.</a:t>
            </a: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IEEE: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SSCS PICO program:</a:t>
            </a:r>
          </a:p>
          <a:p>
            <a:pPr lvl="2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Democratizing circuit design.</a:t>
            </a:r>
          </a:p>
          <a:p>
            <a:pPr lvl="1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CASS UNIC program:</a:t>
            </a:r>
          </a:p>
          <a:p>
            <a:pPr lvl="2"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Universalization of IC Design.</a:t>
            </a:r>
          </a:p>
          <a:p>
            <a:pPr algn="just"/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about the IEEE Council on EDA (CEDA)?</a:t>
            </a:r>
          </a:p>
        </p:txBody>
      </p:sp>
    </p:spTree>
    <p:extLst>
      <p:ext uri="{BB962C8B-B14F-4D97-AF65-F5344CB8AC3E}">
        <p14:creationId xmlns:p14="http://schemas.microsoft.com/office/powerpoint/2010/main" val="2723189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2060"/>
                </a:solidFill>
              </a:rPr>
              <a:t>Chips, what? </a:t>
            </a:r>
            <a:r>
              <a:rPr lang="en-US" altLang="en-US" dirty="0"/>
              <a:t>Electronics Design for Youngsters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idx="1"/>
          </p:nvPr>
        </p:nvSpPr>
        <p:spPr>
          <a:xfrm>
            <a:off x="304800" y="1123950"/>
            <a:ext cx="6553200" cy="2895600"/>
          </a:xfrm>
        </p:spPr>
        <p:txBody>
          <a:bodyPr/>
          <a:lstStyle/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young students to microelectronics design.</a:t>
            </a:r>
          </a:p>
          <a:p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Constraints: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Attendees have no EE and CS background.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duration: 25 hours, including lab sessions.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tools with simple GUI and simulation capabilities.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Teaching by example, very little theory, practical experience.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(or EDU) licenses.</a:t>
            </a:r>
          </a:p>
        </p:txBody>
      </p:sp>
    </p:spTree>
    <p:extLst>
      <p:ext uri="{BB962C8B-B14F-4D97-AF65-F5344CB8AC3E}">
        <p14:creationId xmlns:p14="http://schemas.microsoft.com/office/powerpoint/2010/main" val="3622990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742950"/>
            <a:ext cx="8534400" cy="3657600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1: Introduction to Electronic Systems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2: Fundamentals of Digital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(Part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3: Introduction to Design Flows and EDA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</a:p>
          <a:p>
            <a:pPr>
              <a:spcAft>
                <a:spcPts val="600"/>
              </a:spcAft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 Introduction to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Vivado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Design of Simple Logic Gates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4: Fundamentals of Digital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(Part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II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600"/>
              </a:spcAft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an Adder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(Design, Simulation, Implementation on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Pynq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FPGA)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5: System-on-Chip (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Design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3: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From Architectures to </a:t>
            </a:r>
            <a:r>
              <a:rPr lang="en-US" sz="2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SoCs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6: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testimonial -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Designer from STMicroelectronics shares his experience</a:t>
            </a:r>
          </a:p>
          <a:p>
            <a:pPr>
              <a:spcAft>
                <a:spcPts val="600"/>
              </a:spcAf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4: A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ase: Neural Networks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988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Teaching team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71550"/>
            <a:ext cx="8534400" cy="32004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Politecnico di Torino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Enrico Macii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Daniele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Jahier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Pagliari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Gianvito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Urgese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Christian Conti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Politecnico di Milano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Cristiana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Bolchini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Fabrizio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Ferrandi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0" y="1657350"/>
            <a:ext cx="342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2pPr lvl="1">
              <a:defRPr b="1" i="1">
                <a:solidFill>
                  <a:srgbClr val="002060"/>
                </a:solidFill>
              </a:defRPr>
            </a:lvl2pPr>
          </a:lstStyle>
          <a:p>
            <a:r>
              <a:rPr lang="en-US" b="1" i="1" dirty="0">
                <a:solidFill>
                  <a:srgbClr val="002060"/>
                </a:solidFill>
              </a:rPr>
              <a:t>&lt;name.lastname@polito.it&gt;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69246" y="3333750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b="1" i="1" dirty="0">
                <a:solidFill>
                  <a:srgbClr val="002060"/>
                </a:solidFill>
              </a:rPr>
              <a:t>&lt;name.lastname@polimi.it&gt;</a:t>
            </a:r>
          </a:p>
        </p:txBody>
      </p:sp>
    </p:spTree>
    <p:extLst>
      <p:ext uri="{BB962C8B-B14F-4D97-AF65-F5344CB8AC3E}">
        <p14:creationId xmlns:p14="http://schemas.microsoft.com/office/powerpoint/2010/main" val="1775801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607814"/>
            <a:ext cx="8534400" cy="39278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Martedì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		04/11/2025,	14:30-16:00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aula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4M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Mercoledì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	05/11/2025,	14:30-17:30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aula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5B 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Martedì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		11/11/2025,	14:30-16:00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aula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4M  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Venerdì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		14/11/2025,	14:30-17:30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LAIB1T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Martedì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	18/11/2025,	14:30-17:30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DAUIN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Aula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Ciminiera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   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Mercoledì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	19/11/2025,	14:30-17:30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LAIB5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Martedì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		25/11/2025,	14:30-16:00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aula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4M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Mercoledì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	26/11/2025,	14:30-17:30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LAIB5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Martedì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		02/12/2025,	14:30-16:00,	aula 4M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Venerdì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05/12/2025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14:30-17:30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LAIB1T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260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Authorship &amp; License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2F9CE5AC-24E2-C18D-26DB-97EE38A99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123950"/>
            <a:ext cx="4648200" cy="3581400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GB" dirty="0"/>
              <a:t>These slides are distributed under the Creative Commons license "Attribution - Non commercial - Share alike 2.5 Italy (CC BY-NC-SA 2.5)"</a:t>
            </a:r>
          </a:p>
          <a:p>
            <a:pPr algn="just"/>
            <a:r>
              <a:rPr lang="en-GB" dirty="0"/>
              <a:t>You are free to:</a:t>
            </a:r>
          </a:p>
          <a:p>
            <a:pPr lvl="1" algn="just"/>
            <a:r>
              <a:rPr lang="en-GB" dirty="0"/>
              <a:t>to reproduce, distribute, communicate to the public, exhibit in public, represent, perform and recite this work</a:t>
            </a:r>
          </a:p>
          <a:p>
            <a:pPr lvl="1" algn="just"/>
            <a:r>
              <a:rPr lang="en-GB" dirty="0"/>
              <a:t>to modify this work</a:t>
            </a:r>
          </a:p>
          <a:p>
            <a:pPr algn="just"/>
            <a:r>
              <a:rPr lang="en-GB" dirty="0"/>
              <a:t>Under the following conditions:</a:t>
            </a:r>
          </a:p>
          <a:p>
            <a:pPr lvl="1" algn="just"/>
            <a:r>
              <a:rPr lang="en-GB" b="1" dirty="0"/>
              <a:t>Attribution</a:t>
            </a:r>
            <a:r>
              <a:rPr lang="en-GB" dirty="0"/>
              <a:t> - You must attribute authorship of the work to the original authors and in a way that does not suggest that they endorse you or the way you use the work.</a:t>
            </a:r>
          </a:p>
          <a:p>
            <a:pPr lvl="1" algn="just"/>
            <a:r>
              <a:rPr lang="en-GB" b="1" dirty="0"/>
              <a:t>Non-commercial</a:t>
            </a:r>
            <a:r>
              <a:rPr lang="en-GB" dirty="0"/>
              <a:t> - You may not use this work for commercial purposes.</a:t>
            </a:r>
          </a:p>
          <a:p>
            <a:pPr lvl="1" algn="just"/>
            <a:r>
              <a:rPr lang="en-GB" b="1" dirty="0"/>
              <a:t>Share Alike </a:t>
            </a:r>
            <a:r>
              <a:rPr lang="en-GB" dirty="0"/>
              <a:t>- If you alter or transform this work, or if you use it to create another, you may distribute the resulting work only under an identical or equivalent license to this one.</a:t>
            </a:r>
          </a:p>
          <a:p>
            <a:pPr algn="just"/>
            <a:r>
              <a:rPr lang="en-GB" dirty="0">
                <a:hlinkClick r:id="rId3"/>
              </a:rPr>
              <a:t>http://creativecommons.org/licenses/by-nc-sa/2.5/</a:t>
            </a:r>
            <a:r>
              <a:rPr lang="en-GB" dirty="0"/>
              <a:t>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FB93A402-8447-5447-D2C5-F6E98D21CD1A}"/>
              </a:ext>
            </a:extLst>
          </p:cNvPr>
          <p:cNvSpPr txBox="1">
            <a:spLocks/>
          </p:cNvSpPr>
          <p:nvPr/>
        </p:nvSpPr>
        <p:spPr>
          <a:xfrm>
            <a:off x="1905000" y="1123950"/>
            <a:ext cx="2057400" cy="3429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200" dirty="0"/>
              <a:t>Christian Conti </a:t>
            </a:r>
            <a:r>
              <a:rPr lang="en-GB" sz="1100" dirty="0">
                <a:hlinkClick r:id="rId4"/>
              </a:rPr>
              <a:t>christian.conti@polito.it</a:t>
            </a:r>
            <a:endParaRPr lang="en-GB" sz="1100" dirty="0"/>
          </a:p>
          <a:p>
            <a:r>
              <a:rPr lang="en-GB" sz="1200" dirty="0"/>
              <a:t>Gianvito Urgese </a:t>
            </a:r>
            <a:r>
              <a:rPr lang="en-GB" sz="1100" dirty="0">
                <a:hlinkClick r:id="rId5"/>
              </a:rPr>
              <a:t>gianvito.urgese@polito.it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Daniele Jahier Pagliari </a:t>
            </a:r>
            <a:r>
              <a:rPr lang="en-GB" sz="1100" dirty="0">
                <a:hlinkClick r:id="rId6"/>
              </a:rPr>
              <a:t>daniele.jahier@polito.it</a:t>
            </a:r>
            <a:r>
              <a:rPr lang="en-GB" sz="1100" dirty="0"/>
              <a:t> </a:t>
            </a:r>
          </a:p>
          <a:p>
            <a:r>
              <a:rPr lang="en-GB" sz="1200" dirty="0"/>
              <a:t>Enrico Macii </a:t>
            </a:r>
            <a:r>
              <a:rPr lang="en-GB" sz="1100" dirty="0">
                <a:hlinkClick r:id="rId7"/>
              </a:rPr>
              <a:t>enrico.macii@polito.it</a:t>
            </a:r>
            <a:endParaRPr lang="en-GB" sz="1100" dirty="0"/>
          </a:p>
          <a:p>
            <a:endParaRPr lang="en-GB" sz="1100" dirty="0"/>
          </a:p>
          <a:p>
            <a:endParaRPr lang="en-GB" sz="1100" dirty="0"/>
          </a:p>
          <a:p>
            <a:pPr marL="0" indent="0">
              <a:buNone/>
            </a:pPr>
            <a:endParaRPr lang="en-GB" sz="1100" dirty="0"/>
          </a:p>
          <a:p>
            <a:r>
              <a:rPr lang="en-GB" sz="1200" dirty="0"/>
              <a:t>Cristiana </a:t>
            </a:r>
            <a:r>
              <a:rPr lang="en-GB" sz="1200" dirty="0" err="1"/>
              <a:t>Bolchini</a:t>
            </a:r>
            <a:r>
              <a:rPr lang="en-GB" sz="1200" dirty="0"/>
              <a:t> </a:t>
            </a:r>
            <a:r>
              <a:rPr lang="en-GB" sz="1100" dirty="0">
                <a:hlinkClick r:id="rId8"/>
              </a:rPr>
              <a:t>cristiana.bolchini@polimi.it</a:t>
            </a:r>
            <a:endParaRPr lang="en-GB" sz="1100" dirty="0"/>
          </a:p>
          <a:p>
            <a:r>
              <a:rPr lang="en-GB" sz="1200" dirty="0"/>
              <a:t>Fabrizio </a:t>
            </a:r>
            <a:r>
              <a:rPr lang="en-GB" sz="1200" dirty="0" err="1"/>
              <a:t>Ferrandi</a:t>
            </a:r>
            <a:r>
              <a:rPr lang="en-GB" sz="1100" dirty="0"/>
              <a:t> </a:t>
            </a:r>
            <a:r>
              <a:rPr lang="en-GB" sz="1100" dirty="0">
                <a:hlinkClick r:id="rId9"/>
              </a:rPr>
              <a:t>fabrizio.ferrandi@polimi.it</a:t>
            </a:r>
            <a:r>
              <a:rPr lang="en-GB" sz="1100" dirty="0"/>
              <a:t> </a:t>
            </a:r>
          </a:p>
          <a:p>
            <a:pPr marL="0" indent="0">
              <a:buNone/>
            </a:pPr>
            <a:r>
              <a:rPr lang="en-GB" sz="1100" dirty="0"/>
              <a:t>  </a:t>
            </a:r>
          </a:p>
        </p:txBody>
      </p:sp>
      <p:pic>
        <p:nvPicPr>
          <p:cNvPr id="8" name="Immagine 7" descr="88x31.png">
            <a:extLst>
              <a:ext uri="{FF2B5EF4-FFF2-40B4-BE49-F238E27FC236}">
                <a16:creationId xmlns="" xmlns:a16="http://schemas.microsoft.com/office/drawing/2014/main" id="{2290BE98-B9D9-198A-0DE7-AA874CD79552}"/>
              </a:ext>
            </a:extLst>
          </p:cNvPr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8314264" y="590550"/>
            <a:ext cx="736460" cy="259435"/>
          </a:xfrm>
          <a:prstGeom prst="rect">
            <a:avLst/>
          </a:prstGeom>
        </p:spPr>
      </p:pic>
      <p:pic>
        <p:nvPicPr>
          <p:cNvPr id="9" name="Immagine 8" descr="share.png">
            <a:extLst>
              <a:ext uri="{FF2B5EF4-FFF2-40B4-BE49-F238E27FC236}">
                <a16:creationId xmlns="" xmlns:a16="http://schemas.microsoft.com/office/drawing/2014/main" id="{A44441E1-1636-9F33-5314-78CE0FABC666}"/>
              </a:ext>
            </a:extLst>
          </p:cNvPr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8762999" y="1921594"/>
            <a:ext cx="253803" cy="253803"/>
          </a:xfrm>
          <a:prstGeom prst="rect">
            <a:avLst/>
          </a:prstGeom>
        </p:spPr>
      </p:pic>
      <p:pic>
        <p:nvPicPr>
          <p:cNvPr id="10" name="Immagine 9" descr="remix.png">
            <a:extLst>
              <a:ext uri="{FF2B5EF4-FFF2-40B4-BE49-F238E27FC236}">
                <a16:creationId xmlns="" xmlns:a16="http://schemas.microsoft.com/office/drawing/2014/main" id="{6D18870E-D3B6-A9BA-BD9E-AD4EDD12DC0B}"/>
              </a:ext>
            </a:extLst>
          </p:cNvPr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8762999" y="2217684"/>
            <a:ext cx="253803" cy="253803"/>
          </a:xfrm>
          <a:prstGeom prst="rect">
            <a:avLst/>
          </a:prstGeom>
        </p:spPr>
      </p:pic>
      <p:pic>
        <p:nvPicPr>
          <p:cNvPr id="11" name="Immagine 10" descr="by.png">
            <a:extLst>
              <a:ext uri="{FF2B5EF4-FFF2-40B4-BE49-F238E27FC236}">
                <a16:creationId xmlns="" xmlns:a16="http://schemas.microsoft.com/office/drawing/2014/main" id="{C3C8E60B-7123-B301-BD00-3132EF57AB4C}"/>
              </a:ext>
            </a:extLst>
          </p:cNvPr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8763000" y="2753780"/>
            <a:ext cx="253803" cy="253803"/>
          </a:xfrm>
          <a:prstGeom prst="rect">
            <a:avLst/>
          </a:prstGeom>
        </p:spPr>
      </p:pic>
      <p:pic>
        <p:nvPicPr>
          <p:cNvPr id="12" name="Immagine 11" descr="nc-eu.png">
            <a:extLst>
              <a:ext uri="{FF2B5EF4-FFF2-40B4-BE49-F238E27FC236}">
                <a16:creationId xmlns="" xmlns:a16="http://schemas.microsoft.com/office/drawing/2014/main" id="{B37741D3-AF00-AB81-811C-FC527CF4C0AA}"/>
              </a:ext>
            </a:extLst>
          </p:cNvPr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763000" y="3222114"/>
            <a:ext cx="253803" cy="253803"/>
          </a:xfrm>
          <a:prstGeom prst="rect">
            <a:avLst/>
          </a:prstGeom>
        </p:spPr>
      </p:pic>
      <p:pic>
        <p:nvPicPr>
          <p:cNvPr id="13" name="Immagine 12" descr="sa.png">
            <a:extLst>
              <a:ext uri="{FF2B5EF4-FFF2-40B4-BE49-F238E27FC236}">
                <a16:creationId xmlns="" xmlns:a16="http://schemas.microsoft.com/office/drawing/2014/main" id="{3234CC5F-634F-0966-6E10-DF6A9FCCF644}"/>
              </a:ext>
            </a:extLst>
          </p:cNvPr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8762999" y="3676651"/>
            <a:ext cx="253803" cy="25380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3FFB4F64-B664-F8A8-580F-206259864A14}"/>
              </a:ext>
            </a:extLst>
          </p:cNvPr>
          <p:cNvSpPr txBox="1">
            <a:spLocks/>
          </p:cNvSpPr>
          <p:nvPr/>
        </p:nvSpPr>
        <p:spPr>
          <a:xfrm>
            <a:off x="5715000" y="682168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License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355906F7-4250-FE50-6009-14AFC19548BA}"/>
              </a:ext>
            </a:extLst>
          </p:cNvPr>
          <p:cNvSpPr txBox="1">
            <a:spLocks/>
          </p:cNvSpPr>
          <p:nvPr/>
        </p:nvSpPr>
        <p:spPr>
          <a:xfrm>
            <a:off x="1143000" y="692645"/>
            <a:ext cx="1600200" cy="381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71463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542925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2pPr>
            <a:lvl3pPr marL="712788" indent="-169863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3pPr>
            <a:lvl4pPr marL="984250" indent="-27146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4pPr>
            <a:lvl5pPr marL="1165225" indent="-180975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 dirty="0"/>
              <a:t>Authors</a:t>
            </a:r>
          </a:p>
        </p:txBody>
      </p:sp>
      <p:cxnSp>
        <p:nvCxnSpPr>
          <p:cNvPr id="19" name="Connettore diritto 18">
            <a:extLst>
              <a:ext uri="{FF2B5EF4-FFF2-40B4-BE49-F238E27FC236}">
                <a16:creationId xmlns="" xmlns:a16="http://schemas.microsoft.com/office/drawing/2014/main" id="{3E21F270-88C2-AFC4-21F2-8F4F6DDB888C}"/>
              </a:ext>
            </a:extLst>
          </p:cNvPr>
          <p:cNvCxnSpPr/>
          <p:nvPr/>
        </p:nvCxnSpPr>
        <p:spPr>
          <a:xfrm>
            <a:off x="4038600" y="742950"/>
            <a:ext cx="0" cy="3657600"/>
          </a:xfrm>
          <a:prstGeom prst="line">
            <a:avLst/>
          </a:prstGeom>
          <a:ln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>
            <a:extLst>
              <a:ext uri="{FF2B5EF4-FFF2-40B4-BE49-F238E27FC236}">
                <a16:creationId xmlns="" xmlns:a16="http://schemas.microsoft.com/office/drawing/2014/main" id="{3CA52C83-3B8D-0FA8-8BEF-3050DC593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98" y="1673123"/>
            <a:ext cx="1339414" cy="589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="" xmlns:a16="http://schemas.microsoft.com/office/drawing/2014/main" id="{6D515B48-A5D6-BE44-D21F-D1D8FD53F25B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21" y="3349015"/>
            <a:ext cx="1808212" cy="581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173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579</Words>
  <Application>Microsoft Office PowerPoint</Application>
  <PresentationFormat>On-screen Show (16:9)</PresentationFormat>
  <Paragraphs>96</Paragraphs>
  <Slides>11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3_Office Theme</vt:lpstr>
      <vt:lpstr>Chips, what? An IEEE CEDA Education Initiative</vt:lpstr>
      <vt:lpstr>Worldwide chips shortage</vt:lpstr>
      <vt:lpstr>CHIPS ACTs</vt:lpstr>
      <vt:lpstr>Design skills shortage</vt:lpstr>
      <vt:lpstr>EE vocational crisis</vt:lpstr>
      <vt:lpstr>Several initiatives to face the issue</vt:lpstr>
      <vt:lpstr>Chips, what? Electronics Design for Youngsters</vt:lpstr>
      <vt:lpstr>Contents</vt:lpstr>
      <vt:lpstr>Teaching team</vt:lpstr>
      <vt:lpstr>Schedule</vt:lpstr>
      <vt:lpstr>Authorship &amp; License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Electronics Design for Youngsters An IEEE CEDA Education Initiative</dc:title>
  <dc:creator>Enrico Macii</dc:creator>
  <cp:lastModifiedBy>utente</cp:lastModifiedBy>
  <cp:revision>26</cp:revision>
  <cp:lastPrinted>2025-11-05T21:58:11Z</cp:lastPrinted>
  <dcterms:created xsi:type="dcterms:W3CDTF">2006-08-16T00:00:00Z</dcterms:created>
  <dcterms:modified xsi:type="dcterms:W3CDTF">2025-12-02T13:54:31Z</dcterms:modified>
</cp:coreProperties>
</file>