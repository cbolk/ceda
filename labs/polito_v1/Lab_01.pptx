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511" r:id="rId2"/>
    <p:sldId id="397" r:id="rId3"/>
    <p:sldId id="455" r:id="rId4"/>
    <p:sldId id="509" r:id="rId5"/>
    <p:sldId id="510" r:id="rId6"/>
    <p:sldId id="512" r:id="rId7"/>
    <p:sldId id="513" r:id="rId8"/>
    <p:sldId id="514" r:id="rId9"/>
    <p:sldId id="515" r:id="rId10"/>
    <p:sldId id="516" r:id="rId11"/>
    <p:sldId id="521" r:id="rId12"/>
    <p:sldId id="517" r:id="rId13"/>
    <p:sldId id="518" r:id="rId14"/>
    <p:sldId id="519" r:id="rId15"/>
    <p:sldId id="520" r:id="rId16"/>
    <p:sldId id="522" r:id="rId17"/>
    <p:sldId id="523" r:id="rId18"/>
    <p:sldId id="524" r:id="rId19"/>
    <p:sldId id="525" r:id="rId20"/>
    <p:sldId id="526" r:id="rId21"/>
    <p:sldId id="527" r:id="rId22"/>
    <p:sldId id="528" r:id="rId23"/>
    <p:sldId id="490" r:id="rId24"/>
    <p:sldId id="529" r:id="rId25"/>
    <p:sldId id="530" r:id="rId26"/>
    <p:sldId id="531" r:id="rId27"/>
    <p:sldId id="532" r:id="rId28"/>
    <p:sldId id="480" r:id="rId29"/>
    <p:sldId id="534" r:id="rId30"/>
    <p:sldId id="533" r:id="rId31"/>
    <p:sldId id="535" r:id="rId32"/>
    <p:sldId id="536" r:id="rId33"/>
    <p:sldId id="453" r:id="rId34"/>
    <p:sldId id="452" r:id="rId35"/>
    <p:sldId id="454" r:id="rId36"/>
    <p:sldId id="312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791DE-0C86-D847-932A-A2009F353BB6}" v="2" dt="2025-06-22T01:23:5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>
      <p:cViewPr varScale="1">
        <p:scale>
          <a:sx n="134" d="100"/>
          <a:sy n="134" d="100"/>
        </p:scale>
        <p:origin x="9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.conti@polito.it" userId="S::urn:spo:guest#christian.conti@polito.it::" providerId="AD" clId="Web-{D6993056-0F64-CE76-527F-6531AD72F17D}"/>
    <pc:docChg chg="modSld">
      <pc:chgData name="christian.conti@polito.it" userId="S::urn:spo:guest#christian.conti@polito.it::" providerId="AD" clId="Web-{D6993056-0F64-CE76-527F-6531AD72F17D}" dt="2025-06-13T14:49:55.629" v="0" actId="14100"/>
      <pc:docMkLst>
        <pc:docMk/>
      </pc:docMkLst>
      <pc:sldChg chg="modSp">
        <pc:chgData name="christian.conti@polito.it" userId="S::urn:spo:guest#christian.conti@polito.it::" providerId="AD" clId="Web-{D6993056-0F64-CE76-527F-6531AD72F17D}" dt="2025-06-13T14:49:55.629" v="0" actId="14100"/>
        <pc:sldMkLst>
          <pc:docMk/>
          <pc:sldMk cId="27140877" sldId="534"/>
        </pc:sldMkLst>
        <pc:spChg chg="mod">
          <ac:chgData name="christian.conti@polito.it" userId="S::urn:spo:guest#christian.conti@polito.it::" providerId="AD" clId="Web-{D6993056-0F64-CE76-527F-6531AD72F17D}" dt="2025-06-13T14:49:55.629" v="0" actId="14100"/>
          <ac:spMkLst>
            <pc:docMk/>
            <pc:sldMk cId="27140877" sldId="534"/>
            <ac:spMk id="4" creationId="{AEF0BF0F-7CF6-1F7D-4166-2C227F31D419}"/>
          </ac:spMkLst>
        </pc:spChg>
      </pc:sldChg>
    </pc:docChg>
  </pc:docChgLst>
  <pc:docChgLst>
    <pc:chgData name="Christian  Conti" userId="S::christian.conti@polito.it::d9d3ad1e-8619-44cb-b5df-56d9ee9af6dd" providerId="AD" clId="Web-{8EA7BCBE-5572-B444-C31F-D453F46C0461}"/>
    <pc:docChg chg="modSld">
      <pc:chgData name="Christian  Conti" userId="S::christian.conti@polito.it::d9d3ad1e-8619-44cb-b5df-56d9ee9af6dd" providerId="AD" clId="Web-{8EA7BCBE-5572-B444-C31F-D453F46C0461}" dt="2025-06-09T07:39:05.643" v="11" actId="1076"/>
      <pc:docMkLst>
        <pc:docMk/>
      </pc:docMkLst>
      <pc:sldChg chg="addSp delSp modSp">
        <pc:chgData name="Christian  Conti" userId="S::christian.conti@polito.it::d9d3ad1e-8619-44cb-b5df-56d9ee9af6dd" providerId="AD" clId="Web-{8EA7BCBE-5572-B444-C31F-D453F46C0461}" dt="2025-06-09T07:39:05.643" v="11" actId="1076"/>
        <pc:sldMkLst>
          <pc:docMk/>
          <pc:sldMk cId="27140877" sldId="534"/>
        </pc:sldMkLst>
        <pc:picChg chg="add mod">
          <ac:chgData name="Christian  Conti" userId="S::christian.conti@polito.it::d9d3ad1e-8619-44cb-b5df-56d9ee9af6dd" providerId="AD" clId="Web-{8EA7BCBE-5572-B444-C31F-D453F46C0461}" dt="2025-06-09T07:39:05.643" v="11" actId="1076"/>
          <ac:picMkLst>
            <pc:docMk/>
            <pc:sldMk cId="27140877" sldId="534"/>
            <ac:picMk id="2" creationId="{7B7F0266-BFA6-19A2-FD26-0104E8ACBC9E}"/>
          </ac:picMkLst>
        </pc:picChg>
      </pc:sldChg>
    </pc:docChg>
  </pc:docChgLst>
  <pc:docChgLst>
    <pc:chgData name="Cristiana Bolchini" userId="6b8273cd-38c1-41dc-ba93-995a19828489" providerId="ADAL" clId="{0DF791DE-0C86-D847-932A-A2009F353BB6}"/>
    <pc:docChg chg="custSel modSld">
      <pc:chgData name="Cristiana Bolchini" userId="6b8273cd-38c1-41dc-ba93-995a19828489" providerId="ADAL" clId="{0DF791DE-0C86-D847-932A-A2009F353BB6}" dt="2025-06-22T01:24:01.433" v="3" actId="5793"/>
      <pc:docMkLst>
        <pc:docMk/>
      </pc:docMkLst>
      <pc:sldChg chg="addSp delSp modSp mod">
        <pc:chgData name="Cristiana Bolchini" userId="6b8273cd-38c1-41dc-ba93-995a19828489" providerId="ADAL" clId="{0DF791DE-0C86-D847-932A-A2009F353BB6}" dt="2025-06-22T01:24:01.433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0DF791DE-0C86-D847-932A-A2009F353BB6}" dt="2025-06-22T01:24:01.433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0DF791DE-0C86-D847-932A-A2009F353BB6}" dt="2025-06-22T01:23:58.733" v="1"/>
          <ac:picMkLst>
            <pc:docMk/>
            <pc:sldMk cId="3414173897" sldId="312"/>
            <ac:picMk id="3" creationId="{2B65B88F-0FBD-69C7-9C75-A97235655BB6}"/>
          </ac:picMkLst>
        </pc:picChg>
        <pc:picChg chg="add mod">
          <ac:chgData name="Cristiana Bolchini" userId="6b8273cd-38c1-41dc-ba93-995a19828489" providerId="ADAL" clId="{0DF791DE-0C86-D847-932A-A2009F353BB6}" dt="2025-06-22T01:23:58.733" v="1"/>
          <ac:picMkLst>
            <pc:docMk/>
            <pc:sldMk cId="3414173897" sldId="312"/>
            <ac:picMk id="5" creationId="{476397E7-46CF-37E6-7091-93EEA7D53BDE}"/>
          </ac:picMkLst>
        </pc:picChg>
        <pc:picChg chg="del">
          <ac:chgData name="Cristiana Bolchini" userId="6b8273cd-38c1-41dc-ba93-995a19828489" providerId="ADAL" clId="{0DF791DE-0C86-D847-932A-A2009F353BB6}" dt="2025-06-22T01:23:58.229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0DF791DE-0C86-D847-932A-A2009F353BB6}" dt="2025-06-22T01:23:58.229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796D-44A0-6509-E39E-F7ECD33B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265822-5B33-4FBA-1875-C63AFC49E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82DA0A-2874-DDE7-A934-426DBCDB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B5130E-3050-5758-0017-FAA2AB538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04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E748-B09D-A5C2-1B21-D8C26C6E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DDDC0E-6F73-ACCE-5D04-B970C76A5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4308CE2-5B03-7F82-F8A8-F87B6779D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22763B-D49A-FA52-3375-FF2BEE470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571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BC0E-8D09-FD02-5246-EB3EFE03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C3FD7D-B5F0-D83A-AF76-3F60B7A98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5453A1-6F18-095F-0618-6B7B594E2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CB5F79-751E-79B1-1B38-7C12214C1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226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6EC8-3FAA-0CCF-C325-D42537BB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240BB27-67B7-9215-CB2D-92C32F0EC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7C07DE-F8AB-3B30-553B-B7DC16024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DDB12E-49C4-0861-CB54-A998EF88D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3776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A8AC-372D-7769-0DC8-86C2A0E5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F71C72-97C2-DD73-A1ED-8B5EFBB0E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E7133E-EF4D-C327-2C8F-EC7162430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8B6D24-7278-C039-F44C-0BBA49A38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642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FA67-9BFF-D5E0-873F-2AABE6712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677032-D0AE-D4AE-3270-BBC228007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319A47-AB95-6C18-3566-974479C9E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682236-03E1-BDE3-9C30-176ADE482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7350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B183-F2EC-1D9E-DC0F-B0A901F5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47670E-64F7-A563-3612-3B28176F7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8A6AAE-7853-7D3B-2EA6-D00AA9697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6AEBC6-8DD4-7A52-13A2-D4C57F79D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73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EB64D-C100-16EE-7C94-252CBF22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ECAA8E-5A3B-4F90-E845-61005608B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A8E76FA-B54E-721F-14A5-DF4647107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4EE451-E41B-867C-7C54-D8F0F3B17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957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6A76-F881-1AEB-A6D2-A8DA26F0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2F09C6-2D8E-F3CD-544E-2A59AE0D9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549392-D306-6CE0-39AF-321470648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47F535-B011-27E3-0C09-EF0B408AE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628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A54F-4710-8159-88BD-265069E8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F31C9B5-ADCD-92A0-9628-C5E336335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EE3C97-FEA5-1236-097E-1D36F9F14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BE9EF5-AF2D-591A-2BAD-C9F505DEE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490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B7DB-0434-09DE-A245-B39A6E50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324F6FB-C5C7-D4B8-D0C4-837161D88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BA87B2C-7E35-9D17-DE02-FA6FAD399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1BF96D-202D-A52D-F29E-A319746B2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816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6FE7-B29E-A34E-83E6-A61CB4A6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4D563F-33FE-3A98-044D-560B71CCF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1B2AE7-DEC1-2328-8839-C1C9E535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C6ED6A-5790-B723-175F-46BDAC40B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4775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7E52-1CAA-92AB-448A-8DDF1DE3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82C1C2B-C880-50B8-DE50-CF262C292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95D6EB7-D1C9-4F5A-04FF-033F89FB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88E8B3-97C7-8868-99B9-E1F119C92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298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5CA7-DECC-72D3-711D-68908CE5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A9D9E0-96F7-0301-33E5-291BA46A6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B47AB9A-EF7A-FDF6-13AD-2EA2DD9B6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9D1AB3-A5AC-18F1-CEC1-99E5ABDDA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5324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191-BB19-83FB-A7FB-DA1B11C3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3F9EA1-B4E8-A22B-85E2-F51C34A7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1F1A67-4750-70FC-8F53-749C716B8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44078E-273F-4F31-5FC6-62203D089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834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2456-1486-5A1B-6B8E-74FB665B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1E2283-633A-06DB-511C-B8D9321A2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47CE86-F6C1-4098-4E03-BFC67B5A0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B14435-3AF2-D44A-6700-3F0818B36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967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B56C-2D50-0B02-6054-13BB4673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056134-AE12-2358-1F49-95F4EA444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D5F2DA-A710-6498-ACA6-E949A3641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DFD757-AE52-5D8E-925F-61D3CCC09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969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DBE9-E7DE-B164-6959-19414BCE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C22532-CBE2-B07A-2562-78934DD8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490A98-32F9-B8CD-ABB6-BC36EEC85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F000FD-A430-DEF6-F84C-0ECA6749D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1380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4182-A889-0FC6-C028-AC8E222B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69F632C-4342-0933-877C-28C044B88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046720-8427-423A-2B92-F7C47D7FA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E6667D-7414-67EA-AF00-066713D23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97046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9E79-9E7B-ABE3-5781-0980DFE5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EB9AF5-0192-3F4D-1EBD-BC1AC19D7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BA6877-704B-F58B-4E1C-3EEEDB2D4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BE42FE-4E38-BF63-2716-8C50FDD88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163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5536-E54B-05FC-88DA-70119F8A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CC3B98-0B3D-15A9-FB17-4B69247D7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2C12EF-528C-1ED0-9951-A108F831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96B542-C6A1-DFC9-EADB-F6A6195BA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7680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62B1-B8AC-AF8F-856E-6758287F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E52C1B8-D6D7-EF16-E2B0-749DA875B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159094-1E1C-316F-D372-1811CB32A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DE47E8-3191-76A9-D590-638F58066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270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2323-74AF-6F71-4BE3-5CCB1F78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2B65E4-8E3E-4673-F0FE-9DF790D2B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6F3C553-69E7-56D9-343E-899E3C3B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B9069E-1A17-945B-9619-6C22ACC47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728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BB34-6DC8-E34D-9899-0E58F76A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619F26-5110-4AC0-5073-658BF85A2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07BD27-1305-BE59-31CC-810AE2836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6992C3-9656-E7EE-152D-EFD2448BF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8727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8572-E33B-1030-8E84-27B2A2DF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C570D5-4526-C4A8-65CB-6EBBBFB14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045220-F928-2056-0D7C-F56A670C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37346F-57AB-4C2C-B39F-6C54D117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803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4AEB-979F-5537-4D62-7138B937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ACF963-C70E-9161-D231-ABF25C48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E0B2536-E33D-3CA6-B584-D658329B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926E5B-01EF-BE4A-CC2D-1BE208C35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3496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1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3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8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44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42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60B8-0482-AD7F-F18D-86F33A30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9353-4F67-6FA5-C6A6-5131A0B36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</a:t>
            </a:r>
            <a:r>
              <a:rPr lang="en-US"/>
              <a:t>1</a:t>
            </a:r>
            <a:r>
              <a:rPr lang="en-IT"/>
              <a:t> Part </a:t>
            </a:r>
            <a:r>
              <a:rPr lang="en-US"/>
              <a:t>0</a:t>
            </a:r>
            <a:r>
              <a:rPr lang="en-IT"/>
              <a:t>: </a:t>
            </a:r>
            <a:br>
              <a:rPr lang="en-US"/>
            </a:br>
            <a:r>
              <a:rPr lang="en-US" err="1"/>
              <a:t>Vivado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C3498FA-FB8A-72D7-F4D6-824A20CE1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360071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Vivado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EAE127-F035-B729-193A-6BC85EB6CBCF}"/>
              </a:ext>
            </a:extLst>
          </p:cNvPr>
          <p:cNvGrpSpPr/>
          <p:nvPr/>
        </p:nvGrpSpPr>
        <p:grpSpPr>
          <a:xfrm>
            <a:off x="894882" y="1037349"/>
            <a:ext cx="7354235" cy="3068801"/>
            <a:chOff x="1586533" y="484841"/>
            <a:chExt cx="8834251" cy="3686387"/>
          </a:xfrm>
        </p:grpSpPr>
        <p:pic>
          <p:nvPicPr>
            <p:cNvPr id="4" name="Immagine 15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415A7340-B4BD-0886-A5C0-D0FACB4C1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984" y="1213610"/>
              <a:ext cx="4876800" cy="2228850"/>
            </a:xfrm>
            <a:prstGeom prst="rect">
              <a:avLst/>
            </a:prstGeom>
          </p:spPr>
        </p:pic>
        <p:pic>
          <p:nvPicPr>
            <p:cNvPr id="5" name="Immagine 23" descr="Immagine che contiene design, creatività&#10;&#10;Descrizione generata automaticamente con attendibilità media">
              <a:extLst>
                <a:ext uri="{FF2B5EF4-FFF2-40B4-BE49-F238E27FC236}">
                  <a16:creationId xmlns:a16="http://schemas.microsoft.com/office/drawing/2014/main" id="{7FCE70E9-905C-DD5C-F39B-3458615E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6533" y="484841"/>
              <a:ext cx="3686387" cy="36863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02654"/>
            <a:ext cx="4267200" cy="3550076"/>
          </a:xfrm>
          <a:ln>
            <a:noFill/>
          </a:ln>
        </p:spPr>
        <p:txBody>
          <a:bodyPr>
            <a:normAutofit fontScale="85000" lnSpcReduction="10000"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XILINX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2024.1: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&amp; analysis of HDLs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design integration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logic simulator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commands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laboratory session is prepared as a stand-alone project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091BB9-3F87-19D0-BAAB-D199996F16E3}"/>
              </a:ext>
            </a:extLst>
          </p:cNvPr>
          <p:cNvGrpSpPr/>
          <p:nvPr/>
        </p:nvGrpSpPr>
        <p:grpSpPr>
          <a:xfrm>
            <a:off x="5247861" y="1442649"/>
            <a:ext cx="4296285" cy="3328133"/>
            <a:chOff x="5844847" y="2022690"/>
            <a:chExt cx="6408422" cy="4964308"/>
          </a:xfrm>
        </p:grpSpPr>
        <p:pic>
          <p:nvPicPr>
            <p:cNvPr id="3" name="Immagine 6">
              <a:extLst>
                <a:ext uri="{FF2B5EF4-FFF2-40B4-BE49-F238E27FC236}">
                  <a16:creationId xmlns:a16="http://schemas.microsoft.com/office/drawing/2014/main" id="{9B67061E-1C0F-5FBD-1BE5-D61173525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4847" y="2022690"/>
              <a:ext cx="5127952" cy="28126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7" descr="Immagine che contiene Componente elettrico, Componente di circuito, Componente di circuito passivo, Ingegneria elettronica&#10;&#10;Descrizione generata automaticamente">
              <a:extLst>
                <a:ext uri="{FF2B5EF4-FFF2-40B4-BE49-F238E27FC236}">
                  <a16:creationId xmlns:a16="http://schemas.microsoft.com/office/drawing/2014/main" id="{9A18E105-28A7-3EFF-3E02-80D9826A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882152"/>
              <a:ext cx="6157269" cy="41048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C537-DFD3-D5FD-48FF-FA98695F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8790E4-E29B-248C-9A5D-7DC01A9A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a Laboratory Session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F48385-AEA5-7893-4D20-DFB509D55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8993"/>
            <a:ext cx="4191000" cy="3085514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a new laboratory session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laboratory session corresponds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directory: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Lab01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Lab02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Lab04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each Lab directory there is the project for the current laboratory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C889F4-4BA7-0C18-C452-C2C2D83F4D5B}"/>
              </a:ext>
            </a:extLst>
          </p:cNvPr>
          <p:cNvGrpSpPr/>
          <p:nvPr/>
        </p:nvGrpSpPr>
        <p:grpSpPr>
          <a:xfrm>
            <a:off x="5135394" y="1180456"/>
            <a:ext cx="3703806" cy="2782587"/>
            <a:chOff x="6250098" y="620571"/>
            <a:chExt cx="5370851" cy="4035001"/>
          </a:xfrm>
        </p:grpSpPr>
        <p:pic>
          <p:nvPicPr>
            <p:cNvPr id="6" name="Immagine 10">
              <a:extLst>
                <a:ext uri="{FF2B5EF4-FFF2-40B4-BE49-F238E27FC236}">
                  <a16:creationId xmlns:a16="http://schemas.microsoft.com/office/drawing/2014/main" id="{46E0F3C5-2371-4450-AC48-F8F30E0C2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0098" y="620571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Immagine 13">
              <a:extLst>
                <a:ext uri="{FF2B5EF4-FFF2-40B4-BE49-F238E27FC236}">
                  <a16:creationId xmlns:a16="http://schemas.microsoft.com/office/drawing/2014/main" id="{AF86FB5D-3B23-81C0-2830-4F9726F4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0299" y="1848331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Ovale 15">
              <a:extLst>
                <a:ext uri="{FF2B5EF4-FFF2-40B4-BE49-F238E27FC236}">
                  <a16:creationId xmlns:a16="http://schemas.microsoft.com/office/drawing/2014/main" id="{078C67F1-6A3F-C0CE-0AAB-D0BBCCF90588}"/>
                </a:ext>
              </a:extLst>
            </p:cNvPr>
            <p:cNvSpPr/>
            <p:nvPr/>
          </p:nvSpPr>
          <p:spPr>
            <a:xfrm>
              <a:off x="6747510" y="1010132"/>
              <a:ext cx="822960" cy="777240"/>
            </a:xfrm>
            <a:prstGeom prst="ellipse">
              <a:avLst/>
            </a:prstGeom>
            <a:noFill/>
            <a:ln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879248734">
                    <a:custGeom>
                      <a:avLst/>
                      <a:gdLst>
                        <a:gd name="connsiteX0" fmla="*/ 0 w 822960"/>
                        <a:gd name="connsiteY0" fmla="*/ 388620 h 777240"/>
                        <a:gd name="connsiteX1" fmla="*/ 411480 w 822960"/>
                        <a:gd name="connsiteY1" fmla="*/ 0 h 777240"/>
                        <a:gd name="connsiteX2" fmla="*/ 822960 w 822960"/>
                        <a:gd name="connsiteY2" fmla="*/ 388620 h 777240"/>
                        <a:gd name="connsiteX3" fmla="*/ 411480 w 822960"/>
                        <a:gd name="connsiteY3" fmla="*/ 777240 h 777240"/>
                        <a:gd name="connsiteX4" fmla="*/ 0 w 822960"/>
                        <a:gd name="connsiteY4" fmla="*/ 388620 h 7772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22960" h="777240" extrusionOk="0">
                          <a:moveTo>
                            <a:pt x="0" y="388620"/>
                          </a:moveTo>
                          <a:cubicBezTo>
                            <a:pt x="-27689" y="141431"/>
                            <a:pt x="219514" y="-12812"/>
                            <a:pt x="411480" y="0"/>
                          </a:cubicBezTo>
                          <a:cubicBezTo>
                            <a:pt x="633845" y="2747"/>
                            <a:pt x="827511" y="172633"/>
                            <a:pt x="822960" y="388620"/>
                          </a:cubicBezTo>
                          <a:cubicBezTo>
                            <a:pt x="808663" y="574745"/>
                            <a:pt x="635354" y="787756"/>
                            <a:pt x="411480" y="777240"/>
                          </a:cubicBezTo>
                          <a:cubicBezTo>
                            <a:pt x="203512" y="750634"/>
                            <a:pt x="36152" y="600274"/>
                            <a:pt x="0" y="38862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Connettore diritto 17">
              <a:extLst>
                <a:ext uri="{FF2B5EF4-FFF2-40B4-BE49-F238E27FC236}">
                  <a16:creationId xmlns:a16="http://schemas.microsoft.com/office/drawing/2014/main" id="{785F1177-AA79-B991-0769-9F1DD078FE7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6630299" y="1398752"/>
              <a:ext cx="117211" cy="449579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diritto 18">
              <a:extLst>
                <a:ext uri="{FF2B5EF4-FFF2-40B4-BE49-F238E27FC236}">
                  <a16:creationId xmlns:a16="http://schemas.microsoft.com/office/drawing/2014/main" id="{D742FC08-6E57-F3C6-45EB-0051C929C0BF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>
              <a:off x="7449950" y="1123956"/>
              <a:ext cx="4170999" cy="724375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64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7A9A-2055-1BE6-6D0D-E2D5569C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4B1884-82E7-E5F5-7733-EF313709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Inside a Project Folder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16A3BC0-6EF0-D1EF-AD56-360BF7DF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477"/>
            <a:ext cx="4191000" cy="3162547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is made of different files carrying different information regarding the project: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srcs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(sources):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descriptions of the components of the blocks of the projects.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 (simulation):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useful to the EDA tool to simulate the project.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files: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the tool to run the project and generate the implementation.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File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47D770-62C8-B9E3-6667-EF20D0706EB1}"/>
              </a:ext>
            </a:extLst>
          </p:cNvPr>
          <p:cNvGrpSpPr/>
          <p:nvPr/>
        </p:nvGrpSpPr>
        <p:grpSpPr>
          <a:xfrm>
            <a:off x="5031154" y="1256627"/>
            <a:ext cx="3808046" cy="2545699"/>
            <a:chOff x="6359265" y="1115949"/>
            <a:chExt cx="4990650" cy="2878087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32E2FFEA-D984-476E-97CE-C08C6EE7E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9265" y="1115949"/>
              <a:ext cx="4990650" cy="28072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Immagine 6" descr="Immagine che contiene Elementi grafici, grafica, simbolo, Carattere&#10;&#10;Descrizione generata automaticamente">
              <a:extLst>
                <a:ext uri="{FF2B5EF4-FFF2-40B4-BE49-F238E27FC236}">
                  <a16:creationId xmlns:a16="http://schemas.microsoft.com/office/drawing/2014/main" id="{A45D4F97-DAA6-86F0-C4BC-9B7D8FAB1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575" y="2717893"/>
              <a:ext cx="787765" cy="599265"/>
            </a:xfrm>
            <a:prstGeom prst="rect">
              <a:avLst/>
            </a:prstGeom>
          </p:spPr>
        </p:pic>
        <p:sp>
          <p:nvSpPr>
            <p:cNvPr id="17" name="CasellaDiTesto 12">
              <a:extLst>
                <a:ext uri="{FF2B5EF4-FFF2-40B4-BE49-F238E27FC236}">
                  <a16:creationId xmlns:a16="http://schemas.microsoft.com/office/drawing/2014/main" id="{4775A26D-D185-B8A7-084D-9B2BCDF5CE94}"/>
                </a:ext>
              </a:extLst>
            </p:cNvPr>
            <p:cNvSpPr txBox="1"/>
            <p:nvPr/>
          </p:nvSpPr>
          <p:spPr>
            <a:xfrm>
              <a:off x="7442351" y="3263315"/>
              <a:ext cx="3607971" cy="730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i="1">
                  <a:solidFill>
                    <a:srgbClr val="82B366"/>
                  </a:solidFill>
                </a:rPr>
                <a:t>To open a project, double-click on  the Project File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495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0BBC-8955-CCD4-F8F7-D140ECF0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47A0BA-580F-BFE1-EA89-BCAF5599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r>
              <a:rPr lang="en-US"/>
              <a:t> a First Glance</a:t>
            </a:r>
            <a:endParaRPr lang="en-IT"/>
          </a:p>
        </p:txBody>
      </p:sp>
      <p:pic>
        <p:nvPicPr>
          <p:cNvPr id="4" name="Immagine 10">
            <a:extLst>
              <a:ext uri="{FF2B5EF4-FFF2-40B4-BE49-F238E27FC236}">
                <a16:creationId xmlns:a16="http://schemas.microsoft.com/office/drawing/2014/main" id="{4A0F2FA3-763D-5446-D504-D7E2C51E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1" y="742950"/>
            <a:ext cx="6502399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2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B316-26A7-10E1-1EE3-7FC7FE02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D7DA025-EFE7-B5DE-1AF5-AF2AAE4A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r>
              <a:rPr lang="en-US"/>
              <a:t> a First Glance</a:t>
            </a:r>
            <a:endParaRPr lang="en-IT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0EFA42-E8C2-A615-0CC9-4AB38ECB6287}"/>
              </a:ext>
            </a:extLst>
          </p:cNvPr>
          <p:cNvGrpSpPr>
            <a:grpSpLocks noChangeAspect="1"/>
          </p:cNvGrpSpPr>
          <p:nvPr/>
        </p:nvGrpSpPr>
        <p:grpSpPr>
          <a:xfrm>
            <a:off x="1321308" y="711834"/>
            <a:ext cx="6501384" cy="3719832"/>
            <a:chOff x="1562100" y="253559"/>
            <a:chExt cx="8833085" cy="4933902"/>
          </a:xfrm>
        </p:grpSpPr>
        <p:cxnSp>
          <p:nvCxnSpPr>
            <p:cNvPr id="3" name="Connettore diritto 14">
              <a:extLst>
                <a:ext uri="{FF2B5EF4-FFF2-40B4-BE49-F238E27FC236}">
                  <a16:creationId xmlns:a16="http://schemas.microsoft.com/office/drawing/2014/main" id="{8E610304-AD1B-0812-9194-65A050037A02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48" y="5187461"/>
              <a:ext cx="8267700" cy="0"/>
            </a:xfrm>
            <a:prstGeom prst="line">
              <a:avLst/>
            </a:prstGeom>
            <a:ln cap="rnd">
              <a:gradFill flip="none" rotWithShape="1">
                <a:gsLst>
                  <a:gs pos="0">
                    <a:srgbClr val="004574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Immagine 10">
              <a:extLst>
                <a:ext uri="{FF2B5EF4-FFF2-40B4-BE49-F238E27FC236}">
                  <a16:creationId xmlns:a16="http://schemas.microsoft.com/office/drawing/2014/main" id="{FA276393-B474-AFCE-4EF6-430E956F1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6815" y="253559"/>
              <a:ext cx="8598370" cy="48365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1">
              <a:extLst>
                <a:ext uri="{FF2B5EF4-FFF2-40B4-BE49-F238E27FC236}">
                  <a16:creationId xmlns:a16="http://schemas.microsoft.com/office/drawing/2014/main" id="{5BB901A7-B1F2-2D33-92DB-5ECB39CCE0F8}"/>
                </a:ext>
              </a:extLst>
            </p:cNvPr>
            <p:cNvSpPr/>
            <p:nvPr/>
          </p:nvSpPr>
          <p:spPr>
            <a:xfrm>
              <a:off x="1562100" y="448002"/>
              <a:ext cx="1440180" cy="405541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3">
              <a:extLst>
                <a:ext uri="{FF2B5EF4-FFF2-40B4-BE49-F238E27FC236}">
                  <a16:creationId xmlns:a16="http://schemas.microsoft.com/office/drawing/2014/main" id="{5BDB718B-6082-6D19-BCEB-D6F4EF036307}"/>
                </a:ext>
              </a:extLst>
            </p:cNvPr>
            <p:cNvSpPr txBox="1"/>
            <p:nvPr/>
          </p:nvSpPr>
          <p:spPr>
            <a:xfrm>
              <a:off x="3144643" y="931595"/>
              <a:ext cx="321040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highlight>
                    <a:srgbClr val="FFFF00"/>
                  </a:highlight>
                </a:rPr>
                <a:t>Flow Navigator, to navigate inside the project, it is possible to change the view, from simulation, through synthesis to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49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4BD4-0825-A818-9D36-6B612774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DC70F17-057C-61F2-EEE9-4E117CF3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r>
              <a:rPr lang="en-US"/>
              <a:t> a First Glance</a:t>
            </a:r>
            <a:endParaRPr lang="en-IT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64D907-5FFA-C437-A80D-12F616F38508}"/>
              </a:ext>
            </a:extLst>
          </p:cNvPr>
          <p:cNvGrpSpPr>
            <a:grpSpLocks noChangeAspect="1"/>
          </p:cNvGrpSpPr>
          <p:nvPr/>
        </p:nvGrpSpPr>
        <p:grpSpPr>
          <a:xfrm>
            <a:off x="1320800" y="742950"/>
            <a:ext cx="6502400" cy="3657600"/>
            <a:chOff x="1796815" y="253559"/>
            <a:chExt cx="8598370" cy="4836583"/>
          </a:xfrm>
        </p:grpSpPr>
        <p:pic>
          <p:nvPicPr>
            <p:cNvPr id="3" name="Immagine 10">
              <a:extLst>
                <a:ext uri="{FF2B5EF4-FFF2-40B4-BE49-F238E27FC236}">
                  <a16:creationId xmlns:a16="http://schemas.microsoft.com/office/drawing/2014/main" id="{75724BD7-B93A-46E2-343A-45616F096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6815" y="253559"/>
              <a:ext cx="8598370" cy="48365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ttangolo con angoli arrotondati 1">
              <a:extLst>
                <a:ext uri="{FF2B5EF4-FFF2-40B4-BE49-F238E27FC236}">
                  <a16:creationId xmlns:a16="http://schemas.microsoft.com/office/drawing/2014/main" id="{117A9A98-4426-F25B-9791-92622A0B6708}"/>
                </a:ext>
              </a:extLst>
            </p:cNvPr>
            <p:cNvSpPr/>
            <p:nvPr/>
          </p:nvSpPr>
          <p:spPr>
            <a:xfrm>
              <a:off x="2736214" y="672964"/>
              <a:ext cx="2527936" cy="1841636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3">
              <a:extLst>
                <a:ext uri="{FF2B5EF4-FFF2-40B4-BE49-F238E27FC236}">
                  <a16:creationId xmlns:a16="http://schemas.microsoft.com/office/drawing/2014/main" id="{D7A8606D-12CA-09D6-168D-189BF8CB4B95}"/>
                </a:ext>
              </a:extLst>
            </p:cNvPr>
            <p:cNvSpPr txBox="1"/>
            <p:nvPr/>
          </p:nvSpPr>
          <p:spPr>
            <a:xfrm>
              <a:off x="5460216" y="617018"/>
              <a:ext cx="3278630" cy="1953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highlight>
                    <a:srgbClr val="FFFF00"/>
                  </a:highlight>
                </a:rPr>
                <a:t>Sources, contain the handwritten description of the modules used during the current laboratory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267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A322-1AE0-5C8B-AAC6-C24A7011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B94F003-1E37-9C10-5079-00BDB173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r>
              <a:rPr lang="en-US"/>
              <a:t> a First Glance</a:t>
            </a:r>
            <a:endParaRPr lang="en-IT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01C257-8C74-76CB-07FD-D1115B723CDA}"/>
              </a:ext>
            </a:extLst>
          </p:cNvPr>
          <p:cNvGrpSpPr>
            <a:grpSpLocks noChangeAspect="1"/>
          </p:cNvGrpSpPr>
          <p:nvPr/>
        </p:nvGrpSpPr>
        <p:grpSpPr>
          <a:xfrm>
            <a:off x="1334326" y="742950"/>
            <a:ext cx="6475349" cy="3657600"/>
            <a:chOff x="1796815" y="253559"/>
            <a:chExt cx="8734891" cy="4933902"/>
          </a:xfrm>
        </p:grpSpPr>
        <p:cxnSp>
          <p:nvCxnSpPr>
            <p:cNvPr id="3" name="Connettore diritto 14">
              <a:extLst>
                <a:ext uri="{FF2B5EF4-FFF2-40B4-BE49-F238E27FC236}">
                  <a16:creationId xmlns:a16="http://schemas.microsoft.com/office/drawing/2014/main" id="{00C0177E-F431-598F-5006-0C0C8A30DCCE}"/>
                </a:ext>
              </a:extLst>
            </p:cNvPr>
            <p:cNvCxnSpPr>
              <a:cxnSpLocks/>
            </p:cNvCxnSpPr>
            <p:nvPr/>
          </p:nvCxnSpPr>
          <p:spPr>
            <a:xfrm>
              <a:off x="1962148" y="5187461"/>
              <a:ext cx="8267700" cy="0"/>
            </a:xfrm>
            <a:prstGeom prst="line">
              <a:avLst/>
            </a:prstGeom>
            <a:ln cap="rnd">
              <a:gradFill flip="none" rotWithShape="1">
                <a:gsLst>
                  <a:gs pos="0">
                    <a:srgbClr val="004574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Immagine 10">
              <a:extLst>
                <a:ext uri="{FF2B5EF4-FFF2-40B4-BE49-F238E27FC236}">
                  <a16:creationId xmlns:a16="http://schemas.microsoft.com/office/drawing/2014/main" id="{17DFBDE6-DAE8-2408-4998-A131F42EF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6815" y="253559"/>
              <a:ext cx="8598370" cy="48365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1">
              <a:extLst>
                <a:ext uri="{FF2B5EF4-FFF2-40B4-BE49-F238E27FC236}">
                  <a16:creationId xmlns:a16="http://schemas.microsoft.com/office/drawing/2014/main" id="{A23BFA21-E021-4951-5388-30375D5BCCC0}"/>
                </a:ext>
              </a:extLst>
            </p:cNvPr>
            <p:cNvSpPr/>
            <p:nvPr/>
          </p:nvSpPr>
          <p:spPr>
            <a:xfrm>
              <a:off x="2674875" y="3681983"/>
              <a:ext cx="7856831" cy="1500491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3">
              <a:extLst>
                <a:ext uri="{FF2B5EF4-FFF2-40B4-BE49-F238E27FC236}">
                  <a16:creationId xmlns:a16="http://schemas.microsoft.com/office/drawing/2014/main" id="{8E7E7071-40F7-C770-8124-AC0B3D4469AE}"/>
                </a:ext>
              </a:extLst>
            </p:cNvPr>
            <p:cNvSpPr txBox="1"/>
            <p:nvPr/>
          </p:nvSpPr>
          <p:spPr>
            <a:xfrm>
              <a:off x="2926388" y="2671849"/>
              <a:ext cx="7075850" cy="871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highlight>
                    <a:srgbClr val="FFFF00"/>
                  </a:highlight>
                </a:rPr>
                <a:t>The information panel, contains information regarding synthesis, implementation, errors, warnings and info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809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57DD-343A-527C-388C-EA629DE3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4868CA5-476B-0C3C-836C-EBFE260A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Vivado</a:t>
            </a:r>
            <a:r>
              <a:rPr lang="en-US"/>
              <a:t> a First Glance</a:t>
            </a:r>
            <a:endParaRPr lang="en-IT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1786D1-8696-FE6E-9915-DCBD52BB91F8}"/>
              </a:ext>
            </a:extLst>
          </p:cNvPr>
          <p:cNvGrpSpPr>
            <a:grpSpLocks noChangeAspect="1"/>
          </p:cNvGrpSpPr>
          <p:nvPr/>
        </p:nvGrpSpPr>
        <p:grpSpPr>
          <a:xfrm>
            <a:off x="1269179" y="742950"/>
            <a:ext cx="6605643" cy="3657600"/>
            <a:chOff x="1796815" y="253559"/>
            <a:chExt cx="8734892" cy="4836583"/>
          </a:xfrm>
        </p:grpSpPr>
        <p:pic>
          <p:nvPicPr>
            <p:cNvPr id="2" name="Immagine 10">
              <a:extLst>
                <a:ext uri="{FF2B5EF4-FFF2-40B4-BE49-F238E27FC236}">
                  <a16:creationId xmlns:a16="http://schemas.microsoft.com/office/drawing/2014/main" id="{61B55414-0C86-1891-C005-75617ED7A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6815" y="253559"/>
              <a:ext cx="8598370" cy="48365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Rettangolo con angoli arrotondati 1">
              <a:extLst>
                <a:ext uri="{FF2B5EF4-FFF2-40B4-BE49-F238E27FC236}">
                  <a16:creationId xmlns:a16="http://schemas.microsoft.com/office/drawing/2014/main" id="{8EB1C60C-CEB8-6C52-DB95-0F5782A45BC0}"/>
                </a:ext>
              </a:extLst>
            </p:cNvPr>
            <p:cNvSpPr/>
            <p:nvPr/>
          </p:nvSpPr>
          <p:spPr>
            <a:xfrm>
              <a:off x="5053584" y="699829"/>
              <a:ext cx="5478123" cy="3207707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CasellaDiTesto 3">
              <a:extLst>
                <a:ext uri="{FF2B5EF4-FFF2-40B4-BE49-F238E27FC236}">
                  <a16:creationId xmlns:a16="http://schemas.microsoft.com/office/drawing/2014/main" id="{0F8385C3-78A2-2AE3-FBCB-90B42FFD8A8F}"/>
                </a:ext>
              </a:extLst>
            </p:cNvPr>
            <p:cNvSpPr txBox="1"/>
            <p:nvPr/>
          </p:nvSpPr>
          <p:spPr>
            <a:xfrm>
              <a:off x="2018617" y="1143777"/>
              <a:ext cx="2898444" cy="2319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highlight>
                    <a:srgbClr val="FFFF00"/>
                  </a:highlight>
                </a:rPr>
                <a:t>The main window of the project, contains the project summary, the block diagram of the design and other useful windows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88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7373-6E5B-8127-747C-1FA7B7ED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E115-344D-A3A8-016D-3448CBAC0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</a:t>
            </a:r>
            <a:r>
              <a:rPr lang="en-US"/>
              <a:t>1</a:t>
            </a:r>
            <a:r>
              <a:rPr lang="en-IT"/>
              <a:t> Part </a:t>
            </a:r>
            <a:r>
              <a:rPr lang="en-US"/>
              <a:t>1</a:t>
            </a:r>
            <a:r>
              <a:rPr lang="en-IT"/>
              <a:t>: </a:t>
            </a:r>
            <a:br>
              <a:rPr lang="en-US"/>
            </a:br>
            <a:r>
              <a:rPr lang="en-US"/>
              <a:t>Create the First Gate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531B55-617F-ED8E-55B3-F9E2C4B92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301238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EBF8-389A-3A61-307C-7B9A4EAB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3A02ADF-3C65-CEEB-C955-0ABF2D78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Block Design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6931E7F-C85B-35F1-6E8A-7969C6A88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3503"/>
            <a:ext cx="4191000" cy="3416495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 Design is a canvas to place structural components for our design: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block design:</a:t>
            </a:r>
          </a:p>
          <a:p>
            <a:pPr marL="785812" lvl="1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 → </a:t>
            </a:r>
          </a:p>
          <a:p>
            <a:pPr marL="785812" lvl="1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Block Design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“Create Block Design”  window will appear: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“Design name”: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xor_bd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 startAt="3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BFFD87-44A5-419F-0915-4645EFB91256}"/>
              </a:ext>
            </a:extLst>
          </p:cNvPr>
          <p:cNvGrpSpPr/>
          <p:nvPr/>
        </p:nvGrpSpPr>
        <p:grpSpPr>
          <a:xfrm>
            <a:off x="4598758" y="1548985"/>
            <a:ext cx="4090815" cy="2045530"/>
            <a:chOff x="5603310" y="2326906"/>
            <a:chExt cx="6096164" cy="3048264"/>
          </a:xfrm>
        </p:grpSpPr>
        <p:pic>
          <p:nvPicPr>
            <p:cNvPr id="18" name="Immagine 19">
              <a:extLst>
                <a:ext uri="{FF2B5EF4-FFF2-40B4-BE49-F238E27FC236}">
                  <a16:creationId xmlns:a16="http://schemas.microsoft.com/office/drawing/2014/main" id="{0856395F-0A78-9A8E-5F00-77651E79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8797" y="2742173"/>
              <a:ext cx="3200677" cy="233954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9" name="Gruppo 20">
              <a:extLst>
                <a:ext uri="{FF2B5EF4-FFF2-40B4-BE49-F238E27FC236}">
                  <a16:creationId xmlns:a16="http://schemas.microsoft.com/office/drawing/2014/main" id="{88AC5706-E0ED-1F84-CFC0-17147D1EE992}"/>
                </a:ext>
              </a:extLst>
            </p:cNvPr>
            <p:cNvGrpSpPr/>
            <p:nvPr/>
          </p:nvGrpSpPr>
          <p:grpSpPr>
            <a:xfrm>
              <a:off x="5603310" y="2326906"/>
              <a:ext cx="2701423" cy="3048264"/>
              <a:chOff x="6235101" y="1851268"/>
              <a:chExt cx="2701423" cy="3048264"/>
            </a:xfrm>
          </p:grpSpPr>
          <p:pic>
            <p:nvPicPr>
              <p:cNvPr id="24" name="Immagine 17">
                <a:extLst>
                  <a:ext uri="{FF2B5EF4-FFF2-40B4-BE49-F238E27FC236}">
                    <a16:creationId xmlns:a16="http://schemas.microsoft.com/office/drawing/2014/main" id="{7B7A9B20-15F4-A610-214A-90DD1EAC6A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 w="28575"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5" name="Rettangolo con angoli arrotondati 9">
                <a:extLst>
                  <a:ext uri="{FF2B5EF4-FFF2-40B4-BE49-F238E27FC236}">
                    <a16:creationId xmlns:a16="http://schemas.microsoft.com/office/drawing/2014/main" id="{DE46A6C0-CC9F-FFDF-6147-2172127A9DBC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CasellaDiTesto 12">
                <a:extLst>
                  <a:ext uri="{FF2B5EF4-FFF2-40B4-BE49-F238E27FC236}">
                    <a16:creationId xmlns:a16="http://schemas.microsoft.com/office/drawing/2014/main" id="{3E74BC70-CEA9-FCFE-7BCA-9EF6B906CEF5}"/>
                  </a:ext>
                </a:extLst>
              </p:cNvPr>
              <p:cNvSpPr txBox="1"/>
              <p:nvPr/>
            </p:nvSpPr>
            <p:spPr>
              <a:xfrm>
                <a:off x="6235101" y="3733327"/>
                <a:ext cx="561789" cy="550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20" name="Rettangolo con angoli arrotondati 15">
              <a:extLst>
                <a:ext uri="{FF2B5EF4-FFF2-40B4-BE49-F238E27FC236}">
                  <a16:creationId xmlns:a16="http://schemas.microsoft.com/office/drawing/2014/main" id="{B03F3CEE-A3FC-566A-B5F3-0B2702235652}"/>
                </a:ext>
              </a:extLst>
            </p:cNvPr>
            <p:cNvSpPr/>
            <p:nvPr/>
          </p:nvSpPr>
          <p:spPr>
            <a:xfrm>
              <a:off x="8610600" y="3619670"/>
              <a:ext cx="3042083" cy="433158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CasellaDiTesto 16">
              <a:extLst>
                <a:ext uri="{FF2B5EF4-FFF2-40B4-BE49-F238E27FC236}">
                  <a16:creationId xmlns:a16="http://schemas.microsoft.com/office/drawing/2014/main" id="{051CCB96-4FC1-C6A0-B911-07AD6593096A}"/>
                </a:ext>
              </a:extLst>
            </p:cNvPr>
            <p:cNvSpPr txBox="1"/>
            <p:nvPr/>
          </p:nvSpPr>
          <p:spPr>
            <a:xfrm>
              <a:off x="8109538" y="3561059"/>
              <a:ext cx="584453" cy="55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607F9928-E283-65ED-E829-89D4F0A92AC9}"/>
                </a:ext>
              </a:extLst>
            </p:cNvPr>
            <p:cNvSpPr/>
            <p:nvPr/>
          </p:nvSpPr>
          <p:spPr>
            <a:xfrm>
              <a:off x="10034099" y="4620932"/>
              <a:ext cx="462043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CasellaDiTesto 6">
              <a:extLst>
                <a:ext uri="{FF2B5EF4-FFF2-40B4-BE49-F238E27FC236}">
                  <a16:creationId xmlns:a16="http://schemas.microsoft.com/office/drawing/2014/main" id="{2D51DEBE-8854-A027-8F54-D11A7766556A}"/>
                </a:ext>
              </a:extLst>
            </p:cNvPr>
            <p:cNvSpPr txBox="1"/>
            <p:nvPr/>
          </p:nvSpPr>
          <p:spPr>
            <a:xfrm>
              <a:off x="9491687" y="4484156"/>
              <a:ext cx="568522" cy="55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4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67ED-8E68-D2B2-F494-F31014AE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578EFE-5199-6B41-8F8D-D0FE8C0E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Modules in a Block Design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CFD38B-EE33-8049-F0EE-5092A699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3503"/>
            <a:ext cx="4191000" cy="3416495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are “ready to place” components in the design. They can be simple logic gates or complex digital circuits: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Add Modules…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window with the available modules will pop up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F813F5-EE75-430B-15B2-C404179692C0}"/>
              </a:ext>
            </a:extLst>
          </p:cNvPr>
          <p:cNvGrpSpPr/>
          <p:nvPr/>
        </p:nvGrpSpPr>
        <p:grpSpPr>
          <a:xfrm>
            <a:off x="4799912" y="1335956"/>
            <a:ext cx="3963088" cy="2471588"/>
            <a:chOff x="5532134" y="2286149"/>
            <a:chExt cx="5943600" cy="3706738"/>
          </a:xfrm>
        </p:grpSpPr>
        <p:pic>
          <p:nvPicPr>
            <p:cNvPr id="3" name="Immagine 10" descr="Immagine che contiene testo, schermata, software, Icona del computer&#10;&#10;Descrizione generata automaticamente">
              <a:extLst>
                <a:ext uri="{FF2B5EF4-FFF2-40B4-BE49-F238E27FC236}">
                  <a16:creationId xmlns:a16="http://schemas.microsoft.com/office/drawing/2014/main" id="{C758BAF6-59F8-3AEE-2134-B02A145DC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134" y="2286149"/>
              <a:ext cx="5943600" cy="3343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D6293EFC-B066-F538-E683-1E3AEF07E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6038" y="3103321"/>
              <a:ext cx="264720" cy="264720"/>
            </a:xfrm>
            <a:prstGeom prst="rect">
              <a:avLst/>
            </a:prstGeom>
          </p:spPr>
        </p:pic>
        <p:sp>
          <p:nvSpPr>
            <p:cNvPr id="5" name="Rettangolo con angoli arrotondati 23">
              <a:extLst>
                <a:ext uri="{FF2B5EF4-FFF2-40B4-BE49-F238E27FC236}">
                  <a16:creationId xmlns:a16="http://schemas.microsoft.com/office/drawing/2014/main" id="{AB4F828D-DFAD-4726-F8E9-260DD711A5E4}"/>
                </a:ext>
              </a:extLst>
            </p:cNvPr>
            <p:cNvSpPr/>
            <p:nvPr/>
          </p:nvSpPr>
          <p:spPr>
            <a:xfrm>
              <a:off x="7756489" y="3746799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24">
              <a:extLst>
                <a:ext uri="{FF2B5EF4-FFF2-40B4-BE49-F238E27FC236}">
                  <a16:creationId xmlns:a16="http://schemas.microsoft.com/office/drawing/2014/main" id="{ED7AE265-3911-DE63-B92E-99A3A7EA8EE1}"/>
                </a:ext>
              </a:extLst>
            </p:cNvPr>
            <p:cNvSpPr txBox="1"/>
            <p:nvPr/>
          </p:nvSpPr>
          <p:spPr>
            <a:xfrm>
              <a:off x="7284401" y="3585616"/>
              <a:ext cx="646358" cy="553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7" name="Immagine 26">
              <a:extLst>
                <a:ext uri="{FF2B5EF4-FFF2-40B4-BE49-F238E27FC236}">
                  <a16:creationId xmlns:a16="http://schemas.microsoft.com/office/drawing/2014/main" id="{1CB017EC-2544-DC3E-9D9D-BC8D6B53B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6262" y="3539406"/>
              <a:ext cx="2060447" cy="24534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5982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D6C7-D34D-4D76-8D7F-238FB5C0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176A5CF-1DA2-D20A-D7BA-593DADA0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Modules in a Block Design</a:t>
            </a:r>
            <a:endParaRPr lang="en-IT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C003F2-F176-03EE-308E-D666C30970B9}"/>
              </a:ext>
            </a:extLst>
          </p:cNvPr>
          <p:cNvGrpSpPr>
            <a:grpSpLocks noChangeAspect="1"/>
          </p:cNvGrpSpPr>
          <p:nvPr/>
        </p:nvGrpSpPr>
        <p:grpSpPr>
          <a:xfrm>
            <a:off x="1320800" y="742950"/>
            <a:ext cx="6502400" cy="3657600"/>
            <a:chOff x="1858705" y="88254"/>
            <a:chExt cx="8474589" cy="4766956"/>
          </a:xfrm>
        </p:grpSpPr>
        <p:pic>
          <p:nvPicPr>
            <p:cNvPr id="18" name="Immagine 18">
              <a:extLst>
                <a:ext uri="{FF2B5EF4-FFF2-40B4-BE49-F238E27FC236}">
                  <a16:creationId xmlns:a16="http://schemas.microsoft.com/office/drawing/2014/main" id="{2D7A7F1B-4F25-8FFC-9240-73930BBA4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8705" y="88254"/>
              <a:ext cx="8474589" cy="47669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37644315-EF69-71EC-04E3-FD730BF41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alphaModFix amt="50000"/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8645" y="1595157"/>
              <a:ext cx="1162050" cy="781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CasellaDiTesto 21">
              <a:extLst>
                <a:ext uri="{FF2B5EF4-FFF2-40B4-BE49-F238E27FC236}">
                  <a16:creationId xmlns:a16="http://schemas.microsoft.com/office/drawing/2014/main" id="{20123F23-17D6-1FD4-F1B0-585118E0E23B}"/>
                </a:ext>
              </a:extLst>
            </p:cNvPr>
            <p:cNvSpPr txBox="1"/>
            <p:nvPr/>
          </p:nvSpPr>
          <p:spPr>
            <a:xfrm>
              <a:off x="6334175" y="2778486"/>
              <a:ext cx="2230989" cy="481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</a:rPr>
                <a:t>Module version</a:t>
              </a:r>
            </a:p>
          </p:txBody>
        </p:sp>
        <p:sp>
          <p:nvSpPr>
            <p:cNvPr id="21" name="CasellaDiTesto 22">
              <a:extLst>
                <a:ext uri="{FF2B5EF4-FFF2-40B4-BE49-F238E27FC236}">
                  <a16:creationId xmlns:a16="http://schemas.microsoft.com/office/drawing/2014/main" id="{D6917A68-D03B-90BB-456F-DD00EBA97D4D}"/>
                </a:ext>
              </a:extLst>
            </p:cNvPr>
            <p:cNvSpPr txBox="1"/>
            <p:nvPr/>
          </p:nvSpPr>
          <p:spPr>
            <a:xfrm>
              <a:off x="6460937" y="697650"/>
              <a:ext cx="1977464" cy="4813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</a:rPr>
                <a:t>Module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47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B306E-0B17-9B0C-4142-FD327A83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9BD314-BC84-38B6-1062-4513CA40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Instantiate a Module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EA9D433-6384-1983-1D01-F10AA59DD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3503"/>
            <a:ext cx="4191000" cy="3416495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are “ready to place” components in the design. They can be simple logic gates or complex digital circuits: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Add Modules…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window with the available modules will pop up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B9B00E-7409-B779-D95A-058A5EA55200}"/>
              </a:ext>
            </a:extLst>
          </p:cNvPr>
          <p:cNvGrpSpPr/>
          <p:nvPr/>
        </p:nvGrpSpPr>
        <p:grpSpPr>
          <a:xfrm>
            <a:off x="4799912" y="1335956"/>
            <a:ext cx="3963088" cy="2471588"/>
            <a:chOff x="5532134" y="2286149"/>
            <a:chExt cx="5943600" cy="3706738"/>
          </a:xfrm>
        </p:grpSpPr>
        <p:pic>
          <p:nvPicPr>
            <p:cNvPr id="3" name="Immagine 10" descr="Immagine che contiene testo, schermata, software, Icona del computer&#10;&#10;Descrizione generata automaticamente">
              <a:extLst>
                <a:ext uri="{FF2B5EF4-FFF2-40B4-BE49-F238E27FC236}">
                  <a16:creationId xmlns:a16="http://schemas.microsoft.com/office/drawing/2014/main" id="{6927A320-AAF6-217A-45AD-A355E8D39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134" y="2286149"/>
              <a:ext cx="5943600" cy="3343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DAA44536-AFAE-68FA-08AB-497F305AD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6038" y="3103321"/>
              <a:ext cx="264720" cy="264720"/>
            </a:xfrm>
            <a:prstGeom prst="rect">
              <a:avLst/>
            </a:prstGeom>
          </p:spPr>
        </p:pic>
        <p:sp>
          <p:nvSpPr>
            <p:cNvPr id="5" name="Rettangolo con angoli arrotondati 23">
              <a:extLst>
                <a:ext uri="{FF2B5EF4-FFF2-40B4-BE49-F238E27FC236}">
                  <a16:creationId xmlns:a16="http://schemas.microsoft.com/office/drawing/2014/main" id="{8A4E63AD-2A4B-FC29-D87C-AA9005F41626}"/>
                </a:ext>
              </a:extLst>
            </p:cNvPr>
            <p:cNvSpPr/>
            <p:nvPr/>
          </p:nvSpPr>
          <p:spPr>
            <a:xfrm>
              <a:off x="7756489" y="3746799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24">
              <a:extLst>
                <a:ext uri="{FF2B5EF4-FFF2-40B4-BE49-F238E27FC236}">
                  <a16:creationId xmlns:a16="http://schemas.microsoft.com/office/drawing/2014/main" id="{AB610E66-43D6-954C-A097-02F5992ED67F}"/>
                </a:ext>
              </a:extLst>
            </p:cNvPr>
            <p:cNvSpPr txBox="1"/>
            <p:nvPr/>
          </p:nvSpPr>
          <p:spPr>
            <a:xfrm>
              <a:off x="7284401" y="3585616"/>
              <a:ext cx="646358" cy="553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7" name="Immagine 26">
              <a:extLst>
                <a:ext uri="{FF2B5EF4-FFF2-40B4-BE49-F238E27FC236}">
                  <a16:creationId xmlns:a16="http://schemas.microsoft.com/office/drawing/2014/main" id="{C1B64DFD-BE32-1A00-C849-0971345C1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6262" y="3539406"/>
              <a:ext cx="2060447" cy="24534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0344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F671-FC83-0EA1-E52C-E1F8C751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9A6641-89B0-0DD6-C2A5-179B9E09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&amp; Output Ports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5473B1B-F10C-2C74-2D95-2BF413B6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3503"/>
            <a:ext cx="4191000" cy="3416495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Ports are the connections of our circuit with the external world, they provide the input and show the output: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the main window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Create Port…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window with the ports settings will pop up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20F91A-2E74-3696-8B4F-0D658C84BE80}"/>
              </a:ext>
            </a:extLst>
          </p:cNvPr>
          <p:cNvGrpSpPr/>
          <p:nvPr/>
        </p:nvGrpSpPr>
        <p:grpSpPr>
          <a:xfrm>
            <a:off x="4957010" y="1412274"/>
            <a:ext cx="3715351" cy="2318952"/>
            <a:chOff x="5264176" y="2286149"/>
            <a:chExt cx="6155390" cy="3985829"/>
          </a:xfrm>
        </p:grpSpPr>
        <p:pic>
          <p:nvPicPr>
            <p:cNvPr id="10" name="Immagine 3">
              <a:extLst>
                <a:ext uri="{FF2B5EF4-FFF2-40B4-BE49-F238E27FC236}">
                  <a16:creationId xmlns:a16="http://schemas.microsoft.com/office/drawing/2014/main" id="{D8045D22-91D6-42C0-C6CF-19937CE2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5974" y="2286149"/>
              <a:ext cx="5943592" cy="33432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magine 22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909A3AB1-4E5A-D979-403B-77521F682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2378" y="3351177"/>
              <a:ext cx="264720" cy="264720"/>
            </a:xfrm>
            <a:prstGeom prst="rect">
              <a:avLst/>
            </a:prstGeom>
          </p:spPr>
        </p:pic>
        <p:sp>
          <p:nvSpPr>
            <p:cNvPr id="12" name="Rettangolo con angoli arrotondati 23">
              <a:extLst>
                <a:ext uri="{FF2B5EF4-FFF2-40B4-BE49-F238E27FC236}">
                  <a16:creationId xmlns:a16="http://schemas.microsoft.com/office/drawing/2014/main" id="{8164E13B-EE33-A45D-0CD3-DF7B64E2F178}"/>
                </a:ext>
              </a:extLst>
            </p:cNvPr>
            <p:cNvSpPr/>
            <p:nvPr/>
          </p:nvSpPr>
          <p:spPr>
            <a:xfrm>
              <a:off x="8350849" y="4630712"/>
              <a:ext cx="953172" cy="17662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24">
              <a:extLst>
                <a:ext uri="{FF2B5EF4-FFF2-40B4-BE49-F238E27FC236}">
                  <a16:creationId xmlns:a16="http://schemas.microsoft.com/office/drawing/2014/main" id="{DBD494AE-5F52-4B06-ED51-A6E696C1D2FA}"/>
                </a:ext>
              </a:extLst>
            </p:cNvPr>
            <p:cNvSpPr txBox="1"/>
            <p:nvPr/>
          </p:nvSpPr>
          <p:spPr>
            <a:xfrm>
              <a:off x="8020833" y="4534358"/>
              <a:ext cx="44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pic>
          <p:nvPicPr>
            <p:cNvPr id="14" name="Immagine 28">
              <a:extLst>
                <a:ext uri="{FF2B5EF4-FFF2-40B4-BE49-F238E27FC236}">
                  <a16:creationId xmlns:a16="http://schemas.microsoft.com/office/drawing/2014/main" id="{030C075A-287A-E909-AA9F-964328F2F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4176" y="4021696"/>
              <a:ext cx="2652275" cy="22502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825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EC50-CF03-1D61-57DA-EEA01F3E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A4288CC-8190-21AB-23D1-0496AA04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&amp; Output Ports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A1AA436-B51F-337F-09D0-A1536D7F4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35785"/>
            <a:ext cx="3420979" cy="3471930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name appropriately the ports (_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inputs and _o for outputs), so the EDA tool can understand how to map them to the die: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(Direction:  Input, Type: Other)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B_i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(Direction:  Output, Type: Other):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Y_o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9A0F25-40B0-FC64-5C0E-FA70235922F0}"/>
              </a:ext>
            </a:extLst>
          </p:cNvPr>
          <p:cNvGrpSpPr/>
          <p:nvPr/>
        </p:nvGrpSpPr>
        <p:grpSpPr>
          <a:xfrm>
            <a:off x="4105462" y="1522052"/>
            <a:ext cx="4657538" cy="2358457"/>
            <a:chOff x="5044727" y="1209039"/>
            <a:chExt cx="6805123" cy="3445938"/>
          </a:xfrm>
        </p:grpSpPr>
        <p:sp>
          <p:nvSpPr>
            <p:cNvPr id="3" name="CasellaDiTesto 21">
              <a:extLst>
                <a:ext uri="{FF2B5EF4-FFF2-40B4-BE49-F238E27FC236}">
                  <a16:creationId xmlns:a16="http://schemas.microsoft.com/office/drawing/2014/main" id="{C1C2004A-C51D-FFB8-2C53-DF429B6AD4DF}"/>
                </a:ext>
              </a:extLst>
            </p:cNvPr>
            <p:cNvSpPr txBox="1"/>
            <p:nvPr/>
          </p:nvSpPr>
          <p:spPr>
            <a:xfrm>
              <a:off x="5723340" y="4106834"/>
              <a:ext cx="1869439" cy="539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Input</a:t>
              </a:r>
              <a:endParaRPr lang="en-GB"/>
            </a:p>
          </p:txBody>
        </p:sp>
        <p:sp>
          <p:nvSpPr>
            <p:cNvPr id="4" name="CasellaDiTesto 22">
              <a:extLst>
                <a:ext uri="{FF2B5EF4-FFF2-40B4-BE49-F238E27FC236}">
                  <a16:creationId xmlns:a16="http://schemas.microsoft.com/office/drawing/2014/main" id="{FEBCC51E-15C1-6CC5-6171-46D20F2E3FB9}"/>
                </a:ext>
              </a:extLst>
            </p:cNvPr>
            <p:cNvSpPr txBox="1"/>
            <p:nvPr/>
          </p:nvSpPr>
          <p:spPr>
            <a:xfrm>
              <a:off x="9295131" y="4115347"/>
              <a:ext cx="1869439" cy="539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Output</a:t>
              </a:r>
              <a:endParaRPr lang="en-GB"/>
            </a:p>
          </p:txBody>
        </p:sp>
        <p:pic>
          <p:nvPicPr>
            <p:cNvPr id="5" name="Immagine 9">
              <a:extLst>
                <a:ext uri="{FF2B5EF4-FFF2-40B4-BE49-F238E27FC236}">
                  <a16:creationId xmlns:a16="http://schemas.microsoft.com/office/drawing/2014/main" id="{9887941C-0501-F706-467C-78AB4C0EF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4727" y="1209039"/>
              <a:ext cx="3226666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Immagine 12">
              <a:extLst>
                <a:ext uri="{FF2B5EF4-FFF2-40B4-BE49-F238E27FC236}">
                  <a16:creationId xmlns:a16="http://schemas.microsoft.com/office/drawing/2014/main" id="{4E40D3FD-DAA1-154E-5E74-599BC6C7AB2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9850" y="1209039"/>
              <a:ext cx="3240000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1894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EBDD-A8AC-C990-754D-C6095474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4491A2-1225-7573-DACA-53944C16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&amp; Output Ports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CA7FFF9-5557-EB79-8228-A2F40A540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65316"/>
            <a:ext cx="3420979" cy="3471930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/>
              <a:t>It is important to name appropriately the ports (_</a:t>
            </a:r>
            <a:r>
              <a:rPr lang="en-US" sz="2800" err="1"/>
              <a:t>i</a:t>
            </a:r>
            <a:r>
              <a:rPr lang="en-US" sz="2800"/>
              <a:t> for inputs and _o for outputs), so the EDA tool can understand how to map them to the die: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>
                <a:solidFill>
                  <a:srgbClr val="C00000"/>
                </a:solidFill>
              </a:rPr>
              <a:t>Input </a:t>
            </a:r>
            <a:r>
              <a:rPr lang="en-US" sz="2800" i="1">
                <a:solidFill>
                  <a:srgbClr val="C00000"/>
                </a:solidFill>
              </a:rPr>
              <a:t>(Direction:  Input, Type: Other)</a:t>
            </a:r>
            <a:r>
              <a:rPr lang="en-US" sz="2800">
                <a:solidFill>
                  <a:srgbClr val="C00000"/>
                </a:solidFill>
              </a:rPr>
              <a:t>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err="1"/>
              <a:t>A_i</a:t>
            </a:r>
            <a:r>
              <a:rPr lang="en-US" sz="2800" i="1"/>
              <a:t>, </a:t>
            </a:r>
            <a:r>
              <a:rPr lang="en-US" sz="2800" i="1" err="1"/>
              <a:t>B_i</a:t>
            </a:r>
            <a:r>
              <a:rPr lang="en-US" sz="2800" i="1"/>
              <a:t>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>
                <a:solidFill>
                  <a:srgbClr val="C00000"/>
                </a:solidFill>
              </a:rPr>
              <a:t>Output </a:t>
            </a:r>
            <a:r>
              <a:rPr lang="en-US" sz="2800" i="1">
                <a:solidFill>
                  <a:srgbClr val="C00000"/>
                </a:solidFill>
              </a:rPr>
              <a:t>(Direction:  Output, Type: Other):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i="1" err="1"/>
              <a:t>Y_o</a:t>
            </a:r>
            <a:endParaRPr lang="en-US" sz="2800" i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DDD6C8-A239-B5E6-8554-35D66C5A773A}"/>
              </a:ext>
            </a:extLst>
          </p:cNvPr>
          <p:cNvGrpSpPr/>
          <p:nvPr/>
        </p:nvGrpSpPr>
        <p:grpSpPr>
          <a:xfrm>
            <a:off x="4105462" y="1522052"/>
            <a:ext cx="4657538" cy="2358457"/>
            <a:chOff x="5044727" y="1209039"/>
            <a:chExt cx="6805123" cy="3445938"/>
          </a:xfrm>
        </p:grpSpPr>
        <p:sp>
          <p:nvSpPr>
            <p:cNvPr id="3" name="CasellaDiTesto 21">
              <a:extLst>
                <a:ext uri="{FF2B5EF4-FFF2-40B4-BE49-F238E27FC236}">
                  <a16:creationId xmlns:a16="http://schemas.microsoft.com/office/drawing/2014/main" id="{77D32DEB-7913-FAAC-5280-B7FE283018EB}"/>
                </a:ext>
              </a:extLst>
            </p:cNvPr>
            <p:cNvSpPr txBox="1"/>
            <p:nvPr/>
          </p:nvSpPr>
          <p:spPr>
            <a:xfrm>
              <a:off x="5723340" y="4106834"/>
              <a:ext cx="1869439" cy="5396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Input</a:t>
              </a:r>
              <a:endParaRPr lang="en-GB"/>
            </a:p>
          </p:txBody>
        </p:sp>
        <p:sp>
          <p:nvSpPr>
            <p:cNvPr id="4" name="CasellaDiTesto 22">
              <a:extLst>
                <a:ext uri="{FF2B5EF4-FFF2-40B4-BE49-F238E27FC236}">
                  <a16:creationId xmlns:a16="http://schemas.microsoft.com/office/drawing/2014/main" id="{C023B1D9-4C2B-16CE-6B4B-A7CE69DD841B}"/>
                </a:ext>
              </a:extLst>
            </p:cNvPr>
            <p:cNvSpPr txBox="1"/>
            <p:nvPr/>
          </p:nvSpPr>
          <p:spPr>
            <a:xfrm>
              <a:off x="9295131" y="4115347"/>
              <a:ext cx="1869439" cy="539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ea typeface="Baskerville Display PT" panose="02030602080406020203" pitchFamily="18" charset="0"/>
                </a:rPr>
                <a:t>Output</a:t>
              </a:r>
              <a:endParaRPr lang="en-GB"/>
            </a:p>
          </p:txBody>
        </p:sp>
        <p:pic>
          <p:nvPicPr>
            <p:cNvPr id="5" name="Immagine 9">
              <a:extLst>
                <a:ext uri="{FF2B5EF4-FFF2-40B4-BE49-F238E27FC236}">
                  <a16:creationId xmlns:a16="http://schemas.microsoft.com/office/drawing/2014/main" id="{20879698-3543-A353-2F6F-DA929FCC1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4727" y="1209039"/>
              <a:ext cx="3226666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Immagine 12">
              <a:extLst>
                <a:ext uri="{FF2B5EF4-FFF2-40B4-BE49-F238E27FC236}">
                  <a16:creationId xmlns:a16="http://schemas.microsoft.com/office/drawing/2014/main" id="{0ADD3D09-E4FF-188A-6955-8D8E7A99437E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9850" y="1209039"/>
              <a:ext cx="3240000" cy="2736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8036573-E97E-CD30-7232-16BA7347792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13">
            <a:extLst>
              <a:ext uri="{FF2B5EF4-FFF2-40B4-BE49-F238E27FC236}">
                <a16:creationId xmlns:a16="http://schemas.microsoft.com/office/drawing/2014/main" id="{B18747A6-4B32-6EA9-58AE-823DAD633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246459"/>
            <a:ext cx="8267700" cy="4650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299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B4F7-E516-F58C-78B6-31993FCA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31FC2A6-E5C3-C3B8-CB7C-ABD9CA34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Interconnections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C2B8F9E-7BF3-8BE7-87DE-FBFCAEF1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0369"/>
            <a:ext cx="3420979" cy="3182762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different logic gates to create the circuit:</a:t>
            </a:r>
          </a:p>
          <a:p>
            <a:pPr lvl="1" algn="just">
              <a:spcBef>
                <a:spcPts val="0"/>
              </a:spcBef>
              <a:spcAft>
                <a:spcPts val="18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mouse over on an input, click and drag to another connection point </a:t>
            </a:r>
          </a:p>
          <a:p>
            <a:pPr lvl="1" algn="just">
              <a:spcBef>
                <a:spcPts val="0"/>
              </a:spcBef>
              <a:spcAft>
                <a:spcPts val="180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all the logic gates and the ports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design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3FE58A-16FC-E473-B4DC-AFC4D5D0C980}"/>
              </a:ext>
            </a:extLst>
          </p:cNvPr>
          <p:cNvGrpSpPr/>
          <p:nvPr/>
        </p:nvGrpSpPr>
        <p:grpSpPr>
          <a:xfrm>
            <a:off x="3974494" y="1191877"/>
            <a:ext cx="4981814" cy="2759745"/>
            <a:chOff x="5158401" y="2258003"/>
            <a:chExt cx="6479077" cy="3589175"/>
          </a:xfrm>
        </p:grpSpPr>
        <p:pic>
          <p:nvPicPr>
            <p:cNvPr id="8" name="Immagine 10">
              <a:extLst>
                <a:ext uri="{FF2B5EF4-FFF2-40B4-BE49-F238E27FC236}">
                  <a16:creationId xmlns:a16="http://schemas.microsoft.com/office/drawing/2014/main" id="{B9C85E74-FA30-CE48-62A4-D63285D5D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8401" y="2258003"/>
              <a:ext cx="6380753" cy="35891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CasellaDiTesto 16">
              <a:extLst>
                <a:ext uri="{FF2B5EF4-FFF2-40B4-BE49-F238E27FC236}">
                  <a16:creationId xmlns:a16="http://schemas.microsoft.com/office/drawing/2014/main" id="{01CEE635-9B22-2A0F-1B7E-E94BE35122A6}"/>
                </a:ext>
              </a:extLst>
            </p:cNvPr>
            <p:cNvSpPr txBox="1"/>
            <p:nvPr/>
          </p:nvSpPr>
          <p:spPr>
            <a:xfrm>
              <a:off x="11145580" y="3729424"/>
              <a:ext cx="295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 </a:t>
              </a:r>
            </a:p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↓ </a:t>
              </a:r>
            </a:p>
          </p:txBody>
        </p:sp>
        <p:sp>
          <p:nvSpPr>
            <p:cNvPr id="11" name="Rettangolo con angoli arrotondati 26">
              <a:extLst>
                <a:ext uri="{FF2B5EF4-FFF2-40B4-BE49-F238E27FC236}">
                  <a16:creationId xmlns:a16="http://schemas.microsoft.com/office/drawing/2014/main" id="{5875EE36-503B-B941-0DD1-217467ADF66E}"/>
                </a:ext>
              </a:extLst>
            </p:cNvPr>
            <p:cNvSpPr/>
            <p:nvPr/>
          </p:nvSpPr>
          <p:spPr>
            <a:xfrm>
              <a:off x="9465155" y="2860683"/>
              <a:ext cx="172008" cy="187295"/>
            </a:xfrm>
            <a:prstGeom prst="round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ttangolo con angoli arrotondati 13">
              <a:extLst>
                <a:ext uri="{FF2B5EF4-FFF2-40B4-BE49-F238E27FC236}">
                  <a16:creationId xmlns:a16="http://schemas.microsoft.com/office/drawing/2014/main" id="{F48711D2-DF86-16B0-B8CA-07D1272CF636}"/>
                </a:ext>
              </a:extLst>
            </p:cNvPr>
            <p:cNvSpPr/>
            <p:nvPr/>
          </p:nvSpPr>
          <p:spPr>
            <a:xfrm>
              <a:off x="7777316" y="2598132"/>
              <a:ext cx="3860162" cy="192201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14">
              <a:extLst>
                <a:ext uri="{FF2B5EF4-FFF2-40B4-BE49-F238E27FC236}">
                  <a16:creationId xmlns:a16="http://schemas.microsoft.com/office/drawing/2014/main" id="{407A2A02-FCD4-4EF1-7BFE-0EABD3BECA30}"/>
                </a:ext>
              </a:extLst>
            </p:cNvPr>
            <p:cNvSpPr txBox="1"/>
            <p:nvPr/>
          </p:nvSpPr>
          <p:spPr>
            <a:xfrm>
              <a:off x="8822985" y="2701965"/>
              <a:ext cx="74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 </a:t>
              </a:r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→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242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FE25-E493-5B35-45F5-CFF05765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8295343-CDFE-9D97-076C-31C695EB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Generate the Design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88DFA2-F4F2-2ADE-A809-322AF29A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2474" y="893844"/>
            <a:ext cx="3592629" cy="3355812"/>
          </a:xfrm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EDA tool generates the code of our design taking into consideration the input and output ports of the chip: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Right-click on block design “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xor_bd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in Design Sources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Create HDL Wrapper…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window with the available modules will pop up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 startAt="3"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4161B0-CE98-0CFA-2787-805680C6209C}"/>
              </a:ext>
            </a:extLst>
          </p:cNvPr>
          <p:cNvGrpSpPr/>
          <p:nvPr/>
        </p:nvGrpSpPr>
        <p:grpSpPr>
          <a:xfrm>
            <a:off x="345906" y="1343825"/>
            <a:ext cx="4365955" cy="2455850"/>
            <a:chOff x="740542" y="2334576"/>
            <a:chExt cx="5747735" cy="3233101"/>
          </a:xfrm>
        </p:grpSpPr>
        <p:pic>
          <p:nvPicPr>
            <p:cNvPr id="3" name="Immagine 14">
              <a:extLst>
                <a:ext uri="{FF2B5EF4-FFF2-40B4-BE49-F238E27FC236}">
                  <a16:creationId xmlns:a16="http://schemas.microsoft.com/office/drawing/2014/main" id="{6A27239F-8A31-E5C5-18FA-852542803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542" y="2334576"/>
              <a:ext cx="5747735" cy="32331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" name="Immagine 16" descr="Immagine che contiene simbolo, clipart, logo, Elementi grafici&#10;&#10;Descrizione generata automaticamente">
              <a:extLst>
                <a:ext uri="{FF2B5EF4-FFF2-40B4-BE49-F238E27FC236}">
                  <a16:creationId xmlns:a16="http://schemas.microsoft.com/office/drawing/2014/main" id="{B8D51CBB-3648-8405-22A2-13EF6915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140" y="3008671"/>
              <a:ext cx="368710" cy="368710"/>
            </a:xfrm>
            <a:prstGeom prst="rect">
              <a:avLst/>
            </a:prstGeom>
          </p:spPr>
        </p:pic>
        <p:sp>
          <p:nvSpPr>
            <p:cNvPr id="5" name="CasellaDiTesto 17">
              <a:extLst>
                <a:ext uri="{FF2B5EF4-FFF2-40B4-BE49-F238E27FC236}">
                  <a16:creationId xmlns:a16="http://schemas.microsoft.com/office/drawing/2014/main" id="{45BCD12C-FF17-5983-D4A2-718ECD5B4767}"/>
                </a:ext>
              </a:extLst>
            </p:cNvPr>
            <p:cNvSpPr txBox="1"/>
            <p:nvPr/>
          </p:nvSpPr>
          <p:spPr>
            <a:xfrm>
              <a:off x="1081425" y="3059668"/>
              <a:ext cx="520071" cy="48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6" name="CasellaDiTesto 18">
              <a:extLst>
                <a:ext uri="{FF2B5EF4-FFF2-40B4-BE49-F238E27FC236}">
                  <a16:creationId xmlns:a16="http://schemas.microsoft.com/office/drawing/2014/main" id="{DC442522-C6CF-F8C6-8E19-E27C2735007C}"/>
                </a:ext>
              </a:extLst>
            </p:cNvPr>
            <p:cNvSpPr txBox="1"/>
            <p:nvPr/>
          </p:nvSpPr>
          <p:spPr>
            <a:xfrm>
              <a:off x="1896746" y="3060706"/>
              <a:ext cx="464756" cy="48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14" name="Rettangolo con angoli arrotondati 19">
              <a:extLst>
                <a:ext uri="{FF2B5EF4-FFF2-40B4-BE49-F238E27FC236}">
                  <a16:creationId xmlns:a16="http://schemas.microsoft.com/office/drawing/2014/main" id="{508F7599-5DA6-CEA9-D904-4071D2456776}"/>
                </a:ext>
              </a:extLst>
            </p:cNvPr>
            <p:cNvSpPr/>
            <p:nvPr/>
          </p:nvSpPr>
          <p:spPr>
            <a:xfrm>
              <a:off x="2326853" y="3230252"/>
              <a:ext cx="1202928" cy="147129"/>
            </a:xfrm>
            <a:prstGeom prst="round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115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54C7-92D0-9985-6C8C-CC0275DF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EA5A36-8A1B-7575-1670-70644F0F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In Deep Look to the Generated Design</a:t>
            </a:r>
            <a:endParaRPr lang="en-I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C97C85-0378-F340-BBBE-E6253BC4CBD9}"/>
              </a:ext>
            </a:extLst>
          </p:cNvPr>
          <p:cNvGrpSpPr/>
          <p:nvPr/>
        </p:nvGrpSpPr>
        <p:grpSpPr>
          <a:xfrm>
            <a:off x="729771" y="586591"/>
            <a:ext cx="7684458" cy="3970318"/>
            <a:chOff x="666750" y="586591"/>
            <a:chExt cx="7684458" cy="3970318"/>
          </a:xfrm>
        </p:grpSpPr>
        <p:sp>
          <p:nvSpPr>
            <p:cNvPr id="10" name="CasellaDiTesto 10">
              <a:extLst>
                <a:ext uri="{FF2B5EF4-FFF2-40B4-BE49-F238E27FC236}">
                  <a16:creationId xmlns:a16="http://schemas.microsoft.com/office/drawing/2014/main" id="{53C4FD16-DFE6-AE74-1ED4-7E9DA88607C9}"/>
                </a:ext>
              </a:extLst>
            </p:cNvPr>
            <p:cNvSpPr txBox="1"/>
            <p:nvPr/>
          </p:nvSpPr>
          <p:spPr>
            <a:xfrm>
              <a:off x="666750" y="586591"/>
              <a:ext cx="3905250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`timescale 1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ps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/ 1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ps</a:t>
              </a:r>
              <a:endParaRPr lang="en-GB" sz="1800" b="1" dirty="0"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  <a:p>
              <a:endParaRPr lang="en-GB" b="1" dirty="0"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  <a:p>
              <a:r>
                <a:rPr lang="en-GB" sz="18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module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xor_gate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(</a:t>
              </a: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A_i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,</a:t>
              </a: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B_i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,</a:t>
              </a: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Y_o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);</a:t>
              </a:r>
            </a:p>
            <a:p>
              <a:endParaRPr lang="en-GB" sz="1800" b="1" dirty="0"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input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A_i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input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B_i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1800" b="1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output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</a:t>
              </a:r>
              <a:r>
                <a:rPr lang="en-GB" sz="1800" b="1" dirty="0" err="1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Y_o</a:t>
              </a:r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;</a:t>
              </a:r>
            </a:p>
            <a:p>
              <a:endParaRPr lang="en-GB" sz="1800" b="1" dirty="0"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  <a:p>
              <a:r>
                <a:rPr lang="en-GB" sz="1800" b="1" dirty="0"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    assign y = a ^ b; </a:t>
              </a:r>
            </a:p>
            <a:p>
              <a:endParaRPr lang="en-GB" sz="1800" b="1" dirty="0"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  <a:p>
              <a:r>
                <a:rPr lang="en-GB" sz="1800" b="1" dirty="0" err="1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ea typeface="Cascadia Code" panose="020B0609020000020004" pitchFamily="49" charset="0"/>
                  <a:cs typeface="Courier New" panose="02070309020205020404" pitchFamily="49" charset="0"/>
                </a:rPr>
                <a:t>endmodule</a:t>
              </a:r>
              <a:endParaRPr lang="en-GB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Cascadia Code" panose="020B06090200000200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1" name="Immagine 21">
              <a:extLst>
                <a:ext uri="{FF2B5EF4-FFF2-40B4-BE49-F238E27FC236}">
                  <a16:creationId xmlns:a16="http://schemas.microsoft.com/office/drawing/2014/main" id="{91416CEC-F97F-9790-CF06-0EC6064B0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92112" y="1081410"/>
              <a:ext cx="3259096" cy="298068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12" name="Connettore curvo 24">
              <a:extLst>
                <a:ext uri="{FF2B5EF4-FFF2-40B4-BE49-F238E27FC236}">
                  <a16:creationId xmlns:a16="http://schemas.microsoft.com/office/drawing/2014/main" id="{C830AE8A-37ED-D7E9-CDB3-46C38FD941E4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3219450" y="1381125"/>
              <a:ext cx="1872662" cy="1190626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accent2">
                  <a:lumMod val="75000"/>
                  <a:alpha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E3ED545B-C13C-E72D-924A-CD8C6357A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720" y="1801447"/>
            <a:ext cx="2699228" cy="151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0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147B-DA22-FAF0-4AD1-2885850F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965376F-7081-11C4-5A6C-9BCAB30D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Verify the Design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A5289B-C461-9F40-3339-1DDE50AB3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064" y="1069744"/>
            <a:ext cx="3800975" cy="3004012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Block Design is complete, it is important to check the functionalities of our design with a simulation: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Left-click on Run Simulation in the Flow Navigator window</a:t>
            </a:r>
          </a:p>
          <a:p>
            <a:pPr marL="514350" indent="-514350" algn="just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Behavioral Simulation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panel with the behavior of our design will appear, from there we can check its functionalities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AB2C10-8840-59BE-EA66-96CC6071FD54}"/>
              </a:ext>
            </a:extLst>
          </p:cNvPr>
          <p:cNvGrpSpPr/>
          <p:nvPr/>
        </p:nvGrpSpPr>
        <p:grpSpPr>
          <a:xfrm>
            <a:off x="304456" y="1189477"/>
            <a:ext cx="4267544" cy="2764547"/>
            <a:chOff x="5279579" y="717755"/>
            <a:chExt cx="6519130" cy="4223141"/>
          </a:xfrm>
        </p:grpSpPr>
        <p:pic>
          <p:nvPicPr>
            <p:cNvPr id="7" name="Immagine 5">
              <a:extLst>
                <a:ext uri="{FF2B5EF4-FFF2-40B4-BE49-F238E27FC236}">
                  <a16:creationId xmlns:a16="http://schemas.microsoft.com/office/drawing/2014/main" id="{03A1536F-9C1E-7037-DCDD-047D74CB8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9579" y="717755"/>
              <a:ext cx="6519130" cy="366701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Rettangolo con angoli arrotondati 6">
              <a:extLst>
                <a:ext uri="{FF2B5EF4-FFF2-40B4-BE49-F238E27FC236}">
                  <a16:creationId xmlns:a16="http://schemas.microsoft.com/office/drawing/2014/main" id="{0175667D-EE32-1DA3-0D66-2EC21963BD82}"/>
                </a:ext>
              </a:extLst>
            </p:cNvPr>
            <p:cNvSpPr/>
            <p:nvPr/>
          </p:nvSpPr>
          <p:spPr>
            <a:xfrm>
              <a:off x="8748930" y="2239611"/>
              <a:ext cx="2644198" cy="264701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95000"/>
              </a:scheme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2E719FA-66E4-E8DD-1904-FD1096099E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5227" y="2190449"/>
              <a:ext cx="2312876" cy="275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0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</a:t>
            </a:r>
            <a:r>
              <a:rPr lang="en-US"/>
              <a:t>1</a:t>
            </a:r>
            <a:r>
              <a:rPr lang="en-IT"/>
              <a:t> Part </a:t>
            </a:r>
            <a:r>
              <a:rPr lang="en-US"/>
              <a:t>2</a:t>
            </a:r>
            <a:r>
              <a:rPr lang="en-IT"/>
              <a:t>: </a:t>
            </a:r>
            <a:br>
              <a:rPr lang="en-US"/>
            </a:br>
            <a:r>
              <a:rPr lang="en-US"/>
              <a:t>Logic Gates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3D6BC32-A715-6F10-70E8-84256B7B3B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C072-1054-B768-AA4F-3D302B81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05D250-3B00-1C70-09CA-F266E50855C2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C839BA3-8700-61D7-AEC9-636E918F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Evaluate the Logic Gates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40DC072F-F623-082B-A09A-78C56021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how to create a project and how to implement a XOR logic gate.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28669E8A-F0B2-F0B1-E679-6E831CA20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D93874-A638-F043-E0C6-E89736C31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33" y="2742206"/>
            <a:ext cx="4076263" cy="139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2D066-CA60-A677-9D7B-59DBB1D60BA6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2060"/>
                </a:solidFill>
              </a:rPr>
              <a:t>and_bd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C446F-A142-AA07-63A5-5538847CA464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</a:rPr>
              <a:t>Evaluate the AND Gate</a:t>
            </a:r>
          </a:p>
        </p:txBody>
      </p:sp>
    </p:spTree>
    <p:extLst>
      <p:ext uri="{BB962C8B-B14F-4D97-AF65-F5344CB8AC3E}">
        <p14:creationId xmlns:p14="http://schemas.microsoft.com/office/powerpoint/2010/main" val="112811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3EE05-9919-BE56-4784-42467F6A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CF8854-A72E-9113-A381-BA06F07773CF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025484-E14D-D35C-6478-9C63D7DD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Evaluate the Logic Gates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49E5A53-DE7C-34CE-9873-36E1489EA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how to create a project and how to implement a XOR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gates.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E425E1F3-11BD-2A29-12E6-C9175FABA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C7BFE-5499-85DD-4644-CCFDC5E123F7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solidFill>
                  <a:srgbClr val="002060"/>
                </a:solidFill>
              </a:rPr>
              <a:t>not_bd</a:t>
            </a:r>
            <a:endParaRPr lang="en-US" i="1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52335-1F4E-3194-DE9A-781D39F2148C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002060"/>
                </a:solidFill>
              </a:rPr>
              <a:t>Evaluate the NOT Gate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9C7C406-A536-ED8D-DA74-6149796EF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05" y="3008545"/>
            <a:ext cx="4110718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12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2EE1-E9D5-E44E-DD59-1CF2291A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F3BD41-9310-8C20-713D-92B338145378}"/>
              </a:ext>
            </a:extLst>
          </p:cNvPr>
          <p:cNvSpPr/>
          <p:nvPr/>
        </p:nvSpPr>
        <p:spPr>
          <a:xfrm>
            <a:off x="349045" y="2560788"/>
            <a:ext cx="4186238" cy="175613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B6488CC-3EA1-EA3B-424D-894FEC73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Evaluate the Logic Gates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5CFF0A46-439C-E9C1-5F82-2688210D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4064" y="792695"/>
            <a:ext cx="4050891" cy="1837433"/>
          </a:xfrm>
          <a:ln>
            <a:noFill/>
          </a:ln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how to create a project and how to implement a XOR, AND, and NOT  logic gate.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try to implement others Boolean Functions and evaluates their outputs.</a:t>
            </a:r>
          </a:p>
        </p:txBody>
      </p:sp>
      <p:pic>
        <p:nvPicPr>
          <p:cNvPr id="3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540BF08E-897E-F3BB-DE13-C40A58B41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086" y="2630128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8F821D-DD6F-28F3-6A96-8D667868E63F}"/>
              </a:ext>
            </a:extLst>
          </p:cNvPr>
          <p:cNvSpPr txBox="1"/>
          <p:nvPr/>
        </p:nvSpPr>
        <p:spPr>
          <a:xfrm>
            <a:off x="556433" y="223571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err="1">
                <a:solidFill>
                  <a:srgbClr val="002060"/>
                </a:solidFill>
              </a:rPr>
              <a:t>or_bd</a:t>
            </a:r>
            <a:endParaRPr lang="en-US" i="1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749EA-F743-E90B-EC4F-86CE70AFFD89}"/>
              </a:ext>
            </a:extLst>
          </p:cNvPr>
          <p:cNvSpPr txBox="1"/>
          <p:nvPr/>
        </p:nvSpPr>
        <p:spPr>
          <a:xfrm>
            <a:off x="480233" y="792695"/>
            <a:ext cx="39238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002060"/>
                </a:solidFill>
              </a:rPr>
              <a:t>Evaluate the </a:t>
            </a:r>
          </a:p>
          <a:p>
            <a:pPr algn="ctr"/>
            <a:r>
              <a:rPr lang="en-US" sz="4400">
                <a:solidFill>
                  <a:srgbClr val="002060"/>
                </a:solidFill>
              </a:rPr>
              <a:t>OR Gate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F5F73-4B5F-B95F-92A3-0E9D05EBC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403516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45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B380-93F6-5B1D-9C26-CAD28A28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A958-8FE3-C6F5-84C5-1BA7C8E03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</a:t>
            </a:r>
            <a:r>
              <a:rPr lang="en-US"/>
              <a:t>1</a:t>
            </a:r>
            <a:r>
              <a:rPr lang="en-IT"/>
              <a:t> Part </a:t>
            </a:r>
            <a:r>
              <a:rPr lang="en-US"/>
              <a:t>3</a:t>
            </a:r>
            <a:r>
              <a:rPr lang="en-IT"/>
              <a:t>: </a:t>
            </a:r>
            <a:br>
              <a:rPr lang="en-US"/>
            </a:br>
            <a:r>
              <a:rPr lang="en-US"/>
              <a:t>The Multiplexer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29C60AA-86AC-F3EB-4FAF-75C108D9E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1944795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Logic Gates</a:t>
            </a:r>
            <a:endParaRPr lang="en-IT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67186A-EBEF-B394-CFE4-4BA49E5E5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7162"/>
            <a:ext cx="4938713" cy="3126688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complex logic functions designers combine basic logic gates together.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multiplexer is a digital circuit that choose an input among different with a control signal.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2BCE40-1AD5-5842-15CB-A9793A761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88" y="713131"/>
            <a:ext cx="2410001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ABFD-EBC0-491A-DC31-8FF686A3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4C40F24-71EE-5159-7A14-015E2241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Digital Blocks</a:t>
            </a:r>
            <a:endParaRPr lang="en-IT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AEF0BF0F-7CF6-1F7D-4166-2C227F31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3243"/>
            <a:ext cx="3705893" cy="1917013"/>
          </a:xfrm>
          <a:ln>
            <a:noFill/>
          </a:ln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logic gates digital blocks can also be combined to form more complex structures</a:t>
            </a:r>
          </a:p>
        </p:txBody>
      </p:sp>
      <p:pic>
        <p:nvPicPr>
          <p:cNvPr id="2" name="Immagine 1" descr="Immagine che contiene schermata, diagramma, cerchio&#10;&#10;Il contenuto generato dall&amp;#39;IA potrebbe non essere corretto.">
            <a:extLst>
              <a:ext uri="{FF2B5EF4-FFF2-40B4-BE49-F238E27FC236}">
                <a16:creationId xmlns:a16="http://schemas.microsoft.com/office/drawing/2014/main" id="{7B7F0266-BFA6-19A2-FD26-0104E8ACB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628" y="1207634"/>
            <a:ext cx="4216572" cy="27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DAA5-601F-5A61-521F-7BB3C81D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81D7-F61E-E0C4-B710-8983B3EE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Practice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DBD32-AD7B-44D2-8A61-93FD58470370}"/>
              </a:ext>
            </a:extLst>
          </p:cNvPr>
          <p:cNvSpPr txBox="1"/>
          <p:nvPr/>
        </p:nvSpPr>
        <p:spPr>
          <a:xfrm>
            <a:off x="3888188" y="3799085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…again</a:t>
            </a:r>
          </a:p>
        </p:txBody>
      </p:sp>
      <p:pic>
        <p:nvPicPr>
          <p:cNvPr id="1028" name="Picture 4" descr="YOUR TURN">
            <a:extLst>
              <a:ext uri="{FF2B5EF4-FFF2-40B4-BE49-F238E27FC236}">
                <a16:creationId xmlns:a16="http://schemas.microsoft.com/office/drawing/2014/main" id="{67EBF935-4239-6F4A-03CF-6F6F0031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882750"/>
            <a:ext cx="28448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3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6A3C-7CE0-358B-74E3-10862690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CF3516-FE9E-98CC-C4E9-9AE3B5BE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All the Logic Gates</a:t>
            </a:r>
            <a:endParaRPr lang="en-IT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56CB2E3-6AC3-E185-312E-BED4844F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220959"/>
            <a:ext cx="4429125" cy="2701582"/>
          </a:xfrm>
          <a:ln>
            <a:noFill/>
          </a:ln>
        </p:spPr>
        <p:txBody>
          <a:bodyPr>
            <a:normAutofit lnSpcReduction="10000"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modules available for the laboratory also include other common logic gates.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all the logic gates to a multiplexer and test them directly on the board.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D28E7E-CDF7-86E9-7BBF-D12C7C4DD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27"/>
          <a:stretch/>
        </p:blipFill>
        <p:spPr bwMode="auto">
          <a:xfrm>
            <a:off x="4829174" y="736711"/>
            <a:ext cx="3951859" cy="36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1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3431-ADA6-9C3A-26BA-88714E05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6841-121A-A6CE-C358-EFDF84856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</a:t>
            </a:r>
            <a:r>
              <a:rPr lang="en-US"/>
              <a:t>1</a:t>
            </a:r>
            <a:r>
              <a:rPr lang="en-IT"/>
              <a:t> Part </a:t>
            </a:r>
            <a:r>
              <a:rPr lang="en-US"/>
              <a:t>4</a:t>
            </a:r>
            <a:r>
              <a:rPr lang="en-IT"/>
              <a:t>: </a:t>
            </a:r>
            <a:br>
              <a:rPr lang="en-US"/>
            </a:br>
            <a:r>
              <a:rPr lang="en-US"/>
              <a:t>Implementation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64DC072-174C-0006-B6AD-7C8FFDDE1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1452934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142A-8600-8822-7892-956784FE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41A513AA-AEF3-851C-00D7-440D35F6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 the Circuit  on the Board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F8BED-03A1-85C7-23DF-D14FA0AD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“Generate Bitstream” and the EDA Tool will provide the files to upload the design on the board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“Hardware 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9031C1D-4475-BA69-BA24-26BDDE16A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50" y="136974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B98FF79E-E97F-1E4B-6DF6-44127D79FA9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1946737" y="2395438"/>
            <a:ext cx="1457294" cy="1378532"/>
          </a:xfrm>
          <a:prstGeom prst="curvedConnector2">
            <a:avLst/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F4C20CA-F530-8B0B-9688-D8A21FFCF3FB}"/>
              </a:ext>
            </a:extLst>
          </p:cNvPr>
          <p:cNvSpPr/>
          <p:nvPr/>
        </p:nvSpPr>
        <p:spPr>
          <a:xfrm>
            <a:off x="3364650" y="3676650"/>
            <a:ext cx="632738" cy="273401"/>
          </a:xfrm>
          <a:prstGeom prst="round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799413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8F78-381F-BFEA-A1CF-43C3E390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AE06D2B5-EF9D-865E-E7C2-8B1AA54B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Hardware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F027-9A65-0FF6-56F7-C62E6A62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199" y="1273643"/>
            <a:ext cx="2995797" cy="2596214"/>
          </a:xfrm>
        </p:spPr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Manager handles the connections with the board. 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connect: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target</a:t>
            </a:r>
          </a:p>
          <a:p>
            <a:pPr lvl="1" algn="just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Connect</a:t>
            </a:r>
            <a:endParaRPr lang="en-IT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7D7F25F9-C994-1079-84FB-8ED08509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2993"/>
            <a:ext cx="5257800" cy="295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582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37C0-F279-13F1-BFA9-F16E8990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1F26278A-B188-F1C9-4A55-7D0E532C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Hardware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436C2-2180-E6B9-9ADE-4FDC71FD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program the device, click 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device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8BD841E1-70A1-807B-5B52-85642775E4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13CD0DE-F161-D38B-3162-E227B7FA8B5F}"/>
              </a:ext>
            </a:extLst>
          </p:cNvPr>
          <p:cNvSpPr txBox="1"/>
          <p:nvPr/>
        </p:nvSpPr>
        <p:spPr>
          <a:xfrm>
            <a:off x="6290109" y="2030521"/>
            <a:ext cx="242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b="1" dirty="0">
                <a:solidFill>
                  <a:srgbClr val="82B366"/>
                </a:solidFill>
                <a:ea typeface="Baskerville Display PT" panose="02030602080406020203" pitchFamily="18" charset="0"/>
              </a:rPr>
              <a:t>Now your design is working on the board!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B0FB5DF-843C-D365-9316-9403D079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6" y="1278165"/>
            <a:ext cx="5259878" cy="2956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032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2B65B88F-0FBD-69C7-9C75-A97235655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76397E7-46CF-37E6-7091-93EEA7D53B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1413</Words>
  <Application>Microsoft Macintosh PowerPoint</Application>
  <PresentationFormat>On-screen Show (16:9)</PresentationFormat>
  <Paragraphs>218</Paragraphs>
  <Slides>36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Inter</vt:lpstr>
      <vt:lpstr>Arial</vt:lpstr>
      <vt:lpstr>Arial Narrow</vt:lpstr>
      <vt:lpstr>Baskerville Display PT</vt:lpstr>
      <vt:lpstr>Calibri</vt:lpstr>
      <vt:lpstr>Courier New</vt:lpstr>
      <vt:lpstr>Times New Roman</vt:lpstr>
      <vt:lpstr>4_Office Theme</vt:lpstr>
      <vt:lpstr>Lab 01 Part 0:  Vivado</vt:lpstr>
      <vt:lpstr>Vivado</vt:lpstr>
      <vt:lpstr>Vivado</vt:lpstr>
      <vt:lpstr>Start a Laboratory Session</vt:lpstr>
      <vt:lpstr>Inside a Project Folder</vt:lpstr>
      <vt:lpstr>Vivado a First Glance</vt:lpstr>
      <vt:lpstr>Vivado a First Glance</vt:lpstr>
      <vt:lpstr>Vivado a First Glance</vt:lpstr>
      <vt:lpstr>Vivado a First Glance</vt:lpstr>
      <vt:lpstr>Vivado a First Glance</vt:lpstr>
      <vt:lpstr>Lab 01 Part 1:  Create the First Gate</vt:lpstr>
      <vt:lpstr>Create a Block Design</vt:lpstr>
      <vt:lpstr>Modules in a Block Design</vt:lpstr>
      <vt:lpstr>Modules in a Block Design</vt:lpstr>
      <vt:lpstr>Instantiate a Module</vt:lpstr>
      <vt:lpstr>Input &amp; Output Ports</vt:lpstr>
      <vt:lpstr>Input &amp; Output Ports</vt:lpstr>
      <vt:lpstr>Input &amp; Output Ports</vt:lpstr>
      <vt:lpstr>Interconnections</vt:lpstr>
      <vt:lpstr>Generate the Design</vt:lpstr>
      <vt:lpstr>An In Deep Look to the Generated Design</vt:lpstr>
      <vt:lpstr>Verify the Design</vt:lpstr>
      <vt:lpstr>Lab 01 Part 2:  Logic Gates</vt:lpstr>
      <vt:lpstr>Evaluate the Logic Gates</vt:lpstr>
      <vt:lpstr>Evaluate the Logic Gates</vt:lpstr>
      <vt:lpstr>Evaluate the Logic Gates</vt:lpstr>
      <vt:lpstr>Lab 01 Part 3:  The Multiplexer</vt:lpstr>
      <vt:lpstr>Combining Logic Gates</vt:lpstr>
      <vt:lpstr>Combining Digital Blocks</vt:lpstr>
      <vt:lpstr>Practice Time</vt:lpstr>
      <vt:lpstr>Test All the Logic Gates</vt:lpstr>
      <vt:lpstr>Lab 01 Part 4:  Implementation</vt:lpstr>
      <vt:lpstr>Implement the Circuit  on the Board</vt:lpstr>
      <vt:lpstr>The Hardware manager</vt:lpstr>
      <vt:lpstr>The Hardware manager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9</cp:revision>
  <dcterms:created xsi:type="dcterms:W3CDTF">2006-08-16T00:00:00Z</dcterms:created>
  <dcterms:modified xsi:type="dcterms:W3CDTF">2025-06-22T01:24:02Z</dcterms:modified>
</cp:coreProperties>
</file>