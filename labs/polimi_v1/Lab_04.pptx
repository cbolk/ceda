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06" r:id="rId2"/>
    <p:sldId id="554" r:id="rId3"/>
    <p:sldId id="555" r:id="rId4"/>
    <p:sldId id="552" r:id="rId5"/>
    <p:sldId id="553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490" r:id="rId16"/>
    <p:sldId id="397" r:id="rId17"/>
    <p:sldId id="538" r:id="rId18"/>
    <p:sldId id="570" r:id="rId19"/>
    <p:sldId id="522" r:id="rId20"/>
    <p:sldId id="524" r:id="rId21"/>
    <p:sldId id="486" r:id="rId22"/>
    <p:sldId id="455" r:id="rId23"/>
    <p:sldId id="541" r:id="rId24"/>
    <p:sldId id="480" r:id="rId25"/>
    <p:sldId id="571" r:id="rId26"/>
    <p:sldId id="572" r:id="rId27"/>
    <p:sldId id="576" r:id="rId28"/>
    <p:sldId id="545" r:id="rId29"/>
    <p:sldId id="312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00295D"/>
    <a:srgbClr val="5484A7"/>
    <a:srgbClr val="B1DEF0"/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48A1E-FCE7-5346-974D-607FE633BEC9}" v="2" dt="2025-06-22T01:47:14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6"/>
    <p:restoredTop sz="95788"/>
  </p:normalViewPr>
  <p:slideViewPr>
    <p:cSldViewPr snapToGrid="0">
      <p:cViewPr varScale="1">
        <p:scale>
          <a:sx n="135" d="100"/>
          <a:sy n="135" d="100"/>
        </p:scale>
        <p:origin x="62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9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Bolchini" userId="6b8273cd-38c1-41dc-ba93-995a19828489" providerId="ADAL" clId="{17948A1E-FCE7-5346-974D-607FE633BEC9}"/>
    <pc:docChg chg="custSel modSld">
      <pc:chgData name="Cristiana Bolchini" userId="6b8273cd-38c1-41dc-ba93-995a19828489" providerId="ADAL" clId="{17948A1E-FCE7-5346-974D-607FE633BEC9}" dt="2025-06-22T01:52:07.676" v="18" actId="20577"/>
      <pc:docMkLst>
        <pc:docMk/>
      </pc:docMkLst>
      <pc:sldChg chg="addSp delSp modSp mod">
        <pc:chgData name="Cristiana Bolchini" userId="6b8273cd-38c1-41dc-ba93-995a19828489" providerId="ADAL" clId="{17948A1E-FCE7-5346-974D-607FE633BEC9}" dt="2025-06-22T01:47:17.770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17948A1E-FCE7-5346-974D-607FE633BEC9}" dt="2025-06-22T01:47:17.770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17948A1E-FCE7-5346-974D-607FE633BEC9}" dt="2025-06-22T01:47:14.728" v="1"/>
          <ac:picMkLst>
            <pc:docMk/>
            <pc:sldMk cId="3414173897" sldId="312"/>
            <ac:picMk id="3" creationId="{E863FEE9-FD89-52E8-0DFE-C7E9945B8FCD}"/>
          </ac:picMkLst>
        </pc:picChg>
        <pc:picChg chg="add mod">
          <ac:chgData name="Cristiana Bolchini" userId="6b8273cd-38c1-41dc-ba93-995a19828489" providerId="ADAL" clId="{17948A1E-FCE7-5346-974D-607FE633BEC9}" dt="2025-06-22T01:47:14.728" v="1"/>
          <ac:picMkLst>
            <pc:docMk/>
            <pc:sldMk cId="3414173897" sldId="312"/>
            <ac:picMk id="5" creationId="{FA121F99-A1F9-1565-9077-F9A6A65A6849}"/>
          </ac:picMkLst>
        </pc:picChg>
        <pc:picChg chg="del">
          <ac:chgData name="Cristiana Bolchini" userId="6b8273cd-38c1-41dc-ba93-995a19828489" providerId="ADAL" clId="{17948A1E-FCE7-5346-974D-607FE633BEC9}" dt="2025-06-22T01:47:14.390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17948A1E-FCE7-5346-974D-607FE633BEC9}" dt="2025-06-22T01:47:14.390" v="0" actId="478"/>
          <ac:picMkLst>
            <pc:docMk/>
            <pc:sldMk cId="3414173897" sldId="312"/>
            <ac:picMk id="1030" creationId="{EEBFC921-7D9A-3E46-F3DC-0A403C48E830}"/>
          </ac:picMkLst>
        </pc:picChg>
      </pc:sldChg>
      <pc:sldChg chg="modSp mod">
        <pc:chgData name="Cristiana Bolchini" userId="6b8273cd-38c1-41dc-ba93-995a19828489" providerId="ADAL" clId="{17948A1E-FCE7-5346-974D-607FE633BEC9}" dt="2025-06-22T01:51:50.675" v="16" actId="20577"/>
        <pc:sldMkLst>
          <pc:docMk/>
          <pc:sldMk cId="2831357943" sldId="490"/>
        </pc:sldMkLst>
        <pc:spChg chg="mod">
          <ac:chgData name="Cristiana Bolchini" userId="6b8273cd-38c1-41dc-ba93-995a19828489" providerId="ADAL" clId="{17948A1E-FCE7-5346-974D-607FE633BEC9}" dt="2025-06-22T01:51:50.675" v="16" actId="20577"/>
          <ac:spMkLst>
            <pc:docMk/>
            <pc:sldMk cId="2831357943" sldId="490"/>
            <ac:spMk id="2" creationId="{7F74B585-77E5-F190-B4E9-BBEC17AEAE77}"/>
          </ac:spMkLst>
        </pc:spChg>
      </pc:sldChg>
      <pc:sldChg chg="modSp mod">
        <pc:chgData name="Cristiana Bolchini" userId="6b8273cd-38c1-41dc-ba93-995a19828489" providerId="ADAL" clId="{17948A1E-FCE7-5346-974D-607FE633BEC9}" dt="2025-06-22T01:52:07.676" v="18" actId="20577"/>
        <pc:sldMkLst>
          <pc:docMk/>
          <pc:sldMk cId="3317779889" sldId="545"/>
        </pc:sldMkLst>
        <pc:spChg chg="mod">
          <ac:chgData name="Cristiana Bolchini" userId="6b8273cd-38c1-41dc-ba93-995a19828489" providerId="ADAL" clId="{17948A1E-FCE7-5346-974D-607FE633BEC9}" dt="2025-06-22T01:52:07.676" v="18" actId="20577"/>
          <ac:spMkLst>
            <pc:docMk/>
            <pc:sldMk cId="3317779889" sldId="545"/>
            <ac:spMk id="3" creationId="{2511A6BE-8A2A-7FE0-BA81-64DB3B7FEE51}"/>
          </ac:spMkLst>
        </pc:spChg>
      </pc:sldChg>
    </pc:docChg>
  </pc:docChgLst>
  <pc:docChgLst>
    <pc:chgData name="Fabrizio Ferrandi" userId="f9df4cb0-0e27-47ec-bff9-7f5b2a5a0289" providerId="ADAL" clId="{9FB6193C-3E3B-48A5-88D3-EAFDA74025C1}"/>
    <pc:docChg chg="undo custSel addSld delSld modSld">
      <pc:chgData name="Fabrizio Ferrandi" userId="f9df4cb0-0e27-47ec-bff9-7f5b2a5a0289" providerId="ADAL" clId="{9FB6193C-3E3B-48A5-88D3-EAFDA74025C1}" dt="2025-06-20T14:43:35.646" v="51" actId="1076"/>
      <pc:docMkLst>
        <pc:docMk/>
      </pc:docMkLst>
      <pc:sldChg chg="addSp modSp mod">
        <pc:chgData name="Fabrizio Ferrandi" userId="f9df4cb0-0e27-47ec-bff9-7f5b2a5a0289" providerId="ADAL" clId="{9FB6193C-3E3B-48A5-88D3-EAFDA74025C1}" dt="2025-06-20T14:43:35.646" v="51" actId="1076"/>
        <pc:sldMkLst>
          <pc:docMk/>
          <pc:sldMk cId="474371491" sldId="306"/>
        </pc:sldMkLst>
        <pc:spChg chg="add mod">
          <ac:chgData name="Fabrizio Ferrandi" userId="f9df4cb0-0e27-47ec-bff9-7f5b2a5a0289" providerId="ADAL" clId="{9FB6193C-3E3B-48A5-88D3-EAFDA74025C1}" dt="2025-06-20T14:43:35.646" v="51" actId="1076"/>
          <ac:spMkLst>
            <pc:docMk/>
            <pc:sldMk cId="474371491" sldId="306"/>
            <ac:spMk id="2" creationId="{BC3498FA-FB8A-72D7-F4D6-824A20CE17FB}"/>
          </ac:spMkLst>
        </pc:spChg>
      </pc:sldChg>
      <pc:sldChg chg="add">
        <pc:chgData name="Fabrizio Ferrandi" userId="f9df4cb0-0e27-47ec-bff9-7f5b2a5a0289" providerId="ADAL" clId="{9FB6193C-3E3B-48A5-88D3-EAFDA74025C1}" dt="2025-06-20T14:42:46.226" v="48"/>
        <pc:sldMkLst>
          <pc:docMk/>
          <pc:sldMk cId="3414173897" sldId="312"/>
        </pc:sldMkLst>
      </pc:sldChg>
      <pc:sldChg chg="addSp delSp modSp mod">
        <pc:chgData name="Fabrizio Ferrandi" userId="f9df4cb0-0e27-47ec-bff9-7f5b2a5a0289" providerId="ADAL" clId="{9FB6193C-3E3B-48A5-88D3-EAFDA74025C1}" dt="2025-06-20T14:32:23.261" v="10" actId="14100"/>
        <pc:sldMkLst>
          <pc:docMk/>
          <pc:sldMk cId="941995633" sldId="480"/>
        </pc:sldMkLst>
        <pc:spChg chg="ord">
          <ac:chgData name="Fabrizio Ferrandi" userId="f9df4cb0-0e27-47ec-bff9-7f5b2a5a0289" providerId="ADAL" clId="{9FB6193C-3E3B-48A5-88D3-EAFDA74025C1}" dt="2025-06-20T14:32:14.592" v="8" actId="166"/>
          <ac:spMkLst>
            <pc:docMk/>
            <pc:sldMk cId="941995633" sldId="480"/>
            <ac:spMk id="21" creationId="{F6DCF104-DD08-EF3A-33B3-58521F0EB7AC}"/>
          </ac:spMkLst>
        </pc:spChg>
        <pc:picChg chg="add mod">
          <ac:chgData name="Fabrizio Ferrandi" userId="f9df4cb0-0e27-47ec-bff9-7f5b2a5a0289" providerId="ADAL" clId="{9FB6193C-3E3B-48A5-88D3-EAFDA74025C1}" dt="2025-06-20T14:32:23.261" v="10" actId="14100"/>
          <ac:picMkLst>
            <pc:docMk/>
            <pc:sldMk cId="941995633" sldId="480"/>
            <ac:picMk id="3" creationId="{F2636AB7-D4EF-55DB-13A7-6E31D311649E}"/>
          </ac:picMkLst>
        </pc:picChg>
      </pc:sldChg>
      <pc:sldChg chg="addSp delSp modSp mod">
        <pc:chgData name="Fabrizio Ferrandi" userId="f9df4cb0-0e27-47ec-bff9-7f5b2a5a0289" providerId="ADAL" clId="{9FB6193C-3E3B-48A5-88D3-EAFDA74025C1}" dt="2025-06-20T14:32:50.614" v="13" actId="166"/>
        <pc:sldMkLst>
          <pc:docMk/>
          <pc:sldMk cId="3653742442" sldId="571"/>
        </pc:sldMkLst>
        <pc:spChg chg="ord">
          <ac:chgData name="Fabrizio Ferrandi" userId="f9df4cb0-0e27-47ec-bff9-7f5b2a5a0289" providerId="ADAL" clId="{9FB6193C-3E3B-48A5-88D3-EAFDA74025C1}" dt="2025-06-20T14:32:50.614" v="13" actId="166"/>
          <ac:spMkLst>
            <pc:docMk/>
            <pc:sldMk cId="3653742442" sldId="571"/>
            <ac:spMk id="2" creationId="{78A3AD29-1421-5012-22CC-F03534CD3040}"/>
          </ac:spMkLst>
        </pc:spChg>
        <pc:picChg chg="add mod">
          <ac:chgData name="Fabrizio Ferrandi" userId="f9df4cb0-0e27-47ec-bff9-7f5b2a5a0289" providerId="ADAL" clId="{9FB6193C-3E3B-48A5-88D3-EAFDA74025C1}" dt="2025-06-20T14:32:41.783" v="12"/>
          <ac:picMkLst>
            <pc:docMk/>
            <pc:sldMk cId="3653742442" sldId="571"/>
            <ac:picMk id="3" creationId="{D8E14E14-FE4C-7D3D-6A3D-E90B2BDB44B7}"/>
          </ac:picMkLst>
        </pc:picChg>
      </pc:sldChg>
      <pc:sldChg chg="addSp delSp modSp add del mod">
        <pc:chgData name="Fabrizio Ferrandi" userId="f9df4cb0-0e27-47ec-bff9-7f5b2a5a0289" providerId="ADAL" clId="{9FB6193C-3E3B-48A5-88D3-EAFDA74025C1}" dt="2025-06-20T14:34:57.036" v="28" actId="47"/>
        <pc:sldMkLst>
          <pc:docMk/>
          <pc:sldMk cId="936318571" sldId="572"/>
        </pc:sldMkLst>
        <pc:spChg chg="mod">
          <ac:chgData name="Fabrizio Ferrandi" userId="f9df4cb0-0e27-47ec-bff9-7f5b2a5a0289" providerId="ADAL" clId="{9FB6193C-3E3B-48A5-88D3-EAFDA74025C1}" dt="2025-06-20T14:33:36.161" v="21" actId="14100"/>
          <ac:spMkLst>
            <pc:docMk/>
            <pc:sldMk cId="936318571" sldId="572"/>
            <ac:spMk id="6" creationId="{9FD82B12-F1F2-7316-319B-28CEDEC4060B}"/>
          </ac:spMkLst>
        </pc:spChg>
        <pc:spChg chg="mod">
          <ac:chgData name="Fabrizio Ferrandi" userId="f9df4cb0-0e27-47ec-bff9-7f5b2a5a0289" providerId="ADAL" clId="{9FB6193C-3E3B-48A5-88D3-EAFDA74025C1}" dt="2025-06-20T14:33:58.319" v="25" actId="1076"/>
          <ac:spMkLst>
            <pc:docMk/>
            <pc:sldMk cId="936318571" sldId="572"/>
            <ac:spMk id="8" creationId="{4CCB6ED5-6C94-3179-2DC5-DBC4E1E50A16}"/>
          </ac:spMkLst>
        </pc:spChg>
        <pc:picChg chg="add mod ord">
          <ac:chgData name="Fabrizio Ferrandi" userId="f9df4cb0-0e27-47ec-bff9-7f5b2a5a0289" providerId="ADAL" clId="{9FB6193C-3E3B-48A5-88D3-EAFDA74025C1}" dt="2025-06-20T14:33:52.978" v="24" actId="1076"/>
          <ac:picMkLst>
            <pc:docMk/>
            <pc:sldMk cId="936318571" sldId="572"/>
            <ac:picMk id="2" creationId="{B264C1B1-AEBB-1DE6-733A-4F8152B0E2E8}"/>
          </ac:picMkLst>
        </pc:picChg>
      </pc:sldChg>
      <pc:sldChg chg="del">
        <pc:chgData name="Fabrizio Ferrandi" userId="f9df4cb0-0e27-47ec-bff9-7f5b2a5a0289" providerId="ADAL" clId="{9FB6193C-3E3B-48A5-88D3-EAFDA74025C1}" dt="2025-06-20T14:34:44.686" v="26" actId="47"/>
        <pc:sldMkLst>
          <pc:docMk/>
          <pc:sldMk cId="3358467785" sldId="573"/>
        </pc:sldMkLst>
      </pc:sldChg>
      <pc:sldChg chg="del">
        <pc:chgData name="Fabrizio Ferrandi" userId="f9df4cb0-0e27-47ec-bff9-7f5b2a5a0289" providerId="ADAL" clId="{9FB6193C-3E3B-48A5-88D3-EAFDA74025C1}" dt="2025-06-20T14:35:03.542" v="29" actId="47"/>
        <pc:sldMkLst>
          <pc:docMk/>
          <pc:sldMk cId="396602072" sldId="574"/>
        </pc:sldMkLst>
      </pc:sldChg>
      <pc:sldChg chg="del">
        <pc:chgData name="Fabrizio Ferrandi" userId="f9df4cb0-0e27-47ec-bff9-7f5b2a5a0289" providerId="ADAL" clId="{9FB6193C-3E3B-48A5-88D3-EAFDA74025C1}" dt="2025-06-20T14:35:51.189" v="47" actId="47"/>
        <pc:sldMkLst>
          <pc:docMk/>
          <pc:sldMk cId="1623450474" sldId="575"/>
        </pc:sldMkLst>
      </pc:sldChg>
      <pc:sldChg chg="modSp add mod">
        <pc:chgData name="Fabrizio Ferrandi" userId="f9df4cb0-0e27-47ec-bff9-7f5b2a5a0289" providerId="ADAL" clId="{9FB6193C-3E3B-48A5-88D3-EAFDA74025C1}" dt="2025-06-20T14:35:41.134" v="46" actId="1076"/>
        <pc:sldMkLst>
          <pc:docMk/>
          <pc:sldMk cId="2610024081" sldId="576"/>
        </pc:sldMkLst>
        <pc:spChg chg="mod">
          <ac:chgData name="Fabrizio Ferrandi" userId="f9df4cb0-0e27-47ec-bff9-7f5b2a5a0289" providerId="ADAL" clId="{9FB6193C-3E3B-48A5-88D3-EAFDA74025C1}" dt="2025-06-20T14:35:30.928" v="32" actId="14100"/>
          <ac:spMkLst>
            <pc:docMk/>
            <pc:sldMk cId="2610024081" sldId="576"/>
            <ac:spMk id="6" creationId="{775274A6-34E2-B9E9-1BAF-8331C9558F67}"/>
          </ac:spMkLst>
        </pc:spChg>
        <pc:spChg chg="mod">
          <ac:chgData name="Fabrizio Ferrandi" userId="f9df4cb0-0e27-47ec-bff9-7f5b2a5a0289" providerId="ADAL" clId="{9FB6193C-3E3B-48A5-88D3-EAFDA74025C1}" dt="2025-06-20T14:35:41.134" v="46" actId="1076"/>
          <ac:spMkLst>
            <pc:docMk/>
            <pc:sldMk cId="2610024081" sldId="576"/>
            <ac:spMk id="8" creationId="{CA06A24C-E6EB-8977-BC30-AEC213A721B4}"/>
          </ac:spMkLst>
        </pc:spChg>
      </pc:sldChg>
    </pc:docChg>
  </pc:docChgLst>
  <pc:docChgLst>
    <pc:chgData name="Fabrizio Ferrandi" userId="f9df4cb0-0e27-47ec-bff9-7f5b2a5a0289" providerId="ADAL" clId="{109E1F57-9A51-4DC1-A4C0-C68428849BA7}"/>
    <pc:docChg chg="undo custSel modSld">
      <pc:chgData name="Fabrizio Ferrandi" userId="f9df4cb0-0e27-47ec-bff9-7f5b2a5a0289" providerId="ADAL" clId="{109E1F57-9A51-4DC1-A4C0-C68428849BA7}" dt="2025-04-28T13:05:27.980" v="7" actId="20577"/>
      <pc:docMkLst>
        <pc:docMk/>
      </pc:docMkLst>
      <pc:sldChg chg="modSp mod">
        <pc:chgData name="Fabrizio Ferrandi" userId="f9df4cb0-0e27-47ec-bff9-7f5b2a5a0289" providerId="ADAL" clId="{109E1F57-9A51-4DC1-A4C0-C68428849BA7}" dt="2025-04-28T13:05:05.605" v="6" actId="20577"/>
        <pc:sldMkLst>
          <pc:docMk/>
          <pc:sldMk cId="474371491" sldId="306"/>
        </pc:sldMkLst>
        <pc:spChg chg="mod">
          <ac:chgData name="Fabrizio Ferrandi" userId="f9df4cb0-0e27-47ec-bff9-7f5b2a5a0289" providerId="ADAL" clId="{109E1F57-9A51-4DC1-A4C0-C68428849BA7}" dt="2025-04-28T13:05:05.605" v="6" actId="20577"/>
          <ac:spMkLst>
            <pc:docMk/>
            <pc:sldMk cId="474371491" sldId="306"/>
            <ac:spMk id="6" creationId="{00000000-0000-0000-0000-000000000000}"/>
          </ac:spMkLst>
        </pc:spChg>
      </pc:sldChg>
      <pc:sldChg chg="modSp mod">
        <pc:chgData name="Fabrizio Ferrandi" userId="f9df4cb0-0e27-47ec-bff9-7f5b2a5a0289" providerId="ADAL" clId="{109E1F57-9A51-4DC1-A4C0-C68428849BA7}" dt="2025-04-28T13:05:27.980" v="7" actId="20577"/>
        <pc:sldMkLst>
          <pc:docMk/>
          <pc:sldMk cId="2831357943" sldId="490"/>
        </pc:sldMkLst>
        <pc:spChg chg="mod">
          <ac:chgData name="Fabrizio Ferrandi" userId="f9df4cb0-0e27-47ec-bff9-7f5b2a5a0289" providerId="ADAL" clId="{109E1F57-9A51-4DC1-A4C0-C68428849BA7}" dt="2025-04-28T13:05:27.980" v="7" actId="20577"/>
          <ac:spMkLst>
            <pc:docMk/>
            <pc:sldMk cId="2831357943" sldId="490"/>
            <ac:spMk id="2" creationId="{7F74B585-77E5-F190-B4E9-BBEC17AEAE77}"/>
          </ac:spMkLst>
        </pc:spChg>
      </pc:sldChg>
    </pc:docChg>
  </pc:docChgLst>
  <pc:docChgLst>
    <pc:chgData name="Fabrizio Ferrandi" userId="f9df4cb0-0e27-47ec-bff9-7f5b2a5a0289" providerId="ADAL" clId="{54C99831-FED1-4EAF-B34B-EB7C895691A6}"/>
    <pc:docChg chg="delSld modMainMaster">
      <pc:chgData name="Fabrizio Ferrandi" userId="f9df4cb0-0e27-47ec-bff9-7f5b2a5a0289" providerId="ADAL" clId="{54C99831-FED1-4EAF-B34B-EB7C895691A6}" dt="2025-01-31T07:22:00.656" v="14" actId="47"/>
      <pc:docMkLst>
        <pc:docMk/>
      </pc:docMkLst>
      <pc:sldChg chg="del">
        <pc:chgData name="Fabrizio Ferrandi" userId="f9df4cb0-0e27-47ec-bff9-7f5b2a5a0289" providerId="ADAL" clId="{54C99831-FED1-4EAF-B34B-EB7C895691A6}" dt="2025-01-31T07:21:12.025" v="9" actId="47"/>
        <pc:sldMkLst>
          <pc:docMk/>
          <pc:sldMk cId="2368642969" sldId="316"/>
        </pc:sldMkLst>
      </pc:sldChg>
      <pc:sldChg chg="del">
        <pc:chgData name="Fabrizio Ferrandi" userId="f9df4cb0-0e27-47ec-bff9-7f5b2a5a0289" providerId="ADAL" clId="{54C99831-FED1-4EAF-B34B-EB7C895691A6}" dt="2025-01-31T07:21:06.728" v="8" actId="47"/>
        <pc:sldMkLst>
          <pc:docMk/>
          <pc:sldMk cId="254669301" sldId="546"/>
        </pc:sldMkLst>
      </pc:sldChg>
      <pc:sldChg chg="del">
        <pc:chgData name="Fabrizio Ferrandi" userId="f9df4cb0-0e27-47ec-bff9-7f5b2a5a0289" providerId="ADAL" clId="{54C99831-FED1-4EAF-B34B-EB7C895691A6}" dt="2025-01-31T07:21:13.216" v="10" actId="47"/>
        <pc:sldMkLst>
          <pc:docMk/>
          <pc:sldMk cId="4040672418" sldId="547"/>
        </pc:sldMkLst>
      </pc:sldChg>
      <pc:sldChg chg="del">
        <pc:chgData name="Fabrizio Ferrandi" userId="f9df4cb0-0e27-47ec-bff9-7f5b2a5a0289" providerId="ADAL" clId="{54C99831-FED1-4EAF-B34B-EB7C895691A6}" dt="2025-01-31T07:21:14.839" v="11" actId="47"/>
        <pc:sldMkLst>
          <pc:docMk/>
          <pc:sldMk cId="1316345512" sldId="549"/>
        </pc:sldMkLst>
      </pc:sldChg>
      <pc:sldChg chg="del">
        <pc:chgData name="Fabrizio Ferrandi" userId="f9df4cb0-0e27-47ec-bff9-7f5b2a5a0289" providerId="ADAL" clId="{54C99831-FED1-4EAF-B34B-EB7C895691A6}" dt="2025-01-31T07:21:16.566" v="12" actId="47"/>
        <pc:sldMkLst>
          <pc:docMk/>
          <pc:sldMk cId="362984428" sldId="550"/>
        </pc:sldMkLst>
      </pc:sldChg>
      <pc:sldChg chg="del">
        <pc:chgData name="Fabrizio Ferrandi" userId="f9df4cb0-0e27-47ec-bff9-7f5b2a5a0289" providerId="ADAL" clId="{54C99831-FED1-4EAF-B34B-EB7C895691A6}" dt="2025-01-31T07:21:17.957" v="13" actId="47"/>
        <pc:sldMkLst>
          <pc:docMk/>
          <pc:sldMk cId="1070605766" sldId="551"/>
        </pc:sldMkLst>
      </pc:sldChg>
      <pc:sldChg chg="del">
        <pc:chgData name="Fabrizio Ferrandi" userId="f9df4cb0-0e27-47ec-bff9-7f5b2a5a0289" providerId="ADAL" clId="{54C99831-FED1-4EAF-B34B-EB7C895691A6}" dt="2025-01-31T07:22:00.656" v="14" actId="47"/>
        <pc:sldMkLst>
          <pc:docMk/>
          <pc:sldMk cId="4046013919" sldId="565"/>
        </pc:sldMkLst>
      </pc:sldChg>
      <pc:sldChg chg="del">
        <pc:chgData name="Fabrizio Ferrandi" userId="f9df4cb0-0e27-47ec-bff9-7f5b2a5a0289" providerId="ADAL" clId="{54C99831-FED1-4EAF-B34B-EB7C895691A6}" dt="2025-01-31T07:22:00.656" v="14" actId="47"/>
        <pc:sldMkLst>
          <pc:docMk/>
          <pc:sldMk cId="1845822122" sldId="566"/>
        </pc:sldMkLst>
      </pc:sldChg>
      <pc:sldChg chg="del">
        <pc:chgData name="Fabrizio Ferrandi" userId="f9df4cb0-0e27-47ec-bff9-7f5b2a5a0289" providerId="ADAL" clId="{54C99831-FED1-4EAF-B34B-EB7C895691A6}" dt="2025-01-31T07:22:00.656" v="14" actId="47"/>
        <pc:sldMkLst>
          <pc:docMk/>
          <pc:sldMk cId="1393736592" sldId="567"/>
        </pc:sldMkLst>
      </pc:sldChg>
      <pc:sldChg chg="del">
        <pc:chgData name="Fabrizio Ferrandi" userId="f9df4cb0-0e27-47ec-bff9-7f5b2a5a0289" providerId="ADAL" clId="{54C99831-FED1-4EAF-B34B-EB7C895691A6}" dt="2025-01-31T07:22:00.656" v="14" actId="47"/>
        <pc:sldMkLst>
          <pc:docMk/>
          <pc:sldMk cId="1189154033" sldId="568"/>
        </pc:sldMkLst>
      </pc:sldChg>
      <pc:sldChg chg="del">
        <pc:chgData name="Fabrizio Ferrandi" userId="f9df4cb0-0e27-47ec-bff9-7f5b2a5a0289" providerId="ADAL" clId="{54C99831-FED1-4EAF-B34B-EB7C895691A6}" dt="2025-01-31T07:22:00.656" v="14" actId="47"/>
        <pc:sldMkLst>
          <pc:docMk/>
          <pc:sldMk cId="2071721262" sldId="569"/>
        </pc:sldMkLst>
      </pc:sldChg>
      <pc:sldMasterChg chg="modSldLayout">
        <pc:chgData name="Fabrizio Ferrandi" userId="f9df4cb0-0e27-47ec-bff9-7f5b2a5a0289" providerId="ADAL" clId="{54C99831-FED1-4EAF-B34B-EB7C895691A6}" dt="2025-01-31T07:20:59.055" v="7" actId="478"/>
        <pc:sldMasterMkLst>
          <pc:docMk/>
          <pc:sldMasterMk cId="0" sldId="2147483648"/>
        </pc:sldMasterMkLst>
        <pc:sldLayoutChg chg="addSp modSp">
          <pc:chgData name="Fabrizio Ferrandi" userId="f9df4cb0-0e27-47ec-bff9-7f5b2a5a0289" providerId="ADAL" clId="{54C99831-FED1-4EAF-B34B-EB7C895691A6}" dt="2025-01-31T07:20:50.670" v="4" actId="1076"/>
          <pc:sldLayoutMkLst>
            <pc:docMk/>
            <pc:sldMasterMk cId="0" sldId="2147483648"/>
            <pc:sldLayoutMk cId="0" sldId="2147483649"/>
          </pc:sldLayoutMkLst>
        </pc:sldLayoutChg>
        <pc:sldLayoutChg chg="delSp">
          <pc:chgData name="Fabrizio Ferrandi" userId="f9df4cb0-0e27-47ec-bff9-7f5b2a5a0289" providerId="ADAL" clId="{54C99831-FED1-4EAF-B34B-EB7C895691A6}" dt="2025-01-31T07:20:59.055" v="7" actId="478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59D2-A848-3ECD-142E-A6758C01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98AA102-F8A5-7E26-872C-F3E6B670B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D1C3A7-4CC0-BC84-BB9A-4565C1317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2706C6-35CB-6A5A-AFBF-5E9D07FF9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95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49B8-77D8-D3BE-DE74-48F8D1A2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F077461-7690-DBE6-7AA4-27B5355AA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66909C0-9AF3-0AEF-78E7-AE80D92EC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2F20A9-3E8E-7D67-6B93-5533180B8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565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C4EC-3975-2C93-6049-E6E868E6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376EBA-1229-59A0-A264-048E19B9B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BF785C0-255D-A994-E6A0-AB60517BD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B091BF-C72E-C499-4383-664D31330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579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803F9-909F-7A0C-2C2E-005EA05B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6F148C-9657-4B66-CDE7-8E139E150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0AAD5E-E9DC-EE30-A90A-4838FE82E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04A708-266E-9EE4-BB3B-C739ABFD3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797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9DBA-5A43-79B3-BFF7-8A51CCBF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CBD72EB-8891-C7F0-FA39-595489A5F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D06012-E938-8C62-D2C3-33B6AF521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C22360-4A2F-FA6D-79F8-28468ACD8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432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FB72-9F8F-CEFD-E418-4D0B952C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F1D46E3-8EE3-0764-443B-D533E5663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797474-831C-85B8-6175-AF2AD5DC3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7B106D-41B6-DD62-2038-10FF41DB6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092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A482-2DA7-70C2-2691-DD5100B5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B98E58-E2A5-B654-B4A4-9E2EDDFE8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2ED2EC-A8B7-A004-F87B-10B3A46F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E34BB9-F448-BD79-028F-DE32ECC1F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554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7490-E9F1-3F2F-703E-A6D34216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E107C3-6D13-6DA5-0A0D-754955F7F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332B69-C6A3-CC6E-C316-ED235B41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A083F0-518D-6287-DF9E-CB8D99CA7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3868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E117-DA1F-A3A2-5520-DDAAD7A1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9FCAAFF-83E3-4EC0-96A7-9BE849213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B7ACDD-C314-2435-D5F3-F9D7D82A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EE5894-B0C2-B864-761F-709F7C15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15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620A-1F63-0645-7B27-547CE286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161EE3-0A25-3BC5-0D5F-88869E6F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C3F026-EFA2-9D31-ED4E-2AEFE8C8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CDDA46-3FA2-871D-2DF6-D57DC8F09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907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F042-1D77-8442-9BB6-D36A6D24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5ECB082-965D-475E-8DC6-96A1911A0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465AB2-5A7F-A769-5F68-59DBC036D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E0D8D9-C1BC-1FDA-1B7D-D8510053B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6327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2A74-7F5B-5061-31F2-8B5A74A7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09C335-E9FE-239F-CE34-BFBFD4C2A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7A0E6E-A8C7-A46E-4D94-4B0DCDCF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F7DDFE-31B6-6210-0032-DEB45D43D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750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96EB-19A8-D78D-6920-F151FAFDE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E62ABB-63C7-7913-FE7B-1D5427A5D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5CD78B-FC63-836A-63D9-00F707294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10CA07-1909-51E2-FE58-006842806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430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C65F-9095-907B-8DA0-824E06BB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A54989-5C35-559D-6C95-B9CA1045C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43FB9C3-23B4-92CF-44A7-E7B7215AE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290C64-E0E3-22BE-5F8B-4731B9259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8387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C53F-1654-4C1E-1587-DFCD472A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1D31A3-A0F5-1F76-AB11-B406D6A95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5A23B3-97D2-20F9-A85E-C1CA15615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B97093-4249-01C3-3049-E3E555594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75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2EB9-E1C0-E3C9-28CB-C62CA9AC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05889B-47C6-6C1E-6412-CAE3E42E9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A95237-2579-4DF2-0C0C-C5D80C1BB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DE47E93-18E9-34D4-62DC-67F45EBD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2207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3E42-8EF4-C3F1-133C-BF48FDC8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523A371-FABE-C17B-DC72-089DDA0C3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2A54F5-7643-158C-3C3B-AEE33E460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2B97FD-0A73-CF16-0305-EB4D04574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4404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91D5-1383-9D5A-E9EC-CE32E04D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ECAC30-D8D5-6F8E-22FD-4D6F1C46C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63E5F2-D66A-6C19-8C74-239BA549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2CCA23-452F-89EB-1342-9B6DB2910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322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A333-C603-2FC3-B23E-AD2249BE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7680B3-B891-8C6A-A483-1FF8302CF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D120732-EBA9-F83F-83B9-E5CC1697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D68463-E2D0-8154-E053-EBE21994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30125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9B2D-7AAC-489C-85E7-FF4717E5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58750A-3EA0-F380-1281-BB3B104C5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225C85-489C-5CD5-9605-1DD2A33E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D67A68-5639-0332-8CC4-FE9C65E78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4193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1CA75-2883-FBAE-028E-D0500437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1D78E1-6462-13A4-EFE5-21F622A88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FF1CD6-6B31-F963-4A72-9AFCA7A31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EBD804-52F0-8FE4-2EEB-E951FE4E4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84613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15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837" y="2805933"/>
            <a:ext cx="1340634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ome | IEEE Council on Electronic Design Automat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071" y="2864641"/>
            <a:ext cx="1947863" cy="40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828800" y="35623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7BB11A7-7442-CFF2-EC18-25B066F9D3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28" y="2571750"/>
            <a:ext cx="2364644" cy="10321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41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39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Lab NN</a:t>
            </a:r>
            <a:br>
              <a:rPr lang="en-US" dirty="0"/>
            </a:br>
            <a:r>
              <a:rPr lang="en-US" sz="4800" dirty="0"/>
              <a:t>A Real Use Case: </a:t>
            </a:r>
            <a:br>
              <a:rPr lang="en-US" sz="4800" dirty="0"/>
            </a:br>
            <a:r>
              <a:rPr lang="en-US" sz="4800" dirty="0"/>
              <a:t>Neural Networks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C3498FA-FB8A-72D7-F4D6-824A20CE17FB}"/>
              </a:ext>
            </a:extLst>
          </p:cNvPr>
          <p:cNvSpPr>
            <a:spLocks noGrp="1"/>
          </p:cNvSpPr>
          <p:nvPr/>
        </p:nvSpPr>
        <p:spPr>
          <a:xfrm>
            <a:off x="1838671" y="3589114"/>
            <a:ext cx="5466657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2A60B-7CA2-F576-968C-A4E2060E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99C92521-1374-731A-4BBF-C9DBDBBC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Boolean Algebra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231523-C945-DBE8-97FD-13159EDD30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F7A6329-B1B7-3755-4F11-A6DC89C5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96" y="1187450"/>
            <a:ext cx="4818904" cy="3200400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Digital devices elaborate the information in their binary form (represented with 0 &amp; 1) .</a:t>
            </a:r>
          </a:p>
          <a:p>
            <a:pPr lvl="1" algn="just"/>
            <a:r>
              <a:rPr lang="en-GB" dirty="0"/>
              <a:t>Digital circuits or logic circuits work thanks to the information carried within the bits;</a:t>
            </a:r>
          </a:p>
          <a:p>
            <a:pPr marL="0" indent="0" algn="ctr">
              <a:buNone/>
            </a:pPr>
            <a:r>
              <a:rPr lang="en-GB" sz="3200" b="1" dirty="0">
                <a:solidFill>
                  <a:srgbClr val="F79646"/>
                </a:solidFill>
              </a:rPr>
              <a:t>Boolean Algebra</a:t>
            </a:r>
            <a:endParaRPr lang="en-GB" sz="3200" dirty="0"/>
          </a:p>
          <a:p>
            <a:pPr algn="just"/>
            <a:r>
              <a:rPr lang="en-GB" dirty="0"/>
              <a:t>Is used to describe the </a:t>
            </a:r>
            <a:r>
              <a:rPr lang="en-GB" dirty="0" err="1"/>
              <a:t>behavior</a:t>
            </a:r>
            <a:r>
              <a:rPr lang="en-GB" dirty="0"/>
              <a:t> of a digital circuit.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BC6380-7C42-2F86-2002-4207E90E0A6A}"/>
              </a:ext>
            </a:extLst>
          </p:cNvPr>
          <p:cNvSpPr txBox="1"/>
          <p:nvPr/>
        </p:nvSpPr>
        <p:spPr>
          <a:xfrm>
            <a:off x="1096135" y="992029"/>
            <a:ext cx="2098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dirty="0">
                <a:solidFill>
                  <a:srgbClr val="82B366"/>
                </a:solidFill>
                <a:ea typeface="Baskerville Display PT" panose="02030602080406020203" pitchFamily="18" charset="0"/>
              </a:rPr>
              <a:t>DIGITAL SIGNAL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B0CD0E3-8D52-1448-17C7-EBA227D795A4}"/>
              </a:ext>
            </a:extLst>
          </p:cNvPr>
          <p:cNvSpPr txBox="1"/>
          <p:nvPr/>
        </p:nvSpPr>
        <p:spPr>
          <a:xfrm>
            <a:off x="1052875" y="2916544"/>
            <a:ext cx="218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dirty="0">
                <a:solidFill>
                  <a:srgbClr val="82B366"/>
                </a:solidFill>
                <a:ea typeface="Baskerville Display PT" panose="02030602080406020203" pitchFamily="18" charset="0"/>
              </a:rPr>
              <a:t>LOGIC FUNCTION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B0460E1-684E-E98D-2864-D904847631D9}"/>
              </a:ext>
            </a:extLst>
          </p:cNvPr>
          <p:cNvSpPr txBox="1"/>
          <p:nvPr/>
        </p:nvSpPr>
        <p:spPr>
          <a:xfrm>
            <a:off x="566926" y="3630670"/>
            <a:ext cx="3157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  <a:buClr>
                <a:srgbClr val="003153"/>
              </a:buClr>
            </a:pPr>
            <a:r>
              <a:rPr lang="en-GB" sz="2400" i="1" dirty="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Y </a:t>
            </a:r>
            <a:r>
              <a:rPr lang="en-GB" sz="2400" dirty="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= </a:t>
            </a:r>
            <a:r>
              <a:rPr lang="en-GB" sz="2400" i="1" dirty="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f </a:t>
            </a:r>
            <a:r>
              <a:rPr lang="en-GB" sz="2400" dirty="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(A, B, C, …, N)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467C007-FFAC-9CF4-449A-EB1FDC1F8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38250"/>
            <a:ext cx="36576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1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D671-227C-78BE-ABAD-9576C89F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40AA5B1-BE33-5438-F667-04530B64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Logic Circuits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B49A1B-CEE2-F866-22CD-DBA1E67212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16F3EAA-5501-C144-46AB-3C560FEB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96" y="971550"/>
            <a:ext cx="4818904" cy="3200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Logic circuits are used to represent an interconnected set of logic gates.</a:t>
            </a:r>
          </a:p>
          <a:p>
            <a:pPr marL="0" indent="0" algn="just">
              <a:buNone/>
            </a:pPr>
            <a:endParaRPr lang="en-GB" dirty="0"/>
          </a:p>
          <a:p>
            <a:pPr algn="just"/>
            <a:r>
              <a:rPr lang="en-GB" dirty="0"/>
              <a:t>Combinational circuit:</a:t>
            </a:r>
          </a:p>
          <a:p>
            <a:pPr lvl="1" algn="just"/>
            <a:r>
              <a:rPr lang="en-GB" dirty="0"/>
              <a:t>Made of interconnected logic gates (AND, OR, NOT, XOR, NAND, NOR), the output Y depends only on the current input.</a:t>
            </a:r>
          </a:p>
          <a:p>
            <a:pPr marL="271462" lvl="1" indent="0" algn="just">
              <a:buNone/>
            </a:pPr>
            <a:endParaRPr lang="en-GB" dirty="0"/>
          </a:p>
          <a:p>
            <a:pPr algn="just"/>
            <a:r>
              <a:rPr lang="en-GB" dirty="0"/>
              <a:t>Sequential circuit:</a:t>
            </a:r>
          </a:p>
          <a:p>
            <a:pPr lvl="1" algn="just"/>
            <a:r>
              <a:rPr lang="en-GB" dirty="0"/>
              <a:t>Circuits made of interconnected logic gates plus an additional memory element.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87644A-5951-ABD8-B24C-5CF5F077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05" y="846691"/>
            <a:ext cx="2297923" cy="354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06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EA20-4F10-3889-BA11-DB896DA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C473F63-1709-7098-E865-DA45B15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Components of an Electronic System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0260D6-B4A9-A624-ED70-72D68DBD65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</a:t>
            </a:fld>
            <a:endParaRPr lang="it-IT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44DADC1-AB8E-A00C-CF56-35D025FED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" y="1282444"/>
            <a:ext cx="8247539" cy="246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22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5AD6-C915-EEBE-8964-84867854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97A2986D-01E2-53A2-EFF7-309C4B7D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What is a SoC?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EEB6B1-238C-AADF-327F-D763EC8054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F606D1E-73FF-53EF-6C9D-7012B164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432" y="1345364"/>
            <a:ext cx="4546119" cy="2452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A System-on-Chip (SoC) is an electronic system that includes all of its components onto a single chip:</a:t>
            </a:r>
          </a:p>
          <a:p>
            <a:pPr lvl="1" algn="just"/>
            <a:r>
              <a:rPr lang="en-GB" dirty="0"/>
              <a:t>CPU;</a:t>
            </a:r>
          </a:p>
          <a:p>
            <a:pPr lvl="1" algn="just"/>
            <a:r>
              <a:rPr lang="en-GB" dirty="0"/>
              <a:t>Memory; </a:t>
            </a:r>
          </a:p>
          <a:p>
            <a:pPr lvl="1" algn="just"/>
            <a:r>
              <a:rPr lang="en-GB" dirty="0"/>
              <a:t>Peripherals; </a:t>
            </a:r>
          </a:p>
          <a:p>
            <a:pPr lvl="1" algn="just"/>
            <a:r>
              <a:rPr lang="en-GB" dirty="0"/>
              <a:t>Interconnections;</a:t>
            </a:r>
          </a:p>
        </p:txBody>
      </p:sp>
      <p:pic>
        <p:nvPicPr>
          <p:cNvPr id="5" name="Immagine 4" descr="Immagine che contiene testo, schermata, Software multimediale, software&#10;&#10;Descrizione generata automaticamente">
            <a:extLst>
              <a:ext uri="{FF2B5EF4-FFF2-40B4-BE49-F238E27FC236}">
                <a16:creationId xmlns:a16="http://schemas.microsoft.com/office/drawing/2014/main" id="{A8150F7D-60C8-4A87-D111-96BE2B4639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80" y="901990"/>
            <a:ext cx="2863621" cy="2827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DE6D12F-6FD3-63A8-2A4D-6DAD6E3EA040}"/>
              </a:ext>
            </a:extLst>
          </p:cNvPr>
          <p:cNvCxnSpPr>
            <a:cxnSpLocks/>
          </p:cNvCxnSpPr>
          <p:nvPr/>
        </p:nvCxnSpPr>
        <p:spPr>
          <a:xfrm flipH="1">
            <a:off x="5223326" y="901990"/>
            <a:ext cx="583154" cy="2973582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id="{323B0C2F-B614-B11B-E061-7F141211C0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19" y="3875572"/>
            <a:ext cx="835496" cy="607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C960EDF-B23C-1340-6FC5-E950D978D777}"/>
              </a:ext>
            </a:extLst>
          </p:cNvPr>
          <p:cNvCxnSpPr>
            <a:cxnSpLocks/>
          </p:cNvCxnSpPr>
          <p:nvPr/>
        </p:nvCxnSpPr>
        <p:spPr>
          <a:xfrm flipH="1">
            <a:off x="5806480" y="3729231"/>
            <a:ext cx="2863621" cy="753468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83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8509-FA26-BC30-28B1-DA51B0EF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79431D5D-C465-2903-B30B-73A6FBCE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SoC Design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40815A-6EF9-E1E9-04EB-C75AF06F73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C81563E-91D0-8FF3-F5CD-DA13200D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96" y="971550"/>
            <a:ext cx="4818904" cy="3200400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A System-on-Chip is composed of different units with specific tasks:</a:t>
            </a:r>
          </a:p>
          <a:p>
            <a:pPr lvl="1" algn="just"/>
            <a:r>
              <a:rPr lang="en-GB" dirty="0"/>
              <a:t>Elaborate information;</a:t>
            </a:r>
          </a:p>
          <a:p>
            <a:pPr lvl="1" algn="just"/>
            <a:r>
              <a:rPr lang="en-GB" dirty="0"/>
              <a:t>Store information;</a:t>
            </a:r>
          </a:p>
          <a:p>
            <a:pPr lvl="1" algn="just"/>
            <a:r>
              <a:rPr lang="en-GB" dirty="0"/>
              <a:t>Transport information;</a:t>
            </a:r>
          </a:p>
          <a:p>
            <a:pPr marL="271462" lvl="1" indent="0" algn="just">
              <a:buNone/>
            </a:pPr>
            <a:endParaRPr lang="en-GB" dirty="0"/>
          </a:p>
          <a:p>
            <a:pPr algn="just"/>
            <a:r>
              <a:rPr lang="en-GB" dirty="0"/>
              <a:t>Each unit is designed following different methodologies to obtain the best performances when combined.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44F1E-0178-4768-F862-05E608585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79" y="97155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54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DF81-8565-60AD-C51B-64C9952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88A9A45D-B026-29F0-5B2F-AF319978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SoC Design Flow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A01088-5883-DC7B-9C21-6B610BB456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9D6C9D88-E97B-C169-3B37-A2B9E5AC2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1096" y="896772"/>
            <a:ext cx="5885704" cy="3349955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To create an SoC, industries have developed a standard design flow to speed up the engineering process:</a:t>
            </a:r>
          </a:p>
          <a:p>
            <a:pPr lvl="1" algn="just"/>
            <a:r>
              <a:rPr lang="en-GB" sz="2000" dirty="0"/>
              <a:t>Front End:</a:t>
            </a:r>
          </a:p>
          <a:p>
            <a:pPr lvl="2" algn="just"/>
            <a:r>
              <a:rPr lang="en-GB" sz="2000" dirty="0"/>
              <a:t>The front end includes the transformation of the SoC specification into a deployable system design</a:t>
            </a:r>
          </a:p>
          <a:p>
            <a:pPr lvl="1" algn="just"/>
            <a:r>
              <a:rPr lang="en-GB" sz="2000" dirty="0"/>
              <a:t>Back End:</a:t>
            </a:r>
          </a:p>
          <a:p>
            <a:pPr lvl="2" algn="just"/>
            <a:r>
              <a:rPr lang="en-GB" sz="2000" dirty="0"/>
              <a:t>Once the system functionality has been verified, the back end is in charge of creating the physical chip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5252FB-5DB5-B30A-DC28-5AA92A16F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4927"/>
            <a:ext cx="1930400" cy="393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87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FE1D-6200-AA78-8975-677EB875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4C4A13E5-9C87-D603-C1D1-1512D887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Electronic Design Automation Tools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C050A-E681-37F3-7DD7-8D8A03E9A0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7664F2B-DA9D-C29F-B938-5FC002631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9196" y="1204036"/>
            <a:ext cx="5885704" cy="2735428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GB" sz="2400" dirty="0"/>
              <a:t>EDA tools are used to design and validate the semiconductor manufacturing process;</a:t>
            </a:r>
          </a:p>
          <a:p>
            <a:pPr algn="just">
              <a:spcAft>
                <a:spcPts val="1200"/>
              </a:spcAft>
            </a:pPr>
            <a:r>
              <a:rPr lang="en-GB" sz="2400" dirty="0"/>
              <a:t>EDA tools are used to verify that a design will meet all the project specifications;</a:t>
            </a:r>
          </a:p>
          <a:p>
            <a:pPr algn="just">
              <a:spcAft>
                <a:spcPts val="1200"/>
              </a:spcAft>
            </a:pPr>
            <a:r>
              <a:rPr lang="en-GB" sz="2400" dirty="0"/>
              <a:t>EDA tools are used after manufacturing of the device to monitor its performance during time;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184B5-B7D2-7E7B-60B1-8B026A70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1" y="896772"/>
            <a:ext cx="1872750" cy="357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53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55D4-EEDB-DFA6-3192-95CDD579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862B029-9579-995B-EBC4-7B10DEA8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Types of EDA Tools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377574-1506-9137-82D1-4747A80562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06B5FC5-8296-F4CE-5F1B-48251EF04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96" y="688099"/>
            <a:ext cx="5720604" cy="3767303"/>
          </a:xfrm>
        </p:spPr>
        <p:txBody>
          <a:bodyPr>
            <a:noAutofit/>
          </a:bodyPr>
          <a:lstStyle/>
          <a:p>
            <a:pPr algn="just"/>
            <a:r>
              <a:rPr lang="en-GB" sz="2400" dirty="0"/>
              <a:t>EDAs are mostly very sophisticated and complex software programs utilized to assist during the manufacturing of an electronic system.</a:t>
            </a:r>
          </a:p>
          <a:p>
            <a:pPr lvl="2" algn="just"/>
            <a:r>
              <a:rPr lang="en-GB" sz="2000" dirty="0"/>
              <a:t>Simulation tools;</a:t>
            </a:r>
          </a:p>
          <a:p>
            <a:pPr lvl="2" algn="just"/>
            <a:r>
              <a:rPr lang="en-GB" sz="2000" dirty="0"/>
              <a:t>Design tools;</a:t>
            </a:r>
          </a:p>
          <a:p>
            <a:pPr lvl="2" algn="just"/>
            <a:r>
              <a:rPr lang="en-GB" sz="2000" dirty="0"/>
              <a:t>Verification tools;</a:t>
            </a:r>
          </a:p>
          <a:p>
            <a:pPr algn="just"/>
            <a:r>
              <a:rPr lang="en-GB" sz="2400" dirty="0"/>
              <a:t>When high performances are required typically hardware solutions are utilized to process large amounts of data.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E9303F8-4FBD-55C4-E5CE-55F29CE91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00165"/>
            <a:ext cx="2156031" cy="1683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 descr="Immagine che contiene elettronica, Componente elettrico, Componente di circuito, Ingegneria elettronica&#10;&#10;Descrizione generata automaticamente">
            <a:extLst>
              <a:ext uri="{FF2B5EF4-FFF2-40B4-BE49-F238E27FC236}">
                <a16:creationId xmlns:a16="http://schemas.microsoft.com/office/drawing/2014/main" id="{62ED1F4D-CDC8-3317-5693-ECA2C6CCE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493327"/>
            <a:ext cx="2140159" cy="1733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945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5E02-A592-9CC2-86F0-3335CC15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9FE650C-37A7-FCD5-6F65-A1ADDFF9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Why EDA Tools are important?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09E0C7-2408-60AD-480C-E83AD0803A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1E7B3A5-8E39-EB8A-EF59-BF45DB30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96" y="825094"/>
            <a:ext cx="4717304" cy="3493312"/>
          </a:xfrm>
        </p:spPr>
        <p:txBody>
          <a:bodyPr>
            <a:noAutofit/>
          </a:bodyPr>
          <a:lstStyle/>
          <a:p>
            <a:pPr algn="just"/>
            <a:r>
              <a:rPr lang="en-GB" sz="2400" dirty="0"/>
              <a:t>Chips are extremely complex, containing over a billion transistors;</a:t>
            </a:r>
          </a:p>
          <a:p>
            <a:pPr algn="just"/>
            <a:r>
              <a:rPr lang="en-GB" sz="2400" dirty="0"/>
              <a:t>Managing this complexity requires the assistance of Electronic Design Automation tools;</a:t>
            </a:r>
          </a:p>
          <a:p>
            <a:pPr algn="just"/>
            <a:r>
              <a:rPr lang="en-GB" sz="2400" dirty="0"/>
              <a:t>EDA helps limit human errors in chip manufacturing and speeds up the design process;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D83DE92-12CD-9BFC-9827-82E01B229D8E}"/>
              </a:ext>
            </a:extLst>
          </p:cNvPr>
          <p:cNvGrpSpPr/>
          <p:nvPr/>
        </p:nvGrpSpPr>
        <p:grpSpPr>
          <a:xfrm>
            <a:off x="5505868" y="1208405"/>
            <a:ext cx="3096850" cy="2726690"/>
            <a:chOff x="972335" y="2013019"/>
            <a:chExt cx="3929118" cy="3459479"/>
          </a:xfrm>
        </p:grpSpPr>
        <p:pic>
          <p:nvPicPr>
            <p:cNvPr id="7" name="Immagine 6" descr="Immagine che contiene testo, schermata, software, schermo&#10;&#10;Descrizione generata automaticamente">
              <a:extLst>
                <a:ext uri="{FF2B5EF4-FFF2-40B4-BE49-F238E27FC236}">
                  <a16:creationId xmlns:a16="http://schemas.microsoft.com/office/drawing/2014/main" id="{32A5186A-3100-2FAA-6990-CF49B6575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07049">
              <a:off x="2070826" y="2013019"/>
              <a:ext cx="1555011" cy="182158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149A2886-5EDB-C5E5-B2F9-80ED2D7D8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335" y="2917508"/>
              <a:ext cx="1697464" cy="13255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3E9FAA2F-FEA8-D9F3-43DB-695D9DC10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1360"/>
            <a:stretch/>
          </p:blipFill>
          <p:spPr>
            <a:xfrm rot="920896">
              <a:off x="2981582" y="2788651"/>
              <a:ext cx="1919871" cy="15083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Immagine 9" descr="Immagine che contiene testo, schermata, software, schermo&#10;&#10;Descrizione generata automaticamente">
              <a:extLst>
                <a:ext uri="{FF2B5EF4-FFF2-40B4-BE49-F238E27FC236}">
                  <a16:creationId xmlns:a16="http://schemas.microsoft.com/office/drawing/2014/main" id="{871E29B5-80E0-ADA6-ACD0-67C4F28FB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837">
              <a:off x="2791117" y="3867323"/>
              <a:ext cx="1886891" cy="15902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85B3CBBA-E5B1-632E-5569-52FACFEA2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460607">
              <a:off x="1212152" y="4059004"/>
              <a:ext cx="1810066" cy="141349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18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65B7-2761-27C3-2EAE-9B7ECE44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C9FD3317-BF30-F884-1F1B-06B82F02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Functional Verification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869B37-30F3-6396-33FF-5F56B5B65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D6695B0-5EF4-7241-DC26-FC3A501D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65" y="1103449"/>
            <a:ext cx="4717304" cy="2936602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Functional verification is the step related to the test in the EDA toolchain;</a:t>
            </a:r>
          </a:p>
          <a:p>
            <a:pPr algn="just"/>
            <a:r>
              <a:rPr lang="en-GB" dirty="0"/>
              <a:t>Ensures the correct </a:t>
            </a:r>
            <a:r>
              <a:rPr lang="en-GB" dirty="0" err="1"/>
              <a:t>behavior</a:t>
            </a:r>
            <a:r>
              <a:rPr lang="en-GB" dirty="0"/>
              <a:t> of the design and the correctness of the specifications;</a:t>
            </a:r>
          </a:p>
          <a:p>
            <a:pPr algn="just"/>
            <a:r>
              <a:rPr lang="en-GB" dirty="0"/>
              <a:t>Functional verification consists of stimulating the design with any possible input combination to verify the correctness of the output;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30EC34-80B5-CC5F-C665-C3996715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805" y="936625"/>
            <a:ext cx="1713791" cy="327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E47863A1-0F71-DFE5-DAF8-4D9D4A4D65F5}"/>
              </a:ext>
            </a:extLst>
          </p:cNvPr>
          <p:cNvSpPr/>
          <p:nvPr/>
        </p:nvSpPr>
        <p:spPr>
          <a:xfrm>
            <a:off x="5861093" y="2990998"/>
            <a:ext cx="2071213" cy="783917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879248734">
                  <a:custGeom>
                    <a:avLst/>
                    <a:gdLst>
                      <a:gd name="connsiteX0" fmla="*/ 0 w 2071213"/>
                      <a:gd name="connsiteY0" fmla="*/ 391959 h 783917"/>
                      <a:gd name="connsiteX1" fmla="*/ 1035607 w 2071213"/>
                      <a:gd name="connsiteY1" fmla="*/ 0 h 783917"/>
                      <a:gd name="connsiteX2" fmla="*/ 2071214 w 2071213"/>
                      <a:gd name="connsiteY2" fmla="*/ 391959 h 783917"/>
                      <a:gd name="connsiteX3" fmla="*/ 1035607 w 2071213"/>
                      <a:gd name="connsiteY3" fmla="*/ 783918 h 783917"/>
                      <a:gd name="connsiteX4" fmla="*/ 0 w 2071213"/>
                      <a:gd name="connsiteY4" fmla="*/ 391959 h 783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71213" h="783917" extrusionOk="0">
                        <a:moveTo>
                          <a:pt x="0" y="391959"/>
                        </a:moveTo>
                        <a:cubicBezTo>
                          <a:pt x="-89486" y="70257"/>
                          <a:pt x="582136" y="-43016"/>
                          <a:pt x="1035607" y="0"/>
                        </a:cubicBezTo>
                        <a:cubicBezTo>
                          <a:pt x="1588675" y="10609"/>
                          <a:pt x="2118372" y="161414"/>
                          <a:pt x="2071214" y="391959"/>
                        </a:cubicBezTo>
                        <a:cubicBezTo>
                          <a:pt x="2026859" y="519999"/>
                          <a:pt x="1571726" y="895411"/>
                          <a:pt x="1035607" y="783918"/>
                        </a:cubicBezTo>
                        <a:cubicBezTo>
                          <a:pt x="467840" y="778147"/>
                          <a:pt x="49050" y="604396"/>
                          <a:pt x="0" y="3919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9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E456-2F27-7106-598F-FEED9993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22CD7066-1CA4-4509-A973-FDC31A0C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Functional Verification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7073BF-75FE-AAFA-CF2E-952C6FB81E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12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9B1390F-9C9D-3624-084B-9A540B4F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0341" y="1048996"/>
            <a:ext cx="3929904" cy="3248707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Functional verification is performed on any electronic design;</a:t>
            </a:r>
          </a:p>
          <a:p>
            <a:pPr algn="just"/>
            <a:r>
              <a:rPr lang="en-GB" dirty="0"/>
              <a:t>The challenge is creating tools to test a design quickly and efficiently without leaving anything out;</a:t>
            </a:r>
          </a:p>
          <a:p>
            <a:pPr algn="just"/>
            <a:r>
              <a:rPr lang="en-GB" dirty="0"/>
              <a:t>The main challenge is identifying what to test, as testing everything is not possible:</a:t>
            </a:r>
          </a:p>
        </p:txBody>
      </p:sp>
      <p:pic>
        <p:nvPicPr>
          <p:cNvPr id="7" name="Immagine 6" descr="Immagine che contiene circuito&#10;&#10;Descrizione generata automaticamente">
            <a:extLst>
              <a:ext uri="{FF2B5EF4-FFF2-40B4-BE49-F238E27FC236}">
                <a16:creationId xmlns:a16="http://schemas.microsoft.com/office/drawing/2014/main" id="{9FCA242C-503E-9AB3-640A-7E1A59F5D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55" y="1208992"/>
            <a:ext cx="4642420" cy="292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81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D6DA-93D1-7FE9-71A5-C753498B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E18CBB6-9BAC-6562-1E92-B8ED11FE5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Test Benches, Key Tools for Verification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42084B-E590-E14D-49B2-731EBB3E08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13</a:t>
            </a:fld>
            <a:endParaRPr lang="it-IT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1D18453-868F-D8D3-4C62-B12CFD849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98" y="809454"/>
            <a:ext cx="4570859" cy="3524592"/>
          </a:xfrm>
        </p:spPr>
        <p:txBody>
          <a:bodyPr>
            <a:noAutofit/>
          </a:bodyPr>
          <a:lstStyle/>
          <a:p>
            <a:pPr algn="just"/>
            <a:r>
              <a:rPr lang="en-GB" dirty="0"/>
              <a:t>A test bench is a setup used to verify the functionality of a design by simulating its operation in a controlled environment.</a:t>
            </a:r>
          </a:p>
          <a:p>
            <a:pPr algn="just"/>
            <a:r>
              <a:rPr lang="en-GB" dirty="0"/>
              <a:t>A test bench is used for:</a:t>
            </a:r>
          </a:p>
          <a:p>
            <a:pPr lvl="1" algn="just"/>
            <a:r>
              <a:rPr lang="en-GB" dirty="0"/>
              <a:t>Verification, to detect and correct bugs;</a:t>
            </a:r>
          </a:p>
          <a:p>
            <a:pPr lvl="1" algn="just"/>
            <a:r>
              <a:rPr lang="en-GB" dirty="0"/>
              <a:t>Validation, to ensure the design meets the design specifications and requirements;</a:t>
            </a:r>
          </a:p>
          <a:p>
            <a:pPr lvl="1" algn="just"/>
            <a:r>
              <a:rPr lang="en-GB" dirty="0"/>
              <a:t>Efficiency, is always a preliminary step before hardware deployment;</a:t>
            </a:r>
          </a:p>
        </p:txBody>
      </p:sp>
      <p:pic>
        <p:nvPicPr>
          <p:cNvPr id="3" name="Immagine 2" descr="Immagine che contiene diagramma, Piano, Disegno tecnico, design&#10;&#10;Descrizione generata automaticamente">
            <a:extLst>
              <a:ext uri="{FF2B5EF4-FFF2-40B4-BE49-F238E27FC236}">
                <a16:creationId xmlns:a16="http://schemas.microsoft.com/office/drawing/2014/main" id="{74213EB3-878E-BA5F-6F76-16C9BE263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957" y="1299684"/>
            <a:ext cx="4169192" cy="28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78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3BE6-FA32-BD7D-2589-42FD062E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B671CACD-77DA-4EE9-4978-2F2D77CC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Test Benches, Key Tools for Verification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5C0698-0050-5995-DC05-21DDCC7253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14</a:t>
            </a:fld>
            <a:endParaRPr lang="it-IT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C30D80-F74E-4EFF-3C08-D6940B488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47" y="826758"/>
            <a:ext cx="7215106" cy="348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6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B585-77E5-F190-B4E9-BBEC17AEA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Lab </a:t>
            </a:r>
            <a:r>
              <a:rPr lang="en-US" dirty="0"/>
              <a:t>NN</a:t>
            </a:r>
            <a:br>
              <a:rPr lang="en-US" dirty="0"/>
            </a:br>
            <a:r>
              <a:rPr lang="en-US" dirty="0"/>
              <a:t>Neural Network: </a:t>
            </a:r>
            <a:r>
              <a:rPr lang="it-IT" dirty="0"/>
              <a:t>A Real Use Case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83135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31A4F78-B416-83CB-402C-B98D486A64B7}"/>
              </a:ext>
            </a:extLst>
          </p:cNvPr>
          <p:cNvGrpSpPr/>
          <p:nvPr/>
        </p:nvGrpSpPr>
        <p:grpSpPr>
          <a:xfrm>
            <a:off x="7378217" y="1566729"/>
            <a:ext cx="1600292" cy="1525811"/>
            <a:chOff x="7378217" y="1566729"/>
            <a:chExt cx="1600292" cy="1525811"/>
          </a:xfrm>
        </p:grpSpPr>
        <p:sp>
          <p:nvSpPr>
            <p:cNvPr id="43" name="Rectangular Callout 42">
              <a:extLst>
                <a:ext uri="{FF2B5EF4-FFF2-40B4-BE49-F238E27FC236}">
                  <a16:creationId xmlns:a16="http://schemas.microsoft.com/office/drawing/2014/main" id="{ED8C5740-6ABC-02FE-6467-E9419E0A65A5}"/>
                </a:ext>
              </a:extLst>
            </p:cNvPr>
            <p:cNvSpPr/>
            <p:nvPr/>
          </p:nvSpPr>
          <p:spPr>
            <a:xfrm>
              <a:off x="7378217" y="1566729"/>
              <a:ext cx="1600292" cy="1525811"/>
            </a:xfrm>
            <a:prstGeom prst="wedgeRectCallout">
              <a:avLst>
                <a:gd name="adj1" fmla="val 20613"/>
                <a:gd name="adj2" fmla="val -1438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38" name="Immagine 1" descr="Immagine che contiene testo, schermata, Software multimediale, software&#10;&#10;Descrizione generata automaticamente">
              <a:extLst>
                <a:ext uri="{FF2B5EF4-FFF2-40B4-BE49-F238E27FC236}">
                  <a16:creationId xmlns:a16="http://schemas.microsoft.com/office/drawing/2014/main" id="{E3D7004F-C79A-13BB-61E4-CACDF82F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527" y="1652468"/>
              <a:ext cx="1321673" cy="13048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Hierarchical Design: From Gates to Architectures to SoCs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FE95B8-D5A9-942D-AD98-A6054BFA3913}"/>
              </a:ext>
            </a:extLst>
          </p:cNvPr>
          <p:cNvGrpSpPr/>
          <p:nvPr/>
        </p:nvGrpSpPr>
        <p:grpSpPr>
          <a:xfrm>
            <a:off x="5490114" y="1579511"/>
            <a:ext cx="1600292" cy="1525811"/>
            <a:chOff x="5918561" y="1588649"/>
            <a:chExt cx="1773798" cy="1691242"/>
          </a:xfrm>
        </p:grpSpPr>
        <p:sp>
          <p:nvSpPr>
            <p:cNvPr id="36" name="Rectangular Callout 35">
              <a:extLst>
                <a:ext uri="{FF2B5EF4-FFF2-40B4-BE49-F238E27FC236}">
                  <a16:creationId xmlns:a16="http://schemas.microsoft.com/office/drawing/2014/main" id="{92E42EDB-7D47-3D27-F958-818FC21D091E}"/>
                </a:ext>
              </a:extLst>
            </p:cNvPr>
            <p:cNvSpPr/>
            <p:nvPr/>
          </p:nvSpPr>
          <p:spPr>
            <a:xfrm>
              <a:off x="5918561" y="1588649"/>
              <a:ext cx="1773798" cy="1691242"/>
            </a:xfrm>
            <a:prstGeom prst="wedgeRectCallout">
              <a:avLst>
                <a:gd name="adj1" fmla="val 123383"/>
                <a:gd name="adj2" fmla="val -1276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1032" name="Picture 8" descr="Central Processing Unit (CPU) | What Is a Microprocessor ?">
              <a:extLst>
                <a:ext uri="{FF2B5EF4-FFF2-40B4-BE49-F238E27FC236}">
                  <a16:creationId xmlns:a16="http://schemas.microsoft.com/office/drawing/2014/main" id="{2E2E326E-FBEE-1B0F-AE3B-6548080867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67" t="25407" r="20771" b="18149"/>
            <a:stretch/>
          </p:blipFill>
          <p:spPr bwMode="auto">
            <a:xfrm>
              <a:off x="6146417" y="1683994"/>
              <a:ext cx="1278785" cy="1527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72C336-D593-DE82-2F58-874A8E59A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16</a:t>
            </a:fld>
            <a:endParaRPr lang="it-IT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0A9B76-33D5-3F3F-AA1E-899DD76FEC26}"/>
              </a:ext>
            </a:extLst>
          </p:cNvPr>
          <p:cNvGrpSpPr/>
          <p:nvPr/>
        </p:nvGrpSpPr>
        <p:grpSpPr>
          <a:xfrm>
            <a:off x="3682721" y="1579511"/>
            <a:ext cx="1600292" cy="1525811"/>
            <a:chOff x="4654125" y="1636775"/>
            <a:chExt cx="1773798" cy="1691242"/>
          </a:xfrm>
        </p:grpSpPr>
        <p:sp>
          <p:nvSpPr>
            <p:cNvPr id="31" name="Rectangular Callout 30">
              <a:extLst>
                <a:ext uri="{FF2B5EF4-FFF2-40B4-BE49-F238E27FC236}">
                  <a16:creationId xmlns:a16="http://schemas.microsoft.com/office/drawing/2014/main" id="{BCA4BFF7-88FC-36E2-70EE-E65584916AB6}"/>
                </a:ext>
              </a:extLst>
            </p:cNvPr>
            <p:cNvSpPr/>
            <p:nvPr/>
          </p:nvSpPr>
          <p:spPr>
            <a:xfrm>
              <a:off x="4654125" y="1636775"/>
              <a:ext cx="1773798" cy="1691242"/>
            </a:xfrm>
            <a:prstGeom prst="wedgeRectCallout">
              <a:avLst>
                <a:gd name="adj1" fmla="val 90819"/>
                <a:gd name="adj2" fmla="val -2421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BD26C-344F-6FCF-BD09-A6CA3129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094" y="1939759"/>
              <a:ext cx="1639461" cy="115865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D81D07-7F19-8135-8E51-95EF16A67F16}"/>
              </a:ext>
            </a:extLst>
          </p:cNvPr>
          <p:cNvGrpSpPr/>
          <p:nvPr/>
        </p:nvGrpSpPr>
        <p:grpSpPr>
          <a:xfrm>
            <a:off x="1875328" y="1588649"/>
            <a:ext cx="1600292" cy="1525811"/>
            <a:chOff x="2728947" y="1636775"/>
            <a:chExt cx="1773798" cy="1691242"/>
          </a:xfrm>
        </p:grpSpPr>
        <p:sp>
          <p:nvSpPr>
            <p:cNvPr id="25" name="Rectangular Callout 24">
              <a:extLst>
                <a:ext uri="{FF2B5EF4-FFF2-40B4-BE49-F238E27FC236}">
                  <a16:creationId xmlns:a16="http://schemas.microsoft.com/office/drawing/2014/main" id="{56993C2C-DED9-6FEE-29F4-550A49691D7D}"/>
                </a:ext>
              </a:extLst>
            </p:cNvPr>
            <p:cNvSpPr/>
            <p:nvPr/>
          </p:nvSpPr>
          <p:spPr>
            <a:xfrm>
              <a:off x="2728947" y="1636775"/>
              <a:ext cx="1773798" cy="1691242"/>
            </a:xfrm>
            <a:prstGeom prst="wedgeRectCallout">
              <a:avLst>
                <a:gd name="adj1" fmla="val 94172"/>
                <a:gd name="adj2" fmla="val -492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54C54E-8EFC-8EF0-138E-74E4C88D4EDF}"/>
                </a:ext>
              </a:extLst>
            </p:cNvPr>
            <p:cNvGrpSpPr/>
            <p:nvPr/>
          </p:nvGrpSpPr>
          <p:grpSpPr>
            <a:xfrm>
              <a:off x="2775551" y="1677600"/>
              <a:ext cx="1560364" cy="1630161"/>
              <a:chOff x="2775551" y="1677600"/>
              <a:chExt cx="1560364" cy="1630161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49731B7-F7F2-C36E-40A7-E617DEF2C0CE}"/>
                  </a:ext>
                </a:extLst>
              </p:cNvPr>
              <p:cNvSpPr/>
              <p:nvPr/>
            </p:nvSpPr>
            <p:spPr>
              <a:xfrm>
                <a:off x="2837145" y="2128537"/>
                <a:ext cx="1434230" cy="70772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dirty="0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1F60A-D938-6876-3EAC-549FD65E9AA0}"/>
                  </a:ext>
                </a:extLst>
              </p:cNvPr>
              <p:cNvSpPr txBox="1"/>
              <p:nvPr/>
            </p:nvSpPr>
            <p:spPr>
              <a:xfrm>
                <a:off x="2793304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A[15:0]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6550C-16E7-6CB5-B1BA-C5295A2F2877}"/>
                  </a:ext>
                </a:extLst>
              </p:cNvPr>
              <p:cNvSpPr txBox="1"/>
              <p:nvPr/>
            </p:nvSpPr>
            <p:spPr>
              <a:xfrm>
                <a:off x="3615846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B[15:0]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B8F4-40A4-76E2-83C8-C021199EC8EB}"/>
                  </a:ext>
                </a:extLst>
              </p:cNvPr>
              <p:cNvSpPr txBox="1"/>
              <p:nvPr/>
            </p:nvSpPr>
            <p:spPr>
              <a:xfrm>
                <a:off x="2775551" y="1677600"/>
                <a:ext cx="9348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Sum[15:0]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BD38F-E7B2-3175-AAC6-B0370E7D1F25}"/>
                  </a:ext>
                </a:extLst>
              </p:cNvPr>
              <p:cNvSpPr txBox="1"/>
              <p:nvPr/>
            </p:nvSpPr>
            <p:spPr>
              <a:xfrm>
                <a:off x="3710422" y="1677600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 dirty="0"/>
                  <a:t>Cout</a:t>
                </a:r>
              </a:p>
            </p:txBody>
          </p:sp>
          <p:sp>
            <p:nvSpPr>
              <p:cNvPr id="16" name="Up Arrow 15">
                <a:extLst>
                  <a:ext uri="{FF2B5EF4-FFF2-40B4-BE49-F238E27FC236}">
                    <a16:creationId xmlns:a16="http://schemas.microsoft.com/office/drawing/2014/main" id="{0E344ED1-72E0-19E3-0D4B-030285C3B635}"/>
                  </a:ext>
                </a:extLst>
              </p:cNvPr>
              <p:cNvSpPr/>
              <p:nvPr/>
            </p:nvSpPr>
            <p:spPr>
              <a:xfrm>
                <a:off x="3140812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8" name="Up Arrow 17">
                <a:extLst>
                  <a:ext uri="{FF2B5EF4-FFF2-40B4-BE49-F238E27FC236}">
                    <a16:creationId xmlns:a16="http://schemas.microsoft.com/office/drawing/2014/main" id="{17A6CB13-25F0-1A8D-E3F3-25E818B7157F}"/>
                  </a:ext>
                </a:extLst>
              </p:cNvPr>
              <p:cNvSpPr/>
              <p:nvPr/>
            </p:nvSpPr>
            <p:spPr>
              <a:xfrm>
                <a:off x="3884288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9" name="Up Arrow 18">
                <a:extLst>
                  <a:ext uri="{FF2B5EF4-FFF2-40B4-BE49-F238E27FC236}">
                    <a16:creationId xmlns:a16="http://schemas.microsoft.com/office/drawing/2014/main" id="{CE1DFC37-20BC-F299-0076-489282D81606}"/>
                  </a:ext>
                </a:extLst>
              </p:cNvPr>
              <p:cNvSpPr/>
              <p:nvPr/>
            </p:nvSpPr>
            <p:spPr>
              <a:xfrm>
                <a:off x="3200666" y="1939759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4E73BAE-D578-BBEB-AF0A-9EAD306CE4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879" y="1905053"/>
                <a:ext cx="0" cy="1984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66A761-78B3-E898-20A1-809C8820139A}"/>
              </a:ext>
            </a:extLst>
          </p:cNvPr>
          <p:cNvGrpSpPr/>
          <p:nvPr/>
        </p:nvGrpSpPr>
        <p:grpSpPr>
          <a:xfrm>
            <a:off x="67936" y="1588649"/>
            <a:ext cx="1600291" cy="1507536"/>
            <a:chOff x="672953" y="1636775"/>
            <a:chExt cx="1773798" cy="1670986"/>
          </a:xfrm>
        </p:grpSpPr>
        <p:sp>
          <p:nvSpPr>
            <p:cNvPr id="24" name="Rectangular Callout 23">
              <a:extLst>
                <a:ext uri="{FF2B5EF4-FFF2-40B4-BE49-F238E27FC236}">
                  <a16:creationId xmlns:a16="http://schemas.microsoft.com/office/drawing/2014/main" id="{F5B4A6F7-CBF2-4E94-1B35-5CDDE148C464}"/>
                </a:ext>
              </a:extLst>
            </p:cNvPr>
            <p:cNvSpPr/>
            <p:nvPr/>
          </p:nvSpPr>
          <p:spPr>
            <a:xfrm>
              <a:off x="672953" y="1636775"/>
              <a:ext cx="1773798" cy="1670986"/>
            </a:xfrm>
            <a:prstGeom prst="wedgeRectCallout">
              <a:avLst>
                <a:gd name="adj1" fmla="val 86532"/>
                <a:gd name="adj2" fmla="val -449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1D4B3E3-AE57-B768-43C6-F586D3024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38" y="1964813"/>
              <a:ext cx="1500417" cy="103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7211C4E-9B43-53F2-891F-45B2DEF7514B}"/>
              </a:ext>
            </a:extLst>
          </p:cNvPr>
          <p:cNvSpPr txBox="1"/>
          <p:nvPr/>
        </p:nvSpPr>
        <p:spPr>
          <a:xfrm>
            <a:off x="468397" y="1237595"/>
            <a:ext cx="71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dirty="0"/>
              <a:t>Gates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E9275-AEFE-9D16-DE0E-E4DD65C21146}"/>
              </a:ext>
            </a:extLst>
          </p:cNvPr>
          <p:cNvSpPr txBox="1"/>
          <p:nvPr/>
        </p:nvSpPr>
        <p:spPr>
          <a:xfrm>
            <a:off x="1781584" y="1237595"/>
            <a:ext cx="178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Multi-bit adder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AE9DAC-AAFA-E3AF-ADD6-BEE7CA999709}"/>
              </a:ext>
            </a:extLst>
          </p:cNvPr>
          <p:cNvSpPr txBox="1"/>
          <p:nvPr/>
        </p:nvSpPr>
        <p:spPr>
          <a:xfrm>
            <a:off x="4113252" y="1237595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ALU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CB44AC-9E0C-E862-A557-CB3A6831F677}"/>
              </a:ext>
            </a:extLst>
          </p:cNvPr>
          <p:cNvSpPr txBox="1"/>
          <p:nvPr/>
        </p:nvSpPr>
        <p:spPr>
          <a:xfrm>
            <a:off x="5882279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CPU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AEB4B-EFB4-F8EE-3D0B-5B30CAE3328B}"/>
              </a:ext>
            </a:extLst>
          </p:cNvPr>
          <p:cNvSpPr txBox="1"/>
          <p:nvPr/>
        </p:nvSpPr>
        <p:spPr>
          <a:xfrm>
            <a:off x="7788111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SoC</a:t>
            </a:r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13EA9BBD-0D04-3818-CFB2-902A6E7D93F6}"/>
              </a:ext>
            </a:extLst>
          </p:cNvPr>
          <p:cNvSpPr/>
          <p:nvPr/>
        </p:nvSpPr>
        <p:spPr>
          <a:xfrm rot="5400000">
            <a:off x="1581084" y="1739605"/>
            <a:ext cx="394570" cy="3394502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BD0D6F-BFD7-4706-A895-5CBA0D25CE54}"/>
              </a:ext>
            </a:extLst>
          </p:cNvPr>
          <p:cNvSpPr txBox="1"/>
          <p:nvPr/>
        </p:nvSpPr>
        <p:spPr>
          <a:xfrm>
            <a:off x="1106550" y="363414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chemeClr val="tx2"/>
                </a:solidFill>
              </a:rPr>
              <a:t>Seen in lab02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7F54B-E820-4517-40F2-6C63827787DC}"/>
              </a:ext>
            </a:extLst>
          </p:cNvPr>
          <p:cNvSpPr txBox="1"/>
          <p:nvPr/>
        </p:nvSpPr>
        <p:spPr>
          <a:xfrm>
            <a:off x="4374224" y="3689198"/>
            <a:ext cx="283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C00000"/>
                </a:solidFill>
              </a:rPr>
              <a:t>Seen</a:t>
            </a:r>
            <a:r>
              <a:rPr lang="it-IT" b="1" dirty="0">
                <a:solidFill>
                  <a:srgbClr val="C00000"/>
                </a:solidFill>
              </a:rPr>
              <a:t> in lab03</a:t>
            </a:r>
            <a:r>
              <a:rPr lang="en-IT" b="1" dirty="0">
                <a:solidFill>
                  <a:srgbClr val="C00000"/>
                </a:solidFill>
              </a:rPr>
              <a:t> (at high-level)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0FFA1D9C-1078-EE30-3689-C7516CF00828}"/>
              </a:ext>
            </a:extLst>
          </p:cNvPr>
          <p:cNvSpPr/>
          <p:nvPr/>
        </p:nvSpPr>
        <p:spPr>
          <a:xfrm rot="5400000">
            <a:off x="5250656" y="10427"/>
            <a:ext cx="394570" cy="7061136"/>
          </a:xfrm>
          <a:prstGeom prst="rightBrace">
            <a:avLst>
              <a:gd name="adj1" fmla="val 1428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B575-A254-63C0-D81E-A6972939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11E215A9-AECE-D6D1-FF43-04D452A1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SoC Applications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1ADB1B-1C08-C03B-A5C9-92E464590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32" y="1247847"/>
            <a:ext cx="3901440" cy="284715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A System-on-a-Chip (SoC) is a computing system within a single integrated circuit. </a:t>
            </a:r>
          </a:p>
          <a:p>
            <a:pPr algn="just"/>
            <a:r>
              <a:rPr lang="en-GB" dirty="0"/>
              <a:t>On an SoC is possible to run software to execute complex operations.</a:t>
            </a:r>
          </a:p>
          <a:p>
            <a:pPr algn="just"/>
            <a:r>
              <a:rPr lang="en-GB" dirty="0"/>
              <a:t>SoC are powerful tools to accelerate and improve the performances, of a sub-set of applications.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5FA402-7D54-DEE9-8E22-03DBA88F9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17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0AE87851-95B6-0A0D-3AD1-457378C11F88}"/>
              </a:ext>
            </a:extLst>
          </p:cNvPr>
          <p:cNvCxnSpPr>
            <a:cxnSpLocks/>
          </p:cNvCxnSpPr>
          <p:nvPr/>
        </p:nvCxnSpPr>
        <p:spPr>
          <a:xfrm flipH="1">
            <a:off x="4709160" y="1143149"/>
            <a:ext cx="695660" cy="2380665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magine 4" descr="Immagine che contiene testo, Rettangolo, schermata, portafotografie&#10;&#10;Descrizione generata automaticamente">
            <a:extLst>
              <a:ext uri="{FF2B5EF4-FFF2-40B4-BE49-F238E27FC236}">
                <a16:creationId xmlns:a16="http://schemas.microsoft.com/office/drawing/2014/main" id="{9B4FC47A-D1A8-A7DE-1BC0-B5954CB45E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063" y="3526724"/>
            <a:ext cx="841383" cy="611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2BC8245-5E26-B64D-C0AD-B8B3519FC20E}"/>
              </a:ext>
            </a:extLst>
          </p:cNvPr>
          <p:cNvCxnSpPr>
            <a:cxnSpLocks/>
          </p:cNvCxnSpPr>
          <p:nvPr/>
        </p:nvCxnSpPr>
        <p:spPr>
          <a:xfrm flipH="1">
            <a:off x="5344160" y="3304903"/>
            <a:ext cx="3346700" cy="833226"/>
          </a:xfrm>
          <a:prstGeom prst="line">
            <a:avLst/>
          </a:prstGeom>
          <a:ln>
            <a:solidFill>
              <a:srgbClr val="10749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8667276E-E083-3519-5B7B-3C0491DCD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820" y="1143149"/>
            <a:ext cx="3286040" cy="2161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684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20EF-6443-14FE-77C4-72EDFA03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id="{F3C4FAE9-ED64-70A0-F8F1-B9AF93F2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A44713-DC2B-0B8E-651E-1469364DA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73" y="1148170"/>
            <a:ext cx="3901440" cy="2847159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Artificial intelligence is a field of science concerned with building computers and machines that can reason, learn, and act in such a way that would normally require human intelligence or that involves data whose scale exceeds what humans can </a:t>
            </a:r>
            <a:r>
              <a:rPr lang="en-GB" dirty="0" err="1"/>
              <a:t>analyze</a:t>
            </a:r>
            <a:r>
              <a:rPr lang="en-GB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23CAF3-63BB-5945-4DBC-5BBB7177C5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18</a:t>
            </a:fld>
            <a:endParaRPr lang="it-IT" dirty="0"/>
          </a:p>
        </p:txBody>
      </p:sp>
      <p:pic>
        <p:nvPicPr>
          <p:cNvPr id="13" name="Immagine 12" descr="Immagine che contiene disegno&#10;&#10;Descrizione generata automaticamente">
            <a:extLst>
              <a:ext uri="{FF2B5EF4-FFF2-40B4-BE49-F238E27FC236}">
                <a16:creationId xmlns:a16="http://schemas.microsoft.com/office/drawing/2014/main" id="{6E3C2939-2533-4BB5-F358-4A838925B1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5F8FC"/>
              </a:clrFrom>
              <a:clrTo>
                <a:srgbClr val="E5F8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2" t="18504" r="30363" b="11214"/>
          <a:stretch/>
        </p:blipFill>
        <p:spPr>
          <a:xfrm>
            <a:off x="4933950" y="1043192"/>
            <a:ext cx="3286125" cy="305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2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5462-E91E-9C22-D03B-EE3AFE11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C26D09-B95E-41CD-0742-D60BE493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Neural Networks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FC138C-B3F7-0946-CBAE-CC94427034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19</a:t>
            </a:fld>
            <a:endParaRPr lang="it-IT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3410A0A-FD76-58B3-28BB-5D51D78F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94" y="1148170"/>
            <a:ext cx="3901440" cy="2847159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A neural network is a method in artificial intelligence (AI) that teaches computers to process data in a way inspired by the human brain.</a:t>
            </a:r>
          </a:p>
          <a:p>
            <a:pPr algn="just"/>
            <a:r>
              <a:rPr lang="en-GB" dirty="0"/>
              <a:t>A neural network needs thousands of operations to produce a result.</a:t>
            </a:r>
          </a:p>
        </p:txBody>
      </p:sp>
      <p:pic>
        <p:nvPicPr>
          <p:cNvPr id="5" name="Immagine 4" descr="Immagine che contiene cerchio, linea, Policromia, diagramma&#10;&#10;Descrizione generata automaticamente">
            <a:extLst>
              <a:ext uri="{FF2B5EF4-FFF2-40B4-BE49-F238E27FC236}">
                <a16:creationId xmlns:a16="http://schemas.microsoft.com/office/drawing/2014/main" id="{038FA3D2-D903-CDDB-F804-9FF59F340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434" y="1422472"/>
            <a:ext cx="4297680" cy="229855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049FDF81-43EF-FA34-92F1-9FAF25C9C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370" y="675474"/>
            <a:ext cx="875270" cy="87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6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72F5-4F13-E406-1AA8-97E3E567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CD9AE2-1749-D4E6-84E0-107B3BB3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Impact of Design </a:t>
            </a:r>
            <a:r>
              <a:rPr lang="it-IT" dirty="0" err="1"/>
              <a:t>Choices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1641A0-F12D-A649-D479-662FADC05B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20</a:t>
            </a:fld>
            <a:endParaRPr lang="it-IT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3CC4BE13-DE15-628F-EFE1-0BDFA038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616" y="675474"/>
            <a:ext cx="875270" cy="872354"/>
          </a:xfrm>
          <a:prstGeom prst="rect">
            <a:avLst/>
          </a:prstGeo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4C768567-1A67-3A83-FE7F-0AF36426F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755" y="1532650"/>
            <a:ext cx="3322496" cy="2078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200" b="1" dirty="0">
                <a:solidFill>
                  <a:srgbClr val="F79646"/>
                </a:solidFill>
              </a:rPr>
              <a:t>Design a specific system to accelerate a neural network</a:t>
            </a:r>
          </a:p>
        </p:txBody>
      </p:sp>
      <p:pic>
        <p:nvPicPr>
          <p:cNvPr id="13" name="Immagine 1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45A7326-8BA7-9BA5-14D6-BA8D9602B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81154"/>
            <a:ext cx="3823404" cy="31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7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o much theory concept icon Royalty Free Vector Image">
            <a:extLst>
              <a:ext uri="{FF2B5EF4-FFF2-40B4-BE49-F238E27FC236}">
                <a16:creationId xmlns:a16="http://schemas.microsoft.com/office/drawing/2014/main" id="{6AC48AF9-9DCC-C49F-F103-FAD9A2CF2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94"/>
          <a:stretch/>
        </p:blipFill>
        <p:spPr bwMode="auto">
          <a:xfrm>
            <a:off x="174523" y="690815"/>
            <a:ext cx="4247534" cy="376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ogos; experience; getting their hands dirty. – teacherhead">
            <a:extLst>
              <a:ext uri="{FF2B5EF4-FFF2-40B4-BE49-F238E27FC236}">
                <a16:creationId xmlns:a16="http://schemas.microsoft.com/office/drawing/2014/main" id="{BD78E87A-9B19-DB04-E00C-0473F9A2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67" y="1228748"/>
            <a:ext cx="3715006" cy="2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D1845-E167-6B73-47AF-42F65B2DD539}"/>
              </a:ext>
            </a:extLst>
          </p:cNvPr>
          <p:cNvSpPr txBox="1"/>
          <p:nvPr/>
        </p:nvSpPr>
        <p:spPr>
          <a:xfrm>
            <a:off x="4721945" y="3830626"/>
            <a:ext cx="4128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Let’s get our hands dirty….</a:t>
            </a:r>
          </a:p>
        </p:txBody>
      </p:sp>
    </p:spTree>
    <p:extLst>
      <p:ext uri="{BB962C8B-B14F-4D97-AF65-F5344CB8AC3E}">
        <p14:creationId xmlns:p14="http://schemas.microsoft.com/office/powerpoint/2010/main" val="7264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 err="1"/>
              <a:t>Laboratory</a:t>
            </a:r>
            <a:r>
              <a:rPr lang="it-IT" dirty="0"/>
              <a:t>: An Use Case</a:t>
            </a:r>
            <a:endParaRPr lang="en-IT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902704"/>
            <a:ext cx="4547771" cy="3636639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400" dirty="0"/>
              <a:t>We aim to design a small SoC capable of accelerating a neural network.</a:t>
            </a:r>
          </a:p>
          <a:p>
            <a:pPr lvl="1" algn="just"/>
            <a:r>
              <a:rPr lang="en-GB" sz="2000" dirty="0"/>
              <a:t>For this laboratory, our SoC will include:</a:t>
            </a:r>
          </a:p>
          <a:p>
            <a:pPr lvl="1" algn="just"/>
            <a:r>
              <a:rPr lang="en-GB" sz="2000" dirty="0"/>
              <a:t>One processing </a:t>
            </a:r>
            <a:r>
              <a:rPr lang="en-GB" sz="2000" b="1" dirty="0"/>
              <a:t>core</a:t>
            </a:r>
            <a:r>
              <a:rPr lang="en-GB" sz="2000" dirty="0"/>
              <a:t>.</a:t>
            </a:r>
          </a:p>
          <a:p>
            <a:pPr lvl="1" algn="just"/>
            <a:r>
              <a:rPr lang="en-GB" sz="2000" dirty="0"/>
              <a:t>An </a:t>
            </a:r>
            <a:r>
              <a:rPr lang="en-GB" sz="2000" b="1" dirty="0">
                <a:solidFill>
                  <a:srgbClr val="C00000"/>
                </a:solidFill>
              </a:rPr>
              <a:t>accelerator</a:t>
            </a:r>
            <a:r>
              <a:rPr lang="en-GB" sz="2000" dirty="0"/>
              <a:t> peripheral </a:t>
            </a:r>
          </a:p>
          <a:p>
            <a:pPr lvl="1" algn="just"/>
            <a:r>
              <a:rPr lang="en-GB" sz="2000" dirty="0"/>
              <a:t>A </a:t>
            </a:r>
            <a:r>
              <a:rPr lang="en-GB" sz="2000" b="1" dirty="0"/>
              <a:t>memory</a:t>
            </a:r>
            <a:r>
              <a:rPr lang="en-GB" sz="2000" dirty="0"/>
              <a:t> to store the data needed by the core, and the </a:t>
            </a:r>
            <a:r>
              <a:rPr lang="en-GB" sz="2000" b="1" dirty="0">
                <a:solidFill>
                  <a:schemeClr val="accent3"/>
                </a:solidFill>
              </a:rPr>
              <a:t>code of the program </a:t>
            </a:r>
            <a:r>
              <a:rPr lang="en-GB" sz="2000" dirty="0"/>
              <a:t>that it will execute</a:t>
            </a:r>
          </a:p>
          <a:p>
            <a:pPr marL="271462" lvl="1" indent="0" algn="just">
              <a:buNone/>
            </a:pPr>
            <a:r>
              <a:rPr lang="en-GB" sz="2000" dirty="0"/>
              <a:t>All the components are inside the chip</a:t>
            </a:r>
            <a:endParaRPr lang="en-GB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1D9755-683E-66AD-911F-880F0CEFA1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22</a:t>
            </a:fld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9C2878-4F7D-CF98-5732-F82127BA6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720" y="902704"/>
            <a:ext cx="3688080" cy="336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DDBD-3756-6261-B8C5-186C5679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FA8EE1-A6D5-991D-434A-B2DC2709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/>
              <a:t>MINIST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0D19E0-018C-BE23-2B63-64992625E4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23</a:t>
            </a:fld>
            <a:endParaRPr lang="it-IT" dirty="0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6EB23BD5-A06B-AA04-BDA5-E664F21136E3}"/>
              </a:ext>
            </a:extLst>
          </p:cNvPr>
          <p:cNvSpPr txBox="1">
            <a:spLocks/>
          </p:cNvSpPr>
          <p:nvPr/>
        </p:nvSpPr>
        <p:spPr>
          <a:xfrm>
            <a:off x="304800" y="873306"/>
            <a:ext cx="4397829" cy="35596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/>
              <a:t>Our objective is to predict handwritten digits in the fastest way possible.</a:t>
            </a:r>
          </a:p>
          <a:p>
            <a:pPr algn="just"/>
            <a:r>
              <a:rPr lang="en-GB" sz="2400" dirty="0"/>
              <a:t>We utilize the MNIST Dataset:</a:t>
            </a:r>
          </a:p>
          <a:p>
            <a:pPr lvl="1" algn="just"/>
            <a:r>
              <a:rPr lang="en-GB" sz="2200" dirty="0"/>
              <a:t>The MNIST database </a:t>
            </a:r>
            <a:r>
              <a:rPr lang="en-GB" sz="2200" i="1" dirty="0"/>
              <a:t>(Modified National Institute of Standards and Technology database)</a:t>
            </a:r>
            <a:r>
              <a:rPr lang="en-GB" sz="2200" dirty="0"/>
              <a:t> is a large database of handwritten digits that is commonly used for training various image processing systems.</a:t>
            </a:r>
          </a:p>
        </p:txBody>
      </p:sp>
      <p:pic>
        <p:nvPicPr>
          <p:cNvPr id="14" name="Immagine 13" descr="Immagine che contiene modello, bianco e nero, tipografia, arte&#10;&#10;Descrizione generata automaticamente">
            <a:extLst>
              <a:ext uri="{FF2B5EF4-FFF2-40B4-BE49-F238E27FC236}">
                <a16:creationId xmlns:a16="http://schemas.microsoft.com/office/drawing/2014/main" id="{47F6028B-7B21-9D01-71D9-77E216B54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055" y="1628639"/>
            <a:ext cx="3804145" cy="188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4439C7-6C91-460E-C237-B12AEAFC4C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24</a:t>
            </a:fld>
            <a:endParaRPr lang="it-IT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F2636AB7-D4EF-55DB-13A7-6E31D3116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76" y="545374"/>
            <a:ext cx="7779037" cy="3303057"/>
          </a:xfrm>
          <a:prstGeom prst="rect">
            <a:avLst/>
          </a:prstGeom>
        </p:spPr>
      </p:pic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F6DCF104-DD08-EF3A-33B3-58521F0EB7AC}"/>
              </a:ext>
            </a:extLst>
          </p:cNvPr>
          <p:cNvSpPr txBox="1">
            <a:spLocks/>
          </p:cNvSpPr>
          <p:nvPr/>
        </p:nvSpPr>
        <p:spPr>
          <a:xfrm>
            <a:off x="482237" y="3477906"/>
            <a:ext cx="8179526" cy="11202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200" dirty="0"/>
              <a:t>Look at the project and the design, it is made of several hierarchal components, real word applications require a lot of components and testing:</a:t>
            </a:r>
          </a:p>
          <a:p>
            <a:pPr marL="0" indent="0" algn="just">
              <a:buNone/>
            </a:pPr>
            <a:endParaRPr lang="en-GB" sz="22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79646"/>
                </a:solidFill>
              </a:rPr>
              <a:t>EDA tools simplify the development of these applications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30AD-2963-0FCD-8315-1FF17ECE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0BE74A-4F9B-604B-CA1E-8F177E290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EBE2BD-A419-0A29-F7F6-F88BA511D1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25</a:t>
            </a:fld>
            <a:endParaRPr lang="it-IT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D8E14E14-FE4C-7D3D-6A3D-E90B2BDB4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76" y="545374"/>
            <a:ext cx="7779037" cy="3303057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A3AD29-1421-5012-22CC-F03534CD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607663"/>
            <a:ext cx="8534400" cy="1188667"/>
          </a:xfrm>
        </p:spPr>
        <p:txBody>
          <a:bodyPr>
            <a:normAutofit/>
          </a:bodyPr>
          <a:lstStyle/>
          <a:p>
            <a:r>
              <a:rPr lang="it-IT" dirty="0"/>
              <a:t>A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comprises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</a:t>
            </a:r>
            <a:r>
              <a:rPr lang="it-IT" dirty="0" err="1"/>
              <a:t>interconnected</a:t>
            </a:r>
            <a:r>
              <a:rPr lang="it-IT" dirty="0"/>
              <a:t> with </a:t>
            </a:r>
            <a:r>
              <a:rPr lang="it-IT" dirty="0" err="1"/>
              <a:t>busses</a:t>
            </a:r>
            <a:r>
              <a:rPr lang="it-IT" dirty="0"/>
              <a:t>, </a:t>
            </a:r>
            <a:r>
              <a:rPr lang="it-IT" dirty="0" err="1"/>
              <a:t>memories</a:t>
            </a:r>
            <a:r>
              <a:rPr lang="it-IT" dirty="0"/>
              <a:t>, processors and </a:t>
            </a:r>
            <a:r>
              <a:rPr lang="it-IT" dirty="0" err="1"/>
              <a:t>peripherals</a:t>
            </a:r>
            <a:r>
              <a:rPr lang="it-IT" dirty="0"/>
              <a:t>.</a:t>
            </a:r>
          </a:p>
          <a:p>
            <a:pPr marL="542925" lvl="2" indent="0">
              <a:buNone/>
            </a:pP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65374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0B73-A953-E018-F61A-3218E012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B264C1B1-AEBB-1DE6-733A-4F8152B0E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81" y="781570"/>
            <a:ext cx="7779037" cy="330305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03A5932-0251-39F8-CE01-A77DB37E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B6F35C-7BCC-53DA-E722-648293A737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26</a:t>
            </a:fld>
            <a:endParaRPr lang="it-IT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9FD82B12-F1F2-7316-319B-28CEDEC4060B}"/>
              </a:ext>
            </a:extLst>
          </p:cNvPr>
          <p:cNvSpPr/>
          <p:nvPr/>
        </p:nvSpPr>
        <p:spPr>
          <a:xfrm>
            <a:off x="1439862" y="2433099"/>
            <a:ext cx="2400617" cy="1152939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CB6ED5-6C94-3179-2DC5-DBC4E1E50A16}"/>
              </a:ext>
            </a:extLst>
          </p:cNvPr>
          <p:cNvSpPr txBox="1"/>
          <p:nvPr/>
        </p:nvSpPr>
        <p:spPr>
          <a:xfrm>
            <a:off x="1819014" y="3586038"/>
            <a:ext cx="1509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Our Custom Accelerator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31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070F-9D9D-E923-134F-A843C6F2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8BB75294-C0CC-A0E8-2808-D10B579F9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81" y="781570"/>
            <a:ext cx="7779037" cy="330305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00A795E-81A9-497C-9C8F-E8ED1393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dirty="0"/>
              <a:t>RTL Design of an </a:t>
            </a:r>
            <a:r>
              <a:rPr lang="it-IT" dirty="0" err="1"/>
              <a:t>SoC</a:t>
            </a:r>
            <a:endParaRPr lang="en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D3FA63-3C8E-BC4E-0948-574EB0E254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27</a:t>
            </a:fld>
            <a:endParaRPr lang="it-IT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775274A6-34E2-B9E9-1BAF-8331C9558F67}"/>
              </a:ext>
            </a:extLst>
          </p:cNvPr>
          <p:cNvSpPr/>
          <p:nvPr/>
        </p:nvSpPr>
        <p:spPr>
          <a:xfrm>
            <a:off x="457200" y="1314315"/>
            <a:ext cx="4114800" cy="1152939"/>
          </a:xfrm>
          <a:prstGeom prst="ellipse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06A24C-E6EB-8977-BC30-AEC213A721B4}"/>
              </a:ext>
            </a:extLst>
          </p:cNvPr>
          <p:cNvSpPr txBox="1"/>
          <p:nvPr/>
        </p:nvSpPr>
        <p:spPr>
          <a:xfrm>
            <a:off x="1683842" y="874207"/>
            <a:ext cx="150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79646"/>
                </a:solidFill>
              </a:rPr>
              <a:t>The processor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02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A128-19A5-2559-197D-0B467A11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Software and Hardware </a:t>
            </a:r>
            <a:r>
              <a:rPr lang="it-IT" dirty="0" err="1"/>
              <a:t>Stack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A6BE-8A2A-7FE0-BA81-64DB3B7F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2246"/>
            <a:ext cx="3890963" cy="2379009"/>
          </a:xfrm>
        </p:spPr>
        <p:txBody>
          <a:bodyPr/>
          <a:lstStyle/>
          <a:p>
            <a:pPr algn="just"/>
            <a:r>
              <a:rPr lang="en-IT" dirty="0"/>
              <a:t>Take a look at the code</a:t>
            </a:r>
            <a:endParaRPr lang="it-IT" dirty="0"/>
          </a:p>
          <a:p>
            <a:pPr lvl="1" algn="just"/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one </a:t>
            </a:r>
            <a:r>
              <a:rPr lang="it-IT" dirty="0" err="1"/>
              <a:t>program</a:t>
            </a:r>
            <a:r>
              <a:rPr lang="it-IT" dirty="0"/>
              <a:t> running on the </a:t>
            </a:r>
            <a:r>
              <a:rPr lang="it-IT" dirty="0" err="1"/>
              <a:t>SoC</a:t>
            </a:r>
            <a:r>
              <a:rPr lang="it-IT" dirty="0"/>
              <a:t>:</a:t>
            </a:r>
          </a:p>
          <a:p>
            <a:pPr lvl="2" algn="just"/>
            <a:r>
              <a:rPr lang="it-IT" dirty="0"/>
              <a:t>The Operating System</a:t>
            </a:r>
          </a:p>
          <a:p>
            <a:pPr lvl="2" algn="just"/>
            <a:r>
              <a:rPr lang="it-IT" dirty="0"/>
              <a:t>The Server, to </a:t>
            </a:r>
            <a:r>
              <a:rPr lang="it-IT" dirty="0" err="1"/>
              <a:t>manage</a:t>
            </a:r>
            <a:r>
              <a:rPr lang="it-IT" dirty="0"/>
              <a:t> a </a:t>
            </a:r>
            <a:r>
              <a:rPr lang="it-IT" dirty="0" err="1"/>
              <a:t>graphical</a:t>
            </a:r>
            <a:r>
              <a:rPr lang="it-IT" dirty="0"/>
              <a:t> </a:t>
            </a:r>
            <a:r>
              <a:rPr lang="it-IT" dirty="0" err="1"/>
              <a:t>interface</a:t>
            </a:r>
            <a:r>
              <a:rPr lang="it-IT" dirty="0"/>
              <a:t>, and </a:t>
            </a:r>
            <a:r>
              <a:rPr lang="it-IT" dirty="0" err="1"/>
              <a:t>communications</a:t>
            </a:r>
            <a:endParaRPr lang="it-IT" dirty="0"/>
          </a:p>
          <a:p>
            <a:pPr lvl="2" algn="just"/>
            <a:r>
              <a:rPr lang="it-IT" dirty="0"/>
              <a:t>The Drivers for the </a:t>
            </a:r>
            <a:r>
              <a:rPr lang="it-IT" dirty="0" err="1"/>
              <a:t>accelerator</a:t>
            </a:r>
            <a:endParaRPr lang="it-IT" dirty="0"/>
          </a:p>
          <a:p>
            <a:pPr marL="542925" lvl="2" indent="0" algn="just">
              <a:buNone/>
            </a:pPr>
            <a:endParaRPr lang="en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0E36C4-F7F7-7F7C-F1AE-879BDDE88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494" y="658106"/>
            <a:ext cx="5154706" cy="398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79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E863FEE9-FD89-52E8-0DFE-C7E9945B8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FA121F99-A1F9-1565-9077-F9A6A65A68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1288</Words>
  <Application>Microsoft Macintosh PowerPoint</Application>
  <PresentationFormat>On-screen Show (16:9)</PresentationFormat>
  <Paragraphs>192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Inter</vt:lpstr>
      <vt:lpstr>Arial</vt:lpstr>
      <vt:lpstr>Arial Narrow</vt:lpstr>
      <vt:lpstr>Baskerville Display PT</vt:lpstr>
      <vt:lpstr>Calibri</vt:lpstr>
      <vt:lpstr>Office Theme</vt:lpstr>
      <vt:lpstr>Lab NN A Real Use Case:  Neural Networks</vt:lpstr>
      <vt:lpstr>Boolean Algebra</vt:lpstr>
      <vt:lpstr>Logic Circuits</vt:lpstr>
      <vt:lpstr>Components of an Electronic System</vt:lpstr>
      <vt:lpstr>What is a SoC?</vt:lpstr>
      <vt:lpstr>SoC Design</vt:lpstr>
      <vt:lpstr>SoC Design Flow</vt:lpstr>
      <vt:lpstr>Electronic Design Automation Tools</vt:lpstr>
      <vt:lpstr>Types of EDA Tools</vt:lpstr>
      <vt:lpstr>Why EDA Tools are important?</vt:lpstr>
      <vt:lpstr>Functional Verification</vt:lpstr>
      <vt:lpstr>Functional Verification</vt:lpstr>
      <vt:lpstr>Test Benches, Key Tools for Verification</vt:lpstr>
      <vt:lpstr>Test Benches, Key Tools for Verification</vt:lpstr>
      <vt:lpstr>Lab NN Neural Network: A Real Use Case</vt:lpstr>
      <vt:lpstr>Hierarchical Design: From Gates to Architectures to SoCs</vt:lpstr>
      <vt:lpstr>SoC Applications</vt:lpstr>
      <vt:lpstr>Artificial intelligence</vt:lpstr>
      <vt:lpstr>Neural Networks</vt:lpstr>
      <vt:lpstr>The Impact of Design Choices</vt:lpstr>
      <vt:lpstr>PowerPoint Presentation</vt:lpstr>
      <vt:lpstr>Laboratory: An Use Case</vt:lpstr>
      <vt:lpstr>MINIST</vt:lpstr>
      <vt:lpstr>RTL Design of an SoC</vt:lpstr>
      <vt:lpstr>RTL Design of an SoC</vt:lpstr>
      <vt:lpstr>RTL Design of an SoC</vt:lpstr>
      <vt:lpstr>RTL Design of an SoC</vt:lpstr>
      <vt:lpstr>Software and Hardware Stack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244</cp:revision>
  <dcterms:created xsi:type="dcterms:W3CDTF">2006-08-16T00:00:00Z</dcterms:created>
  <dcterms:modified xsi:type="dcterms:W3CDTF">2025-06-22T01:52:15Z</dcterms:modified>
</cp:coreProperties>
</file>