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44"/>
  </p:notesMasterIdLst>
  <p:sldIdLst>
    <p:sldId id="306" r:id="rId2"/>
    <p:sldId id="315" r:id="rId3"/>
    <p:sldId id="576" r:id="rId4"/>
    <p:sldId id="318" r:id="rId5"/>
    <p:sldId id="277" r:id="rId6"/>
    <p:sldId id="550" r:id="rId7"/>
    <p:sldId id="551" r:id="rId8"/>
    <p:sldId id="554" r:id="rId9"/>
    <p:sldId id="555" r:id="rId10"/>
    <p:sldId id="552" r:id="rId11"/>
    <p:sldId id="553" r:id="rId12"/>
    <p:sldId id="556" r:id="rId13"/>
    <p:sldId id="557" r:id="rId14"/>
    <p:sldId id="558" r:id="rId15"/>
    <p:sldId id="559" r:id="rId16"/>
    <p:sldId id="560" r:id="rId17"/>
    <p:sldId id="561" r:id="rId18"/>
    <p:sldId id="562" r:id="rId19"/>
    <p:sldId id="563" r:id="rId20"/>
    <p:sldId id="564" r:id="rId21"/>
    <p:sldId id="565" r:id="rId22"/>
    <p:sldId id="566" r:id="rId23"/>
    <p:sldId id="567" r:id="rId24"/>
    <p:sldId id="569" r:id="rId25"/>
    <p:sldId id="568" r:id="rId26"/>
    <p:sldId id="490" r:id="rId27"/>
    <p:sldId id="397" r:id="rId28"/>
    <p:sldId id="538" r:id="rId29"/>
    <p:sldId id="570" r:id="rId30"/>
    <p:sldId id="522" r:id="rId31"/>
    <p:sldId id="524" r:id="rId32"/>
    <p:sldId id="486" r:id="rId33"/>
    <p:sldId id="455" r:id="rId34"/>
    <p:sldId id="541" r:id="rId35"/>
    <p:sldId id="480" r:id="rId36"/>
    <p:sldId id="571" r:id="rId37"/>
    <p:sldId id="572" r:id="rId38"/>
    <p:sldId id="573" r:id="rId39"/>
    <p:sldId id="574" r:id="rId40"/>
    <p:sldId id="575" r:id="rId41"/>
    <p:sldId id="545" r:id="rId42"/>
    <p:sldId id="312" r:id="rId4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00295D"/>
    <a:srgbClr val="5484A7"/>
    <a:srgbClr val="B1DEF0"/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FFB38-E01D-254E-8061-6F439B51DF20}" v="3" dt="2025-06-22T01:27:11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6"/>
    <p:restoredTop sz="95788"/>
  </p:normalViewPr>
  <p:slideViewPr>
    <p:cSldViewPr snapToGrid="0">
      <p:cViewPr varScale="1">
        <p:scale>
          <a:sx n="135" d="100"/>
          <a:sy n="135" d="100"/>
        </p:scale>
        <p:origin x="62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9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a Bolchini" userId="6b8273cd-38c1-41dc-ba93-995a19828489" providerId="ADAL" clId="{3D0FFB38-E01D-254E-8061-6F439B51DF20}"/>
    <pc:docChg chg="custSel modSld">
      <pc:chgData name="Cristiana Bolchini" userId="6b8273cd-38c1-41dc-ba93-995a19828489" providerId="ADAL" clId="{3D0FFB38-E01D-254E-8061-6F439B51DF20}" dt="2025-06-22T01:48:53.028" v="31" actId="20577"/>
      <pc:docMkLst>
        <pc:docMk/>
      </pc:docMkLst>
      <pc:sldChg chg="addSp delSp modSp mod">
        <pc:chgData name="Cristiana Bolchini" userId="6b8273cd-38c1-41dc-ba93-995a19828489" providerId="ADAL" clId="{3D0FFB38-E01D-254E-8061-6F439B51DF20}" dt="2025-06-22T01:26:22.349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3D0FFB38-E01D-254E-8061-6F439B51DF20}" dt="2025-06-22T01:26:22.349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3D0FFB38-E01D-254E-8061-6F439B51DF20}" dt="2025-06-22T01:26:19.351" v="1"/>
          <ac:picMkLst>
            <pc:docMk/>
            <pc:sldMk cId="3414173897" sldId="312"/>
            <ac:picMk id="3" creationId="{B8462BC8-7526-18BF-5141-B023766548FD}"/>
          </ac:picMkLst>
        </pc:picChg>
        <pc:picChg chg="add mod">
          <ac:chgData name="Cristiana Bolchini" userId="6b8273cd-38c1-41dc-ba93-995a19828489" providerId="ADAL" clId="{3D0FFB38-E01D-254E-8061-6F439B51DF20}" dt="2025-06-22T01:26:19.351" v="1"/>
          <ac:picMkLst>
            <pc:docMk/>
            <pc:sldMk cId="3414173897" sldId="312"/>
            <ac:picMk id="5" creationId="{E1C10B70-EBAD-A690-5D59-F83D22044A77}"/>
          </ac:picMkLst>
        </pc:picChg>
        <pc:picChg chg="del">
          <ac:chgData name="Cristiana Bolchini" userId="6b8273cd-38c1-41dc-ba93-995a19828489" providerId="ADAL" clId="{3D0FFB38-E01D-254E-8061-6F439B51DF20}" dt="2025-06-22T01:26:18.941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3D0FFB38-E01D-254E-8061-6F439B51DF20}" dt="2025-06-22T01:26:18.941" v="0" actId="478"/>
          <ac:picMkLst>
            <pc:docMk/>
            <pc:sldMk cId="3414173897" sldId="312"/>
            <ac:picMk id="1030" creationId="{EEBFC921-7D9A-3E46-F3DC-0A403C48E830}"/>
          </ac:picMkLst>
        </pc:picChg>
      </pc:sldChg>
      <pc:sldChg chg="modSp mod">
        <pc:chgData name="Cristiana Bolchini" userId="6b8273cd-38c1-41dc-ba93-995a19828489" providerId="ADAL" clId="{3D0FFB38-E01D-254E-8061-6F439B51DF20}" dt="2025-06-22T01:27:11.750" v="27"/>
        <pc:sldMkLst>
          <pc:docMk/>
          <pc:sldMk cId="2831357943" sldId="490"/>
        </pc:sldMkLst>
        <pc:spChg chg="mod">
          <ac:chgData name="Cristiana Bolchini" userId="6b8273cd-38c1-41dc-ba93-995a19828489" providerId="ADAL" clId="{3D0FFB38-E01D-254E-8061-6F439B51DF20}" dt="2025-06-22T01:27:11.750" v="27"/>
          <ac:spMkLst>
            <pc:docMk/>
            <pc:sldMk cId="2831357943" sldId="490"/>
            <ac:spMk id="2" creationId="{7F74B585-77E5-F190-B4E9-BBEC17AEAE77}"/>
          </ac:spMkLst>
        </pc:spChg>
      </pc:sldChg>
      <pc:sldChg chg="modSp mod">
        <pc:chgData name="Cristiana Bolchini" userId="6b8273cd-38c1-41dc-ba93-995a19828489" providerId="ADAL" clId="{3D0FFB38-E01D-254E-8061-6F439B51DF20}" dt="2025-06-22T01:48:53.028" v="31" actId="20577"/>
        <pc:sldMkLst>
          <pc:docMk/>
          <pc:sldMk cId="3317779889" sldId="545"/>
        </pc:sldMkLst>
        <pc:spChg chg="mod">
          <ac:chgData name="Cristiana Bolchini" userId="6b8273cd-38c1-41dc-ba93-995a19828489" providerId="ADAL" clId="{3D0FFB38-E01D-254E-8061-6F439B51DF20}" dt="2025-06-22T01:48:53.028" v="31" actId="20577"/>
          <ac:spMkLst>
            <pc:docMk/>
            <pc:sldMk cId="3317779889" sldId="545"/>
            <ac:spMk id="3" creationId="{2511A6BE-8A2A-7FE0-BA81-64DB3B7FEE51}"/>
          </ac:spMkLst>
        </pc:spChg>
      </pc:sldChg>
      <pc:sldChg chg="modSp mod">
        <pc:chgData name="Cristiana Bolchini" userId="6b8273cd-38c1-41dc-ba93-995a19828489" providerId="ADAL" clId="{3D0FFB38-E01D-254E-8061-6F439B51DF20}" dt="2025-06-22T01:27:31.283" v="29" actId="12"/>
        <pc:sldMkLst>
          <pc:docMk/>
          <pc:sldMk cId="3291829671" sldId="570"/>
        </pc:sldMkLst>
        <pc:spChg chg="mod">
          <ac:chgData name="Cristiana Bolchini" userId="6b8273cd-38c1-41dc-ba93-995a19828489" providerId="ADAL" clId="{3D0FFB38-E01D-254E-8061-6F439B51DF20}" dt="2025-06-22T01:27:31.283" v="29" actId="12"/>
          <ac:spMkLst>
            <pc:docMk/>
            <pc:sldMk cId="3291829671" sldId="570"/>
            <ac:spMk id="8" creationId="{C5A44713-DC2B-0B8E-651E-1469364DAD4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64656" cy="485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341" tIns="50672" rIns="101341" bIns="50672"/>
          <a:lstStyle>
            <a:lvl1pPr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altLang="en-US" sz="1300">
                <a:solidFill>
                  <a:srgbClr val="000000"/>
                </a:solidFill>
                <a:latin typeface="Arial" pitchFamily="34" charset="0"/>
              </a:rPr>
              <a:t>Fondamenti di Informatica</a:t>
            </a:r>
          </a:p>
        </p:txBody>
      </p:sp>
      <p:sp>
        <p:nvSpPr>
          <p:cNvPr id="550915" name="Rectangle 3"/>
          <p:cNvSpPr txBox="1">
            <a:spLocks noGrp="1" noChangeArrowheads="1"/>
          </p:cNvSpPr>
          <p:nvPr/>
        </p:nvSpPr>
        <p:spPr bwMode="auto">
          <a:xfrm>
            <a:off x="3865067" y="0"/>
            <a:ext cx="2964656" cy="485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341" tIns="50672" rIns="101341" bIns="50672"/>
          <a:lstStyle>
            <a:lvl1pPr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1069975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10699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/>
            <a:r>
              <a:rPr lang="en-US" altLang="en-US" sz="1300">
                <a:solidFill>
                  <a:srgbClr val="000000"/>
                </a:solidFill>
                <a:latin typeface="Arial" pitchFamily="34" charset="0"/>
              </a:rPr>
              <a:t>cap. I</a:t>
            </a:r>
          </a:p>
        </p:txBody>
      </p:sp>
      <p:sp>
        <p:nvSpPr>
          <p:cNvPr id="550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 cap="flat"/>
        </p:spPr>
      </p:sp>
      <p:sp>
        <p:nvSpPr>
          <p:cNvPr id="550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4125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658C-5AE3-92ED-633C-0747C3E7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5926C39-73B3-D8C3-70C9-93BB02DD8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B83D77-D103-381D-2A80-D2B36E126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7D1EDA-0B14-92C7-9F5B-504A165AC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4397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A1F4-8525-D9F3-6DA3-37E90FC6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8DCF21-0E22-C641-78E2-ECDBAA8CD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70DEB0-2C3C-ED55-1AEB-B7EA9AAF8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F45744-A653-CDF8-84E1-C6839CA36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6187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59D2-A848-3ECD-142E-A6758C01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98AA102-F8A5-7E26-872C-F3E6B670B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D1C3A7-4CC0-BC84-BB9A-4565C1317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2706C6-35CB-6A5A-AFBF-5E9D07FF9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4956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49B8-77D8-D3BE-DE74-48F8D1A2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F077461-7690-DBE6-7AA4-27B5355AA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66909C0-9AF3-0AEF-78E7-AE80D92EC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2F20A9-3E8E-7D67-6B93-5533180B8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5656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C4EC-3975-2C93-6049-E6E868E69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376EBA-1229-59A0-A264-048E19B9B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BF785C0-255D-A994-E6A0-AB60517BD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B091BF-C72E-C499-4383-664D31330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579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803F9-909F-7A0C-2C2E-005EA05B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6F148C-9657-4B66-CDE7-8E139E150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0AAD5E-E9DC-EE30-A90A-4838FE82E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04A708-266E-9EE4-BB3B-C739ABFD3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797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9DBA-5A43-79B3-BFF7-8A51CCBF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BD72EB-8891-C7F0-FA39-595489A5F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D06012-E938-8C62-D2C3-33B6AF521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C22360-4A2F-FA6D-79F8-28468ACD8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432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FB72-9F8F-CEFD-E418-4D0B952C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F1D46E3-8EE3-0764-443B-D533E5663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6797474-831C-85B8-6175-AF2AD5DC3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7B106D-41B6-DD62-2038-10FF41DB6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7092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A482-2DA7-70C2-2691-DD5100B5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B98E58-E2A5-B654-B4A4-9E2EDDFE8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2ED2EC-A8B7-A004-F87B-10B3A46F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E34BB9-F448-BD79-028F-DE32ECC1F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554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7490-E9F1-3F2F-703E-A6D34216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AE107C3-6D13-6DA5-0A0D-754955F7F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332B69-C6A3-CC6E-C316-ED235B414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AA083F0-518D-6287-DF9E-CB8D99CA7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3868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9E117-DA1F-A3A2-5520-DDAAD7A1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9FCAAFF-83E3-4EC0-96A7-9BE849213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B7ACDD-C314-2435-D5F3-F9D7D82A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EE5894-B0C2-B864-761F-709F7C15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152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620A-1F63-0645-7B27-547CE286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161EE3-0A25-3BC5-0D5F-88869E6F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C3F026-EFA2-9D31-ED4E-2AEFE8C8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CDDA46-3FA2-871D-2DF6-D57DC8F09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9907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F042-1D77-8442-9BB6-D36A6D24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5ECB082-965D-475E-8DC6-96A1911A0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465AB2-5A7F-A769-5F68-59DBC036D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E0D8D9-C1BC-1FDA-1B7D-D8510053B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6327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2A74-7F5B-5061-31F2-8B5A74A7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09C335-E9FE-239F-CE34-BFBFD4C2A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7A0E6E-A8C7-A46E-4D94-4B0DCDCF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F7DDFE-31B6-6210-0032-DEB45D43D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750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E96EB-19A8-D78D-6920-F151FAFDE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E62ABB-63C7-7913-FE7B-1D5427A5D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5CD78B-FC63-836A-63D9-00F707294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10CA07-1909-51E2-FE58-006842806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2430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3849C-D22D-41F1-3ED5-608B35BAA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78CE0C8-E94C-67C0-35E5-54193A257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9CB306-B32E-D456-A218-9DF4A923E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BDDD0A-71F5-FC39-22AB-638732769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4680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929E9-7A4F-DA16-99B3-6034FB28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F79D48-AF83-7D55-AE48-D9069CB13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EA2E887-A605-7531-792A-CA29FAEF4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5932E1-F608-A5AE-C92A-5A97665EC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970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1945-00CE-2BC3-F27D-826D5A32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7F6F434-E900-E3A6-BB5F-533D59F64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6400874-5673-CF58-F0A7-D1F26830A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0EB875-CB96-177A-B573-B43ED47E0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6283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F4D8-754A-9990-C3EF-EB8D0A9C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4232D5C-E29F-EFF4-9912-92E7D8E7C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931548-FC2D-4DAA-C4F1-B36C81ADE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8A7EDC-39C8-DDC1-1811-B66AB84E1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8678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C65F-9095-907B-8DA0-824E06BB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A54989-5C35-559D-6C95-B9CA1045C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43FB9C3-23B4-92CF-44A7-E7B7215AE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290C64-E0E3-22BE-5F8B-4731B9259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8387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C53F-1654-4C1E-1587-DFCD472A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91D31A3-A0F5-1F76-AB11-B406D6A95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5A23B3-97D2-20F9-A85E-C1CA15615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B97093-4249-01C3-3049-E3E555594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754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2EB9-E1C0-E3C9-28CB-C62CA9AC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C05889B-47C6-6C1E-6412-CAE3E42E9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A95237-2579-4DF2-0C0C-C5D80C1BB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E47E93-18E9-34D4-62DC-67F45EBD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22078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3E42-8EF4-C3F1-133C-BF48FDC8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523A371-FABE-C17B-DC72-089DDA0C3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F2A54F5-7643-158C-3C3B-AEE33E460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2B97FD-0A73-CF16-0305-EB4D04574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4404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91D5-1383-9D5A-E9EC-CE32E04D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ECAC30-D8D5-6F8E-22FD-4D6F1C46C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63E5F2-D66A-6C19-8C74-239BA5499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2CCA23-452F-89EB-1342-9B6DB2910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33223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A333-C603-2FC3-B23E-AD2249BE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7680B3-B891-8C6A-A483-1FF8302CF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D120732-EBA9-F83F-83B9-E5CC1697A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D68463-E2D0-8154-E053-EBE219948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30125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9B2D-7AAC-489C-85E7-FF4717E5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58750A-3EA0-F380-1281-BB3B104C5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2225C85-489C-5CD5-9605-1DD2A33E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D67A68-5639-0332-8CC4-FE9C65E78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41930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0566-5005-B4AA-A99E-E1C1ABF6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F136BA4-0CD9-8CB5-4B1D-E9B32A11C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E931802-CD9E-FC60-F0E4-3603AFA1F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B9324B-E1C8-F072-5660-2B757972B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41667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0563-ACD9-3AAE-441A-5A2E80D6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4D3ABFF-BA12-ACDB-B3C7-307FEBD98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B1AA5B8-3699-EAFE-A44C-FDD0B0245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AA5D3E-7641-AD38-A0FE-C1BD96F54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34396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3DC87-B18E-4D35-E016-8367ACBC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9D0A1A-C7B6-46F1-CEFD-0FA3819D1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E8DC49A-D981-A679-2B78-0FFBDABE4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EE16F6-CCE3-5D6A-410A-4E2A270E5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40548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5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5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3" Type="http://schemas.openxmlformats.org/officeDocument/2006/relationships/image" Target="../media/image13.wmf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wmf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wmf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81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79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Lab 04 Part 1:</a:t>
            </a:r>
            <a:br>
              <a:rPr lang="en-US" dirty="0"/>
            </a:br>
            <a:r>
              <a:rPr lang="en-US" sz="4800" dirty="0"/>
              <a:t>A Real Use Case: </a:t>
            </a:r>
            <a:br>
              <a:rPr lang="en-US" sz="4800" dirty="0"/>
            </a:br>
            <a:r>
              <a:rPr lang="en-US" sz="4800" dirty="0"/>
              <a:t>Neural Networks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717BE86-6D4E-CDE2-BEFB-1FD0D788A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it all started…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4356819" y="837418"/>
            <a:ext cx="4482381" cy="1682272"/>
            <a:chOff x="5517032" y="1381252"/>
            <a:chExt cx="5976509" cy="2243030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7374" y="1381252"/>
              <a:ext cx="3580393" cy="1801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5517032" y="3131839"/>
              <a:ext cx="597650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The </a:t>
              </a:r>
              <a:r>
                <a:rPr lang="en-US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Phone</a:t>
              </a:r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G. Bell vs. A.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Meucci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(1860-70) 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85800" y="771619"/>
            <a:ext cx="3158237" cy="1800131"/>
            <a:chOff x="698458" y="1275047"/>
            <a:chExt cx="4210984" cy="240017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083" y="1275047"/>
              <a:ext cx="3317735" cy="18517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698458" y="3182779"/>
              <a:ext cx="421098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The Radio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G. Marconi (1895)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711681" y="2915882"/>
            <a:ext cx="5720637" cy="1673621"/>
            <a:chOff x="2436712" y="3934190"/>
            <a:chExt cx="7627515" cy="2231494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6712" y="3938650"/>
              <a:ext cx="4365909" cy="1773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1999" y="3934190"/>
              <a:ext cx="2952228" cy="1771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2457644" y="5673241"/>
              <a:ext cx="747991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The Computer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A. Turing and J. Von Neumann (1940-50)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268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Digital data: Everything Becomes “</a:t>
            </a:r>
            <a:r>
              <a:rPr lang="en-US" altLang="ja-JP" dirty="0"/>
              <a:t>bit”</a:t>
            </a:r>
            <a:endParaRPr lang="en-US" altLang="en-US" dirty="0"/>
          </a:p>
        </p:txBody>
      </p:sp>
      <p:sp>
        <p:nvSpPr>
          <p:cNvPr id="54276" name="Rectangle 3" descr="cd-multimedialità 02"/>
          <p:cNvSpPr>
            <a:spLocks noChangeArrowheads="1"/>
          </p:cNvSpPr>
          <p:nvPr/>
        </p:nvSpPr>
        <p:spPr bwMode="auto">
          <a:xfrm>
            <a:off x="457201" y="590550"/>
            <a:ext cx="3763963" cy="3942160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endParaRPr lang="en-GB" altLang="en-US" sz="1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179638" y="751939"/>
            <a:ext cx="758376" cy="388949"/>
          </a:xfrm>
          <a:prstGeom prst="rect">
            <a:avLst/>
          </a:prstGeom>
          <a:solidFill>
            <a:srgbClr val="000066"/>
          </a:soli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93" tIns="37146" rIns="74293" bIns="37146" anchor="ctr" anchorCtr="1">
            <a:spAutoFit/>
          </a:bodyPr>
          <a:lstStyle/>
          <a:p>
            <a:pPr defTabSz="742950">
              <a:lnSpc>
                <a:spcPct val="85000"/>
              </a:lnSpc>
              <a:defRPr/>
            </a:pPr>
            <a:r>
              <a:rPr lang="it-IT" sz="24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Text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314451" y="1400236"/>
            <a:ext cx="816084" cy="388949"/>
          </a:xfrm>
          <a:prstGeom prst="rect">
            <a:avLst/>
          </a:prstGeom>
          <a:solidFill>
            <a:srgbClr val="000066"/>
          </a:soli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93" tIns="37146" rIns="74293" bIns="37146" anchor="ctr" anchorCtr="1">
            <a:spAutoFit/>
          </a:bodyPr>
          <a:lstStyle/>
          <a:p>
            <a:pPr defTabSz="742950">
              <a:lnSpc>
                <a:spcPct val="85000"/>
              </a:lnSpc>
              <a:defRPr/>
            </a:pPr>
            <a:r>
              <a:rPr lang="it-IT" sz="24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Data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1049338" y="2048531"/>
            <a:ext cx="947130" cy="388949"/>
          </a:xfrm>
          <a:prstGeom prst="rect">
            <a:avLst/>
          </a:prstGeom>
          <a:solidFill>
            <a:srgbClr val="000066"/>
          </a:soli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93" tIns="37146" rIns="74293" bIns="37146" anchor="ctr" anchorCtr="1">
            <a:spAutoFit/>
          </a:bodyPr>
          <a:lstStyle/>
          <a:p>
            <a:pPr defTabSz="742950">
              <a:lnSpc>
                <a:spcPct val="85000"/>
              </a:lnSpc>
              <a:defRPr/>
            </a:pPr>
            <a:r>
              <a:rPr lang="it-IT" sz="24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Voice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182688" y="2858156"/>
            <a:ext cx="1105828" cy="388949"/>
          </a:xfrm>
          <a:prstGeom prst="rect">
            <a:avLst/>
          </a:prstGeom>
          <a:solidFill>
            <a:srgbClr val="000066"/>
          </a:soli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93" tIns="37146" rIns="74293" bIns="37146" anchor="ctr" anchorCtr="1">
            <a:spAutoFit/>
          </a:bodyPr>
          <a:lstStyle/>
          <a:p>
            <a:pPr defTabSz="742950">
              <a:lnSpc>
                <a:spcPct val="85000"/>
              </a:lnSpc>
              <a:defRPr/>
            </a:pPr>
            <a:r>
              <a:rPr lang="it-IT" sz="24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Sound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247776" y="3506451"/>
            <a:ext cx="1209221" cy="388949"/>
          </a:xfrm>
          <a:prstGeom prst="rect">
            <a:avLst/>
          </a:prstGeom>
          <a:solidFill>
            <a:srgbClr val="000066"/>
          </a:soli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93" tIns="37146" rIns="74293" bIns="37146" anchor="ctr" anchorCtr="1">
            <a:spAutoFit/>
          </a:bodyPr>
          <a:lstStyle/>
          <a:p>
            <a:pPr defTabSz="742950">
              <a:lnSpc>
                <a:spcPct val="85000"/>
              </a:lnSpc>
              <a:defRPr/>
            </a:pPr>
            <a:r>
              <a:rPr lang="it-IT" sz="24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Images</a:t>
            </a:r>
          </a:p>
        </p:txBody>
      </p:sp>
      <p:sp>
        <p:nvSpPr>
          <p:cNvPr id="54283" name="Text Box 16"/>
          <p:cNvSpPr txBox="1">
            <a:spLocks noChangeArrowheads="1"/>
          </p:cNvSpPr>
          <p:nvPr/>
        </p:nvSpPr>
        <p:spPr bwMode="auto">
          <a:xfrm>
            <a:off x="5245287" y="2193086"/>
            <a:ext cx="2763837" cy="60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4293" tIns="37146" rIns="74293" bIns="37146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it-IT" altLang="en-US" sz="4000" b="1" dirty="0">
                <a:solidFill>
                  <a:srgbClr val="FC0128"/>
                </a:solidFill>
                <a:latin typeface="+mn-lt"/>
                <a:cs typeface="Times New Roman" panose="02020603050405020304" pitchFamily="18" charset="0"/>
              </a:rPr>
              <a:t>01101100</a:t>
            </a:r>
          </a:p>
        </p:txBody>
      </p:sp>
      <p:sp>
        <p:nvSpPr>
          <p:cNvPr id="54284" name="Line 17"/>
          <p:cNvSpPr>
            <a:spLocks noChangeShapeType="1"/>
          </p:cNvSpPr>
          <p:nvPr/>
        </p:nvSpPr>
        <p:spPr bwMode="auto">
          <a:xfrm>
            <a:off x="2221150" y="1574647"/>
            <a:ext cx="2876288" cy="66191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54285" name="Line 18"/>
          <p:cNvSpPr>
            <a:spLocks noChangeShapeType="1"/>
          </p:cNvSpPr>
          <p:nvPr/>
        </p:nvSpPr>
        <p:spPr bwMode="auto">
          <a:xfrm>
            <a:off x="2124598" y="2217424"/>
            <a:ext cx="2921662" cy="162441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54286" name="Line 19"/>
          <p:cNvSpPr>
            <a:spLocks noChangeShapeType="1"/>
          </p:cNvSpPr>
          <p:nvPr/>
        </p:nvSpPr>
        <p:spPr bwMode="auto">
          <a:xfrm flipV="1">
            <a:off x="2651078" y="2534112"/>
            <a:ext cx="2452736" cy="459901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54287" name="Line 20"/>
          <p:cNvSpPr>
            <a:spLocks noChangeShapeType="1"/>
          </p:cNvSpPr>
          <p:nvPr/>
        </p:nvSpPr>
        <p:spPr bwMode="auto">
          <a:xfrm flipV="1">
            <a:off x="2763672" y="2696037"/>
            <a:ext cx="2406817" cy="94283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en-US"/>
          </a:p>
        </p:txBody>
      </p:sp>
      <p:pic>
        <p:nvPicPr>
          <p:cNvPr id="54288" name="Picture 21" descr="i-pod 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6" r="2530"/>
          <a:stretch>
            <a:fillRect/>
          </a:stretch>
        </p:blipFill>
        <p:spPr bwMode="auto">
          <a:xfrm>
            <a:off x="6324600" y="748971"/>
            <a:ext cx="1804987" cy="128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9" name="Picture 22" descr="ospedale 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28"/>
          <a:stretch>
            <a:fillRect/>
          </a:stretch>
        </p:blipFill>
        <p:spPr bwMode="auto">
          <a:xfrm>
            <a:off x="5505975" y="2925905"/>
            <a:ext cx="3225800" cy="1532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2970072" y="1023618"/>
            <a:ext cx="2239961" cy="109011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V="1">
            <a:off x="3674660" y="2830239"/>
            <a:ext cx="1504666" cy="117712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7" name="Line 3"/>
          <p:cNvSpPr>
            <a:spLocks noChangeShapeType="1"/>
          </p:cNvSpPr>
          <p:nvPr/>
        </p:nvSpPr>
        <p:spPr bwMode="auto">
          <a:xfrm flipV="1">
            <a:off x="133350" y="1238053"/>
            <a:ext cx="8724900" cy="1775222"/>
          </a:xfrm>
          <a:prstGeom prst="line">
            <a:avLst/>
          </a:prstGeom>
          <a:noFill/>
          <a:ln w="38100">
            <a:solidFill>
              <a:srgbClr val="2D2DB9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lIns="80479" tIns="40240" rIns="80479" bIns="40240">
            <a:spAutoFit/>
          </a:bodyPr>
          <a:lstStyle/>
          <a:p>
            <a:pPr>
              <a:defRPr/>
            </a:pPr>
            <a:endParaRPr lang="en-US">
              <a:latin typeface="Tahoma" charset="0"/>
              <a:ea typeface="MS PGothic" charset="0"/>
              <a:cs typeface="MS PGothic" charset="0"/>
            </a:endParaRPr>
          </a:p>
        </p:txBody>
      </p:sp>
      <p:pic>
        <p:nvPicPr>
          <p:cNvPr id="53251" name="Picture 4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88" y="2671077"/>
            <a:ext cx="420688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5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992" y="2293228"/>
            <a:ext cx="422275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6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31" y="1956913"/>
            <a:ext cx="422275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 Box 7"/>
          <p:cNvSpPr txBox="1">
            <a:spLocks noChangeArrowheads="1"/>
          </p:cNvSpPr>
          <p:nvPr/>
        </p:nvSpPr>
        <p:spPr bwMode="auto">
          <a:xfrm>
            <a:off x="647113" y="2372123"/>
            <a:ext cx="681883" cy="349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469" tIns="40235" rIns="80469" bIns="40235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1980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3255" name="Text Box 8"/>
          <p:cNvSpPr txBox="1">
            <a:spLocks noChangeArrowheads="1"/>
          </p:cNvSpPr>
          <p:nvPr/>
        </p:nvSpPr>
        <p:spPr bwMode="auto">
          <a:xfrm>
            <a:off x="2406950" y="2022359"/>
            <a:ext cx="681883" cy="349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469" tIns="40235" rIns="80469" bIns="40235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1990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3256" name="Text Box 9"/>
          <p:cNvSpPr txBox="1">
            <a:spLocks noChangeArrowheads="1"/>
          </p:cNvSpPr>
          <p:nvPr/>
        </p:nvSpPr>
        <p:spPr bwMode="auto">
          <a:xfrm>
            <a:off x="4144629" y="1659148"/>
            <a:ext cx="669390" cy="34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2000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3257" name="Picture 10" descr="bs01043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35" y="3010333"/>
            <a:ext cx="1281865" cy="115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8" name="Picture 11" descr="en00377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222" y="2687604"/>
            <a:ext cx="1785127" cy="1118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9" name="Picture 12" descr="bd06496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562" y="2324533"/>
            <a:ext cx="1685195" cy="1326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1" name="Text Box 14"/>
          <p:cNvSpPr txBox="1">
            <a:spLocks noChangeArrowheads="1"/>
          </p:cNvSpPr>
          <p:nvPr/>
        </p:nvSpPr>
        <p:spPr bwMode="auto">
          <a:xfrm>
            <a:off x="1905965" y="3825278"/>
            <a:ext cx="1902327" cy="556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GB" alt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62" name="Text Box 15"/>
          <p:cNvSpPr txBox="1">
            <a:spLocks noChangeArrowheads="1"/>
          </p:cNvSpPr>
          <p:nvPr/>
        </p:nvSpPr>
        <p:spPr bwMode="auto">
          <a:xfrm>
            <a:off x="4056392" y="3775727"/>
            <a:ext cx="1825797" cy="556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Multimedia</a:t>
            </a:r>
          </a:p>
          <a:p>
            <a:pPr algn="ctr">
              <a:lnSpc>
                <a:spcPct val="87000"/>
              </a:lnSpc>
            </a:pP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the network</a:t>
            </a:r>
            <a:endParaRPr lang="en-GB" alt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63" name="Text Box 16"/>
          <p:cNvSpPr txBox="1">
            <a:spLocks noChangeArrowheads="1"/>
          </p:cNvSpPr>
          <p:nvPr/>
        </p:nvSpPr>
        <p:spPr bwMode="auto">
          <a:xfrm>
            <a:off x="5087372" y="1503596"/>
            <a:ext cx="669390" cy="34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2005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3264" name="Picture 17" descr="200px-Googl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563" y="2121728"/>
            <a:ext cx="1284735" cy="35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5" name="Picture 18" descr="Youtube_logo_plus_taglin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996" y="2503887"/>
            <a:ext cx="1024394" cy="393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6" name="Picture 19" descr="SL_Logo_with_text_%28large%2C_vertical_orientation%2C_white_background%2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059" y="3128141"/>
            <a:ext cx="522932" cy="50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7" name="Picture 20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384" y="1592650"/>
            <a:ext cx="422275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8" name="Text Box 21"/>
          <p:cNvSpPr txBox="1">
            <a:spLocks noChangeArrowheads="1"/>
          </p:cNvSpPr>
          <p:nvPr/>
        </p:nvSpPr>
        <p:spPr bwMode="auto">
          <a:xfrm>
            <a:off x="6272740" y="3736508"/>
            <a:ext cx="945170" cy="31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2.0</a:t>
            </a:r>
            <a:endParaRPr lang="en-GB" alt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Breakthrough Technologies</a:t>
            </a:r>
          </a:p>
        </p:txBody>
      </p:sp>
      <p:pic>
        <p:nvPicPr>
          <p:cNvPr id="22" name="Picture 20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043" y="1758498"/>
            <a:ext cx="422275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0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455" y="1462662"/>
            <a:ext cx="422275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5885230" y="1373608"/>
            <a:ext cx="669390" cy="34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2010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6665713" y="1178803"/>
            <a:ext cx="669390" cy="34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2015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753" y="1973097"/>
            <a:ext cx="578202" cy="56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25" y="2897770"/>
            <a:ext cx="511281" cy="51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142" y="2486806"/>
            <a:ext cx="756380" cy="423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974" y="3010786"/>
            <a:ext cx="428922" cy="349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7358317" y="3320925"/>
            <a:ext cx="945170" cy="31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3.0</a:t>
            </a:r>
            <a:endParaRPr lang="en-GB" alt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7870496" y="2793666"/>
            <a:ext cx="945170" cy="31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4.0</a:t>
            </a:r>
            <a:endParaRPr lang="en-GB" alt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20" descr="bd15060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305" y="1265740"/>
            <a:ext cx="422275" cy="31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7496207" y="1033252"/>
            <a:ext cx="669390" cy="34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3" tIns="37141" rIns="74283" bIns="37141">
            <a:spAutoFit/>
          </a:bodyPr>
          <a:lstStyle>
            <a:lvl1pPr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defTabSz="990600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87000"/>
              </a:lnSpc>
            </a:pPr>
            <a:r>
              <a:rPr lang="it-IT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2020</a:t>
            </a:r>
            <a:endParaRPr lang="en-GB" altLang="en-US" b="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441" y="1582678"/>
            <a:ext cx="787618" cy="48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526" y="2099853"/>
            <a:ext cx="1033783" cy="68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509" y="1585742"/>
            <a:ext cx="721045" cy="47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339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Analog to Digital and Back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FC09F33-C203-A629-0A3F-26124C6DAC0B}"/>
              </a:ext>
            </a:extLst>
          </p:cNvPr>
          <p:cNvSpPr txBox="1"/>
          <p:nvPr/>
        </p:nvSpPr>
        <p:spPr>
          <a:xfrm>
            <a:off x="533400" y="922112"/>
            <a:ext cx="4569921" cy="29777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Any information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(numbers, text, sounds, images, videos, …)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 be processed by a computer is:</a:t>
            </a:r>
          </a:p>
          <a:p>
            <a:pPr marL="257175" indent="-257175" algn="just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Acquired from the external environment;</a:t>
            </a:r>
          </a:p>
          <a:p>
            <a:pPr marL="257175" indent="-257175" algn="just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Converted to the binary format;</a:t>
            </a:r>
          </a:p>
          <a:p>
            <a:pPr marL="257175" indent="-257175" algn="just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Manipulated;</a:t>
            </a:r>
          </a:p>
          <a:p>
            <a:pPr marL="257175" indent="-257175" algn="just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Converted back to the original format;</a:t>
            </a:r>
          </a:p>
          <a:p>
            <a:pPr marL="257175" indent="-257175" algn="just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Returned to the external environment.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5B6307B3-226E-D6AE-6009-9E917EC20F56}"/>
              </a:ext>
            </a:extLst>
          </p:cNvPr>
          <p:cNvGrpSpPr/>
          <p:nvPr/>
        </p:nvGrpSpPr>
        <p:grpSpPr>
          <a:xfrm>
            <a:off x="5184561" y="842234"/>
            <a:ext cx="3273639" cy="3108203"/>
            <a:chOff x="7114308" y="2040695"/>
            <a:chExt cx="4364852" cy="4144271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94E13F72-514B-DCBC-D1F1-4D49FEFA0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4308" y="2040695"/>
              <a:ext cx="4364852" cy="41442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F93893D7-2CA7-A17C-0E51-858F35A77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DBE7EA"/>
                </a:clrFrom>
                <a:clrTo>
                  <a:srgbClr val="DBE7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7957" y="2560252"/>
              <a:ext cx="3777551" cy="1572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58440033-2AEF-D8CF-D352-675E1E5EBB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DBE7EA"/>
                </a:clrFrom>
                <a:clrTo>
                  <a:srgbClr val="DBE7E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3369" y="4323110"/>
              <a:ext cx="3777551" cy="1454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5431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3398-E0F8-3F7C-CD80-3C393D80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C6367A02-4673-9A6E-320E-4A1CFA83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Electronic Systems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FCCD735-ADCD-153B-FD71-96ED27FA3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3237" y="1065931"/>
            <a:ext cx="4215568" cy="3011637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systems are a collection of electronic components and devices: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components have a specific function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components are interconnected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systems can be found in everyday life objects from smartphones to traffic lights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843986-E2C6-5C2F-F89A-EA01ACC4FE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6</a:t>
            </a:fld>
            <a:endParaRPr lang="it-IT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FC7B7D0F-380E-1756-9662-6A0AC77DACD7}"/>
              </a:ext>
            </a:extLst>
          </p:cNvPr>
          <p:cNvGrpSpPr/>
          <p:nvPr/>
        </p:nvGrpSpPr>
        <p:grpSpPr>
          <a:xfrm>
            <a:off x="59004" y="1117095"/>
            <a:ext cx="4684233" cy="3512054"/>
            <a:chOff x="367408" y="821430"/>
            <a:chExt cx="5990667" cy="4491567"/>
          </a:xfrm>
        </p:grpSpPr>
        <p:pic>
          <p:nvPicPr>
            <p:cNvPr id="8" name="Immagine 7" descr="Immagine che contiene palla&#10;&#10;Descrizione generata automaticamente">
              <a:extLst>
                <a:ext uri="{FF2B5EF4-FFF2-40B4-BE49-F238E27FC236}">
                  <a16:creationId xmlns:a16="http://schemas.microsoft.com/office/drawing/2014/main" id="{B257077E-7C7B-1DF9-C78E-3D7BFB5CF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1171" y="821430"/>
              <a:ext cx="2117521" cy="2040799"/>
            </a:xfrm>
            <a:prstGeom prst="rect">
              <a:avLst/>
            </a:prstGeom>
          </p:spPr>
        </p:pic>
        <p:pic>
          <p:nvPicPr>
            <p:cNvPr id="10" name="Immagine 9" descr="Immagine che contiene occhiali da sole, occhiali, Auricolari&#10;&#10;Descrizione generata automaticamente">
              <a:extLst>
                <a:ext uri="{FF2B5EF4-FFF2-40B4-BE49-F238E27FC236}">
                  <a16:creationId xmlns:a16="http://schemas.microsoft.com/office/drawing/2014/main" id="{12782662-4C7A-2FED-BC2B-EFAF50984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27307">
              <a:off x="3763224" y="1837731"/>
              <a:ext cx="2365958" cy="1329004"/>
            </a:xfrm>
            <a:prstGeom prst="rect">
              <a:avLst/>
            </a:prstGeom>
          </p:spPr>
        </p:pic>
        <p:pic>
          <p:nvPicPr>
            <p:cNvPr id="11" name="Immagine 10" descr="Immagine che contiene gadget, Cellulare, Dispositivo elettronico, Dispositivo portatile per comunicazioni&#10;&#10;Descrizione generata automaticamente">
              <a:extLst>
                <a:ext uri="{FF2B5EF4-FFF2-40B4-BE49-F238E27FC236}">
                  <a16:creationId xmlns:a16="http://schemas.microsoft.com/office/drawing/2014/main" id="{0E74DE65-5A84-E8A2-8F4A-B0CB9DA55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1" y="994705"/>
              <a:ext cx="2523174" cy="2523174"/>
            </a:xfrm>
            <a:prstGeom prst="rect">
              <a:avLst/>
            </a:prstGeom>
          </p:spPr>
        </p:pic>
        <p:pic>
          <p:nvPicPr>
            <p:cNvPr id="12" name="Immagine 11" descr="Immagine che contiene orologio, Accessorio di moda, cinturino, Attrezzi&#10;&#10;Descrizione generata automaticamente">
              <a:extLst>
                <a:ext uri="{FF2B5EF4-FFF2-40B4-BE49-F238E27FC236}">
                  <a16:creationId xmlns:a16="http://schemas.microsoft.com/office/drawing/2014/main" id="{29E7AD88-4743-59F7-793B-E8781D4F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6713" y="1957611"/>
              <a:ext cx="1499886" cy="1499886"/>
            </a:xfrm>
            <a:prstGeom prst="rect">
              <a:avLst/>
            </a:prstGeom>
          </p:spPr>
        </p:pic>
        <p:pic>
          <p:nvPicPr>
            <p:cNvPr id="13" name="Immagine 12" descr="Immagine che contiene semaforo, luce, Dispositivo di segnalazione, trasporto&#10;&#10;Descrizione generata automaticamente">
              <a:extLst>
                <a:ext uri="{FF2B5EF4-FFF2-40B4-BE49-F238E27FC236}">
                  <a16:creationId xmlns:a16="http://schemas.microsoft.com/office/drawing/2014/main" id="{BA3EA267-C5B4-C17D-899A-F277A8446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90933">
              <a:off x="367408" y="2296361"/>
              <a:ext cx="2017230" cy="2017230"/>
            </a:xfrm>
            <a:prstGeom prst="rect">
              <a:avLst/>
            </a:prstGeom>
          </p:spPr>
        </p:pic>
        <p:pic>
          <p:nvPicPr>
            <p:cNvPr id="14" name="Immagine 13" descr="Immagine che contiene ruota, automobile, veicolo, Veicolo terrestre&#10;&#10;Descrizione generata automaticamente">
              <a:extLst>
                <a:ext uri="{FF2B5EF4-FFF2-40B4-BE49-F238E27FC236}">
                  <a16:creationId xmlns:a16="http://schemas.microsoft.com/office/drawing/2014/main" id="{958D01DC-D0FB-903D-3B8C-6B191B20B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122" y="2033705"/>
              <a:ext cx="5402953" cy="3279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98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3619-6DAD-5557-E62B-E59AC722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15FD454F-3E14-D024-31E7-67E95B61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Electronic System?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A2DC503-41A7-146C-4173-83DE1FCC9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280" y="1345363"/>
            <a:ext cx="4965539" cy="2452773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systems are a collection of electronic components and devices: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components have a specific function;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components are interconnected;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designed to perform specific tasks.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utilized to solve specific tasks.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C23EB2-C5B6-BD90-BDE5-46D0376DF2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7</a:t>
            </a:fld>
            <a:endParaRPr lang="it-IT" dirty="0"/>
          </a:p>
        </p:txBody>
      </p:sp>
      <p:pic>
        <p:nvPicPr>
          <p:cNvPr id="3" name="Immagine 2" descr="Immagine che contiene Cellulare, smartphone, gadget, Dispositivo elettronico&#10;&#10;Descrizione generata automaticamente">
            <a:extLst>
              <a:ext uri="{FF2B5EF4-FFF2-40B4-BE49-F238E27FC236}">
                <a16:creationId xmlns:a16="http://schemas.microsoft.com/office/drawing/2014/main" id="{EABCD131-C42B-86BD-46AB-AE492D2DAA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5F5F7"/>
              </a:clrFrom>
              <a:clrTo>
                <a:srgbClr val="F5F5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44" t="17385" r="42720" b="18955"/>
          <a:stretch/>
        </p:blipFill>
        <p:spPr>
          <a:xfrm>
            <a:off x="1036720" y="888363"/>
            <a:ext cx="1949548" cy="33667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60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2A60B-7CA2-F576-968C-A4E2060E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99C92521-1374-731A-4BBF-C9DBDBBC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Algebra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F7A6329-B1B7-3755-4F11-A6DC89C5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96" y="1187450"/>
            <a:ext cx="4818904" cy="3200400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devices elaborate the information in their binary form (represented with 0 &amp; 1) .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circuits or logic circuits work thanks to the information carried within the bits;</a:t>
            </a:r>
          </a:p>
          <a:p>
            <a:pPr marL="0" indent="0" algn="ctr">
              <a:buNone/>
            </a:pPr>
            <a:r>
              <a:rPr lang="en-GB" sz="3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Boolean Algebra</a:t>
            </a:r>
            <a:endParaRPr lang="en-GB" sz="3200" dirty="0">
              <a:solidFill>
                <a:schemeClr val="accent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describe the behaviour of a digital circuit.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231523-C945-DBE8-97FD-13159EDD3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BC6380-7C42-2F86-2002-4207E90E0A6A}"/>
              </a:ext>
            </a:extLst>
          </p:cNvPr>
          <p:cNvSpPr txBox="1"/>
          <p:nvPr/>
        </p:nvSpPr>
        <p:spPr>
          <a:xfrm>
            <a:off x="1096135" y="992029"/>
            <a:ext cx="209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  <a:buClr>
                <a:srgbClr val="003153"/>
              </a:buClr>
            </a:pPr>
            <a:r>
              <a:rPr lang="en-GB" dirty="0">
                <a:solidFill>
                  <a:srgbClr val="82B366"/>
                </a:solidFill>
                <a:ea typeface="Baskerville Display PT" panose="02030602080406020203" pitchFamily="18" charset="0"/>
              </a:rPr>
              <a:t>DIGITAL SIGNAL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B0CD0E3-8D52-1448-17C7-EBA227D795A4}"/>
              </a:ext>
            </a:extLst>
          </p:cNvPr>
          <p:cNvSpPr txBox="1"/>
          <p:nvPr/>
        </p:nvSpPr>
        <p:spPr>
          <a:xfrm>
            <a:off x="1052875" y="2916544"/>
            <a:ext cx="218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  <a:buClr>
                <a:srgbClr val="003153"/>
              </a:buClr>
            </a:pPr>
            <a:r>
              <a:rPr lang="en-GB" dirty="0">
                <a:solidFill>
                  <a:srgbClr val="82B366"/>
                </a:solidFill>
                <a:ea typeface="Baskerville Display PT" panose="02030602080406020203" pitchFamily="18" charset="0"/>
              </a:rPr>
              <a:t>LOGIC FUNCTION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B0460E1-684E-E98D-2864-D904847631D9}"/>
              </a:ext>
            </a:extLst>
          </p:cNvPr>
          <p:cNvSpPr txBox="1"/>
          <p:nvPr/>
        </p:nvSpPr>
        <p:spPr>
          <a:xfrm>
            <a:off x="566926" y="3630670"/>
            <a:ext cx="3157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  <a:buClr>
                <a:srgbClr val="003153"/>
              </a:buClr>
            </a:pPr>
            <a:r>
              <a:rPr lang="en-GB" sz="2400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Y 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</a:t>
            </a:r>
            <a:r>
              <a:rPr lang="en-GB" sz="2400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 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(A, B, C, …, N)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467C007-FFAC-9CF4-449A-EB1FDC1F8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38250"/>
            <a:ext cx="36576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1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D671-227C-78BE-ABAD-9576C89F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40AA5B1-BE33-5438-F667-04530B64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Circuits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16F3EAA-5501-C144-46AB-3C560FEBE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96" y="971550"/>
            <a:ext cx="4818904" cy="3200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circuits are used to represent an interconnected set of logic gates.</a:t>
            </a:r>
          </a:p>
          <a:p>
            <a:pPr marL="0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of interconnected logic gates (AND, OR, NOT, XOR, NAND, NOR), the output Y depends only on the current input.</a:t>
            </a:r>
          </a:p>
          <a:p>
            <a:pPr marL="271462" lvl="1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circuit: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made of interconnected logic gates plus an additional memory element.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B49A1B-CEE2-F866-22CD-DBA1E67212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9</a:t>
            </a:fld>
            <a:endParaRPr lang="it-IT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F87644A-5951-ABD8-B24C-5CF5F0775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05" y="846691"/>
            <a:ext cx="2297923" cy="354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063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EA20-4F10-3889-BA11-DB896DA0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1C473F63-1709-7098-E865-DA45B15C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of an Electronic System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0260D6-B4A9-A624-ED70-72D68DBD65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10</a:t>
            </a:fld>
            <a:endParaRPr lang="it-IT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44DADC1-AB8E-A00C-CF56-35D025FED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" y="1282444"/>
            <a:ext cx="8247539" cy="246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22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D5AD6-C915-EEBE-8964-84867854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97A2986D-01E2-53A2-EFF7-309C4B7D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SoC?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F606D1E-73FF-53EF-6C9D-7012B164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432" y="1345364"/>
            <a:ext cx="4546119" cy="2452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System-on-Chip (SoC) is an electronic system that includes all of its components onto a single chip: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CPU;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Memory; 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Peripherals; 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Interconnections;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EEB6B1-238C-AADF-327F-D763EC8054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11</a:t>
            </a:fld>
            <a:endParaRPr lang="it-IT" dirty="0"/>
          </a:p>
        </p:txBody>
      </p:sp>
      <p:pic>
        <p:nvPicPr>
          <p:cNvPr id="5" name="Immagine 4" descr="Immagine che contiene testo, schermata, Software multimediale, software&#10;&#10;Descrizione generata automaticamente">
            <a:extLst>
              <a:ext uri="{FF2B5EF4-FFF2-40B4-BE49-F238E27FC236}">
                <a16:creationId xmlns:a16="http://schemas.microsoft.com/office/drawing/2014/main" id="{A8150F7D-60C8-4A87-D111-96BE2B4639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80" y="901990"/>
            <a:ext cx="2863621" cy="2827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DE6D12F-6FD3-63A8-2A4D-6DAD6E3EA040}"/>
              </a:ext>
            </a:extLst>
          </p:cNvPr>
          <p:cNvCxnSpPr>
            <a:cxnSpLocks/>
          </p:cNvCxnSpPr>
          <p:nvPr/>
        </p:nvCxnSpPr>
        <p:spPr>
          <a:xfrm flipH="1">
            <a:off x="5223326" y="901990"/>
            <a:ext cx="583154" cy="2973582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id="{323B0C2F-B614-B11B-E061-7F141211C0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19" y="3875572"/>
            <a:ext cx="835496" cy="6071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C960EDF-B23C-1340-6FC5-E950D978D777}"/>
              </a:ext>
            </a:extLst>
          </p:cNvPr>
          <p:cNvCxnSpPr>
            <a:cxnSpLocks/>
          </p:cNvCxnSpPr>
          <p:nvPr/>
        </p:nvCxnSpPr>
        <p:spPr>
          <a:xfrm flipH="1">
            <a:off x="5806480" y="3729231"/>
            <a:ext cx="2863621" cy="753468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837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8509-FA26-BC30-28B1-DA51B0EF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79431D5D-C465-2903-B30B-73A6FBCE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 Design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3C81563E-91D0-8FF3-F5CD-DA13200D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96" y="971550"/>
            <a:ext cx="4818904" cy="3200400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System-on-Chip is composed of different units with specific tasks: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Elaborate information;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information;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information;</a:t>
            </a:r>
          </a:p>
          <a:p>
            <a:pPr marL="271462" lvl="1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 is designed following different methodologies to obtain the best performances when combined.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40815A-6EF9-E1E9-04EB-C75AF06F73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12</a:t>
            </a:fld>
            <a:endParaRPr lang="it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44F1E-0178-4768-F862-05E608585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479" y="97155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542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DF81-8565-60AD-C51B-64C99520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88A9A45D-B026-29F0-5B2F-AF319978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 Design Flow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9D6C9D88-E97B-C169-3B37-A2B9E5AC2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7216" y="896772"/>
            <a:ext cx="5999584" cy="3349955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SoC, industries have developed a standard design flow to speed up the engineering process: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</a:t>
            </a:r>
          </a:p>
          <a:p>
            <a:pPr lvl="2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 end includes the transformation of the SoC specification into a deployable system design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End:</a:t>
            </a:r>
          </a:p>
          <a:p>
            <a:pPr lvl="2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system functionality has been verified, the back end is in charge of creating the physical chip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A01088-5883-DC7B-9C21-6B610BB456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13</a:t>
            </a:fld>
            <a:endParaRPr lang="it-IT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E5252FB-5DB5-B30A-DC28-5AA92A16F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4927"/>
            <a:ext cx="1930400" cy="393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87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FE1D-6200-AA78-8975-677EB875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4C4A13E5-9C87-D603-C1D1-1512D887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Electronic Design Automation Tools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7664F2B-DA9D-C29F-B938-5FC002631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9196" y="1204036"/>
            <a:ext cx="5885704" cy="2735428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tools are used to design and validate the semiconductor manufacturing process;</a:t>
            </a:r>
          </a:p>
          <a:p>
            <a:pPr algn="just">
              <a:spcAft>
                <a:spcPts val="12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tools are used to verify that a design will meet all the project specifications;</a:t>
            </a:r>
          </a:p>
          <a:p>
            <a:pPr algn="just">
              <a:spcAft>
                <a:spcPts val="12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tools are used after manufacturing of the device to monitor its performance during time;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6C050A-E681-37F3-7DD7-8D8A03E9A0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14</a:t>
            </a:fld>
            <a:endParaRPr lang="it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184B5-B7D2-7E7B-60B1-8B026A70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1" y="896772"/>
            <a:ext cx="1872750" cy="357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53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355D4-EEDB-DFA6-3192-95CDD579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862B029-9579-995B-EBC4-7B10DEA8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EDA Tools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06B5FC5-8296-F4CE-5F1B-48251EF04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96" y="688099"/>
            <a:ext cx="5720604" cy="3767303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EDAs are mostly very sophisticated and complex software programs utilized to assist during the manufacturing of an electronic system.</a:t>
            </a:r>
          </a:p>
          <a:p>
            <a:pPr lvl="2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tools;</a:t>
            </a:r>
          </a:p>
          <a:p>
            <a:pPr lvl="2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tools;</a:t>
            </a:r>
          </a:p>
          <a:p>
            <a:pPr lvl="2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tools;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high performances are required typically hardware solutions are utilized to process large amounts of data.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377574-1506-9137-82D1-4747A80562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15</a:t>
            </a:fld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E9303F8-4FBD-55C4-E5CE-55F29CE91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00165"/>
            <a:ext cx="2156031" cy="1683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 descr="Immagine che contiene elettronica, Componente elettrico, Componente di circuito, Ingegneria elettronica&#10;&#10;Descrizione generata automaticamente">
            <a:extLst>
              <a:ext uri="{FF2B5EF4-FFF2-40B4-BE49-F238E27FC236}">
                <a16:creationId xmlns:a16="http://schemas.microsoft.com/office/drawing/2014/main" id="{62ED1F4D-CDC8-3317-5693-ECA2C6CCED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493327"/>
            <a:ext cx="2140159" cy="1733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9459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5E02-A592-9CC2-86F0-3335CC15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9FE650C-37A7-FCD5-6F65-A1ADDFF9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EDA Tools are important?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11E7B3A5-8E39-EB8A-EF59-BF45DB30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96" y="825094"/>
            <a:ext cx="4717304" cy="3493312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Chips are extremely complex, containing over a billion transistors;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this complexity requires the assistance of Electronic Design Automation tools;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helps limit human errors in chip manufacturing and speeds up the design process;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09E0C7-2408-60AD-480C-E83AD0803A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16</a:t>
            </a:fld>
            <a:endParaRPr lang="it-IT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D83DE92-12CD-9BFC-9827-82E01B229D8E}"/>
              </a:ext>
            </a:extLst>
          </p:cNvPr>
          <p:cNvGrpSpPr/>
          <p:nvPr/>
        </p:nvGrpSpPr>
        <p:grpSpPr>
          <a:xfrm>
            <a:off x="5505868" y="1208405"/>
            <a:ext cx="3096850" cy="2726690"/>
            <a:chOff x="972335" y="2013019"/>
            <a:chExt cx="3929118" cy="3459479"/>
          </a:xfrm>
        </p:grpSpPr>
        <p:pic>
          <p:nvPicPr>
            <p:cNvPr id="7" name="Immagine 6" descr="Immagine che contiene testo, schermata, software, schermo&#10;&#10;Descrizione generata automaticamente">
              <a:extLst>
                <a:ext uri="{FF2B5EF4-FFF2-40B4-BE49-F238E27FC236}">
                  <a16:creationId xmlns:a16="http://schemas.microsoft.com/office/drawing/2014/main" id="{32A5186A-3100-2FAA-6990-CF49B6575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07049">
              <a:off x="2070826" y="2013019"/>
              <a:ext cx="1555011" cy="182158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149A2886-5EDB-C5E5-B2F9-80ED2D7D8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335" y="2917508"/>
              <a:ext cx="1697464" cy="13255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3E9FAA2F-FEA8-D9F3-43DB-695D9DC10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1360"/>
            <a:stretch/>
          </p:blipFill>
          <p:spPr>
            <a:xfrm rot="920896">
              <a:off x="2981582" y="2788651"/>
              <a:ext cx="1919871" cy="15083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Immagine 9" descr="Immagine che contiene testo, schermata, software, schermo&#10;&#10;Descrizione generata automaticamente">
              <a:extLst>
                <a:ext uri="{FF2B5EF4-FFF2-40B4-BE49-F238E27FC236}">
                  <a16:creationId xmlns:a16="http://schemas.microsoft.com/office/drawing/2014/main" id="{871E29B5-80E0-ADA6-ACD0-67C4F28FB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837">
              <a:off x="2791117" y="3867323"/>
              <a:ext cx="1886891" cy="15902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85B3CBBA-E5B1-632E-5569-52FACFEA2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0460607">
              <a:off x="1212152" y="4059004"/>
              <a:ext cx="1810066" cy="141349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1189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65B7-2761-27C3-2EAE-9B7ECE44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C9FD3317-BF30-F884-1F1B-06B82F02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Verification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D6695B0-5EF4-7241-DC26-FC3A501DA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65" y="1103449"/>
            <a:ext cx="4717304" cy="2936602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verification is the step related to the test in the EDA toolchain;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correct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design and the correctness of the specifications;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verification consists of stimulating the design with any possible input combination to verify the correctness of the output;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869B37-30F3-6396-33FF-5F56B5B65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17</a:t>
            </a:fld>
            <a:endParaRPr lang="it-IT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30EC34-80B5-CC5F-C665-C3996715A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805" y="936625"/>
            <a:ext cx="1713791" cy="327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E47863A1-0F71-DFE5-DAF8-4D9D4A4D65F5}"/>
              </a:ext>
            </a:extLst>
          </p:cNvPr>
          <p:cNvSpPr/>
          <p:nvPr/>
        </p:nvSpPr>
        <p:spPr>
          <a:xfrm>
            <a:off x="5861093" y="2990998"/>
            <a:ext cx="2071213" cy="783917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onnsiteX0" fmla="*/ 0 w 2071213"/>
                      <a:gd name="connsiteY0" fmla="*/ 391959 h 783917"/>
                      <a:gd name="connsiteX1" fmla="*/ 1035607 w 2071213"/>
                      <a:gd name="connsiteY1" fmla="*/ 0 h 783917"/>
                      <a:gd name="connsiteX2" fmla="*/ 2071214 w 2071213"/>
                      <a:gd name="connsiteY2" fmla="*/ 391959 h 783917"/>
                      <a:gd name="connsiteX3" fmla="*/ 1035607 w 2071213"/>
                      <a:gd name="connsiteY3" fmla="*/ 783918 h 783917"/>
                      <a:gd name="connsiteX4" fmla="*/ 0 w 2071213"/>
                      <a:gd name="connsiteY4" fmla="*/ 391959 h 78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71213" h="783917" extrusionOk="0">
                        <a:moveTo>
                          <a:pt x="0" y="391959"/>
                        </a:moveTo>
                        <a:cubicBezTo>
                          <a:pt x="-89486" y="70257"/>
                          <a:pt x="582136" y="-43016"/>
                          <a:pt x="1035607" y="0"/>
                        </a:cubicBezTo>
                        <a:cubicBezTo>
                          <a:pt x="1588675" y="10609"/>
                          <a:pt x="2118372" y="161414"/>
                          <a:pt x="2071214" y="391959"/>
                        </a:cubicBezTo>
                        <a:cubicBezTo>
                          <a:pt x="2026859" y="519999"/>
                          <a:pt x="1571726" y="895411"/>
                          <a:pt x="1035607" y="783918"/>
                        </a:cubicBezTo>
                        <a:cubicBezTo>
                          <a:pt x="467840" y="778147"/>
                          <a:pt x="49050" y="604396"/>
                          <a:pt x="0" y="3919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091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E456-2F27-7106-598F-FEED9993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2CD7066-1CA4-4509-A973-FDC31A0C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Verification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9B1390F-9C9D-3624-084B-9A540B4F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0341" y="1048996"/>
            <a:ext cx="3929904" cy="3248707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verification is performed on any electronic design;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creating tools to test a design quickly and efficiently without leaving anything out;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challenge is identifying what to test, as testing everything is not possible: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7073BF-75FE-AAFA-CF2E-952C6FB81E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18</a:t>
            </a:fld>
            <a:endParaRPr lang="it-IT" dirty="0"/>
          </a:p>
        </p:txBody>
      </p:sp>
      <p:pic>
        <p:nvPicPr>
          <p:cNvPr id="7" name="Immagine 6" descr="Immagine che contiene circuito&#10;&#10;Descrizione generata automaticamente">
            <a:extLst>
              <a:ext uri="{FF2B5EF4-FFF2-40B4-BE49-F238E27FC236}">
                <a16:creationId xmlns:a16="http://schemas.microsoft.com/office/drawing/2014/main" id="{9FCA242C-503E-9AB3-640A-7E1A59F5D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55" y="1208992"/>
            <a:ext cx="4642420" cy="292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81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D6DA-93D1-7FE9-71A5-C753498B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E18CBB6-9BAC-6562-1E92-B8ED11FE5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Benches, Key Tools for Verification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1D18453-868F-D8D3-4C62-B12CFD849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98" y="809454"/>
            <a:ext cx="4570859" cy="3524592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test bench is a setup used to verify the functionality of a design by simulating its operation in a controlled environment.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test bench is used for: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Verification, to detect and correct bugs;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Validation, to ensure the design meets the design specifications and requirements;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is always a preliminary step before hardware deployment;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42084B-E590-E14D-49B2-731EBB3E08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19</a:t>
            </a:fld>
            <a:endParaRPr lang="it-IT" dirty="0"/>
          </a:p>
        </p:txBody>
      </p:sp>
      <p:pic>
        <p:nvPicPr>
          <p:cNvPr id="3" name="Immagine 2" descr="Immagine che contiene diagramma, Piano, Disegno tecnico, design&#10;&#10;Descrizione generata automaticamente">
            <a:extLst>
              <a:ext uri="{FF2B5EF4-FFF2-40B4-BE49-F238E27FC236}">
                <a16:creationId xmlns:a16="http://schemas.microsoft.com/office/drawing/2014/main" id="{74213EB3-878E-BA5F-6F76-16C9BE263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957" y="1123541"/>
            <a:ext cx="4169192" cy="28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78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3BE6-FA32-BD7D-2589-42FD062E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B671CACD-77DA-4EE9-4978-2F2D77CC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Benches, Key Tools for Verification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5C0698-0050-5995-DC05-21DDCC7253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20</a:t>
            </a:fld>
            <a:endParaRPr lang="it-IT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C30D80-F74E-4EFF-3C08-D6940B488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47" y="826758"/>
            <a:ext cx="7215106" cy="348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62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9789-4555-BC4A-CC57-F46FA2A9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9323-AC1E-2302-6EA0-3DFB598A6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Lab 04 Part 2</a:t>
            </a:r>
            <a:r>
              <a:rPr lang="en-US" dirty="0"/>
              <a:t>:</a:t>
            </a:r>
            <a:br>
              <a:rPr lang="it-IT" dirty="0"/>
            </a:br>
            <a:r>
              <a:rPr lang="it-IT" dirty="0"/>
              <a:t>Career </a:t>
            </a:r>
            <a:r>
              <a:rPr lang="it-IT" dirty="0" err="1"/>
              <a:t>paths</a:t>
            </a:r>
            <a:endParaRPr lang="en-IT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0892274C-00A2-DE37-C9AC-BA2EF5038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046013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D3DA-CE93-C9A4-AF27-F2D7916C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00ED13B8-488F-BAC4-6AED-4F472998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Electronic Engineering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FE0000D-80E6-664E-047B-F4E04E2A7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0" y="1553439"/>
            <a:ext cx="4039565" cy="1653874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trends in Information and Communications Technologies (ICT) increasingly demand a multidisciplinary background encompassing Communications, Electronics, and Computer Science.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DEC4F4-1E3A-8590-D0CC-84C0135A69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22</a:t>
            </a:fld>
            <a:endParaRPr lang="it-IT" dirty="0"/>
          </a:p>
        </p:txBody>
      </p:sp>
      <p:pic>
        <p:nvPicPr>
          <p:cNvPr id="5" name="Immagine 4" descr="Immagine che contiene edificio, cielo, aria aperta, vestiti&#10;&#10;Descrizione generata automaticamente">
            <a:extLst>
              <a:ext uri="{FF2B5EF4-FFF2-40B4-BE49-F238E27FC236}">
                <a16:creationId xmlns:a16="http://schemas.microsoft.com/office/drawing/2014/main" id="{040E6A35-55A3-F70C-B77E-7DB6AB28A2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1600"/>
            <a:ext cx="4156979" cy="2770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82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B1AF-FC5F-6E6F-F7CA-972D7C12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34811713-5120-7F6E-5E13-88F70E5D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Computer Engineering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B174CDE-F0A7-24D1-FE53-378C6A0FD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0" y="1553439"/>
            <a:ext cx="4039565" cy="1653874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Engineer is a professional skilled in designing, engineering, developing, operating, maintaining, and securing computer applications, information processing systems, and complex information systems.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DBE7F9-4021-2FA6-7A31-17E41B35B1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23</a:t>
            </a:fld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E7977F3-2DDB-FE78-9F37-8D424B5EA8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2813"/>
            <a:ext cx="4440665" cy="2497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3736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D7B8-9F22-8345-EC1F-122E8FF4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B8B50EA7-9EE2-C47B-BFDA-5216B933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Career Opportunities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F7551B-2EE3-B245-F958-59E9B79298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24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6A00EB5-991C-166F-2DA4-5BC85ED0DD7C}"/>
              </a:ext>
            </a:extLst>
          </p:cNvPr>
          <p:cNvSpPr txBox="1"/>
          <p:nvPr/>
        </p:nvSpPr>
        <p:spPr>
          <a:xfrm>
            <a:off x="1622159" y="720538"/>
            <a:ext cx="3845857" cy="3702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3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Semiconductor Engineer;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4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Analog Circuit Designer;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5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Test Engineer;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4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Process Integration Engineer;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5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Physical Design Engineer;</a:t>
            </a:r>
          </a:p>
        </p:txBody>
      </p:sp>
      <p:pic>
        <p:nvPicPr>
          <p:cNvPr id="3" name="Immagine 2" descr="Immagine che contiene vestiti, interno, persona, Servizio&#10;&#10;Descrizione generata automaticamente">
            <a:extLst>
              <a:ext uri="{FF2B5EF4-FFF2-40B4-BE49-F238E27FC236}">
                <a16:creationId xmlns:a16="http://schemas.microsoft.com/office/drawing/2014/main" id="{01DE0D8A-BD05-034D-0573-045D58259B0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82"/>
          <a:stretch/>
        </p:blipFill>
        <p:spPr>
          <a:xfrm>
            <a:off x="6428636" y="514351"/>
            <a:ext cx="2715364" cy="4199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721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FF82-B717-11A0-8E74-05F42206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1AC3332C-02ED-8B57-8A9A-E5ABDFDE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Career Opportunities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133518-B67E-8590-88F3-5EE9FE79AF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25</a:t>
            </a:fld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29475A0-4D1C-7C51-74FD-222EDD35C432}"/>
              </a:ext>
            </a:extLst>
          </p:cNvPr>
          <p:cNvSpPr txBox="1"/>
          <p:nvPr/>
        </p:nvSpPr>
        <p:spPr>
          <a:xfrm>
            <a:off x="4896730" y="720538"/>
            <a:ext cx="3845857" cy="3702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3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Verification Engineer;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4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Digital Design;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5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Validation Engineer;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5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CAD Engineer;</a:t>
            </a:r>
          </a:p>
          <a:p>
            <a:pPr marL="285750" indent="-285750" algn="just">
              <a:lnSpc>
                <a:spcPct val="200000"/>
              </a:lnSpc>
              <a:spcAft>
                <a:spcPts val="1800"/>
              </a:spcAft>
              <a:buClr>
                <a:srgbClr val="003153"/>
              </a:buClr>
              <a:buSzPct val="300000"/>
              <a:buBlip>
                <a:blip r:embed="rId5"/>
              </a:buBlip>
            </a:pPr>
            <a:r>
              <a:rPr lang="en-GB" dirty="0">
                <a:solidFill>
                  <a:srgbClr val="00295D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Many More Opportunities…</a:t>
            </a:r>
          </a:p>
        </p:txBody>
      </p:sp>
      <p:pic>
        <p:nvPicPr>
          <p:cNvPr id="8" name="Immagine 7" descr="Immagine che contiene vestiti, persona, interno, Tecnico&#10;&#10;Descrizione generata automaticamente">
            <a:extLst>
              <a:ext uri="{FF2B5EF4-FFF2-40B4-BE49-F238E27FC236}">
                <a16:creationId xmlns:a16="http://schemas.microsoft.com/office/drawing/2014/main" id="{CB4AE874-2B93-0100-197E-6C4EFAD82B5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0" r="14211"/>
          <a:stretch/>
        </p:blipFill>
        <p:spPr>
          <a:xfrm>
            <a:off x="1" y="514350"/>
            <a:ext cx="3800880" cy="418973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9154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585-77E5-F190-B4E9-BBEC17AEA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353" y="895350"/>
            <a:ext cx="7978588" cy="1102519"/>
          </a:xfrm>
        </p:spPr>
        <p:txBody>
          <a:bodyPr>
            <a:normAutofit fontScale="90000"/>
          </a:bodyPr>
          <a:lstStyle/>
          <a:p>
            <a:r>
              <a:rPr lang="en-IT" dirty="0"/>
              <a:t>Lab 0</a:t>
            </a:r>
            <a:r>
              <a:rPr lang="it-IT" dirty="0"/>
              <a:t>4 Part 3</a:t>
            </a:r>
            <a:r>
              <a:rPr lang="en-IT" dirty="0"/>
              <a:t>: </a:t>
            </a:r>
            <a:br>
              <a:rPr lang="en-US" dirty="0"/>
            </a:br>
            <a:r>
              <a:rPr lang="en-US" dirty="0"/>
              <a:t>Neural Networks: </a:t>
            </a:r>
            <a:r>
              <a:rPr lang="it-IT" dirty="0"/>
              <a:t>A Real Use Case</a:t>
            </a:r>
            <a:endParaRPr lang="en-IT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C3238DA-E3CF-BC46-C476-021F921F3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2831357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31A4F78-B416-83CB-402C-B98D486A64B7}"/>
              </a:ext>
            </a:extLst>
          </p:cNvPr>
          <p:cNvGrpSpPr/>
          <p:nvPr/>
        </p:nvGrpSpPr>
        <p:grpSpPr>
          <a:xfrm>
            <a:off x="7378217" y="1566729"/>
            <a:ext cx="1600292" cy="1525811"/>
            <a:chOff x="7378217" y="1566729"/>
            <a:chExt cx="1600292" cy="1525811"/>
          </a:xfrm>
        </p:grpSpPr>
        <p:sp>
          <p:nvSpPr>
            <p:cNvPr id="43" name="Rectangular Callout 42">
              <a:extLst>
                <a:ext uri="{FF2B5EF4-FFF2-40B4-BE49-F238E27FC236}">
                  <a16:creationId xmlns:a16="http://schemas.microsoft.com/office/drawing/2014/main" id="{ED8C5740-6ABC-02FE-6467-E9419E0A65A5}"/>
                </a:ext>
              </a:extLst>
            </p:cNvPr>
            <p:cNvSpPr/>
            <p:nvPr/>
          </p:nvSpPr>
          <p:spPr>
            <a:xfrm>
              <a:off x="7378217" y="1566729"/>
              <a:ext cx="1600292" cy="1525811"/>
            </a:xfrm>
            <a:prstGeom prst="wedgeRectCallout">
              <a:avLst>
                <a:gd name="adj1" fmla="val 20613"/>
                <a:gd name="adj2" fmla="val -1438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pic>
          <p:nvPicPr>
            <p:cNvPr id="38" name="Immagine 1" descr="Immagine che contiene testo, schermata, Software multimediale, software&#10;&#10;Descrizione generata automaticamente">
              <a:extLst>
                <a:ext uri="{FF2B5EF4-FFF2-40B4-BE49-F238E27FC236}">
                  <a16:creationId xmlns:a16="http://schemas.microsoft.com/office/drawing/2014/main" id="{E3D7004F-C79A-13BB-61E4-CACDF82F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527" y="1652468"/>
              <a:ext cx="1321673" cy="13048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Design: From Gates to Architectures to SoCs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72C336-D593-DE82-2F58-874A8E59A6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27</a:t>
            </a:fld>
            <a:endParaRPr lang="it-IT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FE95B8-D5A9-942D-AD98-A6054BFA3913}"/>
              </a:ext>
            </a:extLst>
          </p:cNvPr>
          <p:cNvGrpSpPr/>
          <p:nvPr/>
        </p:nvGrpSpPr>
        <p:grpSpPr>
          <a:xfrm>
            <a:off x="5490114" y="1579511"/>
            <a:ext cx="1600292" cy="1525811"/>
            <a:chOff x="5918561" y="1588649"/>
            <a:chExt cx="1773798" cy="1691242"/>
          </a:xfrm>
        </p:grpSpPr>
        <p:sp>
          <p:nvSpPr>
            <p:cNvPr id="36" name="Rectangular Callout 35">
              <a:extLst>
                <a:ext uri="{FF2B5EF4-FFF2-40B4-BE49-F238E27FC236}">
                  <a16:creationId xmlns:a16="http://schemas.microsoft.com/office/drawing/2014/main" id="{92E42EDB-7D47-3D27-F958-818FC21D091E}"/>
                </a:ext>
              </a:extLst>
            </p:cNvPr>
            <p:cNvSpPr/>
            <p:nvPr/>
          </p:nvSpPr>
          <p:spPr>
            <a:xfrm>
              <a:off x="5918561" y="1588649"/>
              <a:ext cx="1773798" cy="1691242"/>
            </a:xfrm>
            <a:prstGeom prst="wedgeRectCallout">
              <a:avLst>
                <a:gd name="adj1" fmla="val 123383"/>
                <a:gd name="adj2" fmla="val -1276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pic>
          <p:nvPicPr>
            <p:cNvPr id="1032" name="Picture 8" descr="Central Processing Unit (CPU) | What Is a Microprocessor ?">
              <a:extLst>
                <a:ext uri="{FF2B5EF4-FFF2-40B4-BE49-F238E27FC236}">
                  <a16:creationId xmlns:a16="http://schemas.microsoft.com/office/drawing/2014/main" id="{2E2E326E-FBEE-1B0F-AE3B-6548080867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67" t="25407" r="20771" b="18149"/>
            <a:stretch/>
          </p:blipFill>
          <p:spPr bwMode="auto">
            <a:xfrm>
              <a:off x="6146417" y="1683994"/>
              <a:ext cx="1278785" cy="1527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0A9B76-33D5-3F3F-AA1E-899DD76FEC26}"/>
              </a:ext>
            </a:extLst>
          </p:cNvPr>
          <p:cNvGrpSpPr/>
          <p:nvPr/>
        </p:nvGrpSpPr>
        <p:grpSpPr>
          <a:xfrm>
            <a:off x="3682721" y="1579511"/>
            <a:ext cx="1600292" cy="1525811"/>
            <a:chOff x="4654125" y="1636775"/>
            <a:chExt cx="1773798" cy="1691242"/>
          </a:xfrm>
        </p:grpSpPr>
        <p:sp>
          <p:nvSpPr>
            <p:cNvPr id="31" name="Rectangular Callout 30">
              <a:extLst>
                <a:ext uri="{FF2B5EF4-FFF2-40B4-BE49-F238E27FC236}">
                  <a16:creationId xmlns:a16="http://schemas.microsoft.com/office/drawing/2014/main" id="{BCA4BFF7-88FC-36E2-70EE-E65584916AB6}"/>
                </a:ext>
              </a:extLst>
            </p:cNvPr>
            <p:cNvSpPr/>
            <p:nvPr/>
          </p:nvSpPr>
          <p:spPr>
            <a:xfrm>
              <a:off x="4654125" y="1636775"/>
              <a:ext cx="1773798" cy="1691242"/>
            </a:xfrm>
            <a:prstGeom prst="wedgeRectCallout">
              <a:avLst>
                <a:gd name="adj1" fmla="val 90819"/>
                <a:gd name="adj2" fmla="val -2421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3BD26C-344F-6FCF-BD09-A6CA3129A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094" y="1939759"/>
              <a:ext cx="1639461" cy="115865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D81D07-7F19-8135-8E51-95EF16A67F16}"/>
              </a:ext>
            </a:extLst>
          </p:cNvPr>
          <p:cNvGrpSpPr/>
          <p:nvPr/>
        </p:nvGrpSpPr>
        <p:grpSpPr>
          <a:xfrm>
            <a:off x="1875328" y="1588649"/>
            <a:ext cx="1600292" cy="1525811"/>
            <a:chOff x="2728947" y="1636775"/>
            <a:chExt cx="1773798" cy="1691242"/>
          </a:xfrm>
        </p:grpSpPr>
        <p:sp>
          <p:nvSpPr>
            <p:cNvPr id="25" name="Rectangular Callout 24">
              <a:extLst>
                <a:ext uri="{FF2B5EF4-FFF2-40B4-BE49-F238E27FC236}">
                  <a16:creationId xmlns:a16="http://schemas.microsoft.com/office/drawing/2014/main" id="{56993C2C-DED9-6FEE-29F4-550A49691D7D}"/>
                </a:ext>
              </a:extLst>
            </p:cNvPr>
            <p:cNvSpPr/>
            <p:nvPr/>
          </p:nvSpPr>
          <p:spPr>
            <a:xfrm>
              <a:off x="2728947" y="1636775"/>
              <a:ext cx="1773798" cy="1691242"/>
            </a:xfrm>
            <a:prstGeom prst="wedgeRectCallout">
              <a:avLst>
                <a:gd name="adj1" fmla="val 94172"/>
                <a:gd name="adj2" fmla="val -492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54C54E-8EFC-8EF0-138E-74E4C88D4EDF}"/>
                </a:ext>
              </a:extLst>
            </p:cNvPr>
            <p:cNvGrpSpPr/>
            <p:nvPr/>
          </p:nvGrpSpPr>
          <p:grpSpPr>
            <a:xfrm>
              <a:off x="2775551" y="1677600"/>
              <a:ext cx="1560364" cy="1630161"/>
              <a:chOff x="2775551" y="1677600"/>
              <a:chExt cx="1560364" cy="1630161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49731B7-F7F2-C36E-40A7-E617DEF2C0CE}"/>
                  </a:ext>
                </a:extLst>
              </p:cNvPr>
              <p:cNvSpPr/>
              <p:nvPr/>
            </p:nvSpPr>
            <p:spPr>
              <a:xfrm>
                <a:off x="2837145" y="2128537"/>
                <a:ext cx="1434230" cy="70772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dirty="0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81F60A-D938-6876-3EAC-549FD65E9AA0}"/>
                  </a:ext>
                </a:extLst>
              </p:cNvPr>
              <p:cNvSpPr txBox="1"/>
              <p:nvPr/>
            </p:nvSpPr>
            <p:spPr>
              <a:xfrm>
                <a:off x="2793304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A[15:0]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6550C-16E7-6CB5-B1BA-C5295A2F2877}"/>
                  </a:ext>
                </a:extLst>
              </p:cNvPr>
              <p:cNvSpPr txBox="1"/>
              <p:nvPr/>
            </p:nvSpPr>
            <p:spPr>
              <a:xfrm>
                <a:off x="3615846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B[15:0]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AB8F4-40A4-76E2-83C8-C021199EC8EB}"/>
                  </a:ext>
                </a:extLst>
              </p:cNvPr>
              <p:cNvSpPr txBox="1"/>
              <p:nvPr/>
            </p:nvSpPr>
            <p:spPr>
              <a:xfrm>
                <a:off x="2775551" y="1677600"/>
                <a:ext cx="9348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Sum[15:0]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BD38F-E7B2-3175-AAC6-B0370E7D1F25}"/>
                  </a:ext>
                </a:extLst>
              </p:cNvPr>
              <p:cNvSpPr txBox="1"/>
              <p:nvPr/>
            </p:nvSpPr>
            <p:spPr>
              <a:xfrm>
                <a:off x="3710422" y="1677600"/>
                <a:ext cx="530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Cout</a:t>
                </a:r>
              </a:p>
            </p:txBody>
          </p:sp>
          <p:sp>
            <p:nvSpPr>
              <p:cNvPr id="16" name="Up Arrow 15">
                <a:extLst>
                  <a:ext uri="{FF2B5EF4-FFF2-40B4-BE49-F238E27FC236}">
                    <a16:creationId xmlns:a16="http://schemas.microsoft.com/office/drawing/2014/main" id="{0E344ED1-72E0-19E3-0D4B-030285C3B635}"/>
                  </a:ext>
                </a:extLst>
              </p:cNvPr>
              <p:cNvSpPr/>
              <p:nvPr/>
            </p:nvSpPr>
            <p:spPr>
              <a:xfrm>
                <a:off x="3140812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8" name="Up Arrow 17">
                <a:extLst>
                  <a:ext uri="{FF2B5EF4-FFF2-40B4-BE49-F238E27FC236}">
                    <a16:creationId xmlns:a16="http://schemas.microsoft.com/office/drawing/2014/main" id="{17A6CB13-25F0-1A8D-E3F3-25E818B7157F}"/>
                  </a:ext>
                </a:extLst>
              </p:cNvPr>
              <p:cNvSpPr/>
              <p:nvPr/>
            </p:nvSpPr>
            <p:spPr>
              <a:xfrm>
                <a:off x="3884288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9" name="Up Arrow 18">
                <a:extLst>
                  <a:ext uri="{FF2B5EF4-FFF2-40B4-BE49-F238E27FC236}">
                    <a16:creationId xmlns:a16="http://schemas.microsoft.com/office/drawing/2014/main" id="{CE1DFC37-20BC-F299-0076-489282D81606}"/>
                  </a:ext>
                </a:extLst>
              </p:cNvPr>
              <p:cNvSpPr/>
              <p:nvPr/>
            </p:nvSpPr>
            <p:spPr>
              <a:xfrm>
                <a:off x="3200666" y="1939759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4E73BAE-D578-BBEB-AF0A-9EAD306CE4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5879" y="1905053"/>
                <a:ext cx="0" cy="1984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66A761-78B3-E898-20A1-809C8820139A}"/>
              </a:ext>
            </a:extLst>
          </p:cNvPr>
          <p:cNvGrpSpPr/>
          <p:nvPr/>
        </p:nvGrpSpPr>
        <p:grpSpPr>
          <a:xfrm>
            <a:off x="67936" y="1588649"/>
            <a:ext cx="1600291" cy="1507536"/>
            <a:chOff x="672953" y="1636775"/>
            <a:chExt cx="1773798" cy="1670986"/>
          </a:xfrm>
        </p:grpSpPr>
        <p:sp>
          <p:nvSpPr>
            <p:cNvPr id="24" name="Rectangular Callout 23">
              <a:extLst>
                <a:ext uri="{FF2B5EF4-FFF2-40B4-BE49-F238E27FC236}">
                  <a16:creationId xmlns:a16="http://schemas.microsoft.com/office/drawing/2014/main" id="{F5B4A6F7-CBF2-4E94-1B35-5CDDE148C464}"/>
                </a:ext>
              </a:extLst>
            </p:cNvPr>
            <p:cNvSpPr/>
            <p:nvPr/>
          </p:nvSpPr>
          <p:spPr>
            <a:xfrm>
              <a:off x="672953" y="1636775"/>
              <a:ext cx="1773798" cy="1670986"/>
            </a:xfrm>
            <a:prstGeom prst="wedgeRectCallout">
              <a:avLst>
                <a:gd name="adj1" fmla="val 86532"/>
                <a:gd name="adj2" fmla="val -4493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1D4B3E3-AE57-B768-43C6-F586D30248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38" y="1964813"/>
              <a:ext cx="1500417" cy="1035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7211C4E-9B43-53F2-891F-45B2DEF7514B}"/>
              </a:ext>
            </a:extLst>
          </p:cNvPr>
          <p:cNvSpPr txBox="1"/>
          <p:nvPr/>
        </p:nvSpPr>
        <p:spPr>
          <a:xfrm>
            <a:off x="468397" y="1237595"/>
            <a:ext cx="71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Gates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6E9275-AEFE-9D16-DE0E-E4DD65C21146}"/>
              </a:ext>
            </a:extLst>
          </p:cNvPr>
          <p:cNvSpPr txBox="1"/>
          <p:nvPr/>
        </p:nvSpPr>
        <p:spPr>
          <a:xfrm>
            <a:off x="1781584" y="1237595"/>
            <a:ext cx="178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Multi-bit adder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AE9DAC-AAFA-E3AF-ADD6-BEE7CA999709}"/>
              </a:ext>
            </a:extLst>
          </p:cNvPr>
          <p:cNvSpPr txBox="1"/>
          <p:nvPr/>
        </p:nvSpPr>
        <p:spPr>
          <a:xfrm>
            <a:off x="4113252" y="1237595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ALU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CB44AC-9E0C-E862-A557-CB3A6831F677}"/>
              </a:ext>
            </a:extLst>
          </p:cNvPr>
          <p:cNvSpPr txBox="1"/>
          <p:nvPr/>
        </p:nvSpPr>
        <p:spPr>
          <a:xfrm>
            <a:off x="5882279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CPU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BAEB4B-EFB4-F8EE-3D0B-5B30CAE3328B}"/>
              </a:ext>
            </a:extLst>
          </p:cNvPr>
          <p:cNvSpPr txBox="1"/>
          <p:nvPr/>
        </p:nvSpPr>
        <p:spPr>
          <a:xfrm>
            <a:off x="7788111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SoC</a:t>
            </a:r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13EA9BBD-0D04-3818-CFB2-902A6E7D93F6}"/>
              </a:ext>
            </a:extLst>
          </p:cNvPr>
          <p:cNvSpPr/>
          <p:nvPr/>
        </p:nvSpPr>
        <p:spPr>
          <a:xfrm rot="5400000">
            <a:off x="1581084" y="1739605"/>
            <a:ext cx="394570" cy="3394502"/>
          </a:xfrm>
          <a:prstGeom prst="rightBrace">
            <a:avLst>
              <a:gd name="adj1" fmla="val 1428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BD0D6F-BFD7-4706-A895-5CBA0D25CE54}"/>
              </a:ext>
            </a:extLst>
          </p:cNvPr>
          <p:cNvSpPr txBox="1"/>
          <p:nvPr/>
        </p:nvSpPr>
        <p:spPr>
          <a:xfrm>
            <a:off x="1106550" y="363414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Seen in lab02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B7F54B-E820-4517-40F2-6C63827787DC}"/>
              </a:ext>
            </a:extLst>
          </p:cNvPr>
          <p:cNvSpPr txBox="1"/>
          <p:nvPr/>
        </p:nvSpPr>
        <p:spPr>
          <a:xfrm>
            <a:off x="3989849" y="3753751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Seen</a:t>
            </a:r>
            <a:r>
              <a:rPr lang="it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lab03</a:t>
            </a:r>
            <a:r>
              <a:rPr lang="en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(at high-level)</a:t>
            </a: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0FFA1D9C-1078-EE30-3689-C7516CF00828}"/>
              </a:ext>
            </a:extLst>
          </p:cNvPr>
          <p:cNvSpPr/>
          <p:nvPr/>
        </p:nvSpPr>
        <p:spPr>
          <a:xfrm rot="5400000">
            <a:off x="5250656" y="10427"/>
            <a:ext cx="394570" cy="7061136"/>
          </a:xfrm>
          <a:prstGeom prst="rightBrace">
            <a:avLst>
              <a:gd name="adj1" fmla="val 1428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B575-A254-63C0-D81E-A6972939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11E215A9-AECE-D6D1-FF43-04D452A1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 Applications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1ADB1B-1C08-C03B-A5C9-92E464590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32" y="1247847"/>
            <a:ext cx="3901440" cy="284715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System-on-a-Chip (SoC) is a computing system within a single integrated circuit.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an SoC is possible to run software to execute complex operations.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are powerful tools to accelerate and improve the performances, of a sub-set of applications.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5FA402-7D54-DEE9-8E22-03DBA88F9A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28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0AE87851-95B6-0A0D-3AD1-457378C11F88}"/>
              </a:ext>
            </a:extLst>
          </p:cNvPr>
          <p:cNvCxnSpPr>
            <a:cxnSpLocks/>
          </p:cNvCxnSpPr>
          <p:nvPr/>
        </p:nvCxnSpPr>
        <p:spPr>
          <a:xfrm flipH="1">
            <a:off x="4709160" y="1143149"/>
            <a:ext cx="695660" cy="2380665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id="{9B4FC47A-D1A8-A7DE-1BC0-B5954CB45E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063" y="3526724"/>
            <a:ext cx="841383" cy="611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2BC8245-5E26-B64D-C0AD-B8B3519FC20E}"/>
              </a:ext>
            </a:extLst>
          </p:cNvPr>
          <p:cNvCxnSpPr>
            <a:cxnSpLocks/>
          </p:cNvCxnSpPr>
          <p:nvPr/>
        </p:nvCxnSpPr>
        <p:spPr>
          <a:xfrm flipH="1">
            <a:off x="5344160" y="3304903"/>
            <a:ext cx="3346700" cy="833226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8667276E-E083-3519-5B7B-3C0491DCD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820" y="1143149"/>
            <a:ext cx="3286040" cy="2161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6848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20EF-6443-14FE-77C4-72EDFA03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3C4FAE9-ED64-70A0-F8F1-B9AF93F2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A44713-DC2B-0B8E-651E-1469364DA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73" y="1148170"/>
            <a:ext cx="3901440" cy="28471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a field of science concerned with building computers and machines that can reason, learn, and act in such a way that would normally require human intelligence or that involves data whose scale exceeds what humans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can analyse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23CAF3-63BB-5945-4DBC-5BBB7177C5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29</a:t>
            </a:fld>
            <a:endParaRPr lang="it-IT" dirty="0"/>
          </a:p>
        </p:txBody>
      </p:sp>
      <p:pic>
        <p:nvPicPr>
          <p:cNvPr id="13" name="Immagine 12" descr="Immagine che contiene disegno&#10;&#10;Descrizione generata automaticamente">
            <a:extLst>
              <a:ext uri="{FF2B5EF4-FFF2-40B4-BE49-F238E27FC236}">
                <a16:creationId xmlns:a16="http://schemas.microsoft.com/office/drawing/2014/main" id="{6E3C2939-2533-4BB5-F358-4A838925B1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5F8FC"/>
              </a:clrFrom>
              <a:clrTo>
                <a:srgbClr val="E5F8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2" t="18504" r="30363" b="11214"/>
          <a:stretch/>
        </p:blipFill>
        <p:spPr>
          <a:xfrm>
            <a:off x="4933950" y="1043192"/>
            <a:ext cx="3286125" cy="305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29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5462-E91E-9C22-D03B-EE3AFE11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C26D09-B95E-41CD-0742-D60BE493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Neural Networks</a:t>
            </a:r>
            <a:endParaRPr lang="en-IT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3410A0A-FD76-58B3-28BB-5D51D78F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94" y="1148170"/>
            <a:ext cx="3901440" cy="2847159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network is a method in artificial intelligence (AI) that teaches computers to process data in a way inspired by the human brain.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network needs thousands of operations to produce a result.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FC138C-B3F7-0946-CBAE-CC94427034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30</a:t>
            </a:fld>
            <a:endParaRPr lang="it-IT" dirty="0"/>
          </a:p>
        </p:txBody>
      </p:sp>
      <p:pic>
        <p:nvPicPr>
          <p:cNvPr id="5" name="Immagine 4" descr="Immagine che contiene cerchio, linea, Policromia, diagramma&#10;&#10;Descrizione generata automaticamente">
            <a:extLst>
              <a:ext uri="{FF2B5EF4-FFF2-40B4-BE49-F238E27FC236}">
                <a16:creationId xmlns:a16="http://schemas.microsoft.com/office/drawing/2014/main" id="{038FA3D2-D903-CDDB-F804-9FF59F340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434" y="1422472"/>
            <a:ext cx="4297680" cy="2298554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049FDF81-43EF-FA34-92F1-9FAF25C9C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370" y="675474"/>
            <a:ext cx="875270" cy="87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6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72F5-4F13-E406-1AA8-97E3E567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CD9AE2-1749-D4E6-84E0-107B3BB3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Impact of Design </a:t>
            </a:r>
            <a:r>
              <a:rPr lang="it-IT" dirty="0" err="1"/>
              <a:t>Choices</a:t>
            </a:r>
            <a:endParaRPr lang="en-IT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4C768567-1A67-3A83-FE7F-0AF36426F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398" y="1532650"/>
            <a:ext cx="3322496" cy="2078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3200" b="1" dirty="0">
                <a:solidFill>
                  <a:srgbClr val="F79646"/>
                </a:solidFill>
              </a:rPr>
              <a:t>Design a specific system to accelerate a neural network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1641A0-F12D-A649-D479-662FADC05B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31</a:t>
            </a:fld>
            <a:endParaRPr lang="it-IT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3CC4BE13-DE15-628F-EFE1-0BDFA038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616" y="675474"/>
            <a:ext cx="875270" cy="872354"/>
          </a:xfrm>
          <a:prstGeom prst="rect">
            <a:avLst/>
          </a:prstGeom>
        </p:spPr>
      </p:pic>
      <p:pic>
        <p:nvPicPr>
          <p:cNvPr id="13" name="Immagine 1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45A7326-8BA7-9BA5-14D6-BA8D9602B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81154"/>
            <a:ext cx="3823404" cy="31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7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oo much theory concept icon Royalty Free Vector Image">
            <a:extLst>
              <a:ext uri="{FF2B5EF4-FFF2-40B4-BE49-F238E27FC236}">
                <a16:creationId xmlns:a16="http://schemas.microsoft.com/office/drawing/2014/main" id="{6AC48AF9-9DCC-C49F-F103-FAD9A2CF2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94"/>
          <a:stretch/>
        </p:blipFill>
        <p:spPr bwMode="auto">
          <a:xfrm>
            <a:off x="174523" y="690815"/>
            <a:ext cx="4247534" cy="37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os; experience; getting their hands dirty. – teacherhead">
            <a:extLst>
              <a:ext uri="{FF2B5EF4-FFF2-40B4-BE49-F238E27FC236}">
                <a16:creationId xmlns:a16="http://schemas.microsoft.com/office/drawing/2014/main" id="{BD78E87A-9B19-DB04-E00C-0473F9A2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67" y="1228748"/>
            <a:ext cx="3715006" cy="241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AD1845-E167-6B73-47AF-42F65B2DD539}"/>
              </a:ext>
            </a:extLst>
          </p:cNvPr>
          <p:cNvSpPr txBox="1"/>
          <p:nvPr/>
        </p:nvSpPr>
        <p:spPr>
          <a:xfrm>
            <a:off x="4721945" y="3830626"/>
            <a:ext cx="4128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b="1" dirty="0"/>
              <a:t>Let’s get our hands dirty….</a:t>
            </a:r>
          </a:p>
        </p:txBody>
      </p:sp>
    </p:spTree>
    <p:extLst>
      <p:ext uri="{BB962C8B-B14F-4D97-AF65-F5344CB8AC3E}">
        <p14:creationId xmlns:p14="http://schemas.microsoft.com/office/powerpoint/2010/main" val="7264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Laboratory</a:t>
            </a:r>
            <a:r>
              <a:rPr lang="it-IT" dirty="0"/>
              <a:t>: An Use Case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902704"/>
            <a:ext cx="4547771" cy="3636639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aim to design a small SoC capable of accelerating a neural network.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laboratory, our SoC will include: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processing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peripheral 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the data needed by the core, and the </a:t>
            </a:r>
            <a:r>
              <a:rPr lang="en-GB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of the program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it will execute</a:t>
            </a:r>
          </a:p>
          <a:p>
            <a:pPr marL="271462" lvl="1" indent="0" algn="just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components are inside the chip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1D9755-683E-66AD-911F-880F0CEFA1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33</a:t>
            </a:fld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9C2878-4F7D-CF98-5732-F82127BA6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AFAF6"/>
              </a:clrFrom>
              <a:clrTo>
                <a:srgbClr val="FAFA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720" y="902704"/>
            <a:ext cx="3688080" cy="336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DDBD-3756-6261-B8C5-186C5679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FA8EE1-A6D5-991D-434A-B2DC2709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MINIST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0D19E0-018C-BE23-2B63-64992625E4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34</a:t>
            </a:fld>
            <a:endParaRPr lang="it-IT" dirty="0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6EB23BD5-A06B-AA04-BDA5-E664F21136E3}"/>
              </a:ext>
            </a:extLst>
          </p:cNvPr>
          <p:cNvSpPr txBox="1">
            <a:spLocks/>
          </p:cNvSpPr>
          <p:nvPr/>
        </p:nvSpPr>
        <p:spPr>
          <a:xfrm>
            <a:off x="304800" y="873306"/>
            <a:ext cx="4397829" cy="35596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objective is to predict handwritten digits in the fastest way possible.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utilize the MNIST Dataset:</a:t>
            </a:r>
          </a:p>
          <a:p>
            <a:pPr lvl="1"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MNIST database </a:t>
            </a:r>
            <a:r>
              <a:rPr lang="en-GB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(Modified National Institute of Standards and Technology database)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large database of handwritten digits that is commonly used for training various image processing systems.</a:t>
            </a:r>
          </a:p>
        </p:txBody>
      </p:sp>
      <p:pic>
        <p:nvPicPr>
          <p:cNvPr id="14" name="Immagine 13" descr="Immagine che contiene modello, bianco e nero, tipografia, arte&#10;&#10;Descrizione generata automaticamente">
            <a:extLst>
              <a:ext uri="{FF2B5EF4-FFF2-40B4-BE49-F238E27FC236}">
                <a16:creationId xmlns:a16="http://schemas.microsoft.com/office/drawing/2014/main" id="{47F6028B-7B21-9D01-71D9-77E216B54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055" y="1628639"/>
            <a:ext cx="3804145" cy="188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4439C7-6C91-460E-C237-B12AEAFC4C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35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CCF2A76-5C98-9DF8-863E-DC9B706D6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944" y="664970"/>
            <a:ext cx="5028111" cy="2662316"/>
          </a:xfrm>
          <a:prstGeom prst="rect">
            <a:avLst/>
          </a:prstGeom>
        </p:spPr>
      </p:pic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F6DCF104-DD08-EF3A-33B3-58521F0EB7AC}"/>
              </a:ext>
            </a:extLst>
          </p:cNvPr>
          <p:cNvSpPr txBox="1">
            <a:spLocks/>
          </p:cNvSpPr>
          <p:nvPr/>
        </p:nvSpPr>
        <p:spPr>
          <a:xfrm>
            <a:off x="482237" y="3477906"/>
            <a:ext cx="8179526" cy="11202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at the project and the design, it is made of several hierarchal components, real word applications require a lot of components and testing:</a:t>
            </a:r>
          </a:p>
          <a:p>
            <a:pPr marL="0" indent="0" algn="just"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2400" b="1" dirty="0">
                <a:solidFill>
                  <a:srgbClr val="F79646"/>
                </a:solidFill>
                <a:latin typeface="+mj-lt"/>
                <a:cs typeface="Times New Roman" panose="02020603050405020304" pitchFamily="18" charset="0"/>
              </a:rPr>
              <a:t>EDA tools simplify the development of these applications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30AD-2963-0FCD-8315-1FF17ECE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0BE74A-4F9B-604B-CA1E-8F177E290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A3AD29-1421-5012-22CC-F03534CD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607663"/>
            <a:ext cx="8534400" cy="1188667"/>
          </a:xfrm>
        </p:spPr>
        <p:txBody>
          <a:bodyPr>
            <a:normAutofit/>
          </a:bodyPr>
          <a:lstStyle/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busses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processors and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peripherals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42925" lvl="2" indent="0" algn="just">
              <a:buNone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EBE2BD-A419-0A29-F7F6-F88BA511D1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36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492BDD9B-C431-C01B-C6D9-E6314A800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944" y="716485"/>
            <a:ext cx="5028111" cy="26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4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0B73-A953-E018-F61A-3218E012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03A5932-0251-39F8-CE01-A77DB37E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B6F35C-7BCC-53DA-E722-648293A737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37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9439747-D261-1678-5677-028736DDC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" y="606522"/>
            <a:ext cx="7423150" cy="3930456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9FD82B12-F1F2-7316-319B-28CEDEC4060B}"/>
              </a:ext>
            </a:extLst>
          </p:cNvPr>
          <p:cNvSpPr/>
          <p:nvPr/>
        </p:nvSpPr>
        <p:spPr>
          <a:xfrm>
            <a:off x="2146300" y="1790700"/>
            <a:ext cx="1060450" cy="844550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CB6ED5-6C94-3179-2DC5-DBC4E1E50A16}"/>
              </a:ext>
            </a:extLst>
          </p:cNvPr>
          <p:cNvSpPr txBox="1"/>
          <p:nvPr/>
        </p:nvSpPr>
        <p:spPr>
          <a:xfrm>
            <a:off x="1970088" y="1100870"/>
            <a:ext cx="1509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Our Custom Accelerator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31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CB12-05B4-1793-2CB4-F3A1EF3F1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01BCFB1-9219-220A-99EE-F4097E51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533A6F-08E3-4C7A-34E5-CC73BA4A790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38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B0EEF92-A557-18A5-11A1-2C3452F9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" y="606522"/>
            <a:ext cx="7423150" cy="3930456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FC1642C6-8B42-2297-BA0A-A32EA074BA93}"/>
              </a:ext>
            </a:extLst>
          </p:cNvPr>
          <p:cNvSpPr/>
          <p:nvPr/>
        </p:nvSpPr>
        <p:spPr>
          <a:xfrm>
            <a:off x="1060450" y="1631950"/>
            <a:ext cx="1060450" cy="844550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328DFF-AA56-955F-10CA-8062A4BE271D}"/>
              </a:ext>
            </a:extLst>
          </p:cNvPr>
          <p:cNvSpPr txBox="1"/>
          <p:nvPr/>
        </p:nvSpPr>
        <p:spPr>
          <a:xfrm>
            <a:off x="922338" y="939533"/>
            <a:ext cx="1509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Input Memory</a:t>
            </a:r>
            <a:endParaRPr lang="en-GB" dirty="0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E04E1910-9207-D5DC-22E6-16873A4E57A6}"/>
              </a:ext>
            </a:extLst>
          </p:cNvPr>
          <p:cNvSpPr/>
          <p:nvPr/>
        </p:nvSpPr>
        <p:spPr>
          <a:xfrm>
            <a:off x="3230563" y="1606550"/>
            <a:ext cx="1060450" cy="844550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E1A4A1B-5F81-B788-0F61-87DD3349BAF8}"/>
              </a:ext>
            </a:extLst>
          </p:cNvPr>
          <p:cNvSpPr txBox="1"/>
          <p:nvPr/>
        </p:nvSpPr>
        <p:spPr>
          <a:xfrm>
            <a:off x="3005932" y="960219"/>
            <a:ext cx="1509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Output Memory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46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8D9C-09BE-0527-B72E-FDED1048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C594CA-6147-F68A-4D31-37EC6DE7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F6FB5C-F75D-DDD3-1189-946C3A4D8F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39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73D8D62-0DBF-0597-C231-8B9D77E6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" y="606522"/>
            <a:ext cx="7423150" cy="3930456"/>
          </a:xfrm>
          <a:prstGeom prst="rect">
            <a:avLst/>
          </a:prstGeom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11353BD6-F3C8-088D-FFF9-2FEC5A0353DC}"/>
              </a:ext>
            </a:extLst>
          </p:cNvPr>
          <p:cNvSpPr/>
          <p:nvPr/>
        </p:nvSpPr>
        <p:spPr>
          <a:xfrm>
            <a:off x="6583363" y="2333722"/>
            <a:ext cx="1060450" cy="1654078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588DE7-D89F-D01D-79CB-4D91EBE1C72C}"/>
              </a:ext>
            </a:extLst>
          </p:cNvPr>
          <p:cNvSpPr txBox="1"/>
          <p:nvPr/>
        </p:nvSpPr>
        <p:spPr>
          <a:xfrm>
            <a:off x="6358732" y="3987800"/>
            <a:ext cx="150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GPIO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60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9365-F396-AFFC-4F43-52502D4F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46953F6-31F2-AF32-85A7-93DF0849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DE0A71-56AD-B5DC-8D3E-CDA868E3B5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40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EB71655-38C1-976F-8124-2367FECB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" y="606522"/>
            <a:ext cx="7423150" cy="3930456"/>
          </a:xfrm>
          <a:prstGeom prst="rect">
            <a:avLst/>
          </a:prstGeom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39E7BD7D-8920-1A6C-6B54-D4D3FE743C2E}"/>
              </a:ext>
            </a:extLst>
          </p:cNvPr>
          <p:cNvSpPr/>
          <p:nvPr/>
        </p:nvSpPr>
        <p:spPr>
          <a:xfrm>
            <a:off x="6400800" y="1758950"/>
            <a:ext cx="1467644" cy="673100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695689-98C4-F928-2E23-F29A016F92CC}"/>
              </a:ext>
            </a:extLst>
          </p:cNvPr>
          <p:cNvSpPr txBox="1"/>
          <p:nvPr/>
        </p:nvSpPr>
        <p:spPr>
          <a:xfrm>
            <a:off x="6400800" y="1297446"/>
            <a:ext cx="150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Processor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345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A128-19A5-2559-197D-0B467A11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 and Hardware </a:t>
            </a:r>
            <a:r>
              <a:rPr lang="it-IT" dirty="0" err="1"/>
              <a:t>Stack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A6BE-8A2A-7FE0-BA81-64DB3B7FE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2246"/>
            <a:ext cx="3890963" cy="2379009"/>
          </a:xfrm>
        </p:spPr>
        <p:txBody>
          <a:bodyPr/>
          <a:lstStyle/>
          <a:p>
            <a:pPr algn="just"/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a look at the code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on the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</a:t>
            </a:r>
          </a:p>
          <a:p>
            <a:pPr lvl="2"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Server, to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Drivers for the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accelerator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 lvl="2" indent="0" algn="just">
              <a:buNone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0E36C4-F7F7-7F7C-F1AE-879BDDE88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494" y="658106"/>
            <a:ext cx="5154706" cy="398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779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"Attribution – Non-commercial 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B8462BC8-7526-18BF-5141-B02376654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1C10B70-EBAD-A690-5D59-F83D22044A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2762</TotalTime>
  <Words>1670</Words>
  <Application>Microsoft Macintosh PowerPoint</Application>
  <PresentationFormat>On-screen Show (16:9)</PresentationFormat>
  <Paragraphs>278</Paragraphs>
  <Slides>42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Narrow</vt:lpstr>
      <vt:lpstr>Baskerville Display PT</vt:lpstr>
      <vt:lpstr>Calibri</vt:lpstr>
      <vt:lpstr>Tahoma</vt:lpstr>
      <vt:lpstr>Times New Roman</vt:lpstr>
      <vt:lpstr>2_Office Theme</vt:lpstr>
      <vt:lpstr>Lab 04 Part 1: A Real Use Case:  Neural Networks</vt:lpstr>
      <vt:lpstr>Where it all started…</vt:lpstr>
      <vt:lpstr>Digital data: Everything Becomes “bit”</vt:lpstr>
      <vt:lpstr>Breakthrough Technologies</vt:lpstr>
      <vt:lpstr>From Analog to Digital and Back</vt:lpstr>
      <vt:lpstr>Understanding Electronic Systems</vt:lpstr>
      <vt:lpstr>What is an Electronic System?</vt:lpstr>
      <vt:lpstr>Boolean Algebra</vt:lpstr>
      <vt:lpstr>Logic Circuits</vt:lpstr>
      <vt:lpstr>Components of an Electronic System</vt:lpstr>
      <vt:lpstr>What is a SoC?</vt:lpstr>
      <vt:lpstr>SoC Design</vt:lpstr>
      <vt:lpstr>SoC Design Flow</vt:lpstr>
      <vt:lpstr>Electronic Design Automation Tools</vt:lpstr>
      <vt:lpstr>Types of EDA Tools</vt:lpstr>
      <vt:lpstr>Why EDA Tools are important?</vt:lpstr>
      <vt:lpstr>Functional Verification</vt:lpstr>
      <vt:lpstr>Functional Verification</vt:lpstr>
      <vt:lpstr>Test Benches, Key Tools for Verification</vt:lpstr>
      <vt:lpstr>Test Benches, Key Tools for Verification</vt:lpstr>
      <vt:lpstr>Lab 04 Part 2: Career paths</vt:lpstr>
      <vt:lpstr>Electronic Engineering</vt:lpstr>
      <vt:lpstr>Computer Engineering</vt:lpstr>
      <vt:lpstr>Career Opportunities</vt:lpstr>
      <vt:lpstr>Career Opportunities</vt:lpstr>
      <vt:lpstr>Lab 04 Part 3:  Neural Networks: A Real Use Case</vt:lpstr>
      <vt:lpstr>Hierarchical Design: From Gates to Architectures to SoCs</vt:lpstr>
      <vt:lpstr>SoC Applications</vt:lpstr>
      <vt:lpstr>Artificial intelligence</vt:lpstr>
      <vt:lpstr>Neural Networks</vt:lpstr>
      <vt:lpstr>The Impact of Design Choices</vt:lpstr>
      <vt:lpstr>PowerPoint Presentation</vt:lpstr>
      <vt:lpstr>Laboratory: An Use Case</vt:lpstr>
      <vt:lpstr>MINIST</vt:lpstr>
      <vt:lpstr>RTL Design of an SoC</vt:lpstr>
      <vt:lpstr>RTL Design of an SoC</vt:lpstr>
      <vt:lpstr>RTL Design of an SoC</vt:lpstr>
      <vt:lpstr>RTL Design of an SoC</vt:lpstr>
      <vt:lpstr>RTL Design of an SoC</vt:lpstr>
      <vt:lpstr>RTL Design of an SoC</vt:lpstr>
      <vt:lpstr>Software and Hardware Stack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247</cp:revision>
  <dcterms:created xsi:type="dcterms:W3CDTF">2006-08-16T00:00:00Z</dcterms:created>
  <dcterms:modified xsi:type="dcterms:W3CDTF">2025-06-22T01:48:54Z</dcterms:modified>
</cp:coreProperties>
</file>